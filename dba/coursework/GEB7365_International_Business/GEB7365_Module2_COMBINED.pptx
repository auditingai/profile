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 id="265" r:id="rId16"/>
    <p:sldId id="266" r:id="rId17"/>
    <p:sldId id="267" r:id="rId18"/>
    <p:sldId id="268" r:id="rId19"/>
    <p:sldId id="269" r:id="rId20"/>
    <p:sldId id="270" r:id="rId21"/>
    <p:sldId id="271" r:id="rId22"/>
    <p:sldId id="272" r:id="rId23"/>
    <p:sldId id="273"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7" d="100"/>
          <a:sy n="77" d="100"/>
        </p:scale>
        <p:origin x="144" y="6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67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(approx. 20 sec): Today I'll present two complementary IB readings. The first, Ghemawat's 'Distance Still Matters,' argues that even in a globalized world, distance in its many forms still shapes where and how firms should expand. The second, Arregle et al.'s systematic review in JIBS, asks a related question at the firm level: does being a family firm change how and how much a company internationalizes? Together they show two ways IB scholarship deals with 'what makes crossing borders hard' — one focused on country-pair distance, the other on firm-level heterogeneity.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(10 sec): I'll cover Ghemawat's argument and the CAGE framework, illustrate it with the Star TV and Tricon/Mexico examples, then move to Arregle et al.'s review of family firm internationalization research, their seven IB themes and levels-of-analysis framework, and close with how the two pieces connect.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Ghemawat's starting point (45-50 sec): Most companies choose foreign markets using Country Portfolio Analysis — plotting countries by wealth and consumption to estimate market size. The problem is that this only captures the upside; it ignores the costs and risks created by distance between the home and host country. Ghemawat's fix is the CAGE framework: distance isn't just geographic, it has four dimensions. As one striking figure from Frankel and Rose's research: trade between countries 5,000 miles apart is only about 20% of what it would be if they were 1,000 miles apart — distance still has a real, measurable cost.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CAGE framework (60-70 sec): Cultural distance covers language, religion, and social norms — it matters most for media and consumer goods. Administrative distance covers colonial ties, trade agreements, and government policy — it matters for staples, national champions, and security-sensitive industries. Geographic distance is not just miles — it includes country size and infrastructure, and it matters most for bulky, fragile, or perishable products. Economic distance is about differences in income and cost of resources — it drives decisions for labor-intensive and scale-driven industries. The key point: which dimension matters most depends on the industry, so a one-size-fits-all distance measure is misleading.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contrasting cases (45-55 sec): Star TV shows what happens when distance is ignored — News Corp assumed English content and satellite delivery could bypass cultural and administrative distance in Asia; the result was roughly half a billion dollars in losses and years of delay to profitability. Tricon shows the opposite: using standard CPA, Mexico looked like a minor market — 16th of 20 — but once Ghemawat's team adjusted for geographic proximity, a shared border, and NAFTA membership, Mexico jumped to the 2nd-largest opportunity, and Tricon made it one of its top international priorities. Same data, very different conclusion once distance is factored 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Article 2 overview (45 sec): This is a systematic review, not a single empirical study. The authors screened 297 articles down to 220 relevant ones spanning 1991-2020, and organized them around 7 core international business themes -- things like scale, scope, entry mode, and location choice. One striking gap: fewer than 20% of these studies actually used IB theory as their lens, even though the topic is fundamentally about crossing borders. Their central puzzle, which echoes across the whole paper, is that thirty years of research has not converged on whether family ownership helps or hurts internationalization -- findings are genuinely mixed.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themes (55-65 sec): The review organizes findings around seven IB themes. Scale draws the most attention (39% of studies) and is the most contradictory — some argue family resources like social capital and long-term orientation help internationalization, others argue risk aversion and control concerns hold it back. Scope shows the clearest consensus: family firms tend to internationalize into fewer, narrower markets. Entry mode and location choice show no consistent family-firm preference — it depends on context. The authors' central diagnosis, repeated across every theme, is that these contradictions usually trace back to unmeasured heterogeneity -- different definitions of 'family firm,' different samples, different institutional contexts -- not to flawed theory.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Levels of analysis (45-55 sec): The authors propose four levels — individual, family, firm, and macro-institutional — and map every reviewed study onto them. The firm level dominates, appearing in 97% of studies (ownership percentage, family CEO, board seats). But the individual level (risk attitude, international experience) appears in only 12%, and the family level itself — generation, succession, family structure — in just 22%. Their main call for future research is to study these levels together, and to bring in real IB theory -- internalization theory, the Uppsala model, OLI -- rather than relying mostly on agency theory or socioemotional wealth alone.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synthesis (50-60 sec): These two articles complement each other well. Ghemawat gives us a country-pair lens: distance -- cultural, administrative, geographic, economic -- is a real, quantifiable cost that any firm must account for. Arregle et al. give us a firm-level lens: even facing the same distance, family firms may respond differently because of factors like socioemotional wealth, risk aversion, or the desire to preserve control. The shared conclusion across both papers is that internationalization cannot be modeled with a single general rule -- whether it's 'bigger market = better' or 'family firms are more/less international' -- context and heterogeneity have to be built into the analysis. That's where I'll stop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alphaModFix amt="69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418320" y="-1645920"/>
            <a:ext cx="5029200" cy="5029200"/>
          </a:xfrm>
          <a:prstGeom prst="ellipse">
            <a:avLst/>
          </a:prstGeom>
          <a:solidFill>
            <a:srgbClr val="065A82">
              <a:alpha val="45000"/>
            </a:srgbClr>
          </a:solidFill>
          <a:ln/>
        </p:spPr>
        <p:txBody>
          <a:bodyPr/>
          <a:lstStyle/>
          <a:p>
            <a:endParaRPr lang="en-US"/>
          </a:p>
        </p:txBody>
      </p:sp>
      <p:sp>
        <p:nvSpPr>
          <p:cNvPr id="3" name="Shape 1"/>
          <p:cNvSpPr/>
          <p:nvPr/>
        </p:nvSpPr>
        <p:spPr>
          <a:xfrm>
            <a:off x="-1463040" y="4389120"/>
            <a:ext cx="3657600" cy="3657600"/>
          </a:xfrm>
          <a:prstGeom prst="ellipse">
            <a:avLst/>
          </a:prstGeom>
          <a:solidFill>
            <a:srgbClr val="1C7293">
              <a:alpha val="40000"/>
            </a:srgbClr>
          </a:solidFill>
          <a:ln/>
        </p:spPr>
        <p:txBody>
          <a:bodyPr/>
          <a:lstStyle/>
          <a:p>
            <a:endParaRPr lang="en-US"/>
          </a:p>
        </p:txBody>
      </p:sp>
      <p:sp>
        <p:nvSpPr>
          <p:cNvPr id="4" name="Text 2"/>
          <p:cNvSpPr txBox="1"/>
          <p:nvPr/>
        </p:nvSpPr>
        <p:spPr>
          <a:xfrm>
            <a:off x="640080" y="2628900"/>
            <a:ext cx="10698480" cy="1554480"/>
          </a:xfrm>
          <a:prstGeom prst="rect">
            <a:avLst/>
          </a:prstGeom>
          <a:noFill/>
          <a:ln/>
        </p:spPr>
        <p:txBody>
          <a:bodyPr wrap="square" lIns="0" tIns="0" rIns="0" bIns="0" rtlCol="0" anchor="ctr"/>
          <a:lstStyle/>
          <a:p>
            <a:pPr>
              <a:lnSpc>
                <a:spcPts val="4200"/>
              </a:lnSpc>
            </a:pPr>
            <a:r>
              <a:rPr lang="en-US" sz="3800" b="1" dirty="0">
                <a:solidFill>
                  <a:srgbClr val="FFFFFF"/>
                </a:solidFill>
                <a:latin typeface="Cambria" pitchFamily="34" charset="0"/>
                <a:ea typeface="Cambria" pitchFamily="34" charset="-122"/>
                <a:cs typeface="Cambria" pitchFamily="34" charset="-120"/>
              </a:rPr>
              <a:t>DISTANCE </a:t>
            </a:r>
          </a:p>
          <a:p>
            <a:pPr>
              <a:lnSpc>
                <a:spcPts val="4200"/>
              </a:lnSpc>
            </a:pPr>
            <a:r>
              <a:rPr lang="en-US" sz="3800" b="1" dirty="0">
                <a:solidFill>
                  <a:srgbClr val="FFFFFF"/>
                </a:solidFill>
                <a:latin typeface="Cambria" pitchFamily="34" charset="0"/>
                <a:ea typeface="Cambria" pitchFamily="34" charset="-122"/>
                <a:cs typeface="Cambria" pitchFamily="34" charset="-120"/>
              </a:rPr>
              <a:t>AND INTERNATIONALIZATION</a:t>
            </a:r>
            <a:endParaRPr lang="en-US" sz="3800" dirty="0"/>
          </a:p>
          <a:p>
            <a:pPr marL="0" indent="0">
              <a:lnSpc>
                <a:spcPts val="4200"/>
              </a:lnSpc>
              <a:buNone/>
            </a:pPr>
            <a:endParaRPr lang="en-US" sz="3800" dirty="0"/>
          </a:p>
        </p:txBody>
      </p:sp>
      <p:sp>
        <p:nvSpPr>
          <p:cNvPr id="6" name="Shape 4"/>
          <p:cNvSpPr/>
          <p:nvPr/>
        </p:nvSpPr>
        <p:spPr>
          <a:xfrm>
            <a:off x="731520" y="4114800"/>
            <a:ext cx="3108960" cy="27432"/>
          </a:xfrm>
          <a:prstGeom prst="rect">
            <a:avLst/>
          </a:prstGeom>
          <a:solidFill>
            <a:srgbClr val="E8A33D"/>
          </a:solidFill>
          <a:ln/>
        </p:spPr>
        <p:txBody>
          <a:bodyPr/>
          <a:lstStyle/>
          <a:p>
            <a:endParaRPr lang="en-US"/>
          </a:p>
        </p:txBody>
      </p:sp>
      <p:sp>
        <p:nvSpPr>
          <p:cNvPr id="7" name="Text 5"/>
          <p:cNvSpPr txBox="1"/>
          <p:nvPr/>
        </p:nvSpPr>
        <p:spPr>
          <a:xfrm>
            <a:off x="731520" y="4434840"/>
            <a:ext cx="10515600" cy="1005840"/>
          </a:xfrm>
          <a:prstGeom prst="rect">
            <a:avLst/>
          </a:prstGeom>
          <a:noFill/>
          <a:ln/>
        </p:spPr>
        <p:txBody>
          <a:bodyPr wrap="square" lIns="0" tIns="0" rIns="0" bIns="0" rtlCol="0" anchor="ctr"/>
          <a:lstStyle/>
          <a:p>
            <a:pPr marL="0" indent="0">
              <a:lnSpc>
                <a:spcPct val="130000"/>
              </a:lnSpc>
              <a:buNone/>
            </a:pPr>
            <a:r>
              <a:rPr lang="en-US" sz="1400" b="1" dirty="0">
                <a:solidFill>
                  <a:srgbClr val="FFFFFF"/>
                </a:solidFill>
                <a:latin typeface="Calibri" pitchFamily="34" charset="0"/>
                <a:ea typeface="Calibri" pitchFamily="34" charset="-122"/>
                <a:cs typeface="Calibri" pitchFamily="34" charset="-120"/>
              </a:rPr>
              <a:t>Ghemawat (2001) — </a:t>
            </a:r>
            <a:r>
              <a:rPr lang="en-US" sz="1400" dirty="0">
                <a:solidFill>
                  <a:srgbClr val="CADCFC"/>
                </a:solidFill>
                <a:latin typeface="Calibri" pitchFamily="34" charset="0"/>
                <a:ea typeface="Calibri" pitchFamily="34" charset="-122"/>
                <a:cs typeface="Calibri" pitchFamily="34" charset="-120"/>
              </a:rPr>
              <a:t>Distance Still Matters: The Hard Reality of Global Expansion (HBR)
</a:t>
            </a:r>
            <a:r>
              <a:rPr lang="en-US" sz="1400" b="1" dirty="0">
                <a:solidFill>
                  <a:srgbClr val="FFFFFF"/>
                </a:solidFill>
                <a:latin typeface="Calibri" pitchFamily="34" charset="0"/>
                <a:ea typeface="Calibri" pitchFamily="34" charset="-122"/>
                <a:cs typeface="Calibri" pitchFamily="34" charset="-120"/>
              </a:rPr>
              <a:t>Arregle, Chirico, Kano, Kundu, Majocchi &amp; Schulze (2021) — </a:t>
            </a:r>
            <a:r>
              <a:rPr lang="en-US" sz="1400" dirty="0">
                <a:solidFill>
                  <a:srgbClr val="CADCFC"/>
                </a:solidFill>
                <a:latin typeface="Calibri" pitchFamily="34" charset="0"/>
                <a:ea typeface="Calibri" pitchFamily="34" charset="-122"/>
                <a:cs typeface="Calibri" pitchFamily="34" charset="-120"/>
              </a:rPr>
              <a:t>Family Firm Internationalization: Past Research and an Agenda for the Future (JIBS)</a:t>
            </a:r>
            <a:endParaRPr lang="en-US" sz="1400" dirty="0"/>
          </a:p>
        </p:txBody>
      </p:sp>
      <p:sp>
        <p:nvSpPr>
          <p:cNvPr id="9" name="TextBox 8">
            <a:extLst>
              <a:ext uri="{FF2B5EF4-FFF2-40B4-BE49-F238E27FC236}">
                <a16:creationId xmlns:a16="http://schemas.microsoft.com/office/drawing/2014/main" id="{920FDB00-9F5C-4938-552B-E7FA5D5D3539}"/>
              </a:ext>
            </a:extLst>
          </p:cNvPr>
          <p:cNvSpPr txBox="1"/>
          <p:nvPr/>
        </p:nvSpPr>
        <p:spPr>
          <a:xfrm>
            <a:off x="407323" y="6301047"/>
            <a:ext cx="4838007" cy="369332"/>
          </a:xfrm>
          <a:prstGeom prst="rect">
            <a:avLst/>
          </a:prstGeom>
          <a:noFill/>
        </p:spPr>
        <p:txBody>
          <a:bodyPr wrap="square" rtlCol="0">
            <a:spAutoFit/>
          </a:bodyPr>
          <a:lstStyle/>
          <a:p>
            <a:r>
              <a:rPr lang="en-US" dirty="0">
                <a:solidFill>
                  <a:schemeClr val="bg1"/>
                </a:solidFill>
              </a:rPr>
              <a:t>International Business Theory and Practice</a:t>
            </a:r>
          </a:p>
        </p:txBody>
      </p:sp>
      <p:sp>
        <p:nvSpPr>
          <p:cNvPr id="10" name="TextBox 9"/>
          <p:cNvSpPr txBox="1"/>
          <p:nvPr/>
        </p:nvSpPr>
        <p:spPr>
          <a:xfrm>
            <a:off x="502920" y="5623560"/>
            <a:ext cx="11186160" cy="274320"/>
          </a:xfrm>
          <a:prstGeom prst="rect">
            <a:avLst/>
          </a:prstGeom>
          <a:noFill/>
        </p:spPr>
        <p:txBody>
          <a:bodyPr wrap="square" lIns="0" rIns="0" tIns="0" bIns="0">
            <a:spAutoFit/>
          </a:bodyPr>
          <a:lstStyle/>
          <a:p>
            <a:pPr algn="l">
              <a:lnSpc>
                <a:spcPct val="115000"/>
              </a:lnSpc>
            </a:pPr>
            <a:r>
              <a:rPr sz="1100" b="1" i="0" spc="180">
                <a:solidFill>
                  <a:srgbClr val="B6862C"/>
                </a:solidFill>
                <a:latin typeface="Consolas"/>
              </a:rPr>
              <a:t>DANIELA GARCIA AGUIRRE   ·   YASIR A. MALIK</a:t>
            </a:r>
          </a:p>
        </p:txBody>
      </p:sp>
      <p:sp>
        <p:nvSpPr>
          <p:cNvPr id="11" name="TextBox 10"/>
          <p:cNvSpPr txBox="1"/>
          <p:nvPr/>
        </p:nvSpPr>
        <p:spPr>
          <a:xfrm>
            <a:off x="502920" y="5897880"/>
            <a:ext cx="11186160" cy="274320"/>
          </a:xfrm>
          <a:prstGeom prst="rect">
            <a:avLst/>
          </a:prstGeom>
          <a:noFill/>
        </p:spPr>
        <p:txBody>
          <a:bodyPr wrap="square" lIns="0" rIns="0" tIns="0" bIns="0">
            <a:spAutoFit/>
          </a:bodyPr>
          <a:lstStyle/>
          <a:p>
            <a:pPr algn="l">
              <a:lnSpc>
                <a:spcPct val="115000"/>
              </a:lnSpc>
            </a:pPr>
            <a:r>
              <a:rPr sz="1050" b="0" i="0">
                <a:solidFill>
                  <a:srgbClr val="767D86"/>
                </a:solidFill>
                <a:latin typeface="Georgia"/>
              </a:rPr>
              <a:t>FIU Chapman Graduate School of Business  ·  DBA Cohort 8.14  ·  27 August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2"/>
          <p:cNvSpPr txBox="1"/>
          <p:nvPr/>
        </p:nvSpPr>
        <p:spPr>
          <a:xfrm>
            <a:off x="731520" y="1417320"/>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01</a:t>
            </a:r>
            <a:endParaRPr lang="en-US" sz="3000" dirty="0"/>
          </a:p>
        </p:txBody>
      </p:sp>
      <p:sp>
        <p:nvSpPr>
          <p:cNvPr id="5" name="Shape 3"/>
          <p:cNvSpPr/>
          <p:nvPr/>
        </p:nvSpPr>
        <p:spPr>
          <a:xfrm>
            <a:off x="1737360" y="1490472"/>
            <a:ext cx="18288" cy="786384"/>
          </a:xfrm>
          <a:prstGeom prst="rect">
            <a:avLst/>
          </a:prstGeom>
          <a:solidFill>
            <a:srgbClr val="D8E4EA"/>
          </a:solidFill>
          <a:ln/>
        </p:spPr>
        <p:txBody>
          <a:bodyPr/>
          <a:lstStyle/>
          <a:p>
            <a:endParaRPr lang="en-US"/>
          </a:p>
        </p:txBody>
      </p:sp>
      <p:sp>
        <p:nvSpPr>
          <p:cNvPr id="6" name="Text 4"/>
          <p:cNvSpPr txBox="1"/>
          <p:nvPr/>
        </p:nvSpPr>
        <p:spPr>
          <a:xfrm>
            <a:off x="1965960" y="1417320"/>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Ghemawat (2001)</a:t>
            </a:r>
            <a:endParaRPr lang="en-US" sz="1600" dirty="0"/>
          </a:p>
        </p:txBody>
      </p:sp>
      <p:sp>
        <p:nvSpPr>
          <p:cNvPr id="7" name="Text 5"/>
          <p:cNvSpPr txBox="1"/>
          <p:nvPr/>
        </p:nvSpPr>
        <p:spPr>
          <a:xfrm>
            <a:off x="5394960" y="1417320"/>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Why country portfolio analysis fails, and the CAGE distance framework</a:t>
            </a:r>
            <a:endParaRPr lang="en-US" sz="1350" dirty="0"/>
          </a:p>
        </p:txBody>
      </p:sp>
      <p:sp>
        <p:nvSpPr>
          <p:cNvPr id="8" name="Text 6"/>
          <p:cNvSpPr txBox="1"/>
          <p:nvPr/>
        </p:nvSpPr>
        <p:spPr>
          <a:xfrm>
            <a:off x="731520" y="2350008"/>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02</a:t>
            </a:r>
            <a:endParaRPr lang="en-US" sz="3000" dirty="0"/>
          </a:p>
        </p:txBody>
      </p:sp>
      <p:sp>
        <p:nvSpPr>
          <p:cNvPr id="9" name="Shape 7"/>
          <p:cNvSpPr/>
          <p:nvPr/>
        </p:nvSpPr>
        <p:spPr>
          <a:xfrm>
            <a:off x="1737360" y="2423160"/>
            <a:ext cx="18288" cy="786384"/>
          </a:xfrm>
          <a:prstGeom prst="rect">
            <a:avLst/>
          </a:prstGeom>
          <a:solidFill>
            <a:srgbClr val="D8E4EA"/>
          </a:solidFill>
          <a:ln/>
        </p:spPr>
        <p:txBody>
          <a:bodyPr/>
          <a:lstStyle/>
          <a:p>
            <a:endParaRPr lang="en-US"/>
          </a:p>
        </p:txBody>
      </p:sp>
      <p:sp>
        <p:nvSpPr>
          <p:cNvPr id="10" name="Text 8"/>
          <p:cNvSpPr txBox="1"/>
          <p:nvPr/>
        </p:nvSpPr>
        <p:spPr>
          <a:xfrm>
            <a:off x="1965960" y="2350008"/>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Evidence</a:t>
            </a:r>
            <a:endParaRPr lang="en-US" sz="1600" dirty="0"/>
          </a:p>
        </p:txBody>
      </p:sp>
      <p:sp>
        <p:nvSpPr>
          <p:cNvPr id="11" name="Text 9"/>
          <p:cNvSpPr txBox="1"/>
          <p:nvPr/>
        </p:nvSpPr>
        <p:spPr>
          <a:xfrm>
            <a:off x="5394960" y="2350008"/>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Star TV's costly miscalculation &amp; Tricon's re-ranking of Mexico</a:t>
            </a:r>
            <a:endParaRPr lang="en-US" sz="1350" dirty="0"/>
          </a:p>
        </p:txBody>
      </p:sp>
      <p:sp>
        <p:nvSpPr>
          <p:cNvPr id="12" name="Text 10"/>
          <p:cNvSpPr txBox="1"/>
          <p:nvPr/>
        </p:nvSpPr>
        <p:spPr>
          <a:xfrm>
            <a:off x="731520" y="3282696"/>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03</a:t>
            </a:r>
            <a:endParaRPr lang="en-US" sz="3000" dirty="0"/>
          </a:p>
        </p:txBody>
      </p:sp>
      <p:sp>
        <p:nvSpPr>
          <p:cNvPr id="13" name="Shape 11"/>
          <p:cNvSpPr/>
          <p:nvPr/>
        </p:nvSpPr>
        <p:spPr>
          <a:xfrm>
            <a:off x="1737360" y="3355848"/>
            <a:ext cx="18288" cy="786384"/>
          </a:xfrm>
          <a:prstGeom prst="rect">
            <a:avLst/>
          </a:prstGeom>
          <a:solidFill>
            <a:srgbClr val="D8E4EA"/>
          </a:solidFill>
          <a:ln/>
        </p:spPr>
        <p:txBody>
          <a:bodyPr/>
          <a:lstStyle/>
          <a:p>
            <a:endParaRPr lang="en-US"/>
          </a:p>
        </p:txBody>
      </p:sp>
      <p:sp>
        <p:nvSpPr>
          <p:cNvPr id="14" name="Text 12"/>
          <p:cNvSpPr txBox="1"/>
          <p:nvPr/>
        </p:nvSpPr>
        <p:spPr>
          <a:xfrm>
            <a:off x="1965960" y="3282696"/>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Arregle et al. (2021)</a:t>
            </a:r>
            <a:endParaRPr lang="en-US" sz="1600" dirty="0"/>
          </a:p>
        </p:txBody>
      </p:sp>
      <p:sp>
        <p:nvSpPr>
          <p:cNvPr id="15" name="Text 13"/>
          <p:cNvSpPr txBox="1"/>
          <p:nvPr/>
        </p:nvSpPr>
        <p:spPr>
          <a:xfrm>
            <a:off x="5394960" y="3282696"/>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A systematic review of 220 studies on family firm internationalization</a:t>
            </a:r>
            <a:endParaRPr lang="en-US" sz="1350" dirty="0"/>
          </a:p>
        </p:txBody>
      </p:sp>
      <p:sp>
        <p:nvSpPr>
          <p:cNvPr id="16" name="Text 14"/>
          <p:cNvSpPr txBox="1"/>
          <p:nvPr/>
        </p:nvSpPr>
        <p:spPr>
          <a:xfrm>
            <a:off x="731520" y="4215384"/>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04</a:t>
            </a:r>
            <a:endParaRPr lang="en-US" sz="3000" dirty="0"/>
          </a:p>
        </p:txBody>
      </p:sp>
      <p:sp>
        <p:nvSpPr>
          <p:cNvPr id="17" name="Shape 15"/>
          <p:cNvSpPr/>
          <p:nvPr/>
        </p:nvSpPr>
        <p:spPr>
          <a:xfrm>
            <a:off x="1737360" y="4288536"/>
            <a:ext cx="18288" cy="786384"/>
          </a:xfrm>
          <a:prstGeom prst="rect">
            <a:avLst/>
          </a:prstGeom>
          <a:solidFill>
            <a:srgbClr val="D8E4EA"/>
          </a:solidFill>
          <a:ln/>
        </p:spPr>
        <p:txBody>
          <a:bodyPr/>
          <a:lstStyle/>
          <a:p>
            <a:endParaRPr lang="en-US"/>
          </a:p>
        </p:txBody>
      </p:sp>
      <p:sp>
        <p:nvSpPr>
          <p:cNvPr id="18" name="Text 16"/>
          <p:cNvSpPr txBox="1"/>
          <p:nvPr/>
        </p:nvSpPr>
        <p:spPr>
          <a:xfrm>
            <a:off x="1965960" y="4215384"/>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Findings &amp; Agenda</a:t>
            </a:r>
            <a:endParaRPr lang="en-US" sz="1600" dirty="0"/>
          </a:p>
        </p:txBody>
      </p:sp>
      <p:sp>
        <p:nvSpPr>
          <p:cNvPr id="19" name="Text 17"/>
          <p:cNvSpPr txBox="1"/>
          <p:nvPr/>
        </p:nvSpPr>
        <p:spPr>
          <a:xfrm>
            <a:off x="5394960" y="4215384"/>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Seven IB themes, four levels of analysis, and open research questions</a:t>
            </a:r>
            <a:endParaRPr lang="en-US" sz="1350" dirty="0"/>
          </a:p>
        </p:txBody>
      </p:sp>
      <p:sp>
        <p:nvSpPr>
          <p:cNvPr id="20" name="Text 18"/>
          <p:cNvSpPr txBox="1"/>
          <p:nvPr/>
        </p:nvSpPr>
        <p:spPr>
          <a:xfrm>
            <a:off x="731520" y="5148072"/>
            <a:ext cx="914400" cy="932688"/>
          </a:xfrm>
          <a:prstGeom prst="rect">
            <a:avLst/>
          </a:prstGeom>
          <a:noFill/>
          <a:ln/>
        </p:spPr>
        <p:txBody>
          <a:bodyPr wrap="square" lIns="0" tIns="0" rIns="0" bIns="0" rtlCol="0" anchor="ctr"/>
          <a:lstStyle/>
          <a:p>
            <a:pPr marL="0" indent="0">
              <a:buNone/>
            </a:pPr>
            <a:r>
              <a:rPr lang="en-US" sz="3000" b="1" dirty="0">
                <a:solidFill>
                  <a:srgbClr val="C9DCE7"/>
                </a:solidFill>
                <a:latin typeface="Cambria" pitchFamily="34" charset="0"/>
                <a:ea typeface="Cambria" pitchFamily="34" charset="-122"/>
                <a:cs typeface="Cambria" pitchFamily="34" charset="-120"/>
              </a:rPr>
              <a:t>05</a:t>
            </a:r>
            <a:endParaRPr lang="en-US" sz="3000" dirty="0"/>
          </a:p>
        </p:txBody>
      </p:sp>
      <p:sp>
        <p:nvSpPr>
          <p:cNvPr id="21" name="Shape 19"/>
          <p:cNvSpPr/>
          <p:nvPr/>
        </p:nvSpPr>
        <p:spPr>
          <a:xfrm>
            <a:off x="1737360" y="5221224"/>
            <a:ext cx="18288" cy="786384"/>
          </a:xfrm>
          <a:prstGeom prst="rect">
            <a:avLst/>
          </a:prstGeom>
          <a:solidFill>
            <a:srgbClr val="D8E4EA"/>
          </a:solidFill>
          <a:ln/>
        </p:spPr>
        <p:txBody>
          <a:bodyPr/>
          <a:lstStyle/>
          <a:p>
            <a:endParaRPr lang="en-US"/>
          </a:p>
        </p:txBody>
      </p:sp>
      <p:sp>
        <p:nvSpPr>
          <p:cNvPr id="22" name="Text 20"/>
          <p:cNvSpPr txBox="1"/>
          <p:nvPr/>
        </p:nvSpPr>
        <p:spPr>
          <a:xfrm>
            <a:off x="1965960" y="5148072"/>
            <a:ext cx="3291840" cy="932688"/>
          </a:xfrm>
          <a:prstGeom prst="rect">
            <a:avLst/>
          </a:prstGeom>
          <a:noFill/>
          <a:ln/>
        </p:spPr>
        <p:txBody>
          <a:bodyPr wrap="square" lIns="0" tIns="0" rIns="0" bIns="0" rtlCol="0" anchor="ctr"/>
          <a:lstStyle/>
          <a:p>
            <a:pPr marL="0" indent="0">
              <a:buNone/>
            </a:pPr>
            <a:r>
              <a:rPr lang="en-US" sz="1600" b="1" dirty="0">
                <a:solidFill>
                  <a:srgbClr val="21295C"/>
                </a:solidFill>
                <a:latin typeface="Calibri" pitchFamily="34" charset="0"/>
                <a:ea typeface="Calibri" pitchFamily="34" charset="-122"/>
                <a:cs typeface="Calibri" pitchFamily="34" charset="-120"/>
              </a:rPr>
              <a:t>Synthesis</a:t>
            </a:r>
            <a:endParaRPr lang="en-US" sz="1600" dirty="0"/>
          </a:p>
        </p:txBody>
      </p:sp>
      <p:sp>
        <p:nvSpPr>
          <p:cNvPr id="23" name="Text 21"/>
          <p:cNvSpPr txBox="1"/>
          <p:nvPr/>
        </p:nvSpPr>
        <p:spPr>
          <a:xfrm>
            <a:off x="5394960" y="5148072"/>
            <a:ext cx="6035040" cy="932688"/>
          </a:xfrm>
          <a:prstGeom prst="rect">
            <a:avLst/>
          </a:prstGeom>
          <a:noFill/>
          <a:ln/>
        </p:spPr>
        <p:txBody>
          <a:bodyPr wrap="square" lIns="0" tIns="0" rIns="0" bIns="0" rtlCol="0" anchor="ctr"/>
          <a:lstStyle/>
          <a:p>
            <a:pPr marL="0" indent="0">
              <a:buNone/>
            </a:pPr>
            <a:r>
              <a:rPr lang="en-US" sz="1350" dirty="0">
                <a:solidFill>
                  <a:srgbClr val="5B6B75"/>
                </a:solidFill>
                <a:latin typeface="Calibri" pitchFamily="34" charset="0"/>
                <a:ea typeface="Calibri" pitchFamily="34" charset="-122"/>
                <a:cs typeface="Calibri" pitchFamily="34" charset="-120"/>
              </a:rPr>
              <a:t>How both articles connect — and what they mean for IB research</a:t>
            </a:r>
            <a:endParaRPr lang="en-US" sz="1350" dirty="0"/>
          </a:p>
        </p:txBody>
      </p:sp>
      <p:sp>
        <p:nvSpPr>
          <p:cNvPr id="24" name="Text 22"/>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a:t>International Business Theory and Practice</a:t>
            </a:r>
            <a:endParaRPr lang="en-US" sz="900" dirty="0"/>
          </a:p>
        </p:txBody>
      </p:sp>
      <p:sp>
        <p:nvSpPr>
          <p:cNvPr id="25" name="Text 23"/>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457200"/>
            <a:ext cx="3657600" cy="365760"/>
          </a:xfrm>
          <a:prstGeom prst="rect">
            <a:avLst/>
          </a:prstGeom>
          <a:noFill/>
          <a:ln/>
        </p:spPr>
        <p:txBody>
          <a:bodyPr wrap="square" lIns="0" tIns="0" rIns="0" bIns="0"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Article 1</a:t>
            </a:r>
            <a:endParaRPr lang="en-US" sz="1300" dirty="0"/>
          </a:p>
        </p:txBody>
      </p:sp>
      <p:sp>
        <p:nvSpPr>
          <p:cNvPr id="3" name="Text 1"/>
          <p:cNvSpPr txBox="1"/>
          <p:nvPr/>
        </p:nvSpPr>
        <p:spPr>
          <a:xfrm>
            <a:off x="731520" y="749808"/>
            <a:ext cx="8229600" cy="68580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Distance Still Matters</a:t>
            </a:r>
            <a:endParaRPr lang="en-US" sz="3000" dirty="0"/>
          </a:p>
        </p:txBody>
      </p:sp>
      <p:sp>
        <p:nvSpPr>
          <p:cNvPr id="4" name="Text 2"/>
          <p:cNvSpPr txBox="1"/>
          <p:nvPr/>
        </p:nvSpPr>
        <p:spPr>
          <a:xfrm>
            <a:off x="731520" y="1353312"/>
            <a:ext cx="8229600" cy="320040"/>
          </a:xfrm>
          <a:prstGeom prst="rect">
            <a:avLst/>
          </a:prstGeom>
          <a:noFill/>
          <a:ln/>
        </p:spPr>
        <p:txBody>
          <a:bodyPr wrap="square" lIns="0" tIns="0" rIns="0" bIns="0" rtlCol="0" anchor="ctr"/>
          <a:lstStyle/>
          <a:p>
            <a:pPr marL="0" indent="0">
              <a:buNone/>
            </a:pPr>
            <a:r>
              <a:rPr lang="en-US" sz="1300" i="1" dirty="0">
                <a:solidFill>
                  <a:srgbClr val="5B6B75"/>
                </a:solidFill>
                <a:latin typeface="Calibri" pitchFamily="34" charset="0"/>
                <a:ea typeface="Calibri" pitchFamily="34" charset="-122"/>
                <a:cs typeface="Calibri" pitchFamily="34" charset="-120"/>
              </a:rPr>
              <a:t>Pankaj Ghemawat · Harvard Business Review, 2001</a:t>
            </a:r>
            <a:endParaRPr lang="en-US" sz="1300" dirty="0"/>
          </a:p>
        </p:txBody>
      </p:sp>
      <p:sp>
        <p:nvSpPr>
          <p:cNvPr id="5" name="Shape 3"/>
          <p:cNvSpPr/>
          <p:nvPr/>
        </p:nvSpPr>
        <p:spPr>
          <a:xfrm>
            <a:off x="731520" y="1920240"/>
            <a:ext cx="5212080" cy="4160520"/>
          </a:xfrm>
          <a:prstGeom prst="roundRect">
            <a:avLst>
              <a:gd name="adj" fmla="val 2198"/>
            </a:avLst>
          </a:prstGeom>
          <a:solidFill>
            <a:srgbClr val="EAF3F7"/>
          </a:solidFill>
          <a:ln/>
        </p:spPr>
        <p:txBody>
          <a:bodyPr/>
          <a:lstStyle/>
          <a:p>
            <a:endParaRPr lang="en-US"/>
          </a:p>
        </p:txBody>
      </p:sp>
      <p:sp>
        <p:nvSpPr>
          <p:cNvPr id="6" name="Text 4"/>
          <p:cNvSpPr txBox="1"/>
          <p:nvPr/>
        </p:nvSpPr>
        <p:spPr>
          <a:xfrm>
            <a:off x="1051560" y="2148840"/>
            <a:ext cx="4572000" cy="365760"/>
          </a:xfrm>
          <a:prstGeom prst="rect">
            <a:avLst/>
          </a:prstGeom>
          <a:noFill/>
          <a:ln/>
        </p:spPr>
        <p:txBody>
          <a:bodyPr wrap="square" lIns="0" tIns="0" rIns="0" bIns="0" rtlCol="0" anchor="ctr"/>
          <a:lstStyle/>
          <a:p>
            <a:pPr marL="0" indent="0">
              <a:buNone/>
            </a:pPr>
            <a:r>
              <a:rPr lang="en-US" sz="1500" b="1" dirty="0">
                <a:solidFill>
                  <a:srgbClr val="065A82"/>
                </a:solidFill>
                <a:latin typeface="Calibri" pitchFamily="34" charset="0"/>
                <a:ea typeface="Calibri" pitchFamily="34" charset="-122"/>
                <a:cs typeface="Calibri" pitchFamily="34" charset="-120"/>
              </a:rPr>
              <a:t>The Problem</a:t>
            </a:r>
            <a:endParaRPr lang="en-US" sz="1500" dirty="0"/>
          </a:p>
        </p:txBody>
      </p:sp>
      <p:sp>
        <p:nvSpPr>
          <p:cNvPr id="7" name="Text 5"/>
          <p:cNvSpPr txBox="1"/>
          <p:nvPr/>
        </p:nvSpPr>
        <p:spPr>
          <a:xfrm>
            <a:off x="1051560" y="2606040"/>
            <a:ext cx="4617720" cy="3291840"/>
          </a:xfrm>
          <a:prstGeom prst="rect">
            <a:avLst/>
          </a:prstGeom>
          <a:noFill/>
          <a:ln/>
        </p:spPr>
        <p:txBody>
          <a:bodyPr wrap="square" lIns="0" tIns="0" rIns="0" bIns="0" rtlCol="0" anchor="t"/>
          <a:lstStyle/>
          <a:p>
            <a:pPr marL="0" indent="0">
              <a:lnSpc>
                <a:spcPct val="135000"/>
              </a:lnSpc>
              <a:buNone/>
            </a:pPr>
            <a:r>
              <a:rPr lang="en-US" sz="1400" dirty="0">
                <a:solidFill>
                  <a:srgbClr val="2B2B2B"/>
                </a:solidFill>
                <a:latin typeface="Calibri" pitchFamily="34" charset="0"/>
                <a:ea typeface="Calibri" pitchFamily="34" charset="-122"/>
                <a:cs typeface="Calibri" pitchFamily="34" charset="-120"/>
              </a:rPr>
              <a:t>Companies rely on </a:t>
            </a:r>
            <a:r>
              <a:rPr lang="en-US" sz="1400" b="1" dirty="0">
                <a:solidFill>
                  <a:srgbClr val="2B2B2B"/>
                </a:solidFill>
                <a:latin typeface="Calibri" pitchFamily="34" charset="0"/>
                <a:ea typeface="Calibri" pitchFamily="34" charset="-122"/>
                <a:cs typeface="Calibri" pitchFamily="34" charset="-120"/>
              </a:rPr>
              <a:t>Country Portfolio Analysis (CPA)</a:t>
            </a:r>
            <a:r>
              <a:rPr lang="en-US" sz="1400" dirty="0">
                <a:solidFill>
                  <a:srgbClr val="2B2B2B"/>
                </a:solidFill>
                <a:latin typeface="Calibri" pitchFamily="34" charset="0"/>
                <a:ea typeface="Calibri" pitchFamily="34" charset="-122"/>
                <a:cs typeface="Calibri" pitchFamily="34" charset="-120"/>
              </a:rPr>
              <a:t> — plotting markets by income and consumption potential.</a:t>
            </a:r>
            <a:endParaRPr lang="en-US" sz="1400" dirty="0"/>
          </a:p>
          <a:p>
            <a:pPr marL="0" indent="0">
              <a:lnSpc>
                <a:spcPct val="135000"/>
              </a:lnSpc>
              <a:buNone/>
            </a:pPr>
            <a:r>
              <a:rPr lang="en-US" sz="1400" dirty="0">
                <a:solidFill>
                  <a:srgbClr val="2B2B2B"/>
                </a:solidFill>
                <a:latin typeface="Calibri" pitchFamily="34" charset="0"/>
                <a:ea typeface="Calibri" pitchFamily="34" charset="-122"/>
                <a:cs typeface="Calibri" pitchFamily="34" charset="-120"/>
              </a:rPr>
              <a:t>CPA captures sales potential but </a:t>
            </a:r>
            <a:endParaRPr lang="en-US" sz="1400" dirty="0"/>
          </a:p>
          <a:p>
            <a:pPr marL="0" indent="0">
              <a:lnSpc>
                <a:spcPct val="135000"/>
              </a:lnSpc>
              <a:buNone/>
            </a:pPr>
            <a:r>
              <a:rPr lang="en-US" sz="1400" b="1" dirty="0">
                <a:solidFill>
                  <a:srgbClr val="065A82"/>
                </a:solidFill>
                <a:latin typeface="Calibri" pitchFamily="34" charset="0"/>
                <a:ea typeface="Calibri" pitchFamily="34" charset="-122"/>
                <a:cs typeface="Calibri" pitchFamily="34" charset="-120"/>
              </a:rPr>
              <a:t>ignores the costs and risks of distance</a:t>
            </a:r>
            <a:r>
              <a:rPr lang="en-US" sz="1400" dirty="0">
                <a:solidFill>
                  <a:srgbClr val="2B2B2B"/>
                </a:solidFill>
                <a:latin typeface="Calibri" pitchFamily="34" charset="0"/>
                <a:ea typeface="Calibri" pitchFamily="34" charset="-122"/>
                <a:cs typeface="Calibri" pitchFamily="34" charset="-120"/>
              </a:rPr>
              <a:t>, so firms routinely overestimate how attractive a foreign market really is.</a:t>
            </a:r>
            <a:endParaRPr lang="en-US" sz="1400" dirty="0"/>
          </a:p>
        </p:txBody>
      </p:sp>
      <p:sp>
        <p:nvSpPr>
          <p:cNvPr id="8" name="Shape 6"/>
          <p:cNvSpPr/>
          <p:nvPr/>
        </p:nvSpPr>
        <p:spPr>
          <a:xfrm>
            <a:off x="6172200" y="1920240"/>
            <a:ext cx="5257800" cy="4160520"/>
          </a:xfrm>
          <a:prstGeom prst="roundRect">
            <a:avLst>
              <a:gd name="adj" fmla="val 2198"/>
            </a:avLst>
          </a:prstGeom>
          <a:solidFill>
            <a:srgbClr val="065A82"/>
          </a:solidFill>
          <a:ln/>
        </p:spPr>
        <p:txBody>
          <a:bodyPr/>
          <a:lstStyle/>
          <a:p>
            <a:endParaRPr lang="en-US"/>
          </a:p>
        </p:txBody>
      </p:sp>
      <p:sp>
        <p:nvSpPr>
          <p:cNvPr id="9" name="Text 7"/>
          <p:cNvSpPr txBox="1"/>
          <p:nvPr/>
        </p:nvSpPr>
        <p:spPr>
          <a:xfrm>
            <a:off x="6492240" y="2148840"/>
            <a:ext cx="4572000" cy="365760"/>
          </a:xfrm>
          <a:prstGeom prst="rect">
            <a:avLst/>
          </a:prstGeom>
          <a:noFill/>
          <a:ln/>
        </p:spPr>
        <p:txBody>
          <a:bodyPr wrap="square" lIns="0" tIns="0" rIns="0" bIns="0" rtlCol="0" anchor="ctr"/>
          <a:lstStyle/>
          <a:p>
            <a:pPr marL="0" indent="0">
              <a:buNone/>
            </a:pPr>
            <a:r>
              <a:rPr lang="en-US" sz="1500" b="1" dirty="0">
                <a:solidFill>
                  <a:srgbClr val="E8A33D"/>
                </a:solidFill>
                <a:latin typeface="Calibri" pitchFamily="34" charset="0"/>
                <a:ea typeface="Calibri" pitchFamily="34" charset="-122"/>
                <a:cs typeface="Calibri" pitchFamily="34" charset="-120"/>
              </a:rPr>
              <a:t>The Fix</a:t>
            </a:r>
            <a:endParaRPr lang="en-US" sz="1500" dirty="0"/>
          </a:p>
        </p:txBody>
      </p:sp>
      <p:sp>
        <p:nvSpPr>
          <p:cNvPr id="10" name="Text 8"/>
          <p:cNvSpPr txBox="1"/>
          <p:nvPr/>
        </p:nvSpPr>
        <p:spPr>
          <a:xfrm>
            <a:off x="6492240" y="2606040"/>
            <a:ext cx="4663440" cy="3291840"/>
          </a:xfrm>
          <a:prstGeom prst="rect">
            <a:avLst/>
          </a:prstGeom>
          <a:noFill/>
          <a:ln/>
        </p:spPr>
        <p:txBody>
          <a:bodyPr wrap="square" lIns="0" tIns="0" rIns="0" bIns="0" rtlCol="0" anchor="t"/>
          <a:lstStyle/>
          <a:p>
            <a:pPr marL="0" indent="0">
              <a:lnSpc>
                <a:spcPct val="135000"/>
              </a:lnSpc>
              <a:buNone/>
            </a:pPr>
            <a:r>
              <a:rPr lang="en-US" sz="1400" dirty="0">
                <a:solidFill>
                  <a:srgbClr val="FFFFFF"/>
                </a:solidFill>
                <a:latin typeface="Calibri" pitchFamily="34" charset="0"/>
                <a:ea typeface="Calibri" pitchFamily="34" charset="-122"/>
                <a:cs typeface="Calibri" pitchFamily="34" charset="-120"/>
              </a:rPr>
              <a:t>Distance is not just geographic — it is </a:t>
            </a:r>
            <a:r>
              <a:rPr lang="en-US" sz="1400" b="1" dirty="0">
                <a:solidFill>
                  <a:srgbClr val="FFFFFF"/>
                </a:solidFill>
                <a:latin typeface="Calibri" pitchFamily="34" charset="0"/>
                <a:ea typeface="Calibri" pitchFamily="34" charset="-122"/>
                <a:cs typeface="Calibri" pitchFamily="34" charset="-120"/>
              </a:rPr>
              <a:t>four-dimensional</a:t>
            </a:r>
            <a:r>
              <a:rPr lang="en-US" sz="1400" dirty="0">
                <a:solidFill>
                  <a:srgbClr val="FFFFFF"/>
                </a:solidFill>
                <a:latin typeface="Calibri" pitchFamily="34" charset="0"/>
                <a:ea typeface="Calibri" pitchFamily="34" charset="-122"/>
                <a:cs typeface="Calibri" pitchFamily="34" charset="-120"/>
              </a:rPr>
              <a:t> (the CAGE framework), and it must be added to any market-attractiveness analysis.</a:t>
            </a:r>
            <a:endParaRPr lang="en-US" sz="1400" dirty="0"/>
          </a:p>
          <a:p>
            <a:pPr marL="0" indent="0">
              <a:lnSpc>
                <a:spcPct val="135000"/>
              </a:lnSpc>
              <a:buNone/>
            </a:pPr>
            <a:r>
              <a:rPr lang="en-US" sz="1400" dirty="0">
                <a:solidFill>
                  <a:srgbClr val="CADCFC"/>
                </a:solidFill>
                <a:latin typeface="Calibri" pitchFamily="34" charset="0"/>
                <a:ea typeface="Calibri" pitchFamily="34" charset="-122"/>
                <a:cs typeface="Calibri" pitchFamily="34" charset="-120"/>
              </a:rPr>
              <a:t>One data point: countries 5,000 miles apart trade at only </a:t>
            </a:r>
            <a:endParaRPr lang="en-US" sz="1400" dirty="0"/>
          </a:p>
          <a:p>
            <a:pPr marL="0" indent="0">
              <a:lnSpc>
                <a:spcPct val="135000"/>
              </a:lnSpc>
              <a:buNone/>
            </a:pPr>
            <a:r>
              <a:rPr lang="en-US" sz="1400" b="1" dirty="0">
                <a:solidFill>
                  <a:srgbClr val="E8A33D"/>
                </a:solidFill>
                <a:latin typeface="Calibri" pitchFamily="34" charset="0"/>
                <a:ea typeface="Calibri" pitchFamily="34" charset="-122"/>
                <a:cs typeface="Calibri" pitchFamily="34" charset="-120"/>
              </a:rPr>
              <a:t>20%</a:t>
            </a:r>
            <a:r>
              <a:rPr lang="en-US" sz="1400" dirty="0">
                <a:solidFill>
                  <a:srgbClr val="CADCFC"/>
                </a:solidFill>
                <a:latin typeface="Calibri" pitchFamily="34" charset="0"/>
                <a:ea typeface="Calibri" pitchFamily="34" charset="-122"/>
                <a:cs typeface="Calibri" pitchFamily="34" charset="-120"/>
              </a:rPr>
              <a:t> of the volume predicted for countries 1,000 miles apart.</a:t>
            </a:r>
            <a:endParaRPr lang="en-US" sz="1400" dirty="0"/>
          </a:p>
        </p:txBody>
      </p:sp>
      <p:sp>
        <p:nvSpPr>
          <p:cNvPr id="11" name="Text 9"/>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Ghemawat (2001) · Distance Still Matters</a:t>
            </a:r>
            <a:endParaRPr lang="en-US" sz="900" dirty="0"/>
          </a:p>
        </p:txBody>
      </p:sp>
      <p:sp>
        <p:nvSpPr>
          <p:cNvPr id="12" name="Text 10"/>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90932" y="13300"/>
            <a:ext cx="7301068" cy="1051560"/>
          </a:xfrm>
          <a:prstGeom prst="rect">
            <a:avLst/>
          </a:prstGeom>
          <a:solidFill>
            <a:srgbClr val="21295C"/>
          </a:solidFill>
          <a:ln/>
        </p:spPr>
        <p:txBody>
          <a:bodyPr/>
          <a:lstStyle/>
          <a:p>
            <a:endParaRPr lang="en-US"/>
          </a:p>
        </p:txBody>
      </p:sp>
      <p:sp>
        <p:nvSpPr>
          <p:cNvPr id="3" name="Text 1"/>
          <p:cNvSpPr txBox="1"/>
          <p:nvPr/>
        </p:nvSpPr>
        <p:spPr>
          <a:xfrm>
            <a:off x="5112326" y="392359"/>
            <a:ext cx="3848793" cy="320041"/>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The CAGE Distance Framework</a:t>
            </a:r>
            <a:endParaRPr lang="en-US" sz="2600" dirty="0"/>
          </a:p>
        </p:txBody>
      </p:sp>
      <p:sp>
        <p:nvSpPr>
          <p:cNvPr id="4" name="Text 2"/>
          <p:cNvSpPr txBox="1"/>
          <p:nvPr/>
        </p:nvSpPr>
        <p:spPr>
          <a:xfrm>
            <a:off x="8188036" y="742950"/>
            <a:ext cx="8229600" cy="32004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Four dimensions of distance between any two countries</a:t>
            </a:r>
            <a:endParaRPr lang="en-US" sz="1300" dirty="0"/>
          </a:p>
        </p:txBody>
      </p:sp>
      <p:sp>
        <p:nvSpPr>
          <p:cNvPr id="5" name="Shape 3"/>
          <p:cNvSpPr/>
          <p:nvPr/>
        </p:nvSpPr>
        <p:spPr>
          <a:xfrm>
            <a:off x="615142" y="1446415"/>
            <a:ext cx="2651760" cy="4206240"/>
          </a:xfrm>
          <a:prstGeom prst="roundRect">
            <a:avLst>
              <a:gd name="adj" fmla="val 2759"/>
            </a:avLst>
          </a:prstGeom>
          <a:solidFill>
            <a:srgbClr val="EAF3F7"/>
          </a:solidFill>
          <a:ln/>
        </p:spPr>
        <p:txBody>
          <a:bodyPr/>
          <a:lstStyle/>
          <a:p>
            <a:endParaRPr lang="en-US"/>
          </a:p>
        </p:txBody>
      </p:sp>
      <p:sp>
        <p:nvSpPr>
          <p:cNvPr id="6" name="Shape 4"/>
          <p:cNvSpPr/>
          <p:nvPr/>
        </p:nvSpPr>
        <p:spPr>
          <a:xfrm>
            <a:off x="615142" y="1446415"/>
            <a:ext cx="2651760" cy="960120"/>
          </a:xfrm>
          <a:prstGeom prst="rect">
            <a:avLst/>
          </a:prstGeom>
          <a:solidFill>
            <a:srgbClr val="065A82"/>
          </a:solidFill>
          <a:ln/>
        </p:spPr>
        <p:txBody>
          <a:bodyPr/>
          <a:lstStyle/>
          <a:p>
            <a:endParaRPr lang="en-US" dirty="0"/>
          </a:p>
        </p:txBody>
      </p:sp>
      <p:sp>
        <p:nvSpPr>
          <p:cNvPr id="9" name="Text 6"/>
          <p:cNvSpPr txBox="1"/>
          <p:nvPr/>
        </p:nvSpPr>
        <p:spPr>
          <a:xfrm>
            <a:off x="615142" y="246888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Cultural</a:t>
            </a:r>
            <a:endParaRPr lang="en-US" sz="1500" dirty="0"/>
          </a:p>
        </p:txBody>
      </p:sp>
      <p:sp>
        <p:nvSpPr>
          <p:cNvPr id="11" name="Text 8"/>
          <p:cNvSpPr txBox="1"/>
          <p:nvPr/>
        </p:nvSpPr>
        <p:spPr>
          <a:xfrm>
            <a:off x="914400" y="3200400"/>
            <a:ext cx="2286000" cy="105156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Language, religion, social norms, ethnicity</a:t>
            </a:r>
            <a:endParaRPr lang="en-US" sz="1150" dirty="0"/>
          </a:p>
        </p:txBody>
      </p:sp>
      <p:sp>
        <p:nvSpPr>
          <p:cNvPr id="12" name="Text 9"/>
          <p:cNvSpPr txBox="1"/>
          <p:nvPr/>
        </p:nvSpPr>
        <p:spPr>
          <a:xfrm>
            <a:off x="914400" y="4297680"/>
            <a:ext cx="2286000" cy="274320"/>
          </a:xfrm>
          <a:prstGeom prst="rect">
            <a:avLst/>
          </a:prstGeom>
          <a:noFill/>
          <a:ln/>
        </p:spPr>
        <p:txBody>
          <a:bodyPr wrap="square" lIns="0" tIns="0" rIns="0" bIns="0" rtlCol="0" anchor="ctr"/>
          <a:lstStyle/>
          <a:p>
            <a:pPr marL="0" indent="0">
              <a:buNone/>
            </a:pPr>
            <a:r>
              <a:rPr lang="en-US" sz="900" b="1" kern="0" spc="100" dirty="0">
                <a:solidFill>
                  <a:srgbClr val="065A82"/>
                </a:solidFill>
                <a:latin typeface="Calibri" pitchFamily="34" charset="0"/>
                <a:ea typeface="Calibri" pitchFamily="34" charset="-122"/>
                <a:cs typeface="Calibri" pitchFamily="34" charset="-120"/>
              </a:rPr>
              <a:t>INDUSTRIES AFFECTED</a:t>
            </a:r>
            <a:endParaRPr lang="en-US" sz="900" dirty="0"/>
          </a:p>
        </p:txBody>
      </p:sp>
      <p:sp>
        <p:nvSpPr>
          <p:cNvPr id="13" name="Text 10"/>
          <p:cNvSpPr txBox="1"/>
          <p:nvPr/>
        </p:nvSpPr>
        <p:spPr>
          <a:xfrm>
            <a:off x="914400" y="4572000"/>
            <a:ext cx="2286000" cy="914400"/>
          </a:xfrm>
          <a:prstGeom prst="rect">
            <a:avLst/>
          </a:prstGeom>
          <a:noFill/>
          <a:ln/>
        </p:spPr>
        <p:txBody>
          <a:bodyPr wrap="square" lIns="0" tIns="0" rIns="0" bIns="0" rtlCol="0" anchor="ctr"/>
          <a:lstStyle/>
          <a:p>
            <a:pPr marL="0" indent="0">
              <a:lnSpc>
                <a:spcPct val="125000"/>
              </a:lnSpc>
              <a:buNone/>
            </a:pPr>
            <a:r>
              <a:rPr lang="en-US" sz="1150" i="1" dirty="0">
                <a:solidFill>
                  <a:srgbClr val="5B6B75"/>
                </a:solidFill>
                <a:latin typeface="Calibri" pitchFamily="34" charset="0"/>
                <a:ea typeface="Calibri" pitchFamily="34" charset="-122"/>
                <a:cs typeface="Calibri" pitchFamily="34" charset="-120"/>
              </a:rPr>
              <a:t>Media, food, consumer goods</a:t>
            </a:r>
            <a:endParaRPr lang="en-US" sz="1150" dirty="0"/>
          </a:p>
        </p:txBody>
      </p:sp>
      <p:sp>
        <p:nvSpPr>
          <p:cNvPr id="14" name="Shape 11"/>
          <p:cNvSpPr/>
          <p:nvPr/>
        </p:nvSpPr>
        <p:spPr>
          <a:xfrm>
            <a:off x="3657600" y="1417320"/>
            <a:ext cx="2651760" cy="4206240"/>
          </a:xfrm>
          <a:prstGeom prst="roundRect">
            <a:avLst>
              <a:gd name="adj" fmla="val 2759"/>
            </a:avLst>
          </a:prstGeom>
          <a:solidFill>
            <a:srgbClr val="EAF3F7"/>
          </a:solidFill>
          <a:ln/>
        </p:spPr>
        <p:txBody>
          <a:bodyPr/>
          <a:lstStyle/>
          <a:p>
            <a:endParaRPr lang="en-US"/>
          </a:p>
        </p:txBody>
      </p:sp>
      <p:sp>
        <p:nvSpPr>
          <p:cNvPr id="15" name="Shape 12"/>
          <p:cNvSpPr/>
          <p:nvPr/>
        </p:nvSpPr>
        <p:spPr>
          <a:xfrm>
            <a:off x="3657600" y="1417320"/>
            <a:ext cx="2651760" cy="960120"/>
          </a:xfrm>
          <a:prstGeom prst="rect">
            <a:avLst/>
          </a:prstGeom>
          <a:solidFill>
            <a:srgbClr val="1C7293"/>
          </a:solidFill>
          <a:ln/>
        </p:spPr>
        <p:txBody>
          <a:bodyPr/>
          <a:lstStyle/>
          <a:p>
            <a:endParaRPr lang="en-US"/>
          </a:p>
        </p:txBody>
      </p:sp>
      <p:sp>
        <p:nvSpPr>
          <p:cNvPr id="18" name="Text 14"/>
          <p:cNvSpPr txBox="1"/>
          <p:nvPr/>
        </p:nvSpPr>
        <p:spPr>
          <a:xfrm>
            <a:off x="3657600" y="246888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Administrative</a:t>
            </a:r>
            <a:endParaRPr lang="en-US" sz="1500" dirty="0"/>
          </a:p>
        </p:txBody>
      </p:sp>
      <p:sp>
        <p:nvSpPr>
          <p:cNvPr id="20" name="Text 16"/>
          <p:cNvSpPr txBox="1"/>
          <p:nvPr/>
        </p:nvSpPr>
        <p:spPr>
          <a:xfrm>
            <a:off x="3840480" y="3200400"/>
            <a:ext cx="2286000" cy="105156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Colonial ties, trade blocs, hostility, policy</a:t>
            </a:r>
            <a:endParaRPr lang="en-US" sz="1150" dirty="0"/>
          </a:p>
        </p:txBody>
      </p:sp>
      <p:sp>
        <p:nvSpPr>
          <p:cNvPr id="21" name="Text 17"/>
          <p:cNvSpPr txBox="1"/>
          <p:nvPr/>
        </p:nvSpPr>
        <p:spPr>
          <a:xfrm>
            <a:off x="3840480" y="4297680"/>
            <a:ext cx="2286000" cy="274320"/>
          </a:xfrm>
          <a:prstGeom prst="rect">
            <a:avLst/>
          </a:prstGeom>
          <a:noFill/>
          <a:ln/>
        </p:spPr>
        <p:txBody>
          <a:bodyPr wrap="square" lIns="0" tIns="0" rIns="0" bIns="0" rtlCol="0" anchor="ctr"/>
          <a:lstStyle/>
          <a:p>
            <a:pPr marL="0" indent="0">
              <a:buNone/>
            </a:pPr>
            <a:r>
              <a:rPr lang="en-US" sz="900" b="1" kern="0" spc="100" dirty="0">
                <a:solidFill>
                  <a:srgbClr val="1C7293"/>
                </a:solidFill>
                <a:latin typeface="Calibri" pitchFamily="34" charset="0"/>
                <a:ea typeface="Calibri" pitchFamily="34" charset="-122"/>
                <a:cs typeface="Calibri" pitchFamily="34" charset="-120"/>
              </a:rPr>
              <a:t>INDUSTRIES AFFECTED</a:t>
            </a:r>
            <a:endParaRPr lang="en-US" sz="900" dirty="0"/>
          </a:p>
        </p:txBody>
      </p:sp>
      <p:sp>
        <p:nvSpPr>
          <p:cNvPr id="22" name="Text 18"/>
          <p:cNvSpPr txBox="1"/>
          <p:nvPr/>
        </p:nvSpPr>
        <p:spPr>
          <a:xfrm>
            <a:off x="3840480" y="4572000"/>
            <a:ext cx="2286000" cy="914400"/>
          </a:xfrm>
          <a:prstGeom prst="rect">
            <a:avLst/>
          </a:prstGeom>
          <a:noFill/>
          <a:ln/>
        </p:spPr>
        <p:txBody>
          <a:bodyPr wrap="square" lIns="0" tIns="0" rIns="0" bIns="0" rtlCol="0" anchor="ctr"/>
          <a:lstStyle/>
          <a:p>
            <a:pPr marL="0" indent="0">
              <a:lnSpc>
                <a:spcPct val="125000"/>
              </a:lnSpc>
              <a:buNone/>
            </a:pPr>
            <a:r>
              <a:rPr lang="en-US" sz="1150" i="1" dirty="0">
                <a:solidFill>
                  <a:srgbClr val="5B6B75"/>
                </a:solidFill>
                <a:latin typeface="Calibri" pitchFamily="34" charset="0"/>
                <a:ea typeface="Calibri" pitchFamily="34" charset="-122"/>
                <a:cs typeface="Calibri" pitchFamily="34" charset="-120"/>
              </a:rPr>
              <a:t>Staples, national champions, security</a:t>
            </a:r>
            <a:endParaRPr lang="en-US" sz="1150" dirty="0"/>
          </a:p>
        </p:txBody>
      </p:sp>
      <p:sp>
        <p:nvSpPr>
          <p:cNvPr id="23" name="Shape 19"/>
          <p:cNvSpPr/>
          <p:nvPr/>
        </p:nvSpPr>
        <p:spPr>
          <a:xfrm>
            <a:off x="6583680" y="1417320"/>
            <a:ext cx="2651760" cy="4206240"/>
          </a:xfrm>
          <a:prstGeom prst="roundRect">
            <a:avLst>
              <a:gd name="adj" fmla="val 2759"/>
            </a:avLst>
          </a:prstGeom>
          <a:solidFill>
            <a:srgbClr val="EAF3F7"/>
          </a:solidFill>
          <a:ln/>
        </p:spPr>
        <p:txBody>
          <a:bodyPr/>
          <a:lstStyle/>
          <a:p>
            <a:endParaRPr lang="en-US"/>
          </a:p>
        </p:txBody>
      </p:sp>
      <p:sp>
        <p:nvSpPr>
          <p:cNvPr id="24" name="Shape 20"/>
          <p:cNvSpPr/>
          <p:nvPr/>
        </p:nvSpPr>
        <p:spPr>
          <a:xfrm>
            <a:off x="6583680" y="1417320"/>
            <a:ext cx="2651760" cy="960120"/>
          </a:xfrm>
          <a:prstGeom prst="rect">
            <a:avLst/>
          </a:prstGeom>
          <a:solidFill>
            <a:srgbClr val="3E7CA6"/>
          </a:solidFill>
          <a:ln/>
        </p:spPr>
        <p:txBody>
          <a:bodyPr/>
          <a:lstStyle/>
          <a:p>
            <a:endParaRPr lang="en-US"/>
          </a:p>
        </p:txBody>
      </p:sp>
      <p:sp>
        <p:nvSpPr>
          <p:cNvPr id="27" name="Text 22"/>
          <p:cNvSpPr txBox="1"/>
          <p:nvPr/>
        </p:nvSpPr>
        <p:spPr>
          <a:xfrm>
            <a:off x="6583680" y="246888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Geographic</a:t>
            </a:r>
            <a:endParaRPr lang="en-US" sz="1500" dirty="0"/>
          </a:p>
        </p:txBody>
      </p:sp>
      <p:sp>
        <p:nvSpPr>
          <p:cNvPr id="29" name="Text 24"/>
          <p:cNvSpPr txBox="1"/>
          <p:nvPr/>
        </p:nvSpPr>
        <p:spPr>
          <a:xfrm>
            <a:off x="6766560" y="3200400"/>
            <a:ext cx="2286000" cy="105156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Physical remoteness, size, infrastructure</a:t>
            </a:r>
            <a:endParaRPr lang="en-US" sz="1150" dirty="0"/>
          </a:p>
        </p:txBody>
      </p:sp>
      <p:sp>
        <p:nvSpPr>
          <p:cNvPr id="30" name="Text 25"/>
          <p:cNvSpPr txBox="1"/>
          <p:nvPr/>
        </p:nvSpPr>
        <p:spPr>
          <a:xfrm>
            <a:off x="6766560" y="4297680"/>
            <a:ext cx="2286000" cy="274320"/>
          </a:xfrm>
          <a:prstGeom prst="rect">
            <a:avLst/>
          </a:prstGeom>
          <a:noFill/>
          <a:ln/>
        </p:spPr>
        <p:txBody>
          <a:bodyPr wrap="square" lIns="0" tIns="0" rIns="0" bIns="0" rtlCol="0" anchor="ctr"/>
          <a:lstStyle/>
          <a:p>
            <a:pPr marL="0" indent="0">
              <a:buNone/>
            </a:pPr>
            <a:r>
              <a:rPr lang="en-US" sz="900" b="1" kern="0" spc="100" dirty="0">
                <a:solidFill>
                  <a:srgbClr val="3E7CA6"/>
                </a:solidFill>
                <a:latin typeface="Calibri" pitchFamily="34" charset="0"/>
                <a:ea typeface="Calibri" pitchFamily="34" charset="-122"/>
                <a:cs typeface="Calibri" pitchFamily="34" charset="-120"/>
              </a:rPr>
              <a:t>INDUSTRIES AFFECTED</a:t>
            </a:r>
            <a:endParaRPr lang="en-US" sz="900" dirty="0"/>
          </a:p>
        </p:txBody>
      </p:sp>
      <p:sp>
        <p:nvSpPr>
          <p:cNvPr id="31" name="Text 26"/>
          <p:cNvSpPr txBox="1"/>
          <p:nvPr/>
        </p:nvSpPr>
        <p:spPr>
          <a:xfrm>
            <a:off x="6766560" y="4572000"/>
            <a:ext cx="2286000" cy="914400"/>
          </a:xfrm>
          <a:prstGeom prst="rect">
            <a:avLst/>
          </a:prstGeom>
          <a:noFill/>
          <a:ln/>
        </p:spPr>
        <p:txBody>
          <a:bodyPr wrap="square" lIns="0" tIns="0" rIns="0" bIns="0" rtlCol="0" anchor="ctr"/>
          <a:lstStyle/>
          <a:p>
            <a:pPr marL="0" indent="0">
              <a:lnSpc>
                <a:spcPct val="125000"/>
              </a:lnSpc>
              <a:buNone/>
            </a:pPr>
            <a:r>
              <a:rPr lang="en-US" sz="1150" i="1" dirty="0">
                <a:solidFill>
                  <a:srgbClr val="5B6B75"/>
                </a:solidFill>
                <a:latin typeface="Calibri" pitchFamily="34" charset="0"/>
                <a:ea typeface="Calibri" pitchFamily="34" charset="-122"/>
                <a:cs typeface="Calibri" pitchFamily="34" charset="-120"/>
              </a:rPr>
              <a:t>Bulky, fragile, or perishable goods</a:t>
            </a:r>
            <a:endParaRPr lang="en-US" sz="1150" dirty="0"/>
          </a:p>
        </p:txBody>
      </p:sp>
      <p:sp>
        <p:nvSpPr>
          <p:cNvPr id="32" name="Shape 27"/>
          <p:cNvSpPr/>
          <p:nvPr/>
        </p:nvSpPr>
        <p:spPr>
          <a:xfrm>
            <a:off x="9509760" y="1417320"/>
            <a:ext cx="2651760" cy="4206240"/>
          </a:xfrm>
          <a:prstGeom prst="roundRect">
            <a:avLst>
              <a:gd name="adj" fmla="val 2759"/>
            </a:avLst>
          </a:prstGeom>
          <a:solidFill>
            <a:srgbClr val="EAF3F7"/>
          </a:solidFill>
          <a:ln/>
        </p:spPr>
        <p:txBody>
          <a:bodyPr/>
          <a:lstStyle/>
          <a:p>
            <a:endParaRPr lang="en-US"/>
          </a:p>
        </p:txBody>
      </p:sp>
      <p:sp>
        <p:nvSpPr>
          <p:cNvPr id="33" name="Shape 28"/>
          <p:cNvSpPr/>
          <p:nvPr/>
        </p:nvSpPr>
        <p:spPr>
          <a:xfrm>
            <a:off x="9509760" y="1417320"/>
            <a:ext cx="2651760" cy="960120"/>
          </a:xfrm>
          <a:prstGeom prst="rect">
            <a:avLst/>
          </a:prstGeom>
          <a:solidFill>
            <a:srgbClr val="21295C"/>
          </a:solidFill>
          <a:ln/>
        </p:spPr>
        <p:txBody>
          <a:bodyPr/>
          <a:lstStyle/>
          <a:p>
            <a:endParaRPr lang="en-US"/>
          </a:p>
        </p:txBody>
      </p:sp>
      <p:sp>
        <p:nvSpPr>
          <p:cNvPr id="36" name="Text 30"/>
          <p:cNvSpPr txBox="1"/>
          <p:nvPr/>
        </p:nvSpPr>
        <p:spPr>
          <a:xfrm>
            <a:off x="9509760" y="246888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Economic</a:t>
            </a:r>
            <a:endParaRPr lang="en-US" sz="1500" dirty="0"/>
          </a:p>
        </p:txBody>
      </p:sp>
      <p:sp>
        <p:nvSpPr>
          <p:cNvPr id="38" name="Text 32"/>
          <p:cNvSpPr txBox="1"/>
          <p:nvPr/>
        </p:nvSpPr>
        <p:spPr>
          <a:xfrm>
            <a:off x="9692640" y="3200400"/>
            <a:ext cx="2286000" cy="105156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Income and cost differences</a:t>
            </a:r>
            <a:endParaRPr lang="en-US" sz="1150" dirty="0"/>
          </a:p>
        </p:txBody>
      </p:sp>
      <p:sp>
        <p:nvSpPr>
          <p:cNvPr id="39" name="Text 33"/>
          <p:cNvSpPr txBox="1"/>
          <p:nvPr/>
        </p:nvSpPr>
        <p:spPr>
          <a:xfrm>
            <a:off x="9692640" y="4297680"/>
            <a:ext cx="2286000" cy="274320"/>
          </a:xfrm>
          <a:prstGeom prst="rect">
            <a:avLst/>
          </a:prstGeom>
          <a:noFill/>
          <a:ln/>
        </p:spPr>
        <p:txBody>
          <a:bodyPr wrap="square" lIns="0" tIns="0" rIns="0" bIns="0" rtlCol="0" anchor="ctr"/>
          <a:lstStyle/>
          <a:p>
            <a:pPr marL="0" indent="0">
              <a:buNone/>
            </a:pPr>
            <a:r>
              <a:rPr lang="en-US" sz="900" b="1" kern="0" spc="100" dirty="0">
                <a:solidFill>
                  <a:srgbClr val="21295C"/>
                </a:solidFill>
                <a:latin typeface="Calibri" pitchFamily="34" charset="0"/>
                <a:ea typeface="Calibri" pitchFamily="34" charset="-122"/>
                <a:cs typeface="Calibri" pitchFamily="34" charset="-120"/>
              </a:rPr>
              <a:t>INDUSTRIES AFFECTED</a:t>
            </a:r>
            <a:endParaRPr lang="en-US" sz="900" dirty="0"/>
          </a:p>
        </p:txBody>
      </p:sp>
      <p:sp>
        <p:nvSpPr>
          <p:cNvPr id="40" name="Text 34"/>
          <p:cNvSpPr txBox="1"/>
          <p:nvPr/>
        </p:nvSpPr>
        <p:spPr>
          <a:xfrm>
            <a:off x="9692640" y="4572000"/>
            <a:ext cx="2286000" cy="914400"/>
          </a:xfrm>
          <a:prstGeom prst="rect">
            <a:avLst/>
          </a:prstGeom>
          <a:noFill/>
          <a:ln/>
        </p:spPr>
        <p:txBody>
          <a:bodyPr wrap="square" lIns="0" tIns="0" rIns="0" bIns="0" rtlCol="0" anchor="ctr"/>
          <a:lstStyle/>
          <a:p>
            <a:pPr marL="0" indent="0">
              <a:lnSpc>
                <a:spcPct val="125000"/>
              </a:lnSpc>
              <a:buNone/>
            </a:pPr>
            <a:r>
              <a:rPr lang="en-US" sz="1150" i="1" dirty="0">
                <a:solidFill>
                  <a:srgbClr val="5B6B75"/>
                </a:solidFill>
                <a:latin typeface="Calibri" pitchFamily="34" charset="0"/>
                <a:ea typeface="Calibri" pitchFamily="34" charset="-122"/>
                <a:cs typeface="Calibri" pitchFamily="34" charset="-120"/>
              </a:rPr>
              <a:t>Labor-intensive &amp; scale-driven goods</a:t>
            </a:r>
            <a:endParaRPr lang="en-US" sz="1150" dirty="0"/>
          </a:p>
        </p:txBody>
      </p:sp>
      <p:sp>
        <p:nvSpPr>
          <p:cNvPr id="41" name="Text 35"/>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Ghemawat (2001) · CAGE = Cultural, Administrative, Geographic, Economic</a:t>
            </a:r>
            <a:endParaRPr lang="en-US" sz="900" dirty="0"/>
          </a:p>
        </p:txBody>
      </p:sp>
      <p:sp>
        <p:nvSpPr>
          <p:cNvPr id="42" name="Text 36"/>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411480"/>
            <a:ext cx="7315200" cy="548640"/>
          </a:xfrm>
          <a:prstGeom prst="rect">
            <a:avLst/>
          </a:prstGeom>
          <a:noFill/>
          <a:ln/>
        </p:spPr>
        <p:txBody>
          <a:bodyPr wrap="square" lIns="0" tIns="0" rIns="0" bIns="0"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Distance in Practice</a:t>
            </a:r>
            <a:endParaRPr lang="en-US" sz="2600" dirty="0"/>
          </a:p>
        </p:txBody>
      </p:sp>
      <p:sp>
        <p:nvSpPr>
          <p:cNvPr id="3" name="Shape 1"/>
          <p:cNvSpPr/>
          <p:nvPr/>
        </p:nvSpPr>
        <p:spPr>
          <a:xfrm>
            <a:off x="731520" y="1234440"/>
            <a:ext cx="5212080" cy="4480560"/>
          </a:xfrm>
          <a:prstGeom prst="roundRect">
            <a:avLst>
              <a:gd name="adj" fmla="val 2041"/>
            </a:avLst>
          </a:prstGeom>
          <a:solidFill>
            <a:srgbClr val="EAF3F7"/>
          </a:solidFill>
          <a:ln/>
        </p:spPr>
        <p:txBody>
          <a:bodyPr/>
          <a:lstStyle/>
          <a:p>
            <a:endParaRPr lang="en-US"/>
          </a:p>
        </p:txBody>
      </p:sp>
      <p:sp>
        <p:nvSpPr>
          <p:cNvPr id="6" name="Text 3"/>
          <p:cNvSpPr txBox="1"/>
          <p:nvPr/>
        </p:nvSpPr>
        <p:spPr>
          <a:xfrm>
            <a:off x="1828800" y="1554480"/>
            <a:ext cx="3931920" cy="365760"/>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Star TV (Asia, 1991-99)</a:t>
            </a:r>
            <a:endParaRPr lang="en-US" sz="1500" dirty="0"/>
          </a:p>
        </p:txBody>
      </p:sp>
      <p:sp>
        <p:nvSpPr>
          <p:cNvPr id="7" name="Text 4"/>
          <p:cNvSpPr txBox="1"/>
          <p:nvPr/>
        </p:nvSpPr>
        <p:spPr>
          <a:xfrm>
            <a:off x="1051560" y="2057400"/>
            <a:ext cx="4617720" cy="3520440"/>
          </a:xfrm>
          <a:prstGeom prst="rect">
            <a:avLst/>
          </a:prstGeom>
          <a:noFill/>
          <a:ln/>
        </p:spPr>
        <p:txBody>
          <a:bodyPr wrap="square" lIns="0" tIns="0" rIns="0" bIns="0" rtlCol="0" anchor="t"/>
          <a:lstStyle/>
          <a:p>
            <a:pPr marL="0" indent="0">
              <a:lnSpc>
                <a:spcPct val="130000"/>
              </a:lnSpc>
              <a:buNone/>
            </a:pPr>
            <a:r>
              <a:rPr lang="en-US" sz="1350" dirty="0">
                <a:solidFill>
                  <a:srgbClr val="2B2B2B"/>
                </a:solidFill>
                <a:latin typeface="Calibri" pitchFamily="34" charset="0"/>
                <a:ea typeface="Calibri" pitchFamily="34" charset="-122"/>
                <a:cs typeface="Calibri" pitchFamily="34" charset="-120"/>
              </a:rPr>
              <a:t>News Corp. paid </a:t>
            </a:r>
            <a:r>
              <a:rPr lang="en-US" sz="1350" b="1" dirty="0">
                <a:solidFill>
                  <a:srgbClr val="065A82"/>
                </a:solidFill>
                <a:latin typeface="Calibri" pitchFamily="34" charset="0"/>
                <a:ea typeface="Calibri" pitchFamily="34" charset="-122"/>
                <a:cs typeface="Calibri" pitchFamily="34" charset="-120"/>
              </a:rPr>
              <a:t>$825M</a:t>
            </a:r>
            <a:r>
              <a:rPr lang="en-US" sz="1350" dirty="0">
                <a:solidFill>
                  <a:srgbClr val="2B2B2B"/>
                </a:solidFill>
                <a:latin typeface="Calibri" pitchFamily="34" charset="0"/>
                <a:ea typeface="Calibri" pitchFamily="34" charset="-122"/>
                <a:cs typeface="Calibri" pitchFamily="34" charset="-120"/>
              </a:rPr>
              <a:t> for a pan-Asian satellite network built on English-language content.</a:t>
            </a:r>
            <a:endParaRPr lang="en-US" sz="1350" dirty="0"/>
          </a:p>
          <a:p>
            <a:pPr marL="0" indent="0">
              <a:lnSpc>
                <a:spcPct val="130000"/>
              </a:lnSpc>
              <a:buNone/>
            </a:pPr>
            <a:r>
              <a:rPr lang="en-US" sz="1350" b="1" dirty="0">
                <a:solidFill>
                  <a:srgbClr val="2B2B2B"/>
                </a:solidFill>
                <a:latin typeface="Calibri" pitchFamily="34" charset="0"/>
                <a:ea typeface="Calibri" pitchFamily="34" charset="-122"/>
                <a:cs typeface="Calibri" pitchFamily="34" charset="-120"/>
              </a:rPr>
              <a:t>Ignored: </a:t>
            </a:r>
            <a:endParaRPr lang="en-US" sz="1350" dirty="0"/>
          </a:p>
          <a:p>
            <a:pPr marL="0" indent="0">
              <a:lnSpc>
                <a:spcPct val="130000"/>
              </a:lnSpc>
              <a:buNone/>
            </a:pPr>
            <a:r>
              <a:rPr lang="en-US" sz="1350" b="1" dirty="0">
                <a:solidFill>
                  <a:srgbClr val="065A82"/>
                </a:solidFill>
                <a:latin typeface="Calibri" pitchFamily="34" charset="0"/>
                <a:ea typeface="Calibri" pitchFamily="34" charset="-122"/>
                <a:cs typeface="Calibri" pitchFamily="34" charset="-120"/>
              </a:rPr>
              <a:t>cultural distance</a:t>
            </a:r>
            <a:r>
              <a:rPr lang="en-US" sz="1350" dirty="0">
                <a:solidFill>
                  <a:srgbClr val="2B2B2B"/>
                </a:solidFill>
                <a:latin typeface="Calibri" pitchFamily="34" charset="0"/>
                <a:ea typeface="Calibri" pitchFamily="34" charset="-122"/>
                <a:cs typeface="Calibri" pitchFamily="34" charset="-120"/>
              </a:rPr>
              <a:t> (viewers wanted local content) and </a:t>
            </a:r>
            <a:r>
              <a:rPr lang="en-US" sz="1350" b="1" dirty="0">
                <a:solidFill>
                  <a:srgbClr val="065A82"/>
                </a:solidFill>
                <a:latin typeface="Calibri" pitchFamily="34" charset="0"/>
                <a:ea typeface="Calibri" pitchFamily="34" charset="-122"/>
                <a:cs typeface="Calibri" pitchFamily="34" charset="-120"/>
              </a:rPr>
              <a:t>administrative distance</a:t>
            </a:r>
            <a:r>
              <a:rPr lang="en-US" sz="1350" dirty="0">
                <a:solidFill>
                  <a:srgbClr val="2B2B2B"/>
                </a:solidFill>
                <a:latin typeface="Calibri" pitchFamily="34" charset="0"/>
                <a:ea typeface="Calibri" pitchFamily="34" charset="-122"/>
                <a:cs typeface="Calibri" pitchFamily="34" charset="-120"/>
              </a:rPr>
              <a:t> (China banned foreign satellite TV).</a:t>
            </a:r>
            <a:endParaRPr lang="en-US" sz="1350" dirty="0"/>
          </a:p>
          <a:p>
            <a:pPr marL="0" indent="0">
              <a:lnSpc>
                <a:spcPct val="130000"/>
              </a:lnSpc>
              <a:buNone/>
            </a:pPr>
            <a:r>
              <a:rPr lang="en-US" sz="1350" b="1" dirty="0">
                <a:solidFill>
                  <a:srgbClr val="2B2B2B"/>
                </a:solidFill>
                <a:latin typeface="Calibri" pitchFamily="34" charset="0"/>
                <a:ea typeface="Calibri" pitchFamily="34" charset="-122"/>
                <a:cs typeface="Calibri" pitchFamily="34" charset="-120"/>
              </a:rPr>
              <a:t>Result: </a:t>
            </a:r>
            <a:endParaRPr lang="en-US" sz="1350" dirty="0"/>
          </a:p>
          <a:p>
            <a:pPr marL="0" indent="0">
              <a:lnSpc>
                <a:spcPct val="130000"/>
              </a:lnSpc>
              <a:buNone/>
            </a:pPr>
            <a:r>
              <a:rPr lang="en-US" sz="1350" b="1" dirty="0">
                <a:solidFill>
                  <a:srgbClr val="E8A33D"/>
                </a:solidFill>
                <a:latin typeface="Calibri" pitchFamily="34" charset="0"/>
                <a:ea typeface="Calibri" pitchFamily="34" charset="-122"/>
                <a:cs typeface="Calibri" pitchFamily="34" charset="-120"/>
              </a:rPr>
              <a:t>~$500M in losses</a:t>
            </a:r>
            <a:r>
              <a:rPr lang="en-US" sz="1350" dirty="0">
                <a:solidFill>
                  <a:srgbClr val="2B2B2B"/>
                </a:solidFill>
                <a:latin typeface="Calibri" pitchFamily="34" charset="0"/>
                <a:ea typeface="Calibri" pitchFamily="34" charset="-122"/>
                <a:cs typeface="Calibri" pitchFamily="34" charset="-120"/>
              </a:rPr>
              <a:t> (FY1996-99); no profit until 2002.</a:t>
            </a:r>
            <a:endParaRPr lang="en-US" sz="1350" dirty="0"/>
          </a:p>
        </p:txBody>
      </p:sp>
      <p:sp>
        <p:nvSpPr>
          <p:cNvPr id="8" name="Shape 5"/>
          <p:cNvSpPr/>
          <p:nvPr/>
        </p:nvSpPr>
        <p:spPr>
          <a:xfrm>
            <a:off x="6263640" y="1234440"/>
            <a:ext cx="5166360" cy="4480560"/>
          </a:xfrm>
          <a:prstGeom prst="roundRect">
            <a:avLst>
              <a:gd name="adj" fmla="val 2041"/>
            </a:avLst>
          </a:prstGeom>
          <a:solidFill>
            <a:srgbClr val="065A82"/>
          </a:solidFill>
          <a:ln/>
        </p:spPr>
        <p:txBody>
          <a:bodyPr/>
          <a:lstStyle/>
          <a:p>
            <a:endParaRPr lang="en-US"/>
          </a:p>
        </p:txBody>
      </p:sp>
      <p:sp>
        <p:nvSpPr>
          <p:cNvPr id="11" name="Text 7"/>
          <p:cNvSpPr txBox="1"/>
          <p:nvPr/>
        </p:nvSpPr>
        <p:spPr>
          <a:xfrm>
            <a:off x="7360920" y="1554480"/>
            <a:ext cx="39319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Tricon Restaurants &amp; Mexico</a:t>
            </a:r>
            <a:endParaRPr lang="en-US" sz="1500" dirty="0"/>
          </a:p>
        </p:txBody>
      </p:sp>
      <p:sp>
        <p:nvSpPr>
          <p:cNvPr id="12" name="Text 8"/>
          <p:cNvSpPr txBox="1"/>
          <p:nvPr/>
        </p:nvSpPr>
        <p:spPr>
          <a:xfrm>
            <a:off x="6583680" y="2057400"/>
            <a:ext cx="4617720" cy="3520440"/>
          </a:xfrm>
          <a:prstGeom prst="rect">
            <a:avLst/>
          </a:prstGeom>
          <a:noFill/>
          <a:ln/>
        </p:spPr>
        <p:txBody>
          <a:bodyPr wrap="square" lIns="0" tIns="0" rIns="0" bIns="0" rtlCol="0" anchor="t"/>
          <a:lstStyle/>
          <a:p>
            <a:pPr marL="0" indent="0">
              <a:lnSpc>
                <a:spcPct val="130000"/>
              </a:lnSpc>
              <a:buNone/>
            </a:pPr>
            <a:r>
              <a:rPr lang="en-US" sz="1350" dirty="0">
                <a:solidFill>
                  <a:srgbClr val="E9F1F6"/>
                </a:solidFill>
                <a:latin typeface="Calibri" pitchFamily="34" charset="0"/>
                <a:ea typeface="Calibri" pitchFamily="34" charset="-122"/>
                <a:cs typeface="Calibri" pitchFamily="34" charset="-120"/>
              </a:rPr>
              <a:t>By raw CPA (fast-food consumption), Mexico ranked </a:t>
            </a:r>
            <a:r>
              <a:rPr lang="en-US" sz="1350" b="1" dirty="0">
                <a:solidFill>
                  <a:srgbClr val="E8A33D"/>
                </a:solidFill>
                <a:latin typeface="Calibri" pitchFamily="34" charset="0"/>
                <a:ea typeface="Calibri" pitchFamily="34" charset="-122"/>
                <a:cs typeface="Calibri" pitchFamily="34" charset="-120"/>
              </a:rPr>
              <a:t>16th of 20</a:t>
            </a:r>
            <a:r>
              <a:rPr lang="en-US" sz="1350" dirty="0">
                <a:solidFill>
                  <a:srgbClr val="E9F1F6"/>
                </a:solidFill>
                <a:latin typeface="Calibri" pitchFamily="34" charset="0"/>
                <a:ea typeface="Calibri" pitchFamily="34" charset="-122"/>
                <a:cs typeface="Calibri" pitchFamily="34" charset="-120"/>
              </a:rPr>
              <a:t> markets — a candidate for divestment.</a:t>
            </a:r>
            <a:endParaRPr lang="en-US" sz="1350" dirty="0"/>
          </a:p>
          <a:p>
            <a:pPr marL="0" indent="0">
              <a:lnSpc>
                <a:spcPct val="130000"/>
              </a:lnSpc>
              <a:buNone/>
            </a:pPr>
            <a:r>
              <a:rPr lang="en-US" sz="1350" dirty="0">
                <a:solidFill>
                  <a:srgbClr val="E9F1F6"/>
                </a:solidFill>
                <a:latin typeface="Calibri" pitchFamily="34" charset="0"/>
                <a:ea typeface="Calibri" pitchFamily="34" charset="-122"/>
                <a:cs typeface="Calibri" pitchFamily="34" charset="-120"/>
              </a:rPr>
              <a:t>Adjusted for geographic proximity to Dallas, a shared border, and a trade agreement, Mexico jumped to </a:t>
            </a:r>
            <a:endParaRPr lang="en-US" sz="1350" dirty="0"/>
          </a:p>
          <a:p>
            <a:pPr marL="0" indent="0">
              <a:lnSpc>
                <a:spcPct val="130000"/>
              </a:lnSpc>
              <a:buNone/>
            </a:pPr>
            <a:r>
              <a:rPr lang="en-US" sz="1350" b="1" dirty="0">
                <a:solidFill>
                  <a:srgbClr val="E8A33D"/>
                </a:solidFill>
                <a:latin typeface="Calibri" pitchFamily="34" charset="0"/>
                <a:ea typeface="Calibri" pitchFamily="34" charset="-122"/>
                <a:cs typeface="Calibri" pitchFamily="34" charset="-120"/>
              </a:rPr>
              <a:t>2nd place</a:t>
            </a:r>
            <a:r>
              <a:rPr lang="en-US" sz="1350" dirty="0">
                <a:solidFill>
                  <a:srgbClr val="E9F1F6"/>
                </a:solidFill>
                <a:latin typeface="Calibri" pitchFamily="34" charset="0"/>
                <a:ea typeface="Calibri" pitchFamily="34" charset="-122"/>
                <a:cs typeface="Calibri" pitchFamily="34" charset="-120"/>
              </a:rPr>
              <a:t>.</a:t>
            </a:r>
            <a:endParaRPr lang="en-US" sz="1350" dirty="0"/>
          </a:p>
          <a:p>
            <a:pPr marL="0" indent="0">
              <a:lnSpc>
                <a:spcPct val="130000"/>
              </a:lnSpc>
              <a:buNone/>
            </a:pPr>
            <a:r>
              <a:rPr lang="en-US" sz="1350" dirty="0">
                <a:solidFill>
                  <a:srgbClr val="E9F1F6"/>
                </a:solidFill>
                <a:latin typeface="Calibri" pitchFamily="34" charset="0"/>
                <a:ea typeface="Calibri" pitchFamily="34" charset="-122"/>
                <a:cs typeface="Calibri" pitchFamily="34" charset="-120"/>
              </a:rPr>
              <a:t>Outcome: Mexico became </a:t>
            </a:r>
            <a:endParaRPr lang="en-US" sz="1350" dirty="0"/>
          </a:p>
          <a:p>
            <a:pPr marL="0" indent="0">
              <a:lnSpc>
                <a:spcPct val="130000"/>
              </a:lnSpc>
              <a:buNone/>
            </a:pPr>
            <a:r>
              <a:rPr lang="en-US" sz="1350" b="1" dirty="0">
                <a:solidFill>
                  <a:srgbClr val="FFFFFF"/>
                </a:solidFill>
                <a:latin typeface="Calibri" pitchFamily="34" charset="0"/>
                <a:ea typeface="Calibri" pitchFamily="34" charset="-122"/>
                <a:cs typeface="Calibri" pitchFamily="34" charset="-120"/>
              </a:rPr>
              <a:t>one of Tricon's top 2-3 global priorities</a:t>
            </a:r>
            <a:r>
              <a:rPr lang="en-US" sz="1350" dirty="0">
                <a:solidFill>
                  <a:srgbClr val="E9F1F6"/>
                </a:solidFill>
                <a:latin typeface="Calibri" pitchFamily="34" charset="0"/>
                <a:ea typeface="Calibri" pitchFamily="34" charset="-122"/>
                <a:cs typeface="Calibri" pitchFamily="34" charset="-120"/>
              </a:rPr>
              <a:t>.</a:t>
            </a:r>
            <a:endParaRPr lang="en-US" sz="1350" dirty="0"/>
          </a:p>
        </p:txBody>
      </p:sp>
      <p:sp>
        <p:nvSpPr>
          <p:cNvPr id="13" name="Text 9"/>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Ghemawat (2001) · Two contrasting outcomes of ignoring vs. applying CAGE</a:t>
            </a:r>
            <a:endParaRPr lang="en-US" sz="900" dirty="0"/>
          </a:p>
        </p:txBody>
      </p:sp>
      <p:sp>
        <p:nvSpPr>
          <p:cNvPr id="14" name="Text 10"/>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731520" y="749808"/>
            <a:ext cx="9601200" cy="685800"/>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Family Firm Internationalization</a:t>
            </a:r>
            <a:endParaRPr lang="en-US" sz="2700" dirty="0"/>
          </a:p>
        </p:txBody>
      </p:sp>
      <p:sp>
        <p:nvSpPr>
          <p:cNvPr id="4" name="Text 2"/>
          <p:cNvSpPr txBox="1"/>
          <p:nvPr/>
        </p:nvSpPr>
        <p:spPr>
          <a:xfrm>
            <a:off x="731520" y="1353312"/>
            <a:ext cx="10058400" cy="320040"/>
          </a:xfrm>
          <a:prstGeom prst="rect">
            <a:avLst/>
          </a:prstGeom>
          <a:noFill/>
          <a:ln/>
        </p:spPr>
        <p:txBody>
          <a:bodyPr wrap="square" lIns="0" tIns="0" rIns="0" bIns="0" rtlCol="0" anchor="ctr"/>
          <a:lstStyle/>
          <a:p>
            <a:pPr marL="0" indent="0">
              <a:buNone/>
            </a:pPr>
            <a:r>
              <a:rPr lang="en-US" sz="1250" i="1" dirty="0">
                <a:solidFill>
                  <a:srgbClr val="5B6B75"/>
                </a:solidFill>
                <a:latin typeface="Calibri" pitchFamily="34" charset="0"/>
                <a:ea typeface="Calibri" pitchFamily="34" charset="-122"/>
                <a:cs typeface="Calibri" pitchFamily="34" charset="-120"/>
              </a:rPr>
              <a:t>Arregle, Chirico, Kano, Kundu, Majocchi &amp; Schulze · Journal of International Business Studies, 2021</a:t>
            </a:r>
            <a:endParaRPr lang="en-US" sz="1250" dirty="0"/>
          </a:p>
        </p:txBody>
      </p:sp>
      <p:sp>
        <p:nvSpPr>
          <p:cNvPr id="7" name="Text 4"/>
          <p:cNvSpPr txBox="1"/>
          <p:nvPr/>
        </p:nvSpPr>
        <p:spPr>
          <a:xfrm>
            <a:off x="1828800" y="1965960"/>
            <a:ext cx="9418320" cy="822960"/>
          </a:xfrm>
          <a:prstGeom prst="rect">
            <a:avLst/>
          </a:prstGeom>
          <a:noFill/>
          <a:ln/>
        </p:spPr>
        <p:txBody>
          <a:bodyPr wrap="square" lIns="0" tIns="0" rIns="0" bIns="0" rtlCol="0" anchor="ctr"/>
          <a:lstStyle/>
          <a:p>
            <a:pPr marL="0" indent="0">
              <a:lnSpc>
                <a:spcPct val="130000"/>
              </a:lnSpc>
              <a:buNone/>
            </a:pPr>
            <a:r>
              <a:rPr lang="en-US" sz="1500" dirty="0">
                <a:solidFill>
                  <a:srgbClr val="2B2B2B"/>
                </a:solidFill>
                <a:latin typeface="Calibri" pitchFamily="34" charset="0"/>
                <a:ea typeface="Calibri" pitchFamily="34" charset="-122"/>
                <a:cs typeface="Calibri" pitchFamily="34" charset="-120"/>
              </a:rPr>
              <a:t>A systematic review (PRISMA-P) of </a:t>
            </a:r>
            <a:r>
              <a:rPr lang="en-US" sz="1500" b="1" dirty="0">
                <a:solidFill>
                  <a:srgbClr val="065A82"/>
                </a:solidFill>
                <a:latin typeface="Calibri" pitchFamily="34" charset="0"/>
                <a:ea typeface="Calibri" pitchFamily="34" charset="-122"/>
                <a:cs typeface="Calibri" pitchFamily="34" charset="-120"/>
              </a:rPr>
              <a:t>220 studies</a:t>
            </a:r>
            <a:r>
              <a:rPr lang="en-US" sz="1500" dirty="0">
                <a:solidFill>
                  <a:srgbClr val="2B2B2B"/>
                </a:solidFill>
                <a:latin typeface="Calibri" pitchFamily="34" charset="0"/>
                <a:ea typeface="Calibri" pitchFamily="34" charset="-122"/>
                <a:cs typeface="Calibri" pitchFamily="34" charset="-120"/>
              </a:rPr>
              <a:t> (1991-2020) on how family ownership and management shape internationalization.</a:t>
            </a:r>
            <a:endParaRPr lang="en-US" sz="1500" dirty="0"/>
          </a:p>
        </p:txBody>
      </p:sp>
      <p:sp>
        <p:nvSpPr>
          <p:cNvPr id="8" name="Shape 5"/>
          <p:cNvSpPr/>
          <p:nvPr/>
        </p:nvSpPr>
        <p:spPr>
          <a:xfrm>
            <a:off x="731520" y="3063240"/>
            <a:ext cx="2606040" cy="1417320"/>
          </a:xfrm>
          <a:prstGeom prst="roundRect">
            <a:avLst>
              <a:gd name="adj" fmla="val 5161"/>
            </a:avLst>
          </a:prstGeom>
          <a:solidFill>
            <a:srgbClr val="EAF3F7"/>
          </a:solidFill>
          <a:ln/>
        </p:spPr>
        <p:txBody>
          <a:bodyPr/>
          <a:lstStyle/>
          <a:p>
            <a:endParaRPr lang="en-US"/>
          </a:p>
        </p:txBody>
      </p:sp>
      <p:sp>
        <p:nvSpPr>
          <p:cNvPr id="9" name="Text 6"/>
          <p:cNvSpPr txBox="1"/>
          <p:nvPr/>
        </p:nvSpPr>
        <p:spPr>
          <a:xfrm>
            <a:off x="731520" y="3200400"/>
            <a:ext cx="2606040" cy="685800"/>
          </a:xfrm>
          <a:prstGeom prst="rect">
            <a:avLst/>
          </a:prstGeom>
          <a:noFill/>
          <a:ln/>
        </p:spPr>
        <p:txBody>
          <a:bodyPr wrap="square" lIns="0" tIns="0" rIns="0" bIns="0" rtlCol="0" anchor="ctr"/>
          <a:lstStyle/>
          <a:p>
            <a:pPr marL="0" indent="0" algn="ctr">
              <a:buNone/>
            </a:pPr>
            <a:r>
              <a:rPr lang="en-US" sz="3200" b="1" dirty="0">
                <a:solidFill>
                  <a:srgbClr val="065A82"/>
                </a:solidFill>
                <a:latin typeface="Cambria" pitchFamily="34" charset="0"/>
                <a:ea typeface="Cambria" pitchFamily="34" charset="-122"/>
                <a:cs typeface="Cambria" pitchFamily="34" charset="-120"/>
              </a:rPr>
              <a:t>220</a:t>
            </a:r>
            <a:endParaRPr lang="en-US" sz="3200" dirty="0"/>
          </a:p>
        </p:txBody>
      </p:sp>
      <p:sp>
        <p:nvSpPr>
          <p:cNvPr id="10" name="Text 7"/>
          <p:cNvSpPr txBox="1"/>
          <p:nvPr/>
        </p:nvSpPr>
        <p:spPr>
          <a:xfrm>
            <a:off x="868680" y="3886200"/>
            <a:ext cx="2331720" cy="502920"/>
          </a:xfrm>
          <a:prstGeom prst="rect">
            <a:avLst/>
          </a:prstGeom>
          <a:noFill/>
          <a:ln/>
        </p:spPr>
        <p:txBody>
          <a:bodyPr wrap="square" lIns="0" tIns="0" rIns="0" bIns="0" rtlCol="0" anchor="ctr"/>
          <a:lstStyle/>
          <a:p>
            <a:pPr marL="0" indent="0" algn="ctr">
              <a:buNone/>
            </a:pPr>
            <a:r>
              <a:rPr lang="en-US" sz="1100" dirty="0">
                <a:solidFill>
                  <a:srgbClr val="5B6B75"/>
                </a:solidFill>
                <a:latin typeface="Calibri" pitchFamily="34" charset="0"/>
                <a:ea typeface="Calibri" pitchFamily="34" charset="-122"/>
                <a:cs typeface="Calibri" pitchFamily="34" charset="-120"/>
              </a:rPr>
              <a:t>articles reviewed</a:t>
            </a:r>
            <a:endParaRPr lang="en-US" sz="1100" dirty="0"/>
          </a:p>
        </p:txBody>
      </p:sp>
      <p:sp>
        <p:nvSpPr>
          <p:cNvPr id="11" name="Shape 8"/>
          <p:cNvSpPr/>
          <p:nvPr/>
        </p:nvSpPr>
        <p:spPr>
          <a:xfrm>
            <a:off x="3474720" y="3063240"/>
            <a:ext cx="2606040" cy="1417320"/>
          </a:xfrm>
          <a:prstGeom prst="roundRect">
            <a:avLst>
              <a:gd name="adj" fmla="val 5161"/>
            </a:avLst>
          </a:prstGeom>
          <a:solidFill>
            <a:srgbClr val="EAF3F7"/>
          </a:solidFill>
          <a:ln/>
        </p:spPr>
        <p:txBody>
          <a:bodyPr/>
          <a:lstStyle/>
          <a:p>
            <a:endParaRPr lang="en-US"/>
          </a:p>
        </p:txBody>
      </p:sp>
      <p:sp>
        <p:nvSpPr>
          <p:cNvPr id="12" name="Text 9"/>
          <p:cNvSpPr txBox="1"/>
          <p:nvPr/>
        </p:nvSpPr>
        <p:spPr>
          <a:xfrm>
            <a:off x="3474720" y="3200400"/>
            <a:ext cx="2606040" cy="685800"/>
          </a:xfrm>
          <a:prstGeom prst="rect">
            <a:avLst/>
          </a:prstGeom>
          <a:noFill/>
          <a:ln/>
        </p:spPr>
        <p:txBody>
          <a:bodyPr wrap="square" lIns="0" tIns="0" rIns="0" bIns="0" rtlCol="0" anchor="ctr"/>
          <a:lstStyle/>
          <a:p>
            <a:pPr marL="0" indent="0" algn="ctr">
              <a:buNone/>
            </a:pPr>
            <a:r>
              <a:rPr lang="en-US" sz="3200" b="1" dirty="0">
                <a:solidFill>
                  <a:srgbClr val="065A82"/>
                </a:solidFill>
                <a:latin typeface="Cambria" pitchFamily="34" charset="0"/>
                <a:ea typeface="Cambria" pitchFamily="34" charset="-122"/>
                <a:cs typeface="Cambria" pitchFamily="34" charset="-120"/>
              </a:rPr>
              <a:t>65%</a:t>
            </a:r>
            <a:endParaRPr lang="en-US" sz="3200" dirty="0"/>
          </a:p>
        </p:txBody>
      </p:sp>
      <p:sp>
        <p:nvSpPr>
          <p:cNvPr id="13" name="Text 10"/>
          <p:cNvSpPr txBox="1"/>
          <p:nvPr/>
        </p:nvSpPr>
        <p:spPr>
          <a:xfrm>
            <a:off x="3611880" y="3886200"/>
            <a:ext cx="2331720" cy="502920"/>
          </a:xfrm>
          <a:prstGeom prst="rect">
            <a:avLst/>
          </a:prstGeom>
          <a:noFill/>
          <a:ln/>
        </p:spPr>
        <p:txBody>
          <a:bodyPr wrap="square" lIns="0" tIns="0" rIns="0" bIns="0" rtlCol="0" anchor="ctr"/>
          <a:lstStyle/>
          <a:p>
            <a:pPr marL="0" indent="0" algn="ctr">
              <a:buNone/>
            </a:pPr>
            <a:r>
              <a:rPr lang="en-US" sz="1100" dirty="0">
                <a:solidFill>
                  <a:srgbClr val="5B6B75"/>
                </a:solidFill>
                <a:latin typeface="Calibri" pitchFamily="34" charset="0"/>
                <a:ea typeface="Calibri" pitchFamily="34" charset="-122"/>
                <a:cs typeface="Calibri" pitchFamily="34" charset="-120"/>
              </a:rPr>
              <a:t>published in last 7 years</a:t>
            </a:r>
            <a:endParaRPr lang="en-US" sz="1100" dirty="0"/>
          </a:p>
        </p:txBody>
      </p:sp>
      <p:sp>
        <p:nvSpPr>
          <p:cNvPr id="14" name="Shape 11"/>
          <p:cNvSpPr/>
          <p:nvPr/>
        </p:nvSpPr>
        <p:spPr>
          <a:xfrm>
            <a:off x="6217920" y="3063240"/>
            <a:ext cx="2606040" cy="1417320"/>
          </a:xfrm>
          <a:prstGeom prst="roundRect">
            <a:avLst>
              <a:gd name="adj" fmla="val 5161"/>
            </a:avLst>
          </a:prstGeom>
          <a:solidFill>
            <a:srgbClr val="EAF3F7"/>
          </a:solidFill>
          <a:ln/>
        </p:spPr>
        <p:txBody>
          <a:bodyPr/>
          <a:lstStyle/>
          <a:p>
            <a:endParaRPr lang="en-US"/>
          </a:p>
        </p:txBody>
      </p:sp>
      <p:sp>
        <p:nvSpPr>
          <p:cNvPr id="15" name="Text 12"/>
          <p:cNvSpPr txBox="1"/>
          <p:nvPr/>
        </p:nvSpPr>
        <p:spPr>
          <a:xfrm>
            <a:off x="6217920" y="3200400"/>
            <a:ext cx="2606040" cy="685800"/>
          </a:xfrm>
          <a:prstGeom prst="rect">
            <a:avLst/>
          </a:prstGeom>
          <a:noFill/>
          <a:ln/>
        </p:spPr>
        <p:txBody>
          <a:bodyPr wrap="square" lIns="0" tIns="0" rIns="0" bIns="0" rtlCol="0" anchor="ctr"/>
          <a:lstStyle/>
          <a:p>
            <a:pPr marL="0" indent="0" algn="ctr">
              <a:buNone/>
            </a:pPr>
            <a:r>
              <a:rPr lang="en-US" sz="3200" b="1" dirty="0">
                <a:solidFill>
                  <a:srgbClr val="065A82"/>
                </a:solidFill>
                <a:latin typeface="Cambria" pitchFamily="34" charset="0"/>
                <a:ea typeface="Cambria" pitchFamily="34" charset="-122"/>
                <a:cs typeface="Cambria" pitchFamily="34" charset="-120"/>
              </a:rPr>
              <a:t>7</a:t>
            </a:r>
            <a:endParaRPr lang="en-US" sz="3200" dirty="0"/>
          </a:p>
        </p:txBody>
      </p:sp>
      <p:sp>
        <p:nvSpPr>
          <p:cNvPr id="16" name="Text 13"/>
          <p:cNvSpPr txBox="1"/>
          <p:nvPr/>
        </p:nvSpPr>
        <p:spPr>
          <a:xfrm>
            <a:off x="6355080" y="3886200"/>
            <a:ext cx="2331720" cy="502920"/>
          </a:xfrm>
          <a:prstGeom prst="rect">
            <a:avLst/>
          </a:prstGeom>
          <a:noFill/>
          <a:ln/>
        </p:spPr>
        <p:txBody>
          <a:bodyPr wrap="square" lIns="0" tIns="0" rIns="0" bIns="0" rtlCol="0" anchor="ctr"/>
          <a:lstStyle/>
          <a:p>
            <a:pPr marL="0" indent="0" algn="ctr">
              <a:buNone/>
            </a:pPr>
            <a:r>
              <a:rPr lang="en-US" sz="1100" dirty="0">
                <a:solidFill>
                  <a:srgbClr val="5B6B75"/>
                </a:solidFill>
                <a:latin typeface="Calibri" pitchFamily="34" charset="0"/>
                <a:ea typeface="Calibri" pitchFamily="34" charset="-122"/>
                <a:cs typeface="Calibri" pitchFamily="34" charset="-120"/>
              </a:rPr>
              <a:t>core IB themes</a:t>
            </a:r>
            <a:endParaRPr lang="en-US" sz="1100" dirty="0"/>
          </a:p>
        </p:txBody>
      </p:sp>
      <p:sp>
        <p:nvSpPr>
          <p:cNvPr id="17" name="Shape 14"/>
          <p:cNvSpPr/>
          <p:nvPr/>
        </p:nvSpPr>
        <p:spPr>
          <a:xfrm>
            <a:off x="8961120" y="3063240"/>
            <a:ext cx="2606040" cy="1417320"/>
          </a:xfrm>
          <a:prstGeom prst="roundRect">
            <a:avLst>
              <a:gd name="adj" fmla="val 5161"/>
            </a:avLst>
          </a:prstGeom>
          <a:solidFill>
            <a:srgbClr val="EAF3F7"/>
          </a:solidFill>
          <a:ln/>
        </p:spPr>
        <p:txBody>
          <a:bodyPr/>
          <a:lstStyle/>
          <a:p>
            <a:endParaRPr lang="en-US"/>
          </a:p>
        </p:txBody>
      </p:sp>
      <p:sp>
        <p:nvSpPr>
          <p:cNvPr id="18" name="Text 15"/>
          <p:cNvSpPr txBox="1"/>
          <p:nvPr/>
        </p:nvSpPr>
        <p:spPr>
          <a:xfrm>
            <a:off x="8961120" y="3200400"/>
            <a:ext cx="2606040" cy="685800"/>
          </a:xfrm>
          <a:prstGeom prst="rect">
            <a:avLst/>
          </a:prstGeom>
          <a:noFill/>
          <a:ln/>
        </p:spPr>
        <p:txBody>
          <a:bodyPr wrap="square" lIns="0" tIns="0" rIns="0" bIns="0" rtlCol="0" anchor="ctr"/>
          <a:lstStyle/>
          <a:p>
            <a:pPr marL="0" indent="0" algn="ctr">
              <a:buNone/>
            </a:pPr>
            <a:r>
              <a:rPr lang="en-US" sz="3200" b="1" dirty="0">
                <a:solidFill>
                  <a:srgbClr val="065A82"/>
                </a:solidFill>
                <a:latin typeface="Cambria" pitchFamily="34" charset="0"/>
                <a:ea typeface="Cambria" pitchFamily="34" charset="-122"/>
                <a:cs typeface="Cambria" pitchFamily="34" charset="-120"/>
              </a:rPr>
              <a:t>&lt;20%</a:t>
            </a:r>
            <a:endParaRPr lang="en-US" sz="3200" dirty="0"/>
          </a:p>
        </p:txBody>
      </p:sp>
      <p:sp>
        <p:nvSpPr>
          <p:cNvPr id="19" name="Text 16"/>
          <p:cNvSpPr txBox="1"/>
          <p:nvPr/>
        </p:nvSpPr>
        <p:spPr>
          <a:xfrm>
            <a:off x="9098280" y="3886200"/>
            <a:ext cx="2331720" cy="502920"/>
          </a:xfrm>
          <a:prstGeom prst="rect">
            <a:avLst/>
          </a:prstGeom>
          <a:noFill/>
          <a:ln/>
        </p:spPr>
        <p:txBody>
          <a:bodyPr wrap="square" lIns="0" tIns="0" rIns="0" bIns="0" rtlCol="0" anchor="ctr"/>
          <a:lstStyle/>
          <a:p>
            <a:pPr marL="0" indent="0" algn="ctr">
              <a:buNone/>
            </a:pPr>
            <a:r>
              <a:rPr lang="en-US" sz="1100" dirty="0">
                <a:solidFill>
                  <a:srgbClr val="5B6B75"/>
                </a:solidFill>
                <a:latin typeface="Calibri" pitchFamily="34" charset="0"/>
                <a:ea typeface="Calibri" pitchFamily="34" charset="-122"/>
                <a:cs typeface="Calibri" pitchFamily="34" charset="-120"/>
              </a:rPr>
              <a:t>used IB theory directly</a:t>
            </a:r>
            <a:endParaRPr lang="en-US" sz="1100" dirty="0"/>
          </a:p>
        </p:txBody>
      </p:sp>
      <p:sp>
        <p:nvSpPr>
          <p:cNvPr id="20" name="Shape 17"/>
          <p:cNvSpPr/>
          <p:nvPr/>
        </p:nvSpPr>
        <p:spPr>
          <a:xfrm>
            <a:off x="731520" y="4800600"/>
            <a:ext cx="10698480" cy="1234440"/>
          </a:xfrm>
          <a:prstGeom prst="roundRect">
            <a:avLst>
              <a:gd name="adj" fmla="val 5926"/>
            </a:avLst>
          </a:prstGeom>
          <a:solidFill>
            <a:srgbClr val="21295C"/>
          </a:solidFill>
          <a:ln/>
        </p:spPr>
        <p:txBody>
          <a:bodyPr/>
          <a:lstStyle/>
          <a:p>
            <a:endParaRPr lang="en-US"/>
          </a:p>
        </p:txBody>
      </p:sp>
      <p:sp>
        <p:nvSpPr>
          <p:cNvPr id="21" name="Text 18"/>
          <p:cNvSpPr txBox="1"/>
          <p:nvPr/>
        </p:nvSpPr>
        <p:spPr>
          <a:xfrm>
            <a:off x="1005840" y="4937760"/>
            <a:ext cx="10149840" cy="960120"/>
          </a:xfrm>
          <a:prstGeom prst="rect">
            <a:avLst/>
          </a:prstGeom>
          <a:noFill/>
          <a:ln/>
        </p:spPr>
        <p:txBody>
          <a:bodyPr wrap="square" lIns="0" tIns="0" rIns="0" bIns="0" rtlCol="0" anchor="ctr"/>
          <a:lstStyle/>
          <a:p>
            <a:pPr marL="0" indent="0">
              <a:lnSpc>
                <a:spcPct val="130000"/>
              </a:lnSpc>
              <a:buNone/>
            </a:pPr>
            <a:r>
              <a:rPr lang="en-US" sz="1350" b="1" dirty="0">
                <a:solidFill>
                  <a:srgbClr val="E8A33D"/>
                </a:solidFill>
                <a:latin typeface="Calibri" pitchFamily="34" charset="0"/>
                <a:ea typeface="Calibri" pitchFamily="34" charset="-122"/>
                <a:cs typeface="Calibri" pitchFamily="34" charset="-120"/>
              </a:rPr>
              <a:t>Core puzzle: </a:t>
            </a:r>
            <a:r>
              <a:rPr lang="en-US" sz="1350" dirty="0">
                <a:solidFill>
                  <a:srgbClr val="FFFFFF"/>
                </a:solidFill>
                <a:latin typeface="Calibri" pitchFamily="34" charset="0"/>
                <a:ea typeface="Calibri" pitchFamily="34" charset="-122"/>
                <a:cs typeface="Calibri" pitchFamily="34" charset="-120"/>
              </a:rPr>
              <a:t>Do family firms internationalize more, less, or just differently than non-family firms? Three decades of research offer </a:t>
            </a:r>
            <a:r>
              <a:rPr lang="en-US" sz="1350" b="1" dirty="0">
                <a:solidFill>
                  <a:srgbClr val="FFFFFF"/>
                </a:solidFill>
                <a:latin typeface="Calibri" pitchFamily="34" charset="0"/>
                <a:ea typeface="Calibri" pitchFamily="34" charset="-122"/>
                <a:cs typeface="Calibri" pitchFamily="34" charset="-120"/>
              </a:rPr>
              <a:t>no consistent answer</a:t>
            </a:r>
            <a:r>
              <a:rPr lang="en-US" sz="1350" dirty="0">
                <a:solidFill>
                  <a:srgbClr val="CADCFC"/>
                </a:solidFill>
                <a:latin typeface="Calibri" pitchFamily="34" charset="0"/>
                <a:ea typeface="Calibri" pitchFamily="34" charset="-122"/>
                <a:cs typeface="Calibri" pitchFamily="34" charset="-120"/>
              </a:rPr>
              <a:t> — the authors argue the search for one general relationship may itself be the wrong question.</a:t>
            </a:r>
            <a:endParaRPr lang="en-US" sz="1350" dirty="0"/>
          </a:p>
        </p:txBody>
      </p:sp>
      <p:sp>
        <p:nvSpPr>
          <p:cNvPr id="22" name="Text 19"/>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Arregle et al. (2021) · JIBS</a:t>
            </a:r>
            <a:endParaRPr lang="en-US" sz="900" dirty="0"/>
          </a:p>
        </p:txBody>
      </p:sp>
      <p:sp>
        <p:nvSpPr>
          <p:cNvPr id="23" name="Text 20"/>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alphaModFix amt="35000"/>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65A82"/>
          </a:solidFill>
          <a:ln/>
        </p:spPr>
        <p:txBody>
          <a:bodyPr/>
          <a:lstStyle/>
          <a:p>
            <a:endParaRPr lang="en-US"/>
          </a:p>
        </p:txBody>
      </p:sp>
      <p:sp>
        <p:nvSpPr>
          <p:cNvPr id="3" name="Text 1"/>
          <p:cNvSpPr txBox="1"/>
          <p:nvPr/>
        </p:nvSpPr>
        <p:spPr>
          <a:xfrm>
            <a:off x="731520" y="256032"/>
            <a:ext cx="10058400" cy="5486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Seven IB Themes — and Why Findings Diverge</a:t>
            </a:r>
            <a:endParaRPr lang="en-US" sz="2400" dirty="0"/>
          </a:p>
        </p:txBody>
      </p:sp>
      <p:sp>
        <p:nvSpPr>
          <p:cNvPr id="4" name="Shape 2"/>
          <p:cNvSpPr/>
          <p:nvPr/>
        </p:nvSpPr>
        <p:spPr>
          <a:xfrm>
            <a:off x="548640" y="1417320"/>
            <a:ext cx="3429000" cy="1170432"/>
          </a:xfrm>
          <a:prstGeom prst="roundRect">
            <a:avLst>
              <a:gd name="adj" fmla="val 4688"/>
            </a:avLst>
          </a:prstGeom>
          <a:solidFill>
            <a:srgbClr val="EAF3F7"/>
          </a:solidFill>
          <a:ln/>
        </p:spPr>
        <p:txBody>
          <a:bodyPr/>
          <a:lstStyle/>
          <a:p>
            <a:endParaRPr lang="en-US"/>
          </a:p>
        </p:txBody>
      </p:sp>
      <p:sp>
        <p:nvSpPr>
          <p:cNvPr id="5" name="Shape 3"/>
          <p:cNvSpPr/>
          <p:nvPr/>
        </p:nvSpPr>
        <p:spPr>
          <a:xfrm>
            <a:off x="548640" y="1417320"/>
            <a:ext cx="640080" cy="1170432"/>
          </a:xfrm>
          <a:prstGeom prst="rect">
            <a:avLst/>
          </a:prstGeom>
          <a:solidFill>
            <a:srgbClr val="1C7293"/>
          </a:solidFill>
          <a:ln/>
        </p:spPr>
        <p:txBody>
          <a:bodyPr/>
          <a:lstStyle/>
          <a:p>
            <a:endParaRPr lang="en-US"/>
          </a:p>
        </p:txBody>
      </p:sp>
      <p:sp>
        <p:nvSpPr>
          <p:cNvPr id="6" name="Text 4"/>
          <p:cNvSpPr txBox="1"/>
          <p:nvPr/>
        </p:nvSpPr>
        <p:spPr>
          <a:xfrm>
            <a:off x="548640" y="1417320"/>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39%</a:t>
            </a:r>
            <a:endParaRPr lang="en-US" sz="1700" dirty="0"/>
          </a:p>
        </p:txBody>
      </p:sp>
      <p:sp>
        <p:nvSpPr>
          <p:cNvPr id="7" name="Text 5"/>
          <p:cNvSpPr txBox="1"/>
          <p:nvPr/>
        </p:nvSpPr>
        <p:spPr>
          <a:xfrm>
            <a:off x="1325880" y="1545336"/>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Scale</a:t>
            </a:r>
            <a:endParaRPr lang="en-US" sz="1450" dirty="0"/>
          </a:p>
        </p:txBody>
      </p:sp>
      <p:sp>
        <p:nvSpPr>
          <p:cNvPr id="8" name="Text 6"/>
          <p:cNvSpPr txBox="1"/>
          <p:nvPr/>
        </p:nvSpPr>
        <p:spPr>
          <a:xfrm>
            <a:off x="1325880" y="1892808"/>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Contradictory: unique resources help, but risk/control concerns constrain</a:t>
            </a:r>
            <a:endParaRPr lang="en-US" sz="1100" dirty="0"/>
          </a:p>
        </p:txBody>
      </p:sp>
      <p:sp>
        <p:nvSpPr>
          <p:cNvPr id="9" name="Shape 7"/>
          <p:cNvSpPr/>
          <p:nvPr/>
        </p:nvSpPr>
        <p:spPr>
          <a:xfrm>
            <a:off x="4114800" y="1417320"/>
            <a:ext cx="3429000" cy="1170432"/>
          </a:xfrm>
          <a:prstGeom prst="roundRect">
            <a:avLst>
              <a:gd name="adj" fmla="val 4688"/>
            </a:avLst>
          </a:prstGeom>
          <a:solidFill>
            <a:srgbClr val="EAF3F7"/>
          </a:solidFill>
          <a:ln/>
        </p:spPr>
        <p:txBody>
          <a:bodyPr/>
          <a:lstStyle/>
          <a:p>
            <a:endParaRPr lang="en-US"/>
          </a:p>
        </p:txBody>
      </p:sp>
      <p:sp>
        <p:nvSpPr>
          <p:cNvPr id="10" name="Shape 8"/>
          <p:cNvSpPr/>
          <p:nvPr/>
        </p:nvSpPr>
        <p:spPr>
          <a:xfrm>
            <a:off x="4114800" y="1417320"/>
            <a:ext cx="640080" cy="1170432"/>
          </a:xfrm>
          <a:prstGeom prst="rect">
            <a:avLst/>
          </a:prstGeom>
          <a:solidFill>
            <a:srgbClr val="1C7293"/>
          </a:solidFill>
          <a:ln/>
        </p:spPr>
        <p:txBody>
          <a:bodyPr/>
          <a:lstStyle/>
          <a:p>
            <a:endParaRPr lang="en-US"/>
          </a:p>
        </p:txBody>
      </p:sp>
      <p:sp>
        <p:nvSpPr>
          <p:cNvPr id="11" name="Text 9"/>
          <p:cNvSpPr txBox="1"/>
          <p:nvPr/>
        </p:nvSpPr>
        <p:spPr>
          <a:xfrm>
            <a:off x="4114800" y="1417320"/>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8%</a:t>
            </a:r>
            <a:endParaRPr lang="en-US" sz="1700" dirty="0"/>
          </a:p>
        </p:txBody>
      </p:sp>
      <p:sp>
        <p:nvSpPr>
          <p:cNvPr id="12" name="Text 10"/>
          <p:cNvSpPr txBox="1"/>
          <p:nvPr/>
        </p:nvSpPr>
        <p:spPr>
          <a:xfrm>
            <a:off x="4892040" y="1545336"/>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Scope</a:t>
            </a:r>
            <a:endParaRPr lang="en-US" sz="1450" dirty="0"/>
          </a:p>
        </p:txBody>
      </p:sp>
      <p:sp>
        <p:nvSpPr>
          <p:cNvPr id="13" name="Text 11"/>
          <p:cNvSpPr txBox="1"/>
          <p:nvPr/>
        </p:nvSpPr>
        <p:spPr>
          <a:xfrm>
            <a:off x="4892040" y="1892808"/>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Most consistent finding: narrower scope than non-family firms</a:t>
            </a:r>
            <a:endParaRPr lang="en-US" sz="1100" dirty="0"/>
          </a:p>
        </p:txBody>
      </p:sp>
      <p:sp>
        <p:nvSpPr>
          <p:cNvPr id="14" name="Shape 12"/>
          <p:cNvSpPr/>
          <p:nvPr/>
        </p:nvSpPr>
        <p:spPr>
          <a:xfrm>
            <a:off x="7680960" y="1417320"/>
            <a:ext cx="3429000" cy="1170432"/>
          </a:xfrm>
          <a:prstGeom prst="roundRect">
            <a:avLst>
              <a:gd name="adj" fmla="val 4688"/>
            </a:avLst>
          </a:prstGeom>
          <a:solidFill>
            <a:srgbClr val="EAF3F7"/>
          </a:solidFill>
          <a:ln/>
        </p:spPr>
        <p:txBody>
          <a:bodyPr/>
          <a:lstStyle/>
          <a:p>
            <a:endParaRPr lang="en-US"/>
          </a:p>
        </p:txBody>
      </p:sp>
      <p:sp>
        <p:nvSpPr>
          <p:cNvPr id="15" name="Shape 13"/>
          <p:cNvSpPr/>
          <p:nvPr/>
        </p:nvSpPr>
        <p:spPr>
          <a:xfrm>
            <a:off x="7680960" y="1417320"/>
            <a:ext cx="640080" cy="1170432"/>
          </a:xfrm>
          <a:prstGeom prst="rect">
            <a:avLst/>
          </a:prstGeom>
          <a:solidFill>
            <a:srgbClr val="1C7293"/>
          </a:solidFill>
          <a:ln/>
        </p:spPr>
        <p:txBody>
          <a:bodyPr/>
          <a:lstStyle/>
          <a:p>
            <a:endParaRPr lang="en-US"/>
          </a:p>
        </p:txBody>
      </p:sp>
      <p:sp>
        <p:nvSpPr>
          <p:cNvPr id="16" name="Text 14"/>
          <p:cNvSpPr txBox="1"/>
          <p:nvPr/>
        </p:nvSpPr>
        <p:spPr>
          <a:xfrm>
            <a:off x="7680960" y="1417320"/>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18%</a:t>
            </a:r>
            <a:endParaRPr lang="en-US" sz="1700" dirty="0"/>
          </a:p>
        </p:txBody>
      </p:sp>
      <p:sp>
        <p:nvSpPr>
          <p:cNvPr id="17" name="Text 15"/>
          <p:cNvSpPr txBox="1"/>
          <p:nvPr/>
        </p:nvSpPr>
        <p:spPr>
          <a:xfrm>
            <a:off x="8458200" y="1545336"/>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Entry mode</a:t>
            </a:r>
            <a:endParaRPr lang="en-US" sz="1450" dirty="0"/>
          </a:p>
        </p:txBody>
      </p:sp>
      <p:sp>
        <p:nvSpPr>
          <p:cNvPr id="18" name="Text 16"/>
          <p:cNvSpPr txBox="1"/>
          <p:nvPr/>
        </p:nvSpPr>
        <p:spPr>
          <a:xfrm>
            <a:off x="8458200" y="1892808"/>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No default choice — depends on risk, control needs, asset type</a:t>
            </a:r>
            <a:endParaRPr lang="en-US" sz="1100" dirty="0"/>
          </a:p>
        </p:txBody>
      </p:sp>
      <p:sp>
        <p:nvSpPr>
          <p:cNvPr id="19" name="Shape 17"/>
          <p:cNvSpPr/>
          <p:nvPr/>
        </p:nvSpPr>
        <p:spPr>
          <a:xfrm>
            <a:off x="548640" y="2724912"/>
            <a:ext cx="3429000" cy="1170432"/>
          </a:xfrm>
          <a:prstGeom prst="roundRect">
            <a:avLst>
              <a:gd name="adj" fmla="val 4688"/>
            </a:avLst>
          </a:prstGeom>
          <a:solidFill>
            <a:srgbClr val="EAF3F7"/>
          </a:solidFill>
          <a:ln/>
        </p:spPr>
        <p:txBody>
          <a:bodyPr/>
          <a:lstStyle/>
          <a:p>
            <a:endParaRPr lang="en-US"/>
          </a:p>
        </p:txBody>
      </p:sp>
      <p:sp>
        <p:nvSpPr>
          <p:cNvPr id="20" name="Shape 18"/>
          <p:cNvSpPr/>
          <p:nvPr/>
        </p:nvSpPr>
        <p:spPr>
          <a:xfrm>
            <a:off x="548640" y="2724912"/>
            <a:ext cx="640080" cy="1170432"/>
          </a:xfrm>
          <a:prstGeom prst="rect">
            <a:avLst/>
          </a:prstGeom>
          <a:solidFill>
            <a:srgbClr val="1C7293"/>
          </a:solidFill>
          <a:ln/>
        </p:spPr>
        <p:txBody>
          <a:bodyPr/>
          <a:lstStyle/>
          <a:p>
            <a:endParaRPr lang="en-US"/>
          </a:p>
        </p:txBody>
      </p:sp>
      <p:sp>
        <p:nvSpPr>
          <p:cNvPr id="21" name="Text 19"/>
          <p:cNvSpPr txBox="1"/>
          <p:nvPr/>
        </p:nvSpPr>
        <p:spPr>
          <a:xfrm>
            <a:off x="548640" y="2724912"/>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2" name="Text 20"/>
          <p:cNvSpPr txBox="1"/>
          <p:nvPr/>
        </p:nvSpPr>
        <p:spPr>
          <a:xfrm>
            <a:off x="1325880" y="2852928"/>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Location choice</a:t>
            </a:r>
            <a:endParaRPr lang="en-US" sz="1450" dirty="0"/>
          </a:p>
        </p:txBody>
      </p:sp>
      <p:sp>
        <p:nvSpPr>
          <p:cNvPr id="23" name="Text 21"/>
          <p:cNvSpPr txBox="1"/>
          <p:nvPr/>
        </p:nvSpPr>
        <p:spPr>
          <a:xfrm>
            <a:off x="1325880" y="3200400"/>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Mixed: some favor culturally close markets, others accept distant, risky ones</a:t>
            </a:r>
            <a:endParaRPr lang="en-US" sz="1100" dirty="0"/>
          </a:p>
        </p:txBody>
      </p:sp>
      <p:sp>
        <p:nvSpPr>
          <p:cNvPr id="24" name="Shape 22"/>
          <p:cNvSpPr/>
          <p:nvPr/>
        </p:nvSpPr>
        <p:spPr>
          <a:xfrm>
            <a:off x="4114800" y="2724912"/>
            <a:ext cx="3429000" cy="1170432"/>
          </a:xfrm>
          <a:prstGeom prst="roundRect">
            <a:avLst>
              <a:gd name="adj" fmla="val 4688"/>
            </a:avLst>
          </a:prstGeom>
          <a:solidFill>
            <a:srgbClr val="EAF3F7"/>
          </a:solidFill>
          <a:ln/>
        </p:spPr>
        <p:txBody>
          <a:bodyPr/>
          <a:lstStyle/>
          <a:p>
            <a:endParaRPr lang="en-US"/>
          </a:p>
        </p:txBody>
      </p:sp>
      <p:sp>
        <p:nvSpPr>
          <p:cNvPr id="25" name="Shape 23"/>
          <p:cNvSpPr/>
          <p:nvPr/>
        </p:nvSpPr>
        <p:spPr>
          <a:xfrm>
            <a:off x="4114800" y="2724912"/>
            <a:ext cx="640080" cy="1170432"/>
          </a:xfrm>
          <a:prstGeom prst="rect">
            <a:avLst/>
          </a:prstGeom>
          <a:solidFill>
            <a:srgbClr val="1C7293"/>
          </a:solidFill>
          <a:ln/>
        </p:spPr>
        <p:txBody>
          <a:bodyPr/>
          <a:lstStyle/>
          <a:p>
            <a:endParaRPr lang="en-US"/>
          </a:p>
        </p:txBody>
      </p:sp>
      <p:sp>
        <p:nvSpPr>
          <p:cNvPr id="26" name="Text 24"/>
          <p:cNvSpPr txBox="1"/>
          <p:nvPr/>
        </p:nvSpPr>
        <p:spPr>
          <a:xfrm>
            <a:off x="4114800" y="2724912"/>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16%</a:t>
            </a:r>
            <a:endParaRPr lang="en-US" sz="1700" dirty="0"/>
          </a:p>
        </p:txBody>
      </p:sp>
      <p:sp>
        <p:nvSpPr>
          <p:cNvPr id="27" name="Text 25"/>
          <p:cNvSpPr txBox="1"/>
          <p:nvPr/>
        </p:nvSpPr>
        <p:spPr>
          <a:xfrm>
            <a:off x="4892040" y="2852928"/>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Process</a:t>
            </a:r>
            <a:endParaRPr lang="en-US" sz="1450" dirty="0"/>
          </a:p>
        </p:txBody>
      </p:sp>
      <p:sp>
        <p:nvSpPr>
          <p:cNvPr id="28" name="Text 26"/>
          <p:cNvSpPr txBox="1"/>
          <p:nvPr/>
        </p:nvSpPr>
        <p:spPr>
          <a:xfrm>
            <a:off x="4892040" y="3200400"/>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Usually stepwise, but 'born-again global' patterns also occur</a:t>
            </a:r>
            <a:endParaRPr lang="en-US" sz="1100" dirty="0"/>
          </a:p>
        </p:txBody>
      </p:sp>
      <p:sp>
        <p:nvSpPr>
          <p:cNvPr id="29" name="Shape 27"/>
          <p:cNvSpPr/>
          <p:nvPr/>
        </p:nvSpPr>
        <p:spPr>
          <a:xfrm>
            <a:off x="7680960" y="2724912"/>
            <a:ext cx="3429000" cy="1170432"/>
          </a:xfrm>
          <a:prstGeom prst="roundRect">
            <a:avLst>
              <a:gd name="adj" fmla="val 4688"/>
            </a:avLst>
          </a:prstGeom>
          <a:solidFill>
            <a:srgbClr val="EAF3F7"/>
          </a:solidFill>
          <a:ln/>
        </p:spPr>
        <p:txBody>
          <a:bodyPr/>
          <a:lstStyle/>
          <a:p>
            <a:endParaRPr lang="en-US"/>
          </a:p>
        </p:txBody>
      </p:sp>
      <p:sp>
        <p:nvSpPr>
          <p:cNvPr id="30" name="Shape 28"/>
          <p:cNvSpPr/>
          <p:nvPr/>
        </p:nvSpPr>
        <p:spPr>
          <a:xfrm>
            <a:off x="7680960" y="2724912"/>
            <a:ext cx="640080" cy="1170432"/>
          </a:xfrm>
          <a:prstGeom prst="rect">
            <a:avLst/>
          </a:prstGeom>
          <a:solidFill>
            <a:srgbClr val="1C7293"/>
          </a:solidFill>
          <a:ln/>
        </p:spPr>
        <p:txBody>
          <a:bodyPr/>
          <a:lstStyle/>
          <a:p>
            <a:endParaRPr lang="en-US"/>
          </a:p>
        </p:txBody>
      </p:sp>
      <p:sp>
        <p:nvSpPr>
          <p:cNvPr id="31" name="Text 29"/>
          <p:cNvSpPr txBox="1"/>
          <p:nvPr/>
        </p:nvSpPr>
        <p:spPr>
          <a:xfrm>
            <a:off x="7680960" y="2724912"/>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32" name="Text 30"/>
          <p:cNvSpPr txBox="1"/>
          <p:nvPr/>
        </p:nvSpPr>
        <p:spPr>
          <a:xfrm>
            <a:off x="8458200" y="2852928"/>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Pace &amp; rhythm</a:t>
            </a:r>
            <a:endParaRPr lang="en-US" sz="1450" dirty="0"/>
          </a:p>
        </p:txBody>
      </p:sp>
      <p:sp>
        <p:nvSpPr>
          <p:cNvPr id="33" name="Text 31"/>
          <p:cNvSpPr txBox="1"/>
          <p:nvPr/>
        </p:nvSpPr>
        <p:spPr>
          <a:xfrm>
            <a:off x="8458200" y="3200400"/>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Family ownership can speed pace while making rhythm less regular</a:t>
            </a:r>
            <a:endParaRPr lang="en-US" sz="1100" dirty="0"/>
          </a:p>
        </p:txBody>
      </p:sp>
      <p:sp>
        <p:nvSpPr>
          <p:cNvPr id="34" name="Shape 32"/>
          <p:cNvSpPr/>
          <p:nvPr/>
        </p:nvSpPr>
        <p:spPr>
          <a:xfrm>
            <a:off x="548640" y="4032504"/>
            <a:ext cx="3429000" cy="1170432"/>
          </a:xfrm>
          <a:prstGeom prst="roundRect">
            <a:avLst>
              <a:gd name="adj" fmla="val 4688"/>
            </a:avLst>
          </a:prstGeom>
          <a:solidFill>
            <a:srgbClr val="EAF3F7"/>
          </a:solidFill>
          <a:ln/>
        </p:spPr>
        <p:txBody>
          <a:bodyPr/>
          <a:lstStyle/>
          <a:p>
            <a:endParaRPr lang="en-US"/>
          </a:p>
        </p:txBody>
      </p:sp>
      <p:sp>
        <p:nvSpPr>
          <p:cNvPr id="35" name="Shape 33"/>
          <p:cNvSpPr/>
          <p:nvPr/>
        </p:nvSpPr>
        <p:spPr>
          <a:xfrm>
            <a:off x="548640" y="4032504"/>
            <a:ext cx="640080" cy="1170432"/>
          </a:xfrm>
          <a:prstGeom prst="rect">
            <a:avLst/>
          </a:prstGeom>
          <a:solidFill>
            <a:srgbClr val="1C7293"/>
          </a:solidFill>
          <a:ln/>
        </p:spPr>
        <p:txBody>
          <a:bodyPr/>
          <a:lstStyle/>
          <a:p>
            <a:endParaRPr lang="en-US"/>
          </a:p>
        </p:txBody>
      </p:sp>
      <p:sp>
        <p:nvSpPr>
          <p:cNvPr id="36" name="Text 34"/>
          <p:cNvSpPr txBox="1"/>
          <p:nvPr/>
        </p:nvSpPr>
        <p:spPr>
          <a:xfrm>
            <a:off x="548640" y="4032504"/>
            <a:ext cx="640080" cy="1170432"/>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12%</a:t>
            </a:r>
            <a:endParaRPr lang="en-US" sz="1700" dirty="0"/>
          </a:p>
        </p:txBody>
      </p:sp>
      <p:sp>
        <p:nvSpPr>
          <p:cNvPr id="37" name="Text 35"/>
          <p:cNvSpPr txBox="1"/>
          <p:nvPr/>
        </p:nvSpPr>
        <p:spPr>
          <a:xfrm>
            <a:off x="1325880" y="4160520"/>
            <a:ext cx="2514600" cy="329184"/>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Performance</a:t>
            </a:r>
            <a:endParaRPr lang="en-US" sz="1450" dirty="0"/>
          </a:p>
        </p:txBody>
      </p:sp>
      <p:sp>
        <p:nvSpPr>
          <p:cNvPr id="38" name="Text 36"/>
          <p:cNvSpPr txBox="1"/>
          <p:nvPr/>
        </p:nvSpPr>
        <p:spPr>
          <a:xfrm>
            <a:off x="1325880" y="4507992"/>
            <a:ext cx="2514600" cy="603504"/>
          </a:xfrm>
          <a:prstGeom prst="rect">
            <a:avLst/>
          </a:prstGeom>
          <a:noFill/>
          <a:ln/>
        </p:spPr>
        <p:txBody>
          <a:bodyPr wrap="square" lIns="0" tIns="0" rIns="0" bIns="0" rtlCol="0" anchor="t"/>
          <a:lstStyle/>
          <a:p>
            <a:pPr marL="0" indent="0">
              <a:lnSpc>
                <a:spcPct val="115000"/>
              </a:lnSpc>
              <a:buNone/>
            </a:pPr>
            <a:r>
              <a:rPr lang="en-US" sz="1100" dirty="0">
                <a:solidFill>
                  <a:srgbClr val="5B6B75"/>
                </a:solidFill>
                <a:latin typeface="Calibri" pitchFamily="34" charset="0"/>
                <a:ea typeface="Calibri" pitchFamily="34" charset="-122"/>
                <a:cs typeface="Calibri" pitchFamily="34" charset="-120"/>
              </a:rPr>
              <a:t>Split between positive and negative financial effects</a:t>
            </a:r>
            <a:endParaRPr lang="en-US" sz="1100" dirty="0"/>
          </a:p>
        </p:txBody>
      </p:sp>
      <p:sp>
        <p:nvSpPr>
          <p:cNvPr id="39" name="Text 37"/>
          <p:cNvSpPr txBox="1"/>
          <p:nvPr/>
        </p:nvSpPr>
        <p:spPr>
          <a:xfrm>
            <a:off x="548640" y="5477256"/>
            <a:ext cx="7315200" cy="274320"/>
          </a:xfrm>
          <a:prstGeom prst="rect">
            <a:avLst/>
          </a:prstGeom>
          <a:noFill/>
          <a:ln/>
        </p:spPr>
        <p:txBody>
          <a:bodyPr wrap="square" lIns="0" tIns="0" rIns="0" bIns="0" rtlCol="0" anchor="ctr"/>
          <a:lstStyle/>
          <a:p>
            <a:pPr marL="0" indent="0">
              <a:buNone/>
            </a:pPr>
            <a:r>
              <a:rPr lang="en-US" sz="1050" i="1" dirty="0">
                <a:solidFill>
                  <a:srgbClr val="5B6B75"/>
                </a:solidFill>
                <a:latin typeface="Calibri" pitchFamily="34" charset="0"/>
                <a:ea typeface="Calibri" pitchFamily="34" charset="-122"/>
                <a:cs typeface="Calibri" pitchFamily="34" charset="-120"/>
              </a:rPr>
              <a:t>% = share of the 220 reviewed studies addressing that theme</a:t>
            </a:r>
            <a:endParaRPr lang="en-US" sz="1050" dirty="0"/>
          </a:p>
        </p:txBody>
      </p:sp>
      <p:sp>
        <p:nvSpPr>
          <p:cNvPr id="40" name="Text 38"/>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Arregle et al. (2021) · Contradictions trace to unmeasured heterogeneity, not weak theory</a:t>
            </a:r>
            <a:endParaRPr lang="en-US" sz="900" dirty="0"/>
          </a:p>
        </p:txBody>
      </p:sp>
      <p:sp>
        <p:nvSpPr>
          <p:cNvPr id="41" name="Text 39"/>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31520" y="831273"/>
            <a:ext cx="9144000" cy="548640"/>
          </a:xfrm>
          <a:prstGeom prst="rect">
            <a:avLst/>
          </a:prstGeom>
          <a:noFill/>
          <a:ln/>
        </p:spPr>
        <p:txBody>
          <a:bodyPr wrap="square" lIns="0" tIns="0" rIns="0" bIns="0" rtlCol="0" anchor="ctr"/>
          <a:lstStyle/>
          <a:p>
            <a:pPr marL="0" indent="0">
              <a:buNone/>
            </a:pPr>
            <a:r>
              <a:rPr lang="en-US" sz="2600" b="1" dirty="0">
                <a:solidFill>
                  <a:srgbClr val="21295C"/>
                </a:solidFill>
                <a:latin typeface="Cambria" pitchFamily="34" charset="0"/>
                <a:ea typeface="Cambria" pitchFamily="34" charset="-122"/>
                <a:cs typeface="Cambria" pitchFamily="34" charset="-120"/>
              </a:rPr>
              <a:t>A Multilevel Research Agenda</a:t>
            </a:r>
            <a:endParaRPr lang="en-US" sz="2600" dirty="0"/>
          </a:p>
        </p:txBody>
      </p:sp>
      <p:sp>
        <p:nvSpPr>
          <p:cNvPr id="4" name="Shape 2"/>
          <p:cNvSpPr/>
          <p:nvPr/>
        </p:nvSpPr>
        <p:spPr>
          <a:xfrm>
            <a:off x="731520" y="1508760"/>
            <a:ext cx="2651760" cy="4160520"/>
          </a:xfrm>
          <a:prstGeom prst="roundRect">
            <a:avLst>
              <a:gd name="adj" fmla="val 2759"/>
            </a:avLst>
          </a:prstGeom>
          <a:solidFill>
            <a:srgbClr val="EAF3F7"/>
          </a:solidFill>
          <a:ln/>
        </p:spPr>
        <p:txBody>
          <a:bodyPr/>
          <a:lstStyle/>
          <a:p>
            <a:endParaRPr lang="en-US"/>
          </a:p>
        </p:txBody>
      </p:sp>
      <p:sp>
        <p:nvSpPr>
          <p:cNvPr id="5" name="Shape 3"/>
          <p:cNvSpPr/>
          <p:nvPr/>
        </p:nvSpPr>
        <p:spPr>
          <a:xfrm>
            <a:off x="1691640" y="1737360"/>
            <a:ext cx="731520" cy="731520"/>
          </a:xfrm>
          <a:prstGeom prst="ellipse">
            <a:avLst/>
          </a:prstGeom>
          <a:solidFill>
            <a:srgbClr val="3E7CA6"/>
          </a:solidFill>
          <a:ln/>
        </p:spPr>
        <p:txBody>
          <a:bodyPr/>
          <a:lstStyle/>
          <a:p>
            <a:endParaRPr lang="en-US"/>
          </a:p>
        </p:txBody>
      </p:sp>
      <p:pic>
        <p:nvPicPr>
          <p:cNvPr id="6" name="Image 0" descr="icon_individual_FFFFFF.png"/>
          <p:cNvPicPr>
            <a:picLocks noChangeAspect="1"/>
          </p:cNvPicPr>
          <p:nvPr/>
        </p:nvPicPr>
        <p:blipFill>
          <a:blip r:embed="rId3"/>
          <a:stretch>
            <a:fillRect/>
          </a:stretch>
        </p:blipFill>
        <p:spPr>
          <a:xfrm>
            <a:off x="1867205" y="1912925"/>
            <a:ext cx="380390" cy="380390"/>
          </a:xfrm>
          <a:prstGeom prst="rect">
            <a:avLst/>
          </a:prstGeom>
        </p:spPr>
      </p:pic>
      <p:sp>
        <p:nvSpPr>
          <p:cNvPr id="7" name="Text 4"/>
          <p:cNvSpPr txBox="1"/>
          <p:nvPr/>
        </p:nvSpPr>
        <p:spPr>
          <a:xfrm>
            <a:off x="731520" y="260604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Individual</a:t>
            </a:r>
            <a:endParaRPr lang="en-US" sz="1500" dirty="0"/>
          </a:p>
        </p:txBody>
      </p:sp>
      <p:sp>
        <p:nvSpPr>
          <p:cNvPr id="8" name="Text 5"/>
          <p:cNvSpPr txBox="1"/>
          <p:nvPr/>
        </p:nvSpPr>
        <p:spPr>
          <a:xfrm>
            <a:off x="731520" y="2971800"/>
            <a:ext cx="2651760" cy="640080"/>
          </a:xfrm>
          <a:prstGeom prst="rect">
            <a:avLst/>
          </a:prstGeom>
          <a:noFill/>
          <a:ln/>
        </p:spPr>
        <p:txBody>
          <a:bodyPr wrap="square" lIns="0" tIns="0" rIns="0" bIns="0" rtlCol="0" anchor="ctr"/>
          <a:lstStyle/>
          <a:p>
            <a:pPr marL="0" indent="0" algn="ctr">
              <a:buNone/>
            </a:pPr>
            <a:r>
              <a:rPr lang="en-US" sz="2600" b="1" dirty="0">
                <a:solidFill>
                  <a:srgbClr val="3E7CA6"/>
                </a:solidFill>
                <a:latin typeface="Cambria" pitchFamily="34" charset="0"/>
                <a:ea typeface="Cambria" pitchFamily="34" charset="-122"/>
                <a:cs typeface="Cambria" pitchFamily="34" charset="-120"/>
              </a:rPr>
              <a:t>12%</a:t>
            </a:r>
            <a:endParaRPr lang="en-US" sz="2600" dirty="0"/>
          </a:p>
        </p:txBody>
      </p:sp>
      <p:sp>
        <p:nvSpPr>
          <p:cNvPr id="9" name="Text 6"/>
          <p:cNvSpPr txBox="1"/>
          <p:nvPr/>
        </p:nvSpPr>
        <p:spPr>
          <a:xfrm>
            <a:off x="868680" y="3593592"/>
            <a:ext cx="2377440" cy="320040"/>
          </a:xfrm>
          <a:prstGeom prst="rect">
            <a:avLst/>
          </a:prstGeom>
          <a:noFill/>
          <a:ln/>
        </p:spPr>
        <p:txBody>
          <a:bodyPr wrap="square" lIns="0" tIns="0" rIns="0" bIns="0" rtlCol="0" anchor="ctr"/>
          <a:lstStyle/>
          <a:p>
            <a:pPr marL="0" indent="0" algn="ctr">
              <a:buNone/>
            </a:pPr>
            <a:r>
              <a:rPr lang="en-US" sz="950" i="1" dirty="0">
                <a:solidFill>
                  <a:srgbClr val="5B6B75"/>
                </a:solidFill>
                <a:latin typeface="Calibri" pitchFamily="34" charset="0"/>
                <a:ea typeface="Calibri" pitchFamily="34" charset="-122"/>
                <a:cs typeface="Calibri" pitchFamily="34" charset="-120"/>
              </a:rPr>
              <a:t>of studies include this level</a:t>
            </a:r>
            <a:endParaRPr lang="en-US" sz="950" dirty="0"/>
          </a:p>
        </p:txBody>
      </p:sp>
      <p:sp>
        <p:nvSpPr>
          <p:cNvPr id="10" name="Text 7"/>
          <p:cNvSpPr txBox="1"/>
          <p:nvPr/>
        </p:nvSpPr>
        <p:spPr>
          <a:xfrm>
            <a:off x="960120" y="4023360"/>
            <a:ext cx="2194560" cy="1463040"/>
          </a:xfrm>
          <a:prstGeom prst="rect">
            <a:avLst/>
          </a:prstGeom>
          <a:noFill/>
          <a:ln/>
        </p:spPr>
        <p:txBody>
          <a:bodyPr wrap="square" lIns="0" tIns="0" rIns="0" bIns="0" rtlCol="0" anchor="ctr"/>
          <a:lstStyle/>
          <a:p>
            <a:pPr marL="0" indent="0" algn="ctr">
              <a:lnSpc>
                <a:spcPct val="125000"/>
              </a:lnSpc>
              <a:buNone/>
            </a:pPr>
            <a:r>
              <a:rPr lang="en-US" sz="1100" dirty="0">
                <a:solidFill>
                  <a:srgbClr val="2B2B2B"/>
                </a:solidFill>
                <a:latin typeface="Calibri" pitchFamily="34" charset="0"/>
                <a:ea typeface="Calibri" pitchFamily="34" charset="-122"/>
                <a:cs typeface="Calibri" pitchFamily="34" charset="-120"/>
              </a:rPr>
              <a:t>Risk attitude, international experience, mental models</a:t>
            </a:r>
            <a:endParaRPr lang="en-US" sz="1100" dirty="0"/>
          </a:p>
        </p:txBody>
      </p:sp>
      <p:sp>
        <p:nvSpPr>
          <p:cNvPr id="11" name="Shape 8"/>
          <p:cNvSpPr/>
          <p:nvPr/>
        </p:nvSpPr>
        <p:spPr>
          <a:xfrm>
            <a:off x="3657600" y="1508760"/>
            <a:ext cx="2651760" cy="4160520"/>
          </a:xfrm>
          <a:prstGeom prst="roundRect">
            <a:avLst>
              <a:gd name="adj" fmla="val 2759"/>
            </a:avLst>
          </a:prstGeom>
          <a:solidFill>
            <a:srgbClr val="EAF3F7"/>
          </a:solidFill>
          <a:ln/>
        </p:spPr>
        <p:txBody>
          <a:bodyPr/>
          <a:lstStyle/>
          <a:p>
            <a:endParaRPr lang="en-US"/>
          </a:p>
        </p:txBody>
      </p:sp>
      <p:sp>
        <p:nvSpPr>
          <p:cNvPr id="12" name="Shape 9"/>
          <p:cNvSpPr/>
          <p:nvPr/>
        </p:nvSpPr>
        <p:spPr>
          <a:xfrm>
            <a:off x="4617720" y="1737360"/>
            <a:ext cx="731520" cy="731520"/>
          </a:xfrm>
          <a:prstGeom prst="ellipse">
            <a:avLst/>
          </a:prstGeom>
          <a:solidFill>
            <a:srgbClr val="1C7293"/>
          </a:solidFill>
          <a:ln/>
        </p:spPr>
        <p:txBody>
          <a:bodyPr/>
          <a:lstStyle/>
          <a:p>
            <a:endParaRPr lang="en-US"/>
          </a:p>
        </p:txBody>
      </p:sp>
      <p:pic>
        <p:nvPicPr>
          <p:cNvPr id="13" name="Image 1" descr="icon_family_FFFFFF.png"/>
          <p:cNvPicPr>
            <a:picLocks noChangeAspect="1"/>
          </p:cNvPicPr>
          <p:nvPr/>
        </p:nvPicPr>
        <p:blipFill>
          <a:blip r:embed="rId4"/>
          <a:stretch>
            <a:fillRect/>
          </a:stretch>
        </p:blipFill>
        <p:spPr>
          <a:xfrm>
            <a:off x="4793285" y="1912925"/>
            <a:ext cx="380390" cy="380390"/>
          </a:xfrm>
          <a:prstGeom prst="rect">
            <a:avLst/>
          </a:prstGeom>
        </p:spPr>
      </p:pic>
      <p:sp>
        <p:nvSpPr>
          <p:cNvPr id="14" name="Text 10"/>
          <p:cNvSpPr txBox="1"/>
          <p:nvPr/>
        </p:nvSpPr>
        <p:spPr>
          <a:xfrm>
            <a:off x="3657600" y="260604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Family</a:t>
            </a:r>
            <a:endParaRPr lang="en-US" sz="1500" dirty="0"/>
          </a:p>
        </p:txBody>
      </p:sp>
      <p:sp>
        <p:nvSpPr>
          <p:cNvPr id="15" name="Text 11"/>
          <p:cNvSpPr txBox="1"/>
          <p:nvPr/>
        </p:nvSpPr>
        <p:spPr>
          <a:xfrm>
            <a:off x="3657600" y="2971800"/>
            <a:ext cx="2651760" cy="640080"/>
          </a:xfrm>
          <a:prstGeom prst="rect">
            <a:avLst/>
          </a:prstGeom>
          <a:noFill/>
          <a:ln/>
        </p:spPr>
        <p:txBody>
          <a:bodyPr wrap="square" lIns="0" tIns="0" rIns="0" bIns="0" rtlCol="0" anchor="ctr"/>
          <a:lstStyle/>
          <a:p>
            <a:pPr marL="0" indent="0" algn="ctr">
              <a:buNone/>
            </a:pPr>
            <a:r>
              <a:rPr lang="en-US" sz="2600" b="1" dirty="0">
                <a:solidFill>
                  <a:srgbClr val="1C7293"/>
                </a:solidFill>
                <a:latin typeface="Cambria" pitchFamily="34" charset="0"/>
                <a:ea typeface="Cambria" pitchFamily="34" charset="-122"/>
                <a:cs typeface="Cambria" pitchFamily="34" charset="-120"/>
              </a:rPr>
              <a:t>22%</a:t>
            </a:r>
            <a:endParaRPr lang="en-US" sz="2600" dirty="0"/>
          </a:p>
        </p:txBody>
      </p:sp>
      <p:sp>
        <p:nvSpPr>
          <p:cNvPr id="16" name="Text 12"/>
          <p:cNvSpPr txBox="1"/>
          <p:nvPr/>
        </p:nvSpPr>
        <p:spPr>
          <a:xfrm>
            <a:off x="3794760" y="3593592"/>
            <a:ext cx="2377440" cy="320040"/>
          </a:xfrm>
          <a:prstGeom prst="rect">
            <a:avLst/>
          </a:prstGeom>
          <a:noFill/>
          <a:ln/>
        </p:spPr>
        <p:txBody>
          <a:bodyPr wrap="square" lIns="0" tIns="0" rIns="0" bIns="0" rtlCol="0" anchor="ctr"/>
          <a:lstStyle/>
          <a:p>
            <a:pPr marL="0" indent="0" algn="ctr">
              <a:buNone/>
            </a:pPr>
            <a:r>
              <a:rPr lang="en-US" sz="950" i="1" dirty="0">
                <a:solidFill>
                  <a:srgbClr val="5B6B75"/>
                </a:solidFill>
                <a:latin typeface="Calibri" pitchFamily="34" charset="0"/>
                <a:ea typeface="Calibri" pitchFamily="34" charset="-122"/>
                <a:cs typeface="Calibri" pitchFamily="34" charset="-120"/>
              </a:rPr>
              <a:t>of studies include this level</a:t>
            </a:r>
            <a:endParaRPr lang="en-US" sz="950" dirty="0"/>
          </a:p>
        </p:txBody>
      </p:sp>
      <p:sp>
        <p:nvSpPr>
          <p:cNvPr id="17" name="Text 13"/>
          <p:cNvSpPr txBox="1"/>
          <p:nvPr/>
        </p:nvSpPr>
        <p:spPr>
          <a:xfrm>
            <a:off x="3886200" y="4023360"/>
            <a:ext cx="2194560" cy="1463040"/>
          </a:xfrm>
          <a:prstGeom prst="rect">
            <a:avLst/>
          </a:prstGeom>
          <a:noFill/>
          <a:ln/>
        </p:spPr>
        <p:txBody>
          <a:bodyPr wrap="square" lIns="0" tIns="0" rIns="0" bIns="0" rtlCol="0" anchor="ctr"/>
          <a:lstStyle/>
          <a:p>
            <a:pPr marL="0" indent="0" algn="ctr">
              <a:lnSpc>
                <a:spcPct val="125000"/>
              </a:lnSpc>
              <a:buNone/>
            </a:pPr>
            <a:r>
              <a:rPr lang="en-US" sz="1100" dirty="0">
                <a:solidFill>
                  <a:srgbClr val="2B2B2B"/>
                </a:solidFill>
                <a:latin typeface="Calibri" pitchFamily="34" charset="0"/>
                <a:ea typeface="Calibri" pitchFamily="34" charset="-122"/>
                <a:cs typeface="Calibri" pitchFamily="34" charset="-120"/>
              </a:rPr>
              <a:t>Generation, succession, family structure, harmony</a:t>
            </a:r>
            <a:endParaRPr lang="en-US" sz="1100" dirty="0"/>
          </a:p>
        </p:txBody>
      </p:sp>
      <p:sp>
        <p:nvSpPr>
          <p:cNvPr id="18" name="Shape 14"/>
          <p:cNvSpPr/>
          <p:nvPr/>
        </p:nvSpPr>
        <p:spPr>
          <a:xfrm>
            <a:off x="6583680" y="1508760"/>
            <a:ext cx="2651760" cy="4160520"/>
          </a:xfrm>
          <a:prstGeom prst="roundRect">
            <a:avLst>
              <a:gd name="adj" fmla="val 2759"/>
            </a:avLst>
          </a:prstGeom>
          <a:solidFill>
            <a:srgbClr val="EAF3F7"/>
          </a:solidFill>
          <a:ln/>
        </p:spPr>
        <p:txBody>
          <a:bodyPr/>
          <a:lstStyle/>
          <a:p>
            <a:endParaRPr lang="en-US"/>
          </a:p>
        </p:txBody>
      </p:sp>
      <p:sp>
        <p:nvSpPr>
          <p:cNvPr id="19" name="Shape 15"/>
          <p:cNvSpPr/>
          <p:nvPr/>
        </p:nvSpPr>
        <p:spPr>
          <a:xfrm>
            <a:off x="7543800" y="1737360"/>
            <a:ext cx="731520" cy="731520"/>
          </a:xfrm>
          <a:prstGeom prst="ellipse">
            <a:avLst/>
          </a:prstGeom>
          <a:solidFill>
            <a:srgbClr val="065A82"/>
          </a:solidFill>
          <a:ln/>
        </p:spPr>
        <p:txBody>
          <a:bodyPr/>
          <a:lstStyle/>
          <a:p>
            <a:endParaRPr lang="en-US"/>
          </a:p>
        </p:txBody>
      </p:sp>
      <p:pic>
        <p:nvPicPr>
          <p:cNvPr id="20" name="Image 2" descr="icon_firm_FFFFFF.png"/>
          <p:cNvPicPr>
            <a:picLocks noChangeAspect="1"/>
          </p:cNvPicPr>
          <p:nvPr/>
        </p:nvPicPr>
        <p:blipFill>
          <a:blip r:embed="rId5"/>
          <a:stretch>
            <a:fillRect/>
          </a:stretch>
        </p:blipFill>
        <p:spPr>
          <a:xfrm>
            <a:off x="7719365" y="1912925"/>
            <a:ext cx="380390" cy="380390"/>
          </a:xfrm>
          <a:prstGeom prst="rect">
            <a:avLst/>
          </a:prstGeom>
        </p:spPr>
      </p:pic>
      <p:sp>
        <p:nvSpPr>
          <p:cNvPr id="21" name="Text 16"/>
          <p:cNvSpPr txBox="1"/>
          <p:nvPr/>
        </p:nvSpPr>
        <p:spPr>
          <a:xfrm>
            <a:off x="6583680" y="260604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Firm</a:t>
            </a:r>
            <a:endParaRPr lang="en-US" sz="1500" dirty="0"/>
          </a:p>
        </p:txBody>
      </p:sp>
      <p:sp>
        <p:nvSpPr>
          <p:cNvPr id="22" name="Text 17"/>
          <p:cNvSpPr txBox="1"/>
          <p:nvPr/>
        </p:nvSpPr>
        <p:spPr>
          <a:xfrm>
            <a:off x="6583680" y="2971800"/>
            <a:ext cx="2651760" cy="640080"/>
          </a:xfrm>
          <a:prstGeom prst="rect">
            <a:avLst/>
          </a:prstGeom>
          <a:noFill/>
          <a:ln/>
        </p:spPr>
        <p:txBody>
          <a:bodyPr wrap="square" lIns="0" tIns="0" rIns="0" bIns="0" rtlCol="0" anchor="ctr"/>
          <a:lstStyle/>
          <a:p>
            <a:pPr marL="0" indent="0" algn="ctr">
              <a:buNone/>
            </a:pPr>
            <a:r>
              <a:rPr lang="en-US" sz="2600" b="1" dirty="0">
                <a:solidFill>
                  <a:srgbClr val="065A82"/>
                </a:solidFill>
                <a:latin typeface="Cambria" pitchFamily="34" charset="0"/>
                <a:ea typeface="Cambria" pitchFamily="34" charset="-122"/>
                <a:cs typeface="Cambria" pitchFamily="34" charset="-120"/>
              </a:rPr>
              <a:t>97%</a:t>
            </a:r>
            <a:endParaRPr lang="en-US" sz="2600" dirty="0"/>
          </a:p>
        </p:txBody>
      </p:sp>
      <p:sp>
        <p:nvSpPr>
          <p:cNvPr id="23" name="Text 18"/>
          <p:cNvSpPr txBox="1"/>
          <p:nvPr/>
        </p:nvSpPr>
        <p:spPr>
          <a:xfrm>
            <a:off x="6720840" y="3593592"/>
            <a:ext cx="2377440" cy="320040"/>
          </a:xfrm>
          <a:prstGeom prst="rect">
            <a:avLst/>
          </a:prstGeom>
          <a:noFill/>
          <a:ln/>
        </p:spPr>
        <p:txBody>
          <a:bodyPr wrap="square" lIns="0" tIns="0" rIns="0" bIns="0" rtlCol="0" anchor="ctr"/>
          <a:lstStyle/>
          <a:p>
            <a:pPr marL="0" indent="0" algn="ctr">
              <a:buNone/>
            </a:pPr>
            <a:r>
              <a:rPr lang="en-US" sz="950" i="1" dirty="0">
                <a:solidFill>
                  <a:srgbClr val="5B6B75"/>
                </a:solidFill>
                <a:latin typeface="Calibri" pitchFamily="34" charset="0"/>
                <a:ea typeface="Calibri" pitchFamily="34" charset="-122"/>
                <a:cs typeface="Calibri" pitchFamily="34" charset="-120"/>
              </a:rPr>
              <a:t>of studies include this level</a:t>
            </a:r>
            <a:endParaRPr lang="en-US" sz="950" dirty="0"/>
          </a:p>
        </p:txBody>
      </p:sp>
      <p:sp>
        <p:nvSpPr>
          <p:cNvPr id="24" name="Text 19"/>
          <p:cNvSpPr txBox="1"/>
          <p:nvPr/>
        </p:nvSpPr>
        <p:spPr>
          <a:xfrm>
            <a:off x="6812280" y="4023360"/>
            <a:ext cx="2194560" cy="1463040"/>
          </a:xfrm>
          <a:prstGeom prst="rect">
            <a:avLst/>
          </a:prstGeom>
          <a:noFill/>
          <a:ln/>
        </p:spPr>
        <p:txBody>
          <a:bodyPr wrap="square" lIns="0" tIns="0" rIns="0" bIns="0" rtlCol="0" anchor="ctr"/>
          <a:lstStyle/>
          <a:p>
            <a:pPr marL="0" indent="0" algn="ctr">
              <a:lnSpc>
                <a:spcPct val="125000"/>
              </a:lnSpc>
              <a:buNone/>
            </a:pPr>
            <a:r>
              <a:rPr lang="en-US" sz="1100" dirty="0">
                <a:solidFill>
                  <a:srgbClr val="2B2B2B"/>
                </a:solidFill>
                <a:latin typeface="Calibri" pitchFamily="34" charset="0"/>
                <a:ea typeface="Calibri" pitchFamily="34" charset="-122"/>
                <a:cs typeface="Calibri" pitchFamily="34" charset="-120"/>
              </a:rPr>
              <a:t>Ownership %, family CEO, board composition</a:t>
            </a:r>
            <a:endParaRPr lang="en-US" sz="1100" dirty="0"/>
          </a:p>
        </p:txBody>
      </p:sp>
      <p:sp>
        <p:nvSpPr>
          <p:cNvPr id="25" name="Shape 20"/>
          <p:cNvSpPr/>
          <p:nvPr/>
        </p:nvSpPr>
        <p:spPr>
          <a:xfrm>
            <a:off x="9509760" y="1508760"/>
            <a:ext cx="2651760" cy="4160520"/>
          </a:xfrm>
          <a:prstGeom prst="roundRect">
            <a:avLst>
              <a:gd name="adj" fmla="val 2759"/>
            </a:avLst>
          </a:prstGeom>
          <a:solidFill>
            <a:srgbClr val="EAF3F7"/>
          </a:solidFill>
          <a:ln/>
        </p:spPr>
        <p:txBody>
          <a:bodyPr/>
          <a:lstStyle/>
          <a:p>
            <a:endParaRPr lang="en-US"/>
          </a:p>
        </p:txBody>
      </p:sp>
      <p:sp>
        <p:nvSpPr>
          <p:cNvPr id="26" name="Shape 21"/>
          <p:cNvSpPr/>
          <p:nvPr/>
        </p:nvSpPr>
        <p:spPr>
          <a:xfrm>
            <a:off x="10469880" y="1737360"/>
            <a:ext cx="731520" cy="731520"/>
          </a:xfrm>
          <a:prstGeom prst="ellipse">
            <a:avLst/>
          </a:prstGeom>
          <a:solidFill>
            <a:srgbClr val="21295C"/>
          </a:solidFill>
          <a:ln/>
        </p:spPr>
        <p:txBody>
          <a:bodyPr/>
          <a:lstStyle/>
          <a:p>
            <a:endParaRPr lang="en-US"/>
          </a:p>
        </p:txBody>
      </p:sp>
      <p:pic>
        <p:nvPicPr>
          <p:cNvPr id="27" name="Image 3" descr="icon_macro_FFFFFF.png"/>
          <p:cNvPicPr>
            <a:picLocks noChangeAspect="1"/>
          </p:cNvPicPr>
          <p:nvPr/>
        </p:nvPicPr>
        <p:blipFill>
          <a:blip r:embed="rId6"/>
          <a:stretch>
            <a:fillRect/>
          </a:stretch>
        </p:blipFill>
        <p:spPr>
          <a:xfrm>
            <a:off x="10645445" y="1912925"/>
            <a:ext cx="380390" cy="380390"/>
          </a:xfrm>
          <a:prstGeom prst="rect">
            <a:avLst/>
          </a:prstGeom>
        </p:spPr>
      </p:pic>
      <p:sp>
        <p:nvSpPr>
          <p:cNvPr id="28" name="Text 22"/>
          <p:cNvSpPr txBox="1"/>
          <p:nvPr/>
        </p:nvSpPr>
        <p:spPr>
          <a:xfrm>
            <a:off x="9509760" y="2606040"/>
            <a:ext cx="2651760" cy="365760"/>
          </a:xfrm>
          <a:prstGeom prst="rect">
            <a:avLst/>
          </a:prstGeom>
          <a:noFill/>
          <a:ln/>
        </p:spPr>
        <p:txBody>
          <a:bodyPr wrap="square" lIns="0" tIns="0" rIns="0" bIns="0" rtlCol="0" anchor="ctr"/>
          <a:lstStyle/>
          <a:p>
            <a:pPr marL="0" indent="0" algn="ctr">
              <a:buNone/>
            </a:pPr>
            <a:r>
              <a:rPr lang="en-US" sz="1500" b="1" dirty="0">
                <a:solidFill>
                  <a:srgbClr val="21295C"/>
                </a:solidFill>
                <a:latin typeface="Calibri" pitchFamily="34" charset="0"/>
                <a:ea typeface="Calibri" pitchFamily="34" charset="-122"/>
                <a:cs typeface="Calibri" pitchFamily="34" charset="-120"/>
              </a:rPr>
              <a:t>Macro</a:t>
            </a:r>
            <a:endParaRPr lang="en-US" sz="1500" dirty="0"/>
          </a:p>
        </p:txBody>
      </p:sp>
      <p:sp>
        <p:nvSpPr>
          <p:cNvPr id="29" name="Text 23"/>
          <p:cNvSpPr txBox="1"/>
          <p:nvPr/>
        </p:nvSpPr>
        <p:spPr>
          <a:xfrm>
            <a:off x="9509760" y="2971800"/>
            <a:ext cx="2651760" cy="640080"/>
          </a:xfrm>
          <a:prstGeom prst="rect">
            <a:avLst/>
          </a:prstGeom>
          <a:noFill/>
          <a:ln/>
        </p:spPr>
        <p:txBody>
          <a:bodyPr wrap="square" lIns="0" tIns="0" rIns="0" bIns="0" rtlCol="0" anchor="ctr"/>
          <a:lstStyle/>
          <a:p>
            <a:pPr marL="0" indent="0" algn="ctr">
              <a:buNone/>
            </a:pPr>
            <a:r>
              <a:rPr lang="en-US" sz="2600" b="1" dirty="0">
                <a:solidFill>
                  <a:srgbClr val="21295C"/>
                </a:solidFill>
                <a:latin typeface="Cambria" pitchFamily="34" charset="0"/>
                <a:ea typeface="Cambria" pitchFamily="34" charset="-122"/>
                <a:cs typeface="Cambria" pitchFamily="34" charset="-120"/>
              </a:rPr>
              <a:t>20%</a:t>
            </a:r>
            <a:endParaRPr lang="en-US" sz="2600" dirty="0"/>
          </a:p>
        </p:txBody>
      </p:sp>
      <p:sp>
        <p:nvSpPr>
          <p:cNvPr id="30" name="Text 24"/>
          <p:cNvSpPr txBox="1"/>
          <p:nvPr/>
        </p:nvSpPr>
        <p:spPr>
          <a:xfrm>
            <a:off x="9646920" y="3593592"/>
            <a:ext cx="2377440" cy="320040"/>
          </a:xfrm>
          <a:prstGeom prst="rect">
            <a:avLst/>
          </a:prstGeom>
          <a:noFill/>
          <a:ln/>
        </p:spPr>
        <p:txBody>
          <a:bodyPr wrap="square" lIns="0" tIns="0" rIns="0" bIns="0" rtlCol="0" anchor="ctr"/>
          <a:lstStyle/>
          <a:p>
            <a:pPr marL="0" indent="0" algn="ctr">
              <a:buNone/>
            </a:pPr>
            <a:r>
              <a:rPr lang="en-US" sz="950" i="1" dirty="0">
                <a:solidFill>
                  <a:srgbClr val="5B6B75"/>
                </a:solidFill>
                <a:latin typeface="Calibri" pitchFamily="34" charset="0"/>
                <a:ea typeface="Calibri" pitchFamily="34" charset="-122"/>
                <a:cs typeface="Calibri" pitchFamily="34" charset="-120"/>
              </a:rPr>
              <a:t>of studies include this level</a:t>
            </a:r>
            <a:endParaRPr lang="en-US" sz="950" dirty="0"/>
          </a:p>
        </p:txBody>
      </p:sp>
      <p:sp>
        <p:nvSpPr>
          <p:cNvPr id="31" name="Text 25"/>
          <p:cNvSpPr txBox="1"/>
          <p:nvPr/>
        </p:nvSpPr>
        <p:spPr>
          <a:xfrm>
            <a:off x="9738360" y="4023360"/>
            <a:ext cx="2194560" cy="1463040"/>
          </a:xfrm>
          <a:prstGeom prst="rect">
            <a:avLst/>
          </a:prstGeom>
          <a:noFill/>
          <a:ln/>
        </p:spPr>
        <p:txBody>
          <a:bodyPr wrap="square" lIns="0" tIns="0" rIns="0" bIns="0" rtlCol="0" anchor="ctr"/>
          <a:lstStyle/>
          <a:p>
            <a:pPr marL="0" indent="0" algn="ctr">
              <a:lnSpc>
                <a:spcPct val="125000"/>
              </a:lnSpc>
              <a:buNone/>
            </a:pPr>
            <a:r>
              <a:rPr lang="en-US" sz="1100" dirty="0">
                <a:solidFill>
                  <a:srgbClr val="2B2B2B"/>
                </a:solidFill>
                <a:latin typeface="Calibri" pitchFamily="34" charset="0"/>
                <a:ea typeface="Calibri" pitchFamily="34" charset="-122"/>
                <a:cs typeface="Calibri" pitchFamily="34" charset="-120"/>
              </a:rPr>
              <a:t>Institutions, culture, home/host distance</a:t>
            </a:r>
            <a:endParaRPr lang="en-US" sz="1100" dirty="0"/>
          </a:p>
        </p:txBody>
      </p:sp>
      <p:sp>
        <p:nvSpPr>
          <p:cNvPr id="32" name="Text 26"/>
          <p:cNvSpPr txBox="1"/>
          <p:nvPr/>
        </p:nvSpPr>
        <p:spPr>
          <a:xfrm>
            <a:off x="457200" y="6510528"/>
            <a:ext cx="8229600" cy="274320"/>
          </a:xfrm>
          <a:prstGeom prst="rect">
            <a:avLst/>
          </a:prstGeom>
          <a:noFill/>
          <a:ln/>
        </p:spPr>
        <p:txBody>
          <a:bodyPr wrap="square" lIns="0" tIns="0" rIns="0" bIns="0" rtlCol="0" anchor="ctr"/>
          <a:lstStyle/>
          <a:p>
            <a:pPr marL="0" indent="0">
              <a:buNone/>
            </a:pPr>
            <a:r>
              <a:rPr lang="en-US" sz="900" i="1" dirty="0">
                <a:solidFill>
                  <a:srgbClr val="5B6B75"/>
                </a:solidFill>
                <a:latin typeface="Calibri" pitchFamily="34" charset="0"/>
                <a:ea typeface="Calibri" pitchFamily="34" charset="-122"/>
                <a:cs typeface="Calibri" pitchFamily="34" charset="-120"/>
              </a:rPr>
              <a:t>Arregle et al. (2021) · Firm level dominates (97%); individual, family &amp; cross-level ties are the biggest gaps</a:t>
            </a:r>
            <a:endParaRPr lang="en-US" sz="900" dirty="0"/>
          </a:p>
        </p:txBody>
      </p:sp>
      <p:sp>
        <p:nvSpPr>
          <p:cNvPr id="33" name="Text 27"/>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5B6B7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ellipse">
            <a:avLst/>
          </a:prstGeom>
          <a:solidFill>
            <a:srgbClr val="065A82">
              <a:alpha val="45000"/>
            </a:srgbClr>
          </a:solidFill>
          <a:ln/>
        </p:spPr>
        <p:txBody>
          <a:bodyPr/>
          <a:lstStyle/>
          <a:p>
            <a:endParaRPr lang="en-US"/>
          </a:p>
        </p:txBody>
      </p:sp>
      <p:sp>
        <p:nvSpPr>
          <p:cNvPr id="6" name="Text 3"/>
          <p:cNvSpPr txBox="1"/>
          <p:nvPr/>
        </p:nvSpPr>
        <p:spPr>
          <a:xfrm>
            <a:off x="4322615" y="1399032"/>
            <a:ext cx="7173884" cy="1204930"/>
          </a:xfrm>
          <a:prstGeom prst="rect">
            <a:avLst/>
          </a:prstGeom>
          <a:noFill/>
          <a:ln/>
        </p:spPr>
        <p:txBody>
          <a:bodyPr wrap="square" lIns="0" tIns="0" rIns="0" bIns="0" rtlCol="0" anchor="ctr"/>
          <a:lstStyle/>
          <a:p>
            <a:pPr marL="0" indent="0">
              <a:lnSpc>
                <a:spcPct val="130000"/>
              </a:lnSpc>
              <a:buNone/>
            </a:pPr>
            <a:r>
              <a:rPr lang="en-US" dirty="0">
                <a:solidFill>
                  <a:srgbClr val="FFFFFF"/>
                </a:solidFill>
                <a:latin typeface="Calibri" pitchFamily="34" charset="0"/>
                <a:ea typeface="Calibri" pitchFamily="34" charset="-122"/>
                <a:cs typeface="Calibri" pitchFamily="34" charset="-120"/>
              </a:rPr>
              <a:t>Ghemawat shows </a:t>
            </a:r>
            <a:r>
              <a:rPr lang="en-US" b="1" dirty="0">
                <a:solidFill>
                  <a:srgbClr val="E8A33D"/>
                </a:solidFill>
                <a:latin typeface="Calibri" pitchFamily="34" charset="0"/>
                <a:ea typeface="Calibri" pitchFamily="34" charset="-122"/>
                <a:cs typeface="Calibri" pitchFamily="34" charset="-120"/>
              </a:rPr>
              <a:t>distance</a:t>
            </a:r>
            <a:r>
              <a:rPr lang="en-US" dirty="0">
                <a:solidFill>
                  <a:srgbClr val="CADCFC"/>
                </a:solidFill>
                <a:latin typeface="Calibri" pitchFamily="34" charset="0"/>
                <a:ea typeface="Calibri" pitchFamily="34" charset="-122"/>
                <a:cs typeface="Calibri" pitchFamily="34" charset="-120"/>
              </a:rPr>
              <a:t> is a hard, measurable cost of crossing borders — one every firm must price into its strategy, regardless of who owns it.</a:t>
            </a:r>
            <a:endParaRPr lang="en-US" dirty="0"/>
          </a:p>
        </p:txBody>
      </p:sp>
      <p:sp>
        <p:nvSpPr>
          <p:cNvPr id="9" name="Text 5"/>
          <p:cNvSpPr txBox="1"/>
          <p:nvPr/>
        </p:nvSpPr>
        <p:spPr>
          <a:xfrm>
            <a:off x="4322615" y="3451859"/>
            <a:ext cx="7115695" cy="1610591"/>
          </a:xfrm>
          <a:prstGeom prst="rect">
            <a:avLst/>
          </a:prstGeom>
          <a:noFill/>
          <a:ln/>
        </p:spPr>
        <p:txBody>
          <a:bodyPr wrap="square" lIns="0" tIns="0" rIns="0" bIns="0" rtlCol="0" anchor="ctr"/>
          <a:lstStyle/>
          <a:p>
            <a:pPr marL="0" indent="0">
              <a:lnSpc>
                <a:spcPct val="130000"/>
              </a:lnSpc>
              <a:buNone/>
            </a:pPr>
            <a:r>
              <a:rPr lang="en-US" dirty="0">
                <a:solidFill>
                  <a:srgbClr val="FFFFFF"/>
                </a:solidFill>
                <a:latin typeface="Calibri" pitchFamily="34" charset="0"/>
                <a:ea typeface="Calibri" pitchFamily="34" charset="-122"/>
                <a:cs typeface="Calibri" pitchFamily="34" charset="-120"/>
              </a:rPr>
              <a:t>Arregle et al. show that </a:t>
            </a:r>
            <a:r>
              <a:rPr lang="en-US" b="1" dirty="0">
                <a:solidFill>
                  <a:srgbClr val="E8A33D"/>
                </a:solidFill>
                <a:latin typeface="Calibri" pitchFamily="34" charset="0"/>
                <a:ea typeface="Calibri" pitchFamily="34" charset="-122"/>
                <a:cs typeface="Calibri" pitchFamily="34" charset="-120"/>
              </a:rPr>
              <a:t>who owns and runs the firm</a:t>
            </a:r>
            <a:r>
              <a:rPr lang="en-US" dirty="0">
                <a:solidFill>
                  <a:srgbClr val="CADCFC"/>
                </a:solidFill>
                <a:latin typeface="Calibri" pitchFamily="34" charset="0"/>
                <a:ea typeface="Calibri" pitchFamily="34" charset="-122"/>
                <a:cs typeface="Calibri" pitchFamily="34" charset="-120"/>
              </a:rPr>
              <a:t> changes how that same distance is perceived and acted on — family firms sometimes seek it out, sometimes avoid it, for non-economic reasons like socioemotional wealth.</a:t>
            </a:r>
            <a:endParaRPr lang="en-US" dirty="0"/>
          </a:p>
        </p:txBody>
      </p:sp>
      <p:sp>
        <p:nvSpPr>
          <p:cNvPr id="13" name="Text 9"/>
          <p:cNvSpPr txBox="1"/>
          <p:nvPr/>
        </p:nvSpPr>
        <p:spPr>
          <a:xfrm>
            <a:off x="457200" y="6510528"/>
            <a:ext cx="8229600" cy="274320"/>
          </a:xfrm>
          <a:prstGeom prst="rect">
            <a:avLst/>
          </a:prstGeom>
          <a:noFill/>
          <a:ln/>
        </p:spPr>
        <p:txBody>
          <a:bodyPr wrap="square" lIns="0" tIns="0" rIns="0" bIns="0" rtlCol="0" anchor="ctr"/>
          <a:lstStyle/>
          <a:p>
            <a:pPr marL="0" indent="0">
              <a:buNone/>
            </a:pPr>
            <a:endParaRPr lang="en-US" sz="900" dirty="0"/>
          </a:p>
        </p:txBody>
      </p:sp>
      <p:sp>
        <p:nvSpPr>
          <p:cNvPr id="14" name="Text 10"/>
          <p:cNvSpPr txBox="1"/>
          <p:nvPr/>
        </p:nvSpPr>
        <p:spPr>
          <a:xfrm>
            <a:off x="11338560" y="6510528"/>
            <a:ext cx="457200" cy="274320"/>
          </a:xfrm>
          <a:prstGeom prst="rect">
            <a:avLst/>
          </a:prstGeom>
          <a:noFill/>
          <a:ln/>
        </p:spPr>
        <p:txBody>
          <a:bodyPr wrap="square" lIns="0" tIns="0" rIns="0" bIns="0" rtlCol="0" anchor="ctr"/>
          <a:lstStyle/>
          <a:p>
            <a:pPr marL="0" indent="0" algn="r">
              <a:buNone/>
            </a:pPr>
            <a:r>
              <a:rPr lang="en-US" sz="900" dirty="0">
                <a:solidFill>
                  <a:srgbClr val="9FB3C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8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u-seal.png"/>
          <p:cNvPicPr>
            <a:picLocks noChangeAspect="1"/>
          </p:cNvPicPr>
          <p:nvPr/>
        </p:nvPicPr>
        <p:blipFill>
          <a:blip r:embed="rId2"/>
          <a:stretch>
            <a:fillRect/>
          </a:stretch>
        </p:blipFill>
        <p:spPr>
          <a:xfrm>
            <a:off x="502920" y="274320"/>
            <a:ext cx="403347" cy="384048"/>
          </a:xfrm>
          <a:prstGeom prst="rect">
            <a:avLst/>
          </a:prstGeom>
        </p:spPr>
      </p:pic>
      <p:sp>
        <p:nvSpPr>
          <p:cNvPr id="4" name="TextBox 3"/>
          <p:cNvSpPr txBox="1"/>
          <p:nvPr/>
        </p:nvSpPr>
        <p:spPr>
          <a:xfrm>
            <a:off x="1005840" y="274320"/>
            <a:ext cx="5486400" cy="182880"/>
          </a:xfrm>
          <a:prstGeom prst="rect">
            <a:avLst/>
          </a:prstGeom>
          <a:noFill/>
        </p:spPr>
        <p:txBody>
          <a:bodyPr wrap="square" lIns="0" rIns="0" tIns="0" bIns="0">
            <a:spAutoFit/>
          </a:bodyPr>
          <a:lstStyle/>
          <a:p>
            <a:pPr algn="l">
              <a:lnSpc>
                <a:spcPct val="115000"/>
              </a:lnSpc>
            </a:pPr>
            <a:r>
              <a:rPr sz="950" b="1" i="0" spc="190">
                <a:solidFill>
                  <a:srgbClr val="FFFFFF"/>
                </a:solidFill>
                <a:latin typeface="Consolas"/>
              </a:rPr>
              <a:t>FLORIDA INTERNATIONAL UNIVERSITY</a:t>
            </a:r>
          </a:p>
        </p:txBody>
      </p:sp>
      <p:sp>
        <p:nvSpPr>
          <p:cNvPr id="5" name="TextBox 4"/>
          <p:cNvSpPr txBox="1"/>
          <p:nvPr/>
        </p:nvSpPr>
        <p:spPr>
          <a:xfrm>
            <a:off x="1005840" y="457200"/>
            <a:ext cx="6400800" cy="182880"/>
          </a:xfrm>
          <a:prstGeom prst="rect">
            <a:avLst/>
          </a:prstGeom>
          <a:noFill/>
        </p:spPr>
        <p:txBody>
          <a:bodyPr wrap="square" lIns="0" rIns="0" tIns="0" bIns="0">
            <a:spAutoFit/>
          </a:bodyPr>
          <a:lstStyle/>
          <a:p>
            <a:pPr algn="l">
              <a:lnSpc>
                <a:spcPct val="115000"/>
              </a:lnSpc>
            </a:pPr>
            <a:r>
              <a:rPr sz="1000" b="0" i="0">
                <a:solidFill>
                  <a:srgbClr val="8FA3BC"/>
                </a:solidFill>
                <a:latin typeface="Georgia"/>
              </a:rPr>
              <a:t>Chapman Graduate School of Business  ·  Doctor of Business Administration</a:t>
            </a:r>
          </a:p>
        </p:txBody>
      </p:sp>
      <p:sp>
        <p:nvSpPr>
          <p:cNvPr id="6" name="TextBox 5"/>
          <p:cNvSpPr txBox="1"/>
          <p:nvPr/>
        </p:nvSpPr>
        <p:spPr>
          <a:xfrm>
            <a:off x="502920" y="1051560"/>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PART TWO  ·  PICKING UP WHERE DANIELA ENDED</a:t>
            </a:r>
          </a:p>
        </p:txBody>
      </p:sp>
      <p:sp>
        <p:nvSpPr>
          <p:cNvPr id="7" name="TextBox 6"/>
          <p:cNvSpPr txBox="1"/>
          <p:nvPr/>
        </p:nvSpPr>
        <p:spPr>
          <a:xfrm>
            <a:off x="502920" y="1298448"/>
            <a:ext cx="10820400" cy="640080"/>
          </a:xfrm>
          <a:prstGeom prst="rect">
            <a:avLst/>
          </a:prstGeom>
          <a:noFill/>
        </p:spPr>
        <p:txBody>
          <a:bodyPr wrap="square" lIns="0" rIns="0" tIns="0" bIns="0">
            <a:spAutoFit/>
          </a:bodyPr>
          <a:lstStyle/>
          <a:p>
            <a:pPr algn="l">
              <a:lnSpc>
                <a:spcPct val="110000"/>
              </a:lnSpc>
            </a:pPr>
            <a:r>
              <a:rPr sz="3200" b="1" i="0">
                <a:solidFill>
                  <a:srgbClr val="FFFFFF"/>
                </a:solidFill>
                <a:latin typeface="Georgia"/>
              </a:rPr>
              <a:t>Distance can be priced. Can it be measured?</a:t>
            </a:r>
          </a:p>
        </p:txBody>
      </p:sp>
      <p:sp>
        <p:nvSpPr>
          <p:cNvPr id="8" name="Rounded Rectangle 7"/>
          <p:cNvSpPr/>
          <p:nvPr/>
        </p:nvSpPr>
        <p:spPr>
          <a:xfrm>
            <a:off x="502920" y="2057400"/>
            <a:ext cx="11186160" cy="713232"/>
          </a:xfrm>
          <a:prstGeom prst="roundRect">
            <a:avLst>
              <a:gd name="adj" fmla="val 4000"/>
            </a:avLst>
          </a:prstGeom>
          <a:solidFill>
            <a:srgbClr val="0C2547"/>
          </a:solidFill>
          <a:ln w="12700">
            <a:solidFill>
              <a:srgbClr val="1B3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76272"/>
            <a:ext cx="10783824" cy="182880"/>
          </a:xfrm>
          <a:prstGeom prst="rect">
            <a:avLst/>
          </a:prstGeom>
          <a:noFill/>
        </p:spPr>
        <p:txBody>
          <a:bodyPr wrap="square" lIns="0" rIns="0" tIns="0" bIns="0">
            <a:spAutoFit/>
          </a:bodyPr>
          <a:lstStyle/>
          <a:p>
            <a:pPr algn="l">
              <a:lnSpc>
                <a:spcPct val="115000"/>
              </a:lnSpc>
            </a:pPr>
            <a:r>
              <a:rPr sz="900" b="1" i="0" spc="150">
                <a:solidFill>
                  <a:srgbClr val="7E93A8"/>
                </a:solidFill>
                <a:latin typeface="Consolas"/>
              </a:rPr>
              <a:t>DANIELA JUST SAID</a:t>
            </a:r>
          </a:p>
        </p:txBody>
      </p:sp>
      <p:sp>
        <p:nvSpPr>
          <p:cNvPr id="10" name="TextBox 9"/>
          <p:cNvSpPr txBox="1"/>
          <p:nvPr/>
        </p:nvSpPr>
        <p:spPr>
          <a:xfrm>
            <a:off x="704088" y="2359152"/>
            <a:ext cx="10783824" cy="365760"/>
          </a:xfrm>
          <a:prstGeom prst="rect">
            <a:avLst/>
          </a:prstGeom>
          <a:noFill/>
        </p:spPr>
        <p:txBody>
          <a:bodyPr wrap="square" lIns="0" rIns="0" tIns="0" bIns="0">
            <a:spAutoFit/>
          </a:bodyPr>
          <a:lstStyle/>
          <a:p>
            <a:pPr algn="l">
              <a:lnSpc>
                <a:spcPct val="115000"/>
              </a:lnSpc>
            </a:pPr>
            <a:r>
              <a:rPr sz="1500" b="0" i="1">
                <a:solidFill>
                  <a:srgbClr val="FFFFFF"/>
                </a:solidFill>
                <a:latin typeface="Georgia"/>
              </a:rPr>
              <a:t>“Who owns and runs the firm changes how that same distance is perceived and acted on.”</a:t>
            </a:r>
          </a:p>
        </p:txBody>
      </p:sp>
      <p:sp>
        <p:nvSpPr>
          <p:cNvPr id="11" name="Rounded Rectangle 10"/>
          <p:cNvSpPr/>
          <p:nvPr/>
        </p:nvSpPr>
        <p:spPr>
          <a:xfrm>
            <a:off x="502920" y="2926080"/>
            <a:ext cx="11186160" cy="658368"/>
          </a:xfrm>
          <a:prstGeom prst="roundRect">
            <a:avLst>
              <a:gd name="adj" fmla="val 4000"/>
            </a:avLst>
          </a:prstGeom>
          <a:solidFill>
            <a:srgbClr val="12325C"/>
          </a:solidFill>
          <a:ln w="17780">
            <a:solidFill>
              <a:srgbClr val="B686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035808"/>
            <a:ext cx="10783824" cy="182880"/>
          </a:xfrm>
          <a:prstGeom prst="rect">
            <a:avLst/>
          </a:prstGeom>
          <a:noFill/>
        </p:spPr>
        <p:txBody>
          <a:bodyPr wrap="square" lIns="0" rIns="0" tIns="0" bIns="0">
            <a:spAutoFit/>
          </a:bodyPr>
          <a:lstStyle/>
          <a:p>
            <a:pPr algn="l">
              <a:lnSpc>
                <a:spcPct val="115000"/>
              </a:lnSpc>
            </a:pPr>
            <a:r>
              <a:rPr sz="900" b="1" i="0" spc="150">
                <a:solidFill>
                  <a:srgbClr val="B6862C"/>
                </a:solidFill>
                <a:latin typeface="Consolas"/>
              </a:rPr>
              <a:t>SO MY QUESTION</a:t>
            </a:r>
          </a:p>
        </p:txBody>
      </p:sp>
      <p:sp>
        <p:nvSpPr>
          <p:cNvPr id="13" name="TextBox 12"/>
          <p:cNvSpPr txBox="1"/>
          <p:nvPr/>
        </p:nvSpPr>
        <p:spPr>
          <a:xfrm>
            <a:off x="704088" y="3218688"/>
            <a:ext cx="10783824" cy="365760"/>
          </a:xfrm>
          <a:prstGeom prst="rect">
            <a:avLst/>
          </a:prstGeom>
          <a:noFill/>
        </p:spPr>
        <p:txBody>
          <a:bodyPr wrap="square" lIns="0" rIns="0" tIns="0" bIns="0">
            <a:spAutoFit/>
          </a:bodyPr>
          <a:lstStyle/>
          <a:p>
            <a:pPr algn="l">
              <a:lnSpc>
                <a:spcPct val="115000"/>
              </a:lnSpc>
            </a:pPr>
            <a:r>
              <a:rPr sz="1500" b="0" i="1">
                <a:solidFill>
                  <a:srgbClr val="FFFFFF"/>
                </a:solidFill>
                <a:latin typeface="Georgia"/>
              </a:rPr>
              <a:t>When the field tried to measure any of this — did it measure what it thought it was measuring?</a:t>
            </a:r>
          </a:p>
        </p:txBody>
      </p:sp>
      <p:sp>
        <p:nvSpPr>
          <p:cNvPr id="14" name="Rounded Rectangle 13"/>
          <p:cNvSpPr/>
          <p:nvPr/>
        </p:nvSpPr>
        <p:spPr>
          <a:xfrm>
            <a:off x="502920" y="3794760"/>
            <a:ext cx="5501640" cy="777240"/>
          </a:xfrm>
          <a:prstGeom prst="roundRect">
            <a:avLst>
              <a:gd name="adj" fmla="val 4000"/>
            </a:avLst>
          </a:prstGeom>
          <a:solidFill>
            <a:srgbClr val="0C2547"/>
          </a:solidFill>
          <a:ln w="12700">
            <a:solidFill>
              <a:srgbClr val="1B3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3913632"/>
            <a:ext cx="5501640" cy="182880"/>
          </a:xfrm>
          <a:prstGeom prst="rect">
            <a:avLst/>
          </a:prstGeom>
          <a:noFill/>
        </p:spPr>
        <p:txBody>
          <a:bodyPr wrap="square" lIns="0" rIns="0" tIns="0" bIns="0">
            <a:spAutoFit/>
          </a:bodyPr>
          <a:lstStyle/>
          <a:p>
            <a:pPr algn="ctr">
              <a:lnSpc>
                <a:spcPct val="115000"/>
              </a:lnSpc>
            </a:pPr>
            <a:r>
              <a:rPr sz="1000" b="1" i="0" spc="120">
                <a:solidFill>
                  <a:srgbClr val="B6862C"/>
                </a:solidFill>
                <a:latin typeface="Consolas"/>
              </a:rPr>
              <a:t>CONTRACTOR, KUNDU &amp; HSU</a:t>
            </a:r>
          </a:p>
        </p:txBody>
      </p:sp>
      <p:sp>
        <p:nvSpPr>
          <p:cNvPr id="16" name="TextBox 15"/>
          <p:cNvSpPr txBox="1"/>
          <p:nvPr/>
        </p:nvSpPr>
        <p:spPr>
          <a:xfrm>
            <a:off x="502920" y="4114800"/>
            <a:ext cx="5501640" cy="182880"/>
          </a:xfrm>
          <a:prstGeom prst="rect">
            <a:avLst/>
          </a:prstGeom>
          <a:noFill/>
        </p:spPr>
        <p:txBody>
          <a:bodyPr wrap="square" lIns="0" rIns="0" tIns="0" bIns="0">
            <a:spAutoFit/>
          </a:bodyPr>
          <a:lstStyle/>
          <a:p>
            <a:pPr algn="ctr">
              <a:lnSpc>
                <a:spcPct val="115000"/>
              </a:lnSpc>
            </a:pPr>
            <a:r>
              <a:rPr sz="1200" b="0" i="0">
                <a:solidFill>
                  <a:srgbClr val="5E7793"/>
                </a:solidFill>
                <a:latin typeface="Georgia"/>
              </a:rPr>
              <a:t>2003</a:t>
            </a:r>
          </a:p>
        </p:txBody>
      </p:sp>
      <p:sp>
        <p:nvSpPr>
          <p:cNvPr id="17" name="TextBox 16"/>
          <p:cNvSpPr txBox="1"/>
          <p:nvPr/>
        </p:nvSpPr>
        <p:spPr>
          <a:xfrm>
            <a:off x="502920" y="4315968"/>
            <a:ext cx="5501640" cy="182880"/>
          </a:xfrm>
          <a:prstGeom prst="rect">
            <a:avLst/>
          </a:prstGeom>
          <a:noFill/>
        </p:spPr>
        <p:txBody>
          <a:bodyPr wrap="square" lIns="0" rIns="0" tIns="0" bIns="0">
            <a:spAutoFit/>
          </a:bodyPr>
          <a:lstStyle/>
          <a:p>
            <a:pPr algn="ctr">
              <a:lnSpc>
                <a:spcPct val="115000"/>
              </a:lnSpc>
            </a:pPr>
            <a:r>
              <a:rPr sz="1250" b="0" i="1">
                <a:solidFill>
                  <a:srgbClr val="FFFFFF"/>
                </a:solidFill>
                <a:latin typeface="Georgia"/>
              </a:rPr>
              <a:t>the shape of the relationship</a:t>
            </a:r>
          </a:p>
        </p:txBody>
      </p:sp>
      <p:sp>
        <p:nvSpPr>
          <p:cNvPr id="18" name="Rounded Rectangle 17"/>
          <p:cNvSpPr/>
          <p:nvPr/>
        </p:nvSpPr>
        <p:spPr>
          <a:xfrm>
            <a:off x="6187440" y="3794760"/>
            <a:ext cx="5501640" cy="777240"/>
          </a:xfrm>
          <a:prstGeom prst="roundRect">
            <a:avLst>
              <a:gd name="adj" fmla="val 4000"/>
            </a:avLst>
          </a:prstGeom>
          <a:solidFill>
            <a:srgbClr val="0C2547"/>
          </a:solidFill>
          <a:ln w="12700">
            <a:solidFill>
              <a:srgbClr val="1B3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7440" y="3913632"/>
            <a:ext cx="5501640" cy="182880"/>
          </a:xfrm>
          <a:prstGeom prst="rect">
            <a:avLst/>
          </a:prstGeom>
          <a:noFill/>
        </p:spPr>
        <p:txBody>
          <a:bodyPr wrap="square" lIns="0" rIns="0" tIns="0" bIns="0">
            <a:spAutoFit/>
          </a:bodyPr>
          <a:lstStyle/>
          <a:p>
            <a:pPr algn="ctr">
              <a:lnSpc>
                <a:spcPct val="115000"/>
              </a:lnSpc>
            </a:pPr>
            <a:r>
              <a:rPr sz="1000" b="1" i="0" spc="120">
                <a:solidFill>
                  <a:srgbClr val="B6862C"/>
                </a:solidFill>
                <a:latin typeface="Consolas"/>
              </a:rPr>
              <a:t>MEZIAS</a:t>
            </a:r>
          </a:p>
        </p:txBody>
      </p:sp>
      <p:sp>
        <p:nvSpPr>
          <p:cNvPr id="20" name="TextBox 19"/>
          <p:cNvSpPr txBox="1"/>
          <p:nvPr/>
        </p:nvSpPr>
        <p:spPr>
          <a:xfrm>
            <a:off x="6187440" y="4114800"/>
            <a:ext cx="5501640" cy="182880"/>
          </a:xfrm>
          <a:prstGeom prst="rect">
            <a:avLst/>
          </a:prstGeom>
          <a:noFill/>
        </p:spPr>
        <p:txBody>
          <a:bodyPr wrap="square" lIns="0" rIns="0" tIns="0" bIns="0">
            <a:spAutoFit/>
          </a:bodyPr>
          <a:lstStyle/>
          <a:p>
            <a:pPr algn="ctr">
              <a:lnSpc>
                <a:spcPct val="115000"/>
              </a:lnSpc>
            </a:pPr>
            <a:r>
              <a:rPr sz="1200" b="0" i="0">
                <a:solidFill>
                  <a:srgbClr val="5E7793"/>
                </a:solidFill>
                <a:latin typeface="Georgia"/>
              </a:rPr>
              <a:t>2002</a:t>
            </a:r>
          </a:p>
        </p:txBody>
      </p:sp>
      <p:sp>
        <p:nvSpPr>
          <p:cNvPr id="21" name="TextBox 20"/>
          <p:cNvSpPr txBox="1"/>
          <p:nvPr/>
        </p:nvSpPr>
        <p:spPr>
          <a:xfrm>
            <a:off x="6187440" y="4315968"/>
            <a:ext cx="5501640" cy="182880"/>
          </a:xfrm>
          <a:prstGeom prst="rect">
            <a:avLst/>
          </a:prstGeom>
          <a:noFill/>
        </p:spPr>
        <p:txBody>
          <a:bodyPr wrap="square" lIns="0" rIns="0" tIns="0" bIns="0">
            <a:spAutoFit/>
          </a:bodyPr>
          <a:lstStyle/>
          <a:p>
            <a:pPr algn="ctr">
              <a:lnSpc>
                <a:spcPct val="115000"/>
              </a:lnSpc>
            </a:pPr>
            <a:r>
              <a:rPr sz="1250" b="0" i="1">
                <a:solidFill>
                  <a:srgbClr val="FFFFFF"/>
                </a:solidFill>
                <a:latin typeface="Georgia"/>
              </a:rPr>
              <a:t>the cost of being foreign</a:t>
            </a:r>
          </a:p>
        </p:txBody>
      </p:sp>
      <p:sp>
        <p:nvSpPr>
          <p:cNvPr id="22" name="TextBox 21"/>
          <p:cNvSpPr txBox="1"/>
          <p:nvPr/>
        </p:nvSpPr>
        <p:spPr>
          <a:xfrm>
            <a:off x="502920" y="4773168"/>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THEN THE CONCLUSION — ALL FOUR PAPERS, ONE DIAGNOSIS</a:t>
            </a:r>
          </a:p>
        </p:txBody>
      </p:sp>
      <p:sp>
        <p:nvSpPr>
          <p:cNvPr id="23" name="Rectangle 22"/>
          <p:cNvSpPr/>
          <p:nvPr/>
        </p:nvSpPr>
        <p:spPr>
          <a:xfrm>
            <a:off x="502920" y="6382512"/>
            <a:ext cx="11186160" cy="9525"/>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455664"/>
            <a:ext cx="3657600" cy="182880"/>
          </a:xfrm>
          <a:prstGeom prst="rect">
            <a:avLst/>
          </a:prstGeom>
          <a:noFill/>
        </p:spPr>
        <p:txBody>
          <a:bodyPr wrap="square" lIns="0" rIns="0" tIns="0" bIns="0">
            <a:spAutoFit/>
          </a:bodyPr>
          <a:lstStyle/>
          <a:p>
            <a:pPr algn="l">
              <a:lnSpc>
                <a:spcPct val="115000"/>
              </a:lnSpc>
            </a:pPr>
            <a:r>
              <a:rPr sz="850" b="1" i="0">
                <a:solidFill>
                  <a:srgbClr val="7E93A8"/>
                </a:solidFill>
                <a:latin typeface="Consolas"/>
              </a:rPr>
              <a:t>Yasir A. Malik  ·  Cohort 8.14</a:t>
            </a:r>
          </a:p>
        </p:txBody>
      </p:sp>
      <p:sp>
        <p:nvSpPr>
          <p:cNvPr id="25" name="TextBox 24"/>
          <p:cNvSpPr txBox="1"/>
          <p:nvPr/>
        </p:nvSpPr>
        <p:spPr>
          <a:xfrm>
            <a:off x="4160520" y="6455664"/>
            <a:ext cx="3931920" cy="182880"/>
          </a:xfrm>
          <a:prstGeom prst="rect">
            <a:avLst/>
          </a:prstGeom>
          <a:noFill/>
        </p:spPr>
        <p:txBody>
          <a:bodyPr wrap="square" lIns="0" rIns="0" tIns="0" bIns="0">
            <a:spAutoFit/>
          </a:bodyPr>
          <a:lstStyle/>
          <a:p>
            <a:pPr algn="ctr">
              <a:lnSpc>
                <a:spcPct val="115000"/>
              </a:lnSpc>
            </a:pPr>
            <a:r>
              <a:rPr sz="850" b="0" i="0">
                <a:solidFill>
                  <a:srgbClr val="7E93A8"/>
                </a:solidFill>
                <a:latin typeface="Consolas"/>
              </a:rPr>
              <a:t>GEB 7365  ·  Module 2  ·  27 August 2026</a:t>
            </a:r>
          </a:p>
        </p:txBody>
      </p:sp>
      <p:sp>
        <p:nvSpPr>
          <p:cNvPr id="26" name="TextBox 25"/>
          <p:cNvSpPr txBox="1"/>
          <p:nvPr/>
        </p:nvSpPr>
        <p:spPr>
          <a:xfrm>
            <a:off x="10774680" y="6455664"/>
            <a:ext cx="914400" cy="182880"/>
          </a:xfrm>
          <a:prstGeom prst="rect">
            <a:avLst/>
          </a:prstGeom>
          <a:noFill/>
        </p:spPr>
        <p:txBody>
          <a:bodyPr wrap="square" lIns="0" rIns="0" tIns="0" bIns="0">
            <a:spAutoFit/>
          </a:bodyPr>
          <a:lstStyle/>
          <a:p>
            <a:pPr algn="r">
              <a:lnSpc>
                <a:spcPct val="115000"/>
              </a:lnSpc>
            </a:pPr>
            <a:r>
              <a:rPr sz="850" b="1" i="0">
                <a:solidFill>
                  <a:srgbClr val="B6862C"/>
                </a:solidFill>
                <a:latin typeface="Consola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u-seal.png"/>
          <p:cNvPicPr>
            <a:picLocks noChangeAspect="1"/>
          </p:cNvPicPr>
          <p:nvPr/>
        </p:nvPicPr>
        <p:blipFill>
          <a:blip r:embed="rId2"/>
          <a:stretch>
            <a:fillRect/>
          </a:stretch>
        </p:blipFill>
        <p:spPr>
          <a:xfrm>
            <a:off x="502920" y="274320"/>
            <a:ext cx="403347" cy="384048"/>
          </a:xfrm>
          <a:prstGeom prst="rect">
            <a:avLst/>
          </a:prstGeom>
        </p:spPr>
      </p:pic>
      <p:sp>
        <p:nvSpPr>
          <p:cNvPr id="4" name="TextBox 3"/>
          <p:cNvSpPr txBox="1"/>
          <p:nvPr/>
        </p:nvSpPr>
        <p:spPr>
          <a:xfrm>
            <a:off x="1005840" y="274320"/>
            <a:ext cx="5486400" cy="182880"/>
          </a:xfrm>
          <a:prstGeom prst="rect">
            <a:avLst/>
          </a:prstGeom>
          <a:noFill/>
        </p:spPr>
        <p:txBody>
          <a:bodyPr wrap="square" lIns="0" rIns="0" tIns="0" bIns="0">
            <a:spAutoFit/>
          </a:bodyPr>
          <a:lstStyle/>
          <a:p>
            <a:pPr algn="l">
              <a:lnSpc>
                <a:spcPct val="115000"/>
              </a:lnSpc>
            </a:pPr>
            <a:r>
              <a:rPr sz="950" b="1" i="0" spc="190">
                <a:solidFill>
                  <a:srgbClr val="081E3F"/>
                </a:solidFill>
                <a:latin typeface="Consolas"/>
              </a:rPr>
              <a:t>FLORIDA INTERNATIONAL UNIVERSITY</a:t>
            </a:r>
          </a:p>
        </p:txBody>
      </p:sp>
      <p:sp>
        <p:nvSpPr>
          <p:cNvPr id="5" name="TextBox 4"/>
          <p:cNvSpPr txBox="1"/>
          <p:nvPr/>
        </p:nvSpPr>
        <p:spPr>
          <a:xfrm>
            <a:off x="1005840" y="457200"/>
            <a:ext cx="6400800" cy="182880"/>
          </a:xfrm>
          <a:prstGeom prst="rect">
            <a:avLst/>
          </a:prstGeom>
          <a:noFill/>
        </p:spPr>
        <p:txBody>
          <a:bodyPr wrap="square" lIns="0" rIns="0" tIns="0" bIns="0">
            <a:spAutoFit/>
          </a:bodyPr>
          <a:lstStyle/>
          <a:p>
            <a:pPr algn="l">
              <a:lnSpc>
                <a:spcPct val="115000"/>
              </a:lnSpc>
            </a:pPr>
            <a:r>
              <a:rPr sz="1000" b="0" i="0">
                <a:solidFill>
                  <a:srgbClr val="767D86"/>
                </a:solidFill>
                <a:latin typeface="Georgia"/>
              </a:rPr>
              <a:t>Chapman Graduate School of Business  ·  Doctor of Business Administration</a:t>
            </a:r>
          </a:p>
        </p:txBody>
      </p:sp>
      <p:sp>
        <p:nvSpPr>
          <p:cNvPr id="6" name="TextBox 5"/>
          <p:cNvSpPr txBox="1"/>
          <p:nvPr/>
        </p:nvSpPr>
        <p:spPr>
          <a:xfrm>
            <a:off x="502920" y="960120"/>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CONTRACTOR, KUNDU &amp; HSU (2003) · JIBS 34(1): 5–18 · AFTER FIGURE 1</a:t>
            </a:r>
          </a:p>
        </p:txBody>
      </p:sp>
      <p:sp>
        <p:nvSpPr>
          <p:cNvPr id="7" name="TextBox 6"/>
          <p:cNvSpPr txBox="1"/>
          <p:nvPr/>
        </p:nvSpPr>
        <p:spPr>
          <a:xfrm>
            <a:off x="502920" y="1170432"/>
            <a:ext cx="11186160" cy="585216"/>
          </a:xfrm>
          <a:prstGeom prst="rect">
            <a:avLst/>
          </a:prstGeom>
          <a:noFill/>
        </p:spPr>
        <p:txBody>
          <a:bodyPr wrap="square" lIns="0" rIns="0" tIns="0" bIns="0">
            <a:spAutoFit/>
          </a:bodyPr>
          <a:lstStyle/>
          <a:p>
            <a:pPr algn="l">
              <a:lnSpc>
                <a:spcPct val="112000"/>
              </a:lnSpc>
            </a:pPr>
            <a:r>
              <a:rPr sz="2900" b="1" i="0">
                <a:solidFill>
                  <a:srgbClr val="14171C"/>
                </a:solidFill>
                <a:latin typeface="Georgia"/>
              </a:rPr>
              <a:t>Four findings. One curve.</a:t>
            </a:r>
          </a:p>
        </p:txBody>
      </p:sp>
      <p:sp>
        <p:nvSpPr>
          <p:cNvPr id="8" name="Rectangle 7"/>
          <p:cNvSpPr/>
          <p:nvPr/>
        </p:nvSpPr>
        <p:spPr>
          <a:xfrm>
            <a:off x="1330452" y="1920240"/>
            <a:ext cx="1363370" cy="2148840"/>
          </a:xfrm>
          <a:prstGeom prst="rect">
            <a:avLst/>
          </a:prstGeom>
          <a:solidFill>
            <a:srgbClr val="F6E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13201" y="1920240"/>
            <a:ext cx="2077516" cy="2148840"/>
          </a:xfrm>
          <a:prstGeom prst="rect">
            <a:avLst/>
          </a:prstGeom>
          <a:solidFill>
            <a:srgbClr val="ED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10097" y="1920240"/>
            <a:ext cx="1493215" cy="2148840"/>
          </a:xfrm>
          <a:prstGeom prst="rect">
            <a:avLst/>
          </a:prstGeom>
          <a:solidFill>
            <a:srgbClr val="F2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05840" y="4069080"/>
            <a:ext cx="6492240" cy="12700"/>
          </a:xfrm>
          <a:prstGeom prst="rect">
            <a:avLst/>
          </a:prstGeom>
          <a:solidFill>
            <a:srgbClr val="9A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005840" y="1920240"/>
            <a:ext cx="12700" cy="2148840"/>
          </a:xfrm>
          <a:prstGeom prst="rect">
            <a:avLst/>
          </a:prstGeom>
          <a:solidFill>
            <a:srgbClr val="9A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005840" y="2251438"/>
            <a:ext cx="6492240" cy="1615374"/>
          </a:xfrm>
          <a:custGeom>
            <a:avLst/>
            <a:gdLst/>
            <a:ahLst/>
            <a:cxnLst/>
            <a:rect l="l" t="t" r="r" b="b"/>
            <a:pathLst>
              <a:path w="6492240" h="1615374">
                <a:moveTo>
                  <a:pt x="0" y="767289"/>
                </a:moveTo>
                <a:lnTo>
                  <a:pt x="108204" y="775949"/>
                </a:lnTo>
                <a:lnTo>
                  <a:pt x="216408" y="800496"/>
                </a:lnTo>
                <a:lnTo>
                  <a:pt x="324612" y="838785"/>
                </a:lnTo>
                <a:lnTo>
                  <a:pt x="432816" y="888667"/>
                </a:lnTo>
                <a:lnTo>
                  <a:pt x="541020" y="947996"/>
                </a:lnTo>
                <a:lnTo>
                  <a:pt x="649224" y="1014625"/>
                </a:lnTo>
                <a:lnTo>
                  <a:pt x="757428" y="1086407"/>
                </a:lnTo>
                <a:lnTo>
                  <a:pt x="865632" y="1161194"/>
                </a:lnTo>
                <a:lnTo>
                  <a:pt x="973836" y="1236841"/>
                </a:lnTo>
                <a:lnTo>
                  <a:pt x="1082040" y="1311199"/>
                </a:lnTo>
                <a:lnTo>
                  <a:pt x="1190244" y="1382122"/>
                </a:lnTo>
                <a:lnTo>
                  <a:pt x="1298448" y="1447463"/>
                </a:lnTo>
                <a:lnTo>
                  <a:pt x="1406652" y="1505074"/>
                </a:lnTo>
                <a:lnTo>
                  <a:pt x="1514856" y="1552809"/>
                </a:lnTo>
                <a:lnTo>
                  <a:pt x="1623060" y="1588521"/>
                </a:lnTo>
                <a:lnTo>
                  <a:pt x="1731264" y="1610063"/>
                </a:lnTo>
                <a:lnTo>
                  <a:pt x="1839468" y="1615374"/>
                </a:lnTo>
                <a:lnTo>
                  <a:pt x="1947672" y="1605938"/>
                </a:lnTo>
                <a:lnTo>
                  <a:pt x="2055876" y="1583856"/>
                </a:lnTo>
                <a:lnTo>
                  <a:pt x="2164080" y="1550181"/>
                </a:lnTo>
                <a:lnTo>
                  <a:pt x="2272284" y="1505967"/>
                </a:lnTo>
                <a:lnTo>
                  <a:pt x="2380488" y="1452269"/>
                </a:lnTo>
                <a:lnTo>
                  <a:pt x="2488692" y="1390139"/>
                </a:lnTo>
                <a:lnTo>
                  <a:pt x="2596896" y="1320632"/>
                </a:lnTo>
                <a:lnTo>
                  <a:pt x="2705100" y="1244802"/>
                </a:lnTo>
                <a:lnTo>
                  <a:pt x="2813304" y="1163702"/>
                </a:lnTo>
                <a:lnTo>
                  <a:pt x="2921508" y="1078387"/>
                </a:lnTo>
                <a:lnTo>
                  <a:pt x="3029712" y="989910"/>
                </a:lnTo>
                <a:lnTo>
                  <a:pt x="3137916" y="899326"/>
                </a:lnTo>
                <a:lnTo>
                  <a:pt x="3246120" y="807687"/>
                </a:lnTo>
                <a:lnTo>
                  <a:pt x="3354324" y="716049"/>
                </a:lnTo>
                <a:lnTo>
                  <a:pt x="3462528" y="625464"/>
                </a:lnTo>
                <a:lnTo>
                  <a:pt x="3570732" y="536987"/>
                </a:lnTo>
                <a:lnTo>
                  <a:pt x="3678936" y="451672"/>
                </a:lnTo>
                <a:lnTo>
                  <a:pt x="3787140" y="370573"/>
                </a:lnTo>
                <a:lnTo>
                  <a:pt x="3895344" y="294742"/>
                </a:lnTo>
                <a:lnTo>
                  <a:pt x="4003548" y="225236"/>
                </a:lnTo>
                <a:lnTo>
                  <a:pt x="4111752" y="163106"/>
                </a:lnTo>
                <a:lnTo>
                  <a:pt x="4219956" y="109407"/>
                </a:lnTo>
                <a:lnTo>
                  <a:pt x="4328160" y="65193"/>
                </a:lnTo>
                <a:lnTo>
                  <a:pt x="4436364" y="31518"/>
                </a:lnTo>
                <a:lnTo>
                  <a:pt x="4544568" y="9436"/>
                </a:lnTo>
                <a:lnTo>
                  <a:pt x="4652772" y="0"/>
                </a:lnTo>
                <a:lnTo>
                  <a:pt x="4760976" y="4247"/>
                </a:lnTo>
                <a:lnTo>
                  <a:pt x="4869180" y="21685"/>
                </a:lnTo>
                <a:lnTo>
                  <a:pt x="4977384" y="50595"/>
                </a:lnTo>
                <a:lnTo>
                  <a:pt x="5085588" y="89238"/>
                </a:lnTo>
                <a:lnTo>
                  <a:pt x="5193792" y="135876"/>
                </a:lnTo>
                <a:lnTo>
                  <a:pt x="5301996" y="188771"/>
                </a:lnTo>
                <a:lnTo>
                  <a:pt x="5410200" y="246185"/>
                </a:lnTo>
                <a:lnTo>
                  <a:pt x="5518404" y="306379"/>
                </a:lnTo>
                <a:lnTo>
                  <a:pt x="5626608" y="367617"/>
                </a:lnTo>
                <a:lnTo>
                  <a:pt x="5734812" y="428159"/>
                </a:lnTo>
                <a:lnTo>
                  <a:pt x="5843016" y="486268"/>
                </a:lnTo>
                <a:lnTo>
                  <a:pt x="5951220" y="540206"/>
                </a:lnTo>
                <a:lnTo>
                  <a:pt x="6059424" y="588234"/>
                </a:lnTo>
                <a:lnTo>
                  <a:pt x="6167628" y="628615"/>
                </a:lnTo>
                <a:lnTo>
                  <a:pt x="6275832" y="659611"/>
                </a:lnTo>
                <a:lnTo>
                  <a:pt x="6384036" y="679482"/>
                </a:lnTo>
                <a:lnTo>
                  <a:pt x="6492240" y="686493"/>
                </a:lnTo>
              </a:path>
            </a:pathLst>
          </a:custGeom>
          <a:noFill/>
          <a:ln w="38100">
            <a:solidFill>
              <a:srgbClr val="081E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9257" y="1993392"/>
            <a:ext cx="365760" cy="274320"/>
          </a:xfrm>
          <a:prstGeom prst="rect">
            <a:avLst/>
          </a:prstGeom>
          <a:noFill/>
        </p:spPr>
        <p:txBody>
          <a:bodyPr wrap="square" lIns="0" rIns="0" tIns="0" bIns="0">
            <a:spAutoFit/>
          </a:bodyPr>
          <a:lstStyle/>
          <a:p>
            <a:pPr algn="ctr">
              <a:lnSpc>
                <a:spcPct val="115000"/>
              </a:lnSpc>
            </a:pPr>
            <a:r>
              <a:rPr sz="1500" b="1" i="0">
                <a:solidFill>
                  <a:srgbClr val="8C3A1B"/>
                </a:solidFill>
                <a:latin typeface="Georgia"/>
              </a:rPr>
              <a:t>1</a:t>
            </a:r>
          </a:p>
        </p:txBody>
      </p:sp>
      <p:sp>
        <p:nvSpPr>
          <p:cNvPr id="15" name="TextBox 14"/>
          <p:cNvSpPr txBox="1"/>
          <p:nvPr/>
        </p:nvSpPr>
        <p:spPr>
          <a:xfrm>
            <a:off x="4069080" y="1993392"/>
            <a:ext cx="365760" cy="274320"/>
          </a:xfrm>
          <a:prstGeom prst="rect">
            <a:avLst/>
          </a:prstGeom>
          <a:noFill/>
        </p:spPr>
        <p:txBody>
          <a:bodyPr wrap="square" lIns="0" rIns="0" tIns="0" bIns="0">
            <a:spAutoFit/>
          </a:bodyPr>
          <a:lstStyle/>
          <a:p>
            <a:pPr algn="ctr">
              <a:lnSpc>
                <a:spcPct val="115000"/>
              </a:lnSpc>
            </a:pPr>
            <a:r>
              <a:rPr sz="1500" b="1" i="0">
                <a:solidFill>
                  <a:srgbClr val="1C6B63"/>
                </a:solidFill>
                <a:latin typeface="Georgia"/>
              </a:rPr>
              <a:t>2</a:t>
            </a:r>
          </a:p>
        </p:txBody>
      </p:sp>
      <p:sp>
        <p:nvSpPr>
          <p:cNvPr id="16" name="TextBox 15"/>
          <p:cNvSpPr txBox="1"/>
          <p:nvPr/>
        </p:nvSpPr>
        <p:spPr>
          <a:xfrm>
            <a:off x="6373825" y="1993392"/>
            <a:ext cx="365760" cy="274320"/>
          </a:xfrm>
          <a:prstGeom prst="rect">
            <a:avLst/>
          </a:prstGeom>
          <a:noFill/>
        </p:spPr>
        <p:txBody>
          <a:bodyPr wrap="square" lIns="0" rIns="0" tIns="0" bIns="0">
            <a:spAutoFit/>
          </a:bodyPr>
          <a:lstStyle/>
          <a:p>
            <a:pPr algn="ctr">
              <a:lnSpc>
                <a:spcPct val="115000"/>
              </a:lnSpc>
            </a:pPr>
            <a:r>
              <a:rPr sz="1500" b="1" i="0">
                <a:solidFill>
                  <a:srgbClr val="B6862C"/>
                </a:solidFill>
                <a:latin typeface="Georgia"/>
              </a:rPr>
              <a:t>3</a:t>
            </a:r>
          </a:p>
        </p:txBody>
      </p:sp>
      <p:sp>
        <p:nvSpPr>
          <p:cNvPr id="17" name="TextBox 16"/>
          <p:cNvSpPr txBox="1"/>
          <p:nvPr/>
        </p:nvSpPr>
        <p:spPr>
          <a:xfrm>
            <a:off x="1005840" y="4142232"/>
            <a:ext cx="6492240" cy="182880"/>
          </a:xfrm>
          <a:prstGeom prst="rect">
            <a:avLst/>
          </a:prstGeom>
          <a:noFill/>
        </p:spPr>
        <p:txBody>
          <a:bodyPr wrap="square" lIns="0" rIns="0" tIns="0" bIns="0">
            <a:spAutoFit/>
          </a:bodyPr>
          <a:lstStyle/>
          <a:p>
            <a:pPr algn="ctr">
              <a:lnSpc>
                <a:spcPct val="115000"/>
              </a:lnSpc>
            </a:pPr>
            <a:r>
              <a:rPr sz="850" b="1" i="0" spc="120">
                <a:solidFill>
                  <a:srgbClr val="767D86"/>
                </a:solidFill>
                <a:latin typeface="Consolas"/>
              </a:rPr>
              <a:t>DEGREE OF INTERNATIONALIZATION</a:t>
            </a:r>
          </a:p>
        </p:txBody>
      </p:sp>
      <p:sp>
        <p:nvSpPr>
          <p:cNvPr id="18" name="TextBox 17"/>
          <p:cNvSpPr txBox="1"/>
          <p:nvPr/>
        </p:nvSpPr>
        <p:spPr>
          <a:xfrm>
            <a:off x="7818120" y="1874519"/>
            <a:ext cx="3108960" cy="182880"/>
          </a:xfrm>
          <a:prstGeom prst="rect">
            <a:avLst/>
          </a:prstGeom>
          <a:noFill/>
        </p:spPr>
        <p:txBody>
          <a:bodyPr wrap="square" lIns="0" rIns="0" tIns="0" bIns="0">
            <a:spAutoFit/>
          </a:bodyPr>
          <a:lstStyle/>
          <a:p>
            <a:pPr algn="l">
              <a:lnSpc>
                <a:spcPct val="115000"/>
              </a:lnSpc>
            </a:pPr>
            <a:r>
              <a:rPr sz="900" b="1" i="0" spc="140">
                <a:solidFill>
                  <a:srgbClr val="767D86"/>
                </a:solidFill>
                <a:latin typeface="Consolas"/>
              </a:rPr>
              <a:t>SAMPLE ONLY…</a:t>
            </a:r>
          </a:p>
        </p:txBody>
      </p:sp>
      <p:sp>
        <p:nvSpPr>
          <p:cNvPr id="19" name="Oval 18"/>
          <p:cNvSpPr/>
          <p:nvPr/>
        </p:nvSpPr>
        <p:spPr>
          <a:xfrm>
            <a:off x="7822692" y="2153412"/>
            <a:ext cx="82296" cy="82296"/>
          </a:xfrm>
          <a:prstGeom prst="ellipse">
            <a:avLst/>
          </a:prstGeom>
          <a:solidFill>
            <a:srgbClr val="8C3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82712" y="2121408"/>
            <a:ext cx="2926080" cy="164592"/>
          </a:xfrm>
          <a:prstGeom prst="rect">
            <a:avLst/>
          </a:prstGeom>
          <a:noFill/>
        </p:spPr>
        <p:txBody>
          <a:bodyPr wrap="square" lIns="0" rIns="0" tIns="0" bIns="0">
            <a:spAutoFit/>
          </a:bodyPr>
          <a:lstStyle/>
          <a:p>
            <a:pPr algn="l">
              <a:lnSpc>
                <a:spcPct val="115000"/>
              </a:lnSpc>
            </a:pPr>
            <a:r>
              <a:rPr sz="900" b="1" i="0" spc="100">
                <a:solidFill>
                  <a:srgbClr val="8C3A1B"/>
                </a:solidFill>
                <a:latin typeface="Consolas"/>
              </a:rPr>
              <a:t>segment 1</a:t>
            </a:r>
          </a:p>
        </p:txBody>
      </p:sp>
      <p:sp>
        <p:nvSpPr>
          <p:cNvPr id="21" name="TextBox 20"/>
          <p:cNvSpPr txBox="1"/>
          <p:nvPr/>
        </p:nvSpPr>
        <p:spPr>
          <a:xfrm>
            <a:off x="7982712" y="2295144"/>
            <a:ext cx="2926080" cy="36576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you publish a NEGATIVE linear result</a:t>
            </a:r>
          </a:p>
        </p:txBody>
      </p:sp>
      <p:sp>
        <p:nvSpPr>
          <p:cNvPr id="22" name="Oval 21"/>
          <p:cNvSpPr/>
          <p:nvPr/>
        </p:nvSpPr>
        <p:spPr>
          <a:xfrm>
            <a:off x="7822692" y="2720340"/>
            <a:ext cx="82296" cy="82296"/>
          </a:xfrm>
          <a:prstGeom prst="ellipse">
            <a:avLst/>
          </a:prstGeom>
          <a:solidFill>
            <a:srgbClr val="1C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82712" y="2688336"/>
            <a:ext cx="2926080" cy="164592"/>
          </a:xfrm>
          <a:prstGeom prst="rect">
            <a:avLst/>
          </a:prstGeom>
          <a:noFill/>
        </p:spPr>
        <p:txBody>
          <a:bodyPr wrap="square" lIns="0" rIns="0" tIns="0" bIns="0">
            <a:spAutoFit/>
          </a:bodyPr>
          <a:lstStyle/>
          <a:p>
            <a:pPr algn="l">
              <a:lnSpc>
                <a:spcPct val="115000"/>
              </a:lnSpc>
            </a:pPr>
            <a:r>
              <a:rPr sz="900" b="1" i="0" spc="100">
                <a:solidFill>
                  <a:srgbClr val="1C6B63"/>
                </a:solidFill>
                <a:latin typeface="Consolas"/>
              </a:rPr>
              <a:t>segment 2</a:t>
            </a:r>
          </a:p>
        </p:txBody>
      </p:sp>
      <p:sp>
        <p:nvSpPr>
          <p:cNvPr id="24" name="TextBox 23"/>
          <p:cNvSpPr txBox="1"/>
          <p:nvPr/>
        </p:nvSpPr>
        <p:spPr>
          <a:xfrm>
            <a:off x="7982712" y="2862072"/>
            <a:ext cx="2926080" cy="36576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you publish a POSITIVE linear result</a:t>
            </a:r>
          </a:p>
        </p:txBody>
      </p:sp>
      <p:sp>
        <p:nvSpPr>
          <p:cNvPr id="25" name="Oval 24"/>
          <p:cNvSpPr/>
          <p:nvPr/>
        </p:nvSpPr>
        <p:spPr>
          <a:xfrm>
            <a:off x="7822692" y="3287268"/>
            <a:ext cx="82296" cy="82296"/>
          </a:xfrm>
          <a:prstGeom prst="ellipse">
            <a:avLst/>
          </a:prstGeom>
          <a:solidFill>
            <a:srgbClr val="1C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82712" y="3255264"/>
            <a:ext cx="2926080" cy="164592"/>
          </a:xfrm>
          <a:prstGeom prst="rect">
            <a:avLst/>
          </a:prstGeom>
          <a:noFill/>
        </p:spPr>
        <p:txBody>
          <a:bodyPr wrap="square" lIns="0" rIns="0" tIns="0" bIns="0">
            <a:spAutoFit/>
          </a:bodyPr>
          <a:lstStyle/>
          <a:p>
            <a:pPr algn="l">
              <a:lnSpc>
                <a:spcPct val="115000"/>
              </a:lnSpc>
            </a:pPr>
            <a:r>
              <a:rPr sz="900" b="1" i="0" spc="100">
                <a:solidFill>
                  <a:srgbClr val="1C6B63"/>
                </a:solidFill>
                <a:latin typeface="Consolas"/>
              </a:rPr>
              <a:t>segments 1+2</a:t>
            </a:r>
          </a:p>
        </p:txBody>
      </p:sp>
      <p:sp>
        <p:nvSpPr>
          <p:cNvPr id="27" name="TextBox 26"/>
          <p:cNvSpPr txBox="1"/>
          <p:nvPr/>
        </p:nvSpPr>
        <p:spPr>
          <a:xfrm>
            <a:off x="7982712" y="3429000"/>
            <a:ext cx="2926080" cy="36576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you publish a U</a:t>
            </a:r>
          </a:p>
        </p:txBody>
      </p:sp>
      <p:sp>
        <p:nvSpPr>
          <p:cNvPr id="28" name="Oval 27"/>
          <p:cNvSpPr/>
          <p:nvPr/>
        </p:nvSpPr>
        <p:spPr>
          <a:xfrm>
            <a:off x="7822692" y="3854196"/>
            <a:ext cx="82296" cy="82296"/>
          </a:xfrm>
          <a:prstGeom prst="ellipse">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82712" y="3822192"/>
            <a:ext cx="2926080" cy="164592"/>
          </a:xfrm>
          <a:prstGeom prst="rect">
            <a:avLst/>
          </a:prstGeom>
          <a:noFill/>
        </p:spPr>
        <p:txBody>
          <a:bodyPr wrap="square" lIns="0" rIns="0" tIns="0" bIns="0">
            <a:spAutoFit/>
          </a:bodyPr>
          <a:lstStyle/>
          <a:p>
            <a:pPr algn="l">
              <a:lnSpc>
                <a:spcPct val="115000"/>
              </a:lnSpc>
            </a:pPr>
            <a:r>
              <a:rPr sz="900" b="1" i="0" spc="100">
                <a:solidFill>
                  <a:srgbClr val="B6862C"/>
                </a:solidFill>
                <a:latin typeface="Consolas"/>
              </a:rPr>
              <a:t>segments 2+3</a:t>
            </a:r>
          </a:p>
        </p:txBody>
      </p:sp>
      <p:sp>
        <p:nvSpPr>
          <p:cNvPr id="30" name="TextBox 29"/>
          <p:cNvSpPr txBox="1"/>
          <p:nvPr/>
        </p:nvSpPr>
        <p:spPr>
          <a:xfrm>
            <a:off x="7982712" y="3995928"/>
            <a:ext cx="2926080" cy="36576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you publish an INVERTED U</a:t>
            </a:r>
          </a:p>
        </p:txBody>
      </p:sp>
      <p:sp>
        <p:nvSpPr>
          <p:cNvPr id="31" name="Rounded Rectangle 30"/>
          <p:cNvSpPr/>
          <p:nvPr/>
        </p:nvSpPr>
        <p:spPr>
          <a:xfrm>
            <a:off x="502920" y="4315968"/>
            <a:ext cx="11186160" cy="566928"/>
          </a:xfrm>
          <a:prstGeom prst="roundRect">
            <a:avLst>
              <a:gd name="adj" fmla="val 4000"/>
            </a:avLst>
          </a:prstGeom>
          <a:solidFill>
            <a:srgbClr val="E8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434840"/>
            <a:ext cx="10820400" cy="457200"/>
          </a:xfrm>
          <a:prstGeom prst="rect">
            <a:avLst/>
          </a:prstGeom>
          <a:noFill/>
        </p:spPr>
        <p:txBody>
          <a:bodyPr wrap="square" lIns="0" rIns="0" tIns="0" bIns="0">
            <a:spAutoFit/>
          </a:bodyPr>
          <a:lstStyle/>
          <a:p>
            <a:pPr algn="l">
              <a:lnSpc>
                <a:spcPct val="115000"/>
              </a:lnSpc>
            </a:pPr>
            <a:r>
              <a:rPr sz="1350" b="0" i="1">
                <a:solidFill>
                  <a:srgbClr val="14171C"/>
                </a:solidFill>
                <a:latin typeface="Georgia"/>
              </a:rPr>
              <a:t>Thirty years of contradiction, and none of it was about firms. The literature was sampling different segments of one sigmoid and reporting each as a finding about the whole.</a:t>
            </a:r>
          </a:p>
        </p:txBody>
      </p:sp>
      <p:sp>
        <p:nvSpPr>
          <p:cNvPr id="33" name="Rectangle 32"/>
          <p:cNvSpPr/>
          <p:nvPr/>
        </p:nvSpPr>
        <p:spPr>
          <a:xfrm>
            <a:off x="502920" y="6382512"/>
            <a:ext cx="11186160" cy="9525"/>
          </a:xfrm>
          <a:prstGeom prst="rect">
            <a:avLst/>
          </a:prstGeom>
          <a:solidFill>
            <a:srgbClr val="DD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455664"/>
            <a:ext cx="3657600" cy="182880"/>
          </a:xfrm>
          <a:prstGeom prst="rect">
            <a:avLst/>
          </a:prstGeom>
          <a:noFill/>
        </p:spPr>
        <p:txBody>
          <a:bodyPr wrap="square" lIns="0" rIns="0" tIns="0" bIns="0">
            <a:spAutoFit/>
          </a:bodyPr>
          <a:lstStyle/>
          <a:p>
            <a:pPr algn="l">
              <a:lnSpc>
                <a:spcPct val="115000"/>
              </a:lnSpc>
            </a:pPr>
            <a:r>
              <a:rPr sz="850" b="1" i="0">
                <a:solidFill>
                  <a:srgbClr val="767D86"/>
                </a:solidFill>
                <a:latin typeface="Consolas"/>
              </a:rPr>
              <a:t>Yasir A. Malik  ·  Cohort 8.14</a:t>
            </a:r>
          </a:p>
        </p:txBody>
      </p:sp>
      <p:sp>
        <p:nvSpPr>
          <p:cNvPr id="35" name="TextBox 34"/>
          <p:cNvSpPr txBox="1"/>
          <p:nvPr/>
        </p:nvSpPr>
        <p:spPr>
          <a:xfrm>
            <a:off x="4160520" y="6455664"/>
            <a:ext cx="3931920" cy="182880"/>
          </a:xfrm>
          <a:prstGeom prst="rect">
            <a:avLst/>
          </a:prstGeom>
          <a:noFill/>
        </p:spPr>
        <p:txBody>
          <a:bodyPr wrap="square" lIns="0" rIns="0" tIns="0" bIns="0">
            <a:spAutoFit/>
          </a:bodyPr>
          <a:lstStyle/>
          <a:p>
            <a:pPr algn="ctr">
              <a:lnSpc>
                <a:spcPct val="115000"/>
              </a:lnSpc>
            </a:pPr>
            <a:r>
              <a:rPr sz="850" b="0" i="0">
                <a:solidFill>
                  <a:srgbClr val="767D86"/>
                </a:solidFill>
                <a:latin typeface="Consolas"/>
              </a:rPr>
              <a:t>GEB 7365  ·  Module 2  ·  27 August 2026</a:t>
            </a:r>
          </a:p>
        </p:txBody>
      </p:sp>
      <p:sp>
        <p:nvSpPr>
          <p:cNvPr id="36" name="TextBox 35"/>
          <p:cNvSpPr txBox="1"/>
          <p:nvPr/>
        </p:nvSpPr>
        <p:spPr>
          <a:xfrm>
            <a:off x="10774680" y="6455664"/>
            <a:ext cx="914400" cy="182880"/>
          </a:xfrm>
          <a:prstGeom prst="rect">
            <a:avLst/>
          </a:prstGeom>
          <a:noFill/>
        </p:spPr>
        <p:txBody>
          <a:bodyPr wrap="square" lIns="0" rIns="0" tIns="0" bIns="0">
            <a:spAutoFit/>
          </a:bodyPr>
          <a:lstStyle/>
          <a:p>
            <a:pPr algn="r">
              <a:lnSpc>
                <a:spcPct val="115000"/>
              </a:lnSpc>
            </a:pPr>
            <a:r>
              <a:rPr sz="850" b="1" i="0">
                <a:solidFill>
                  <a:srgbClr val="B6862C"/>
                </a:solidFill>
                <a:latin typeface="Consola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u-seal.png"/>
          <p:cNvPicPr>
            <a:picLocks noChangeAspect="1"/>
          </p:cNvPicPr>
          <p:nvPr/>
        </p:nvPicPr>
        <p:blipFill>
          <a:blip r:embed="rId2"/>
          <a:stretch>
            <a:fillRect/>
          </a:stretch>
        </p:blipFill>
        <p:spPr>
          <a:xfrm>
            <a:off x="502920" y="274320"/>
            <a:ext cx="403347" cy="384048"/>
          </a:xfrm>
          <a:prstGeom prst="rect">
            <a:avLst/>
          </a:prstGeom>
        </p:spPr>
      </p:pic>
      <p:sp>
        <p:nvSpPr>
          <p:cNvPr id="4" name="TextBox 3"/>
          <p:cNvSpPr txBox="1"/>
          <p:nvPr/>
        </p:nvSpPr>
        <p:spPr>
          <a:xfrm>
            <a:off x="1005840" y="274320"/>
            <a:ext cx="5486400" cy="182880"/>
          </a:xfrm>
          <a:prstGeom prst="rect">
            <a:avLst/>
          </a:prstGeom>
          <a:noFill/>
        </p:spPr>
        <p:txBody>
          <a:bodyPr wrap="square" lIns="0" rIns="0" tIns="0" bIns="0">
            <a:spAutoFit/>
          </a:bodyPr>
          <a:lstStyle/>
          <a:p>
            <a:pPr algn="l">
              <a:lnSpc>
                <a:spcPct val="115000"/>
              </a:lnSpc>
            </a:pPr>
            <a:r>
              <a:rPr sz="950" b="1" i="0" spc="190">
                <a:solidFill>
                  <a:srgbClr val="081E3F"/>
                </a:solidFill>
                <a:latin typeface="Consolas"/>
              </a:rPr>
              <a:t>FLORIDA INTERNATIONAL UNIVERSITY</a:t>
            </a:r>
          </a:p>
        </p:txBody>
      </p:sp>
      <p:sp>
        <p:nvSpPr>
          <p:cNvPr id="5" name="TextBox 4"/>
          <p:cNvSpPr txBox="1"/>
          <p:nvPr/>
        </p:nvSpPr>
        <p:spPr>
          <a:xfrm>
            <a:off x="1005840" y="457200"/>
            <a:ext cx="6400800" cy="182880"/>
          </a:xfrm>
          <a:prstGeom prst="rect">
            <a:avLst/>
          </a:prstGeom>
          <a:noFill/>
        </p:spPr>
        <p:txBody>
          <a:bodyPr wrap="square" lIns="0" rIns="0" tIns="0" bIns="0">
            <a:spAutoFit/>
          </a:bodyPr>
          <a:lstStyle/>
          <a:p>
            <a:pPr algn="l">
              <a:lnSpc>
                <a:spcPct val="115000"/>
              </a:lnSpc>
            </a:pPr>
            <a:r>
              <a:rPr sz="1000" b="0" i="0">
                <a:solidFill>
                  <a:srgbClr val="767D86"/>
                </a:solidFill>
                <a:latin typeface="Georgia"/>
              </a:rPr>
              <a:t>Chapman Graduate School of Business  ·  Doctor of Business Administration</a:t>
            </a:r>
          </a:p>
        </p:txBody>
      </p:sp>
      <p:sp>
        <p:nvSpPr>
          <p:cNvPr id="6" name="TextBox 5"/>
          <p:cNvSpPr txBox="1"/>
          <p:nvPr/>
        </p:nvSpPr>
        <p:spPr>
          <a:xfrm>
            <a:off x="502920" y="960120"/>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CONTRACTOR, KUNDU &amp; HSU (2003) — THE FINDING THAT REACHES PRACTICE</a:t>
            </a:r>
          </a:p>
        </p:txBody>
      </p:sp>
      <p:sp>
        <p:nvSpPr>
          <p:cNvPr id="7" name="TextBox 6"/>
          <p:cNvSpPr txBox="1"/>
          <p:nvPr/>
        </p:nvSpPr>
        <p:spPr>
          <a:xfrm>
            <a:off x="502920" y="1170432"/>
            <a:ext cx="11186160" cy="585216"/>
          </a:xfrm>
          <a:prstGeom prst="rect">
            <a:avLst/>
          </a:prstGeom>
          <a:noFill/>
        </p:spPr>
        <p:txBody>
          <a:bodyPr wrap="square" lIns="0" rIns="0" tIns="0" bIns="0">
            <a:spAutoFit/>
          </a:bodyPr>
          <a:lstStyle/>
          <a:p>
            <a:pPr algn="l">
              <a:lnSpc>
                <a:spcPct val="112000"/>
              </a:lnSpc>
            </a:pPr>
            <a:r>
              <a:rPr sz="2900" b="1" i="0">
                <a:solidFill>
                  <a:srgbClr val="14171C"/>
                </a:solidFill>
                <a:latin typeface="Georgia"/>
              </a:rPr>
              <a:t>Some firms walk into stage three more easily.</a:t>
            </a:r>
          </a:p>
        </p:txBody>
      </p:sp>
      <p:sp>
        <p:nvSpPr>
          <p:cNvPr id="8" name="Rectangle 7"/>
          <p:cNvSpPr/>
          <p:nvPr/>
        </p:nvSpPr>
        <p:spPr>
          <a:xfrm>
            <a:off x="5548579" y="1965960"/>
            <a:ext cx="1766620" cy="1965960"/>
          </a:xfrm>
          <a:prstGeom prst="rect">
            <a:avLst/>
          </a:prstGeom>
          <a:solidFill>
            <a:srgbClr val="F6E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05840" y="3931920"/>
            <a:ext cx="6309360" cy="12700"/>
          </a:xfrm>
          <a:prstGeom prst="rect">
            <a:avLst/>
          </a:prstGeom>
          <a:solidFill>
            <a:srgbClr val="9A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05840" y="1965960"/>
            <a:ext cx="12700" cy="1965960"/>
          </a:xfrm>
          <a:prstGeom prst="rect">
            <a:avLst/>
          </a:prstGeom>
          <a:solidFill>
            <a:srgbClr val="9A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1005840" y="2268971"/>
            <a:ext cx="6309360" cy="1477895"/>
          </a:xfrm>
          <a:custGeom>
            <a:avLst/>
            <a:gdLst/>
            <a:ahLst/>
            <a:cxnLst/>
            <a:rect l="l" t="t" r="r" b="b"/>
            <a:pathLst>
              <a:path w="6309360" h="1477895">
                <a:moveTo>
                  <a:pt x="0" y="701988"/>
                </a:moveTo>
                <a:lnTo>
                  <a:pt x="105156" y="709910"/>
                </a:lnTo>
                <a:lnTo>
                  <a:pt x="210312" y="732369"/>
                </a:lnTo>
                <a:lnTo>
                  <a:pt x="315468" y="767399"/>
                </a:lnTo>
                <a:lnTo>
                  <a:pt x="420624" y="813036"/>
                </a:lnTo>
                <a:lnTo>
                  <a:pt x="525780" y="867315"/>
                </a:lnTo>
                <a:lnTo>
                  <a:pt x="630936" y="928274"/>
                </a:lnTo>
                <a:lnTo>
                  <a:pt x="736092" y="993946"/>
                </a:lnTo>
                <a:lnTo>
                  <a:pt x="841248" y="1062369"/>
                </a:lnTo>
                <a:lnTo>
                  <a:pt x="946404" y="1131578"/>
                </a:lnTo>
                <a:lnTo>
                  <a:pt x="1051560" y="1199607"/>
                </a:lnTo>
                <a:lnTo>
                  <a:pt x="1156716" y="1264494"/>
                </a:lnTo>
                <a:lnTo>
                  <a:pt x="1261872" y="1324274"/>
                </a:lnTo>
                <a:lnTo>
                  <a:pt x="1367028" y="1376983"/>
                </a:lnTo>
                <a:lnTo>
                  <a:pt x="1472184" y="1420655"/>
                </a:lnTo>
                <a:lnTo>
                  <a:pt x="1577340" y="1453328"/>
                </a:lnTo>
                <a:lnTo>
                  <a:pt x="1682496" y="1473036"/>
                </a:lnTo>
                <a:lnTo>
                  <a:pt x="1787652" y="1477895"/>
                </a:lnTo>
                <a:lnTo>
                  <a:pt x="1892808" y="1469263"/>
                </a:lnTo>
                <a:lnTo>
                  <a:pt x="1997964" y="1449060"/>
                </a:lnTo>
                <a:lnTo>
                  <a:pt x="2103120" y="1418251"/>
                </a:lnTo>
                <a:lnTo>
                  <a:pt x="2208276" y="1377800"/>
                </a:lnTo>
                <a:lnTo>
                  <a:pt x="2313432" y="1328671"/>
                </a:lnTo>
                <a:lnTo>
                  <a:pt x="2418588" y="1271829"/>
                </a:lnTo>
                <a:lnTo>
                  <a:pt x="2523744" y="1208238"/>
                </a:lnTo>
                <a:lnTo>
                  <a:pt x="2628900" y="1138861"/>
                </a:lnTo>
                <a:lnTo>
                  <a:pt x="2734056" y="1064664"/>
                </a:lnTo>
                <a:lnTo>
                  <a:pt x="2839212" y="986609"/>
                </a:lnTo>
                <a:lnTo>
                  <a:pt x="2944368" y="905662"/>
                </a:lnTo>
                <a:lnTo>
                  <a:pt x="3049524" y="822787"/>
                </a:lnTo>
                <a:lnTo>
                  <a:pt x="3154680" y="738948"/>
                </a:lnTo>
                <a:lnTo>
                  <a:pt x="3259836" y="655108"/>
                </a:lnTo>
                <a:lnTo>
                  <a:pt x="3364992" y="572233"/>
                </a:lnTo>
                <a:lnTo>
                  <a:pt x="3470148" y="491286"/>
                </a:lnTo>
                <a:lnTo>
                  <a:pt x="3575304" y="413232"/>
                </a:lnTo>
                <a:lnTo>
                  <a:pt x="3680460" y="339035"/>
                </a:lnTo>
                <a:lnTo>
                  <a:pt x="3785616" y="269658"/>
                </a:lnTo>
                <a:lnTo>
                  <a:pt x="3890772" y="206066"/>
                </a:lnTo>
                <a:lnTo>
                  <a:pt x="3995928" y="149224"/>
                </a:lnTo>
                <a:lnTo>
                  <a:pt x="4101084" y="100096"/>
                </a:lnTo>
                <a:lnTo>
                  <a:pt x="4206240" y="59645"/>
                </a:lnTo>
                <a:lnTo>
                  <a:pt x="4311396" y="28836"/>
                </a:lnTo>
                <a:lnTo>
                  <a:pt x="4416552" y="8633"/>
                </a:lnTo>
                <a:lnTo>
                  <a:pt x="4521708" y="0"/>
                </a:lnTo>
                <a:lnTo>
                  <a:pt x="4626864" y="3885"/>
                </a:lnTo>
                <a:lnTo>
                  <a:pt x="4732020" y="19840"/>
                </a:lnTo>
                <a:lnTo>
                  <a:pt x="4837176" y="46289"/>
                </a:lnTo>
                <a:lnTo>
                  <a:pt x="4942332" y="81643"/>
                </a:lnTo>
                <a:lnTo>
                  <a:pt x="5047488" y="124312"/>
                </a:lnTo>
                <a:lnTo>
                  <a:pt x="5152644" y="172705"/>
                </a:lnTo>
                <a:lnTo>
                  <a:pt x="5257800" y="225233"/>
                </a:lnTo>
                <a:lnTo>
                  <a:pt x="5362956" y="280304"/>
                </a:lnTo>
                <a:lnTo>
                  <a:pt x="5468112" y="336330"/>
                </a:lnTo>
                <a:lnTo>
                  <a:pt x="5573268" y="391720"/>
                </a:lnTo>
                <a:lnTo>
                  <a:pt x="5678424" y="444884"/>
                </a:lnTo>
                <a:lnTo>
                  <a:pt x="5783580" y="494231"/>
                </a:lnTo>
                <a:lnTo>
                  <a:pt x="5888736" y="538172"/>
                </a:lnTo>
                <a:lnTo>
                  <a:pt x="5993892" y="575116"/>
                </a:lnTo>
                <a:lnTo>
                  <a:pt x="6099048" y="603474"/>
                </a:lnTo>
                <a:lnTo>
                  <a:pt x="6204204" y="621654"/>
                </a:lnTo>
                <a:lnTo>
                  <a:pt x="6309360" y="628068"/>
                </a:lnTo>
              </a:path>
            </a:pathLst>
          </a:custGeom>
          <a:noFill/>
          <a:ln w="38100">
            <a:solidFill>
              <a:srgbClr val="081E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363309" y="2514299"/>
            <a:ext cx="137160" cy="137160"/>
          </a:xfrm>
          <a:prstGeom prst="ellipse">
            <a:avLst/>
          </a:prstGeom>
          <a:solidFill>
            <a:srgbClr val="8C3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6286" y="2557276"/>
            <a:ext cx="51206" cy="51206"/>
          </a:xfrm>
          <a:prstGeom prst="ellipse">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965752" y="3039862"/>
            <a:ext cx="137160" cy="137160"/>
          </a:xfrm>
          <a:prstGeom prst="ellipse">
            <a:avLst/>
          </a:prstGeom>
          <a:solidFill>
            <a:srgbClr val="1C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008729" y="3082839"/>
            <a:ext cx="51206" cy="51206"/>
          </a:xfrm>
          <a:prstGeom prst="ellipse">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48579" y="1728216"/>
            <a:ext cx="1766620" cy="182880"/>
          </a:xfrm>
          <a:prstGeom prst="rect">
            <a:avLst/>
          </a:prstGeom>
          <a:noFill/>
        </p:spPr>
        <p:txBody>
          <a:bodyPr wrap="square" lIns="0" rIns="0" tIns="0" bIns="0">
            <a:spAutoFit/>
          </a:bodyPr>
          <a:lstStyle/>
          <a:p>
            <a:pPr algn="ctr">
              <a:lnSpc>
                <a:spcPct val="115000"/>
              </a:lnSpc>
            </a:pPr>
            <a:r>
              <a:rPr sz="850" b="1" i="0" spc="120">
                <a:solidFill>
                  <a:srgbClr val="8C3A1B"/>
                </a:solidFill>
                <a:latin typeface="Consolas"/>
              </a:rPr>
              <a:t>STAGE 3 — THE EXPENSIVE ONE</a:t>
            </a:r>
          </a:p>
        </p:txBody>
      </p:sp>
      <p:sp>
        <p:nvSpPr>
          <p:cNvPr id="17" name="TextBox 16"/>
          <p:cNvSpPr txBox="1"/>
          <p:nvPr/>
        </p:nvSpPr>
        <p:spPr>
          <a:xfrm>
            <a:off x="1005840" y="4005072"/>
            <a:ext cx="6309360" cy="182880"/>
          </a:xfrm>
          <a:prstGeom prst="rect">
            <a:avLst/>
          </a:prstGeom>
          <a:noFill/>
        </p:spPr>
        <p:txBody>
          <a:bodyPr wrap="square" lIns="0" rIns="0" tIns="0" bIns="0">
            <a:spAutoFit/>
          </a:bodyPr>
          <a:lstStyle/>
          <a:p>
            <a:pPr algn="ctr">
              <a:lnSpc>
                <a:spcPct val="115000"/>
              </a:lnSpc>
            </a:pPr>
            <a:r>
              <a:rPr sz="850" b="1" i="0" spc="120">
                <a:solidFill>
                  <a:srgbClr val="767D86"/>
                </a:solidFill>
                <a:latin typeface="Consolas"/>
              </a:rPr>
              <a:t>DEGREE OF INTERNATIONALIZATION</a:t>
            </a:r>
          </a:p>
        </p:txBody>
      </p:sp>
      <p:sp>
        <p:nvSpPr>
          <p:cNvPr id="18" name="Oval 17"/>
          <p:cNvSpPr/>
          <p:nvPr/>
        </p:nvSpPr>
        <p:spPr>
          <a:xfrm>
            <a:off x="7594092" y="2034539"/>
            <a:ext cx="100584" cy="100584"/>
          </a:xfrm>
          <a:prstGeom prst="ellipse">
            <a:avLst/>
          </a:prstGeom>
          <a:solidFill>
            <a:srgbClr val="8C3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0" y="2011680"/>
            <a:ext cx="2926080" cy="182880"/>
          </a:xfrm>
          <a:prstGeom prst="rect">
            <a:avLst/>
          </a:prstGeom>
          <a:noFill/>
        </p:spPr>
        <p:txBody>
          <a:bodyPr wrap="square" lIns="0" rIns="0" tIns="0" bIns="0">
            <a:spAutoFit/>
          </a:bodyPr>
          <a:lstStyle/>
          <a:p>
            <a:pPr algn="l">
              <a:lnSpc>
                <a:spcPct val="115000"/>
              </a:lnSpc>
            </a:pPr>
            <a:r>
              <a:rPr sz="900" b="1" i="0" spc="110">
                <a:solidFill>
                  <a:srgbClr val="8C3A1B"/>
                </a:solidFill>
                <a:latin typeface="Consolas"/>
              </a:rPr>
              <a:t>KNOWLEDGE-BASED SERVICES</a:t>
            </a:r>
          </a:p>
        </p:txBody>
      </p:sp>
      <p:sp>
        <p:nvSpPr>
          <p:cNvPr id="20" name="TextBox 19"/>
          <p:cNvSpPr txBox="1"/>
          <p:nvPr/>
        </p:nvSpPr>
        <p:spPr>
          <a:xfrm>
            <a:off x="7772400" y="2194560"/>
            <a:ext cx="2926080" cy="914400"/>
          </a:xfrm>
          <a:prstGeom prst="rect">
            <a:avLst/>
          </a:prstGeom>
          <a:noFill/>
        </p:spPr>
        <p:txBody>
          <a:bodyPr wrap="square" lIns="0" rIns="0" tIns="0" bIns="0">
            <a:spAutoFit/>
          </a:bodyPr>
          <a:lstStyle/>
          <a:p>
            <a:pPr algn="l">
              <a:lnSpc>
                <a:spcPct val="115000"/>
              </a:lnSpc>
            </a:pPr>
            <a:r>
              <a:rPr sz="1150" b="0" i="0">
                <a:solidFill>
                  <a:srgbClr val="454B54"/>
                </a:solidFill>
                <a:latin typeface="Georgia"/>
              </a:rPr>
              <a:t>Advertising · market research · securities · publishing. “More driven by intangible assets” with “a much lower fixed capital cost burden” — one more market is cheap to say yes to.</a:t>
            </a:r>
          </a:p>
        </p:txBody>
      </p:sp>
      <p:sp>
        <p:nvSpPr>
          <p:cNvPr id="21" name="Oval 20"/>
          <p:cNvSpPr/>
          <p:nvPr/>
        </p:nvSpPr>
        <p:spPr>
          <a:xfrm>
            <a:off x="7594092" y="3195828"/>
            <a:ext cx="100584" cy="100584"/>
          </a:xfrm>
          <a:prstGeom prst="ellipse">
            <a:avLst/>
          </a:prstGeom>
          <a:solidFill>
            <a:srgbClr val="1C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0" y="3172968"/>
            <a:ext cx="2926080" cy="182880"/>
          </a:xfrm>
          <a:prstGeom prst="rect">
            <a:avLst/>
          </a:prstGeom>
          <a:noFill/>
        </p:spPr>
        <p:txBody>
          <a:bodyPr wrap="square" lIns="0" rIns="0" tIns="0" bIns="0">
            <a:spAutoFit/>
          </a:bodyPr>
          <a:lstStyle/>
          <a:p>
            <a:pPr algn="l">
              <a:lnSpc>
                <a:spcPct val="115000"/>
              </a:lnSpc>
            </a:pPr>
            <a:r>
              <a:rPr sz="900" b="1" i="0" spc="110">
                <a:solidFill>
                  <a:srgbClr val="1C6B63"/>
                </a:solidFill>
                <a:latin typeface="Consolas"/>
              </a:rPr>
              <a:t>CAPITAL-INTENSIVE</a:t>
            </a:r>
          </a:p>
        </p:txBody>
      </p:sp>
      <p:sp>
        <p:nvSpPr>
          <p:cNvPr id="23" name="TextBox 22"/>
          <p:cNvSpPr txBox="1"/>
          <p:nvPr/>
        </p:nvSpPr>
        <p:spPr>
          <a:xfrm>
            <a:off x="7772400" y="3355848"/>
            <a:ext cx="2926080" cy="822960"/>
          </a:xfrm>
          <a:prstGeom prst="rect">
            <a:avLst/>
          </a:prstGeom>
          <a:noFill/>
        </p:spPr>
        <p:txBody>
          <a:bodyPr wrap="square" lIns="0" rIns="0" tIns="0" bIns="0">
            <a:spAutoFit/>
          </a:bodyPr>
          <a:lstStyle/>
          <a:p>
            <a:pPr algn="l">
              <a:lnSpc>
                <a:spcPct val="115000"/>
              </a:lnSpc>
            </a:pPr>
            <a:r>
              <a:rPr sz="1150" b="0" i="0">
                <a:solidFill>
                  <a:srgbClr val="454B54"/>
                </a:solidFill>
                <a:latin typeface="Georgia"/>
              </a:rPr>
              <a:t>Airlines · hotels · construction · retail. Fixed assets make every additional market an expensive commitment, so they stop sooner.</a:t>
            </a:r>
          </a:p>
        </p:txBody>
      </p:sp>
      <p:sp>
        <p:nvSpPr>
          <p:cNvPr id="24" name="Rounded Rectangle 23"/>
          <p:cNvSpPr/>
          <p:nvPr/>
        </p:nvSpPr>
        <p:spPr>
          <a:xfrm>
            <a:off x="502920" y="4224528"/>
            <a:ext cx="11186160" cy="603504"/>
          </a:xfrm>
          <a:prstGeom prst="roundRect">
            <a:avLst>
              <a:gd name="adj" fmla="val 4000"/>
            </a:avLst>
          </a:prstGeom>
          <a:solidFill>
            <a:srgbClr val="FAF3E4"/>
          </a:solidFill>
          <a:ln w="12700">
            <a:solidFill>
              <a:srgbClr val="E4D3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352544"/>
            <a:ext cx="10820400" cy="457200"/>
          </a:xfrm>
          <a:prstGeom prst="rect">
            <a:avLst/>
          </a:prstGeom>
          <a:noFill/>
        </p:spPr>
        <p:txBody>
          <a:bodyPr wrap="square" lIns="0" rIns="0" tIns="0" bIns="0">
            <a:spAutoFit/>
          </a:bodyPr>
          <a:lstStyle/>
          <a:p>
            <a:pPr algn="l">
              <a:lnSpc>
                <a:spcPct val="115000"/>
              </a:lnSpc>
            </a:pPr>
            <a:r>
              <a:rPr sz="1400" b="0" i="1">
                <a:solidFill>
                  <a:srgbClr val="14171C"/>
                </a:solidFill>
                <a:latin typeface="Georgia"/>
              </a:rPr>
              <a:t>“Few companies possess the managerial tools (such as regression plotting of firms in a sector) that would tell them when they have over-internationalized.”</a:t>
            </a:r>
          </a:p>
        </p:txBody>
      </p:sp>
      <p:sp>
        <p:nvSpPr>
          <p:cNvPr id="26" name="TextBox 25"/>
          <p:cNvSpPr txBox="1"/>
          <p:nvPr/>
        </p:nvSpPr>
        <p:spPr>
          <a:xfrm>
            <a:off x="502920" y="4937760"/>
            <a:ext cx="11186160" cy="182880"/>
          </a:xfrm>
          <a:prstGeom prst="rect">
            <a:avLst/>
          </a:prstGeom>
          <a:noFill/>
        </p:spPr>
        <p:txBody>
          <a:bodyPr wrap="square" lIns="0" rIns="0" tIns="0" bIns="0">
            <a:spAutoFit/>
          </a:bodyPr>
          <a:lstStyle/>
          <a:p>
            <a:pPr algn="l">
              <a:lnSpc>
                <a:spcPct val="115000"/>
              </a:lnSpc>
            </a:pPr>
            <a:r>
              <a:rPr sz="850" b="1" i="0" spc="100">
                <a:solidFill>
                  <a:srgbClr val="081E3F"/>
                </a:solidFill>
                <a:latin typeface="Consolas"/>
              </a:rPr>
              <a:t>→ “SHOULD WE INTERNATIONALISE?” IS THE WRONG QUESTION. “WHERE ARE WE ON THE CURVE?” IS THE RIGHT ONE.</a:t>
            </a:r>
          </a:p>
        </p:txBody>
      </p:sp>
      <p:sp>
        <p:nvSpPr>
          <p:cNvPr id="27" name="Rectangle 26"/>
          <p:cNvSpPr/>
          <p:nvPr/>
        </p:nvSpPr>
        <p:spPr>
          <a:xfrm>
            <a:off x="502920" y="6382512"/>
            <a:ext cx="11186160" cy="9525"/>
          </a:xfrm>
          <a:prstGeom prst="rect">
            <a:avLst/>
          </a:prstGeom>
          <a:solidFill>
            <a:srgbClr val="DD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455664"/>
            <a:ext cx="3657600" cy="182880"/>
          </a:xfrm>
          <a:prstGeom prst="rect">
            <a:avLst/>
          </a:prstGeom>
          <a:noFill/>
        </p:spPr>
        <p:txBody>
          <a:bodyPr wrap="square" lIns="0" rIns="0" tIns="0" bIns="0">
            <a:spAutoFit/>
          </a:bodyPr>
          <a:lstStyle/>
          <a:p>
            <a:pPr algn="l">
              <a:lnSpc>
                <a:spcPct val="115000"/>
              </a:lnSpc>
            </a:pPr>
            <a:r>
              <a:rPr sz="850" b="1" i="0">
                <a:solidFill>
                  <a:srgbClr val="767D86"/>
                </a:solidFill>
                <a:latin typeface="Consolas"/>
              </a:rPr>
              <a:t>Yasir A. Malik  ·  Cohort 8.14</a:t>
            </a:r>
          </a:p>
        </p:txBody>
      </p:sp>
      <p:sp>
        <p:nvSpPr>
          <p:cNvPr id="29" name="TextBox 28"/>
          <p:cNvSpPr txBox="1"/>
          <p:nvPr/>
        </p:nvSpPr>
        <p:spPr>
          <a:xfrm>
            <a:off x="4160520" y="6455664"/>
            <a:ext cx="3931920" cy="182880"/>
          </a:xfrm>
          <a:prstGeom prst="rect">
            <a:avLst/>
          </a:prstGeom>
          <a:noFill/>
        </p:spPr>
        <p:txBody>
          <a:bodyPr wrap="square" lIns="0" rIns="0" tIns="0" bIns="0">
            <a:spAutoFit/>
          </a:bodyPr>
          <a:lstStyle/>
          <a:p>
            <a:pPr algn="ctr">
              <a:lnSpc>
                <a:spcPct val="115000"/>
              </a:lnSpc>
            </a:pPr>
            <a:r>
              <a:rPr sz="850" b="0" i="0">
                <a:solidFill>
                  <a:srgbClr val="767D86"/>
                </a:solidFill>
                <a:latin typeface="Consolas"/>
              </a:rPr>
              <a:t>GEB 7365  ·  Module 2  ·  27 August 2026</a:t>
            </a:r>
          </a:p>
        </p:txBody>
      </p:sp>
      <p:sp>
        <p:nvSpPr>
          <p:cNvPr id="30" name="TextBox 29"/>
          <p:cNvSpPr txBox="1"/>
          <p:nvPr/>
        </p:nvSpPr>
        <p:spPr>
          <a:xfrm>
            <a:off x="10774680" y="6455664"/>
            <a:ext cx="914400" cy="182880"/>
          </a:xfrm>
          <a:prstGeom prst="rect">
            <a:avLst/>
          </a:prstGeom>
          <a:noFill/>
        </p:spPr>
        <p:txBody>
          <a:bodyPr wrap="square" lIns="0" rIns="0" tIns="0" bIns="0">
            <a:spAutoFit/>
          </a:bodyPr>
          <a:lstStyle/>
          <a:p>
            <a:pPr algn="r">
              <a:lnSpc>
                <a:spcPct val="115000"/>
              </a:lnSpc>
            </a:pPr>
            <a:r>
              <a:rPr sz="850" b="1" i="0">
                <a:solidFill>
                  <a:srgbClr val="B6862C"/>
                </a:solidFill>
                <a:latin typeface="Consola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u-seal.png"/>
          <p:cNvPicPr>
            <a:picLocks noChangeAspect="1"/>
          </p:cNvPicPr>
          <p:nvPr/>
        </p:nvPicPr>
        <p:blipFill>
          <a:blip r:embed="rId2"/>
          <a:stretch>
            <a:fillRect/>
          </a:stretch>
        </p:blipFill>
        <p:spPr>
          <a:xfrm>
            <a:off x="502920" y="274320"/>
            <a:ext cx="403347" cy="384048"/>
          </a:xfrm>
          <a:prstGeom prst="rect">
            <a:avLst/>
          </a:prstGeom>
        </p:spPr>
      </p:pic>
      <p:sp>
        <p:nvSpPr>
          <p:cNvPr id="4" name="TextBox 3"/>
          <p:cNvSpPr txBox="1"/>
          <p:nvPr/>
        </p:nvSpPr>
        <p:spPr>
          <a:xfrm>
            <a:off x="1005840" y="274320"/>
            <a:ext cx="5486400" cy="182880"/>
          </a:xfrm>
          <a:prstGeom prst="rect">
            <a:avLst/>
          </a:prstGeom>
          <a:noFill/>
        </p:spPr>
        <p:txBody>
          <a:bodyPr wrap="square" lIns="0" rIns="0" tIns="0" bIns="0">
            <a:spAutoFit/>
          </a:bodyPr>
          <a:lstStyle/>
          <a:p>
            <a:pPr algn="l">
              <a:lnSpc>
                <a:spcPct val="115000"/>
              </a:lnSpc>
            </a:pPr>
            <a:r>
              <a:rPr sz="950" b="1" i="0" spc="190">
                <a:solidFill>
                  <a:srgbClr val="081E3F"/>
                </a:solidFill>
                <a:latin typeface="Consolas"/>
              </a:rPr>
              <a:t>FLORIDA INTERNATIONAL UNIVERSITY</a:t>
            </a:r>
          </a:p>
        </p:txBody>
      </p:sp>
      <p:sp>
        <p:nvSpPr>
          <p:cNvPr id="5" name="TextBox 4"/>
          <p:cNvSpPr txBox="1"/>
          <p:nvPr/>
        </p:nvSpPr>
        <p:spPr>
          <a:xfrm>
            <a:off x="1005840" y="457200"/>
            <a:ext cx="6400800" cy="182880"/>
          </a:xfrm>
          <a:prstGeom prst="rect">
            <a:avLst/>
          </a:prstGeom>
          <a:noFill/>
        </p:spPr>
        <p:txBody>
          <a:bodyPr wrap="square" lIns="0" rIns="0" tIns="0" bIns="0">
            <a:spAutoFit/>
          </a:bodyPr>
          <a:lstStyle/>
          <a:p>
            <a:pPr algn="l">
              <a:lnSpc>
                <a:spcPct val="115000"/>
              </a:lnSpc>
            </a:pPr>
            <a:r>
              <a:rPr sz="1000" b="0" i="0">
                <a:solidFill>
                  <a:srgbClr val="767D86"/>
                </a:solidFill>
                <a:latin typeface="Georgia"/>
              </a:rPr>
              <a:t>Chapman Graduate School of Business  ·  Doctor of Business Administration</a:t>
            </a:r>
          </a:p>
        </p:txBody>
      </p:sp>
      <p:sp>
        <p:nvSpPr>
          <p:cNvPr id="6" name="TextBox 5"/>
          <p:cNvSpPr txBox="1"/>
          <p:nvPr/>
        </p:nvSpPr>
        <p:spPr>
          <a:xfrm>
            <a:off x="502920" y="960120"/>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MEZIAS (2002) · SMJ 23(3): 229–244 · THE CRAFT LESSON</a:t>
            </a:r>
          </a:p>
        </p:txBody>
      </p:sp>
      <p:sp>
        <p:nvSpPr>
          <p:cNvPr id="7" name="TextBox 6"/>
          <p:cNvSpPr txBox="1"/>
          <p:nvPr/>
        </p:nvSpPr>
        <p:spPr>
          <a:xfrm>
            <a:off x="502920" y="1170432"/>
            <a:ext cx="11186160" cy="585216"/>
          </a:xfrm>
          <a:prstGeom prst="rect">
            <a:avLst/>
          </a:prstGeom>
          <a:noFill/>
        </p:spPr>
        <p:txBody>
          <a:bodyPr wrap="square" lIns="0" rIns="0" tIns="0" bIns="0">
            <a:spAutoFit/>
          </a:bodyPr>
          <a:lstStyle/>
          <a:p>
            <a:pPr algn="l">
              <a:lnSpc>
                <a:spcPct val="112000"/>
              </a:lnSpc>
            </a:pPr>
            <a:r>
              <a:rPr sz="2900" b="1" i="0">
                <a:solidFill>
                  <a:srgbClr val="14171C"/>
                </a:solidFill>
                <a:latin typeface="Georgia"/>
              </a:rPr>
              <a:t>He did not fix the measure. He replaced it.</a:t>
            </a:r>
          </a:p>
        </p:txBody>
      </p:sp>
      <p:sp>
        <p:nvSpPr>
          <p:cNvPr id="8" name="Rounded Rectangle 7"/>
          <p:cNvSpPr/>
          <p:nvPr/>
        </p:nvSpPr>
        <p:spPr>
          <a:xfrm>
            <a:off x="502920" y="1874519"/>
            <a:ext cx="5410200" cy="1600200"/>
          </a:xfrm>
          <a:prstGeom prst="roundRect">
            <a:avLst>
              <a:gd name="adj" fmla="val 4000"/>
            </a:avLst>
          </a:prstGeom>
          <a:solidFill>
            <a:srgbClr val="FFFFFF"/>
          </a:solidFill>
          <a:ln w="12700">
            <a:solidFill>
              <a:srgbClr val="DD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11680"/>
            <a:ext cx="5044440" cy="182880"/>
          </a:xfrm>
          <a:prstGeom prst="rect">
            <a:avLst/>
          </a:prstGeom>
          <a:noFill/>
        </p:spPr>
        <p:txBody>
          <a:bodyPr wrap="square" lIns="0" rIns="0" tIns="0" bIns="0">
            <a:spAutoFit/>
          </a:bodyPr>
          <a:lstStyle/>
          <a:p>
            <a:pPr algn="l">
              <a:lnSpc>
                <a:spcPct val="115000"/>
              </a:lnSpc>
            </a:pPr>
            <a:r>
              <a:rPr sz="900" b="1" i="0" spc="120">
                <a:solidFill>
                  <a:srgbClr val="767D86"/>
                </a:solidFill>
                <a:latin typeface="Consolas"/>
              </a:rPr>
              <a:t>WHAT PERFORMANCE MEASURES DO</a:t>
            </a:r>
          </a:p>
        </p:txBody>
      </p:sp>
      <p:sp>
        <p:nvSpPr>
          <p:cNvPr id="10" name="Rounded Rectangle 9"/>
          <p:cNvSpPr/>
          <p:nvPr/>
        </p:nvSpPr>
        <p:spPr>
          <a:xfrm>
            <a:off x="685800" y="2286000"/>
            <a:ext cx="1371600" cy="219456"/>
          </a:xfrm>
          <a:prstGeom prst="roundRect">
            <a:avLst>
              <a:gd name="adj" fmla="val 4000"/>
            </a:avLst>
          </a:prstGeom>
          <a:solidFill>
            <a:srgbClr val="1C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313432"/>
            <a:ext cx="1371600" cy="182880"/>
          </a:xfrm>
          <a:prstGeom prst="rect">
            <a:avLst/>
          </a:prstGeom>
          <a:noFill/>
        </p:spPr>
        <p:txBody>
          <a:bodyPr wrap="square" lIns="0" rIns="0" tIns="0" bIns="0">
            <a:spAutoFit/>
          </a:bodyPr>
          <a:lstStyle/>
          <a:p>
            <a:pPr algn="ctr">
              <a:lnSpc>
                <a:spcPct val="115000"/>
              </a:lnSpc>
            </a:pPr>
            <a:r>
              <a:rPr sz="800" b="1" i="0">
                <a:solidFill>
                  <a:srgbClr val="FFFFFF"/>
                </a:solidFill>
                <a:latin typeface="Consolas"/>
              </a:rPr>
              <a:t>advantages</a:t>
            </a:r>
          </a:p>
        </p:txBody>
      </p:sp>
      <p:sp>
        <p:nvSpPr>
          <p:cNvPr id="12" name="Rounded Rectangle 11"/>
          <p:cNvSpPr/>
          <p:nvPr/>
        </p:nvSpPr>
        <p:spPr>
          <a:xfrm>
            <a:off x="685800" y="2578608"/>
            <a:ext cx="1371600" cy="219456"/>
          </a:xfrm>
          <a:prstGeom prst="roundRect">
            <a:avLst>
              <a:gd name="adj" fmla="val 4000"/>
            </a:avLst>
          </a:prstGeom>
          <a:solidFill>
            <a:srgbClr val="8C3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606040"/>
            <a:ext cx="1371600" cy="182880"/>
          </a:xfrm>
          <a:prstGeom prst="rect">
            <a:avLst/>
          </a:prstGeom>
          <a:noFill/>
        </p:spPr>
        <p:txBody>
          <a:bodyPr wrap="square" lIns="0" rIns="0" tIns="0" bIns="0">
            <a:spAutoFit/>
          </a:bodyPr>
          <a:lstStyle/>
          <a:p>
            <a:pPr algn="ctr">
              <a:lnSpc>
                <a:spcPct val="115000"/>
              </a:lnSpc>
            </a:pPr>
            <a:r>
              <a:rPr sz="800" b="1" i="0">
                <a:solidFill>
                  <a:srgbClr val="FFFFFF"/>
                </a:solidFill>
                <a:latin typeface="Consolas"/>
              </a:rPr>
              <a:t>disadvantages</a:t>
            </a:r>
          </a:p>
        </p:txBody>
      </p:sp>
      <p:sp>
        <p:nvSpPr>
          <p:cNvPr id="14" name="Rounded Rectangle 13"/>
          <p:cNvSpPr/>
          <p:nvPr/>
        </p:nvSpPr>
        <p:spPr>
          <a:xfrm>
            <a:off x="685800" y="2871216"/>
            <a:ext cx="1371600" cy="219456"/>
          </a:xfrm>
          <a:prstGeom prst="roundRect">
            <a:avLst>
              <a:gd name="adj" fmla="val 4000"/>
            </a:avLst>
          </a:prstGeom>
          <a:solidFill>
            <a:srgbClr val="9A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898648"/>
            <a:ext cx="1371600" cy="182880"/>
          </a:xfrm>
          <a:prstGeom prst="rect">
            <a:avLst/>
          </a:prstGeom>
          <a:noFill/>
        </p:spPr>
        <p:txBody>
          <a:bodyPr wrap="square" lIns="0" rIns="0" tIns="0" bIns="0">
            <a:spAutoFit/>
          </a:bodyPr>
          <a:lstStyle/>
          <a:p>
            <a:pPr algn="ctr">
              <a:lnSpc>
                <a:spcPct val="115000"/>
              </a:lnSpc>
            </a:pPr>
            <a:r>
              <a:rPr sz="800" b="1" i="0">
                <a:solidFill>
                  <a:srgbClr val="FFFFFF"/>
                </a:solidFill>
                <a:latin typeface="Consolas"/>
              </a:rPr>
              <a:t>transfer pricing</a:t>
            </a:r>
          </a:p>
        </p:txBody>
      </p:sp>
      <p:sp>
        <p:nvSpPr>
          <p:cNvPr id="16" name="Rounded Rectangle 15"/>
          <p:cNvSpPr/>
          <p:nvPr/>
        </p:nvSpPr>
        <p:spPr>
          <a:xfrm>
            <a:off x="2468880" y="2487168"/>
            <a:ext cx="3215640" cy="384048"/>
          </a:xfrm>
          <a:prstGeom prst="roundRect">
            <a:avLst>
              <a:gd name="adj" fmla="val 4000"/>
            </a:avLst>
          </a:prstGeom>
          <a:solidFill>
            <a:srgbClr val="E9E5DC"/>
          </a:solidFill>
          <a:ln w="12700">
            <a:solidFill>
              <a:srgbClr val="9AA4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2578608"/>
            <a:ext cx="3215640" cy="182880"/>
          </a:xfrm>
          <a:prstGeom prst="rect">
            <a:avLst/>
          </a:prstGeom>
          <a:noFill/>
        </p:spPr>
        <p:txBody>
          <a:bodyPr wrap="square" lIns="0" rIns="0" tIns="0" bIns="0">
            <a:spAutoFit/>
          </a:bodyPr>
          <a:lstStyle/>
          <a:p>
            <a:pPr algn="ctr">
              <a:lnSpc>
                <a:spcPct val="115000"/>
              </a:lnSpc>
            </a:pPr>
            <a:r>
              <a:rPr sz="900" b="1" i="0" spc="120">
                <a:solidFill>
                  <a:srgbClr val="14171C"/>
                </a:solidFill>
                <a:latin typeface="Consolas"/>
              </a:rPr>
              <a:t>ONE NUMBER</a:t>
            </a:r>
          </a:p>
        </p:txBody>
      </p:sp>
      <p:sp>
        <p:nvSpPr>
          <p:cNvPr id="18" name="TextBox 17"/>
          <p:cNvSpPr txBox="1"/>
          <p:nvPr/>
        </p:nvSpPr>
        <p:spPr>
          <a:xfrm>
            <a:off x="2468880" y="2999232"/>
            <a:ext cx="3215640" cy="182880"/>
          </a:xfrm>
          <a:prstGeom prst="rect">
            <a:avLst/>
          </a:prstGeom>
          <a:noFill/>
        </p:spPr>
        <p:txBody>
          <a:bodyPr wrap="square" lIns="0" rIns="0" tIns="0" bIns="0">
            <a:spAutoFit/>
          </a:bodyPr>
          <a:lstStyle/>
          <a:p>
            <a:pPr algn="ctr">
              <a:lnSpc>
                <a:spcPct val="115000"/>
              </a:lnSpc>
            </a:pPr>
            <a:r>
              <a:rPr sz="1150" b="0" i="1">
                <a:solidFill>
                  <a:srgbClr val="767D86"/>
                </a:solidFill>
                <a:latin typeface="Georgia"/>
              </a:rPr>
              <a:t>nothing isolable</a:t>
            </a:r>
          </a:p>
        </p:txBody>
      </p:sp>
      <p:sp>
        <p:nvSpPr>
          <p:cNvPr id="19" name="Rounded Rectangle 18"/>
          <p:cNvSpPr/>
          <p:nvPr/>
        </p:nvSpPr>
        <p:spPr>
          <a:xfrm>
            <a:off x="6278880" y="1874519"/>
            <a:ext cx="5410200" cy="1600200"/>
          </a:xfrm>
          <a:prstGeom prst="roundRect">
            <a:avLst>
              <a:gd name="adj" fmla="val 4000"/>
            </a:avLst>
          </a:prstGeom>
          <a:solidFill>
            <a:srgbClr val="FFFFFF"/>
          </a:solidFill>
          <a:ln w="20320">
            <a:solidFill>
              <a:srgbClr val="081E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1760" y="2011680"/>
            <a:ext cx="5044440" cy="182880"/>
          </a:xfrm>
          <a:prstGeom prst="rect">
            <a:avLst/>
          </a:prstGeom>
          <a:noFill/>
        </p:spPr>
        <p:txBody>
          <a:bodyPr wrap="square" lIns="0" rIns="0" tIns="0" bIns="0">
            <a:spAutoFit/>
          </a:bodyPr>
          <a:lstStyle/>
          <a:p>
            <a:pPr algn="l">
              <a:lnSpc>
                <a:spcPct val="115000"/>
              </a:lnSpc>
            </a:pPr>
            <a:r>
              <a:rPr sz="900" b="1" i="0" spc="120">
                <a:solidFill>
                  <a:srgbClr val="081E3F"/>
                </a:solidFill>
                <a:latin typeface="Consolas"/>
              </a:rPr>
              <a:t>WHAT LABOUR LAWSUITS DO</a:t>
            </a:r>
          </a:p>
        </p:txBody>
      </p:sp>
      <p:sp>
        <p:nvSpPr>
          <p:cNvPr id="21" name="Rounded Rectangle 20"/>
          <p:cNvSpPr/>
          <p:nvPr/>
        </p:nvSpPr>
        <p:spPr>
          <a:xfrm>
            <a:off x="6461760" y="2286000"/>
            <a:ext cx="1371600" cy="219456"/>
          </a:xfrm>
          <a:prstGeom prst="roundRect">
            <a:avLst>
              <a:gd name="adj" fmla="val 4000"/>
            </a:avLst>
          </a:prstGeom>
          <a:solidFill>
            <a:srgbClr val="8C3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61760" y="2313432"/>
            <a:ext cx="1371600" cy="182880"/>
          </a:xfrm>
          <a:prstGeom prst="rect">
            <a:avLst/>
          </a:prstGeom>
          <a:noFill/>
        </p:spPr>
        <p:txBody>
          <a:bodyPr wrap="square" lIns="0" rIns="0" tIns="0" bIns="0">
            <a:spAutoFit/>
          </a:bodyPr>
          <a:lstStyle/>
          <a:p>
            <a:pPr algn="ctr">
              <a:lnSpc>
                <a:spcPct val="115000"/>
              </a:lnSpc>
            </a:pPr>
            <a:r>
              <a:rPr sz="800" b="1" i="0">
                <a:solidFill>
                  <a:srgbClr val="FFFFFF"/>
                </a:solidFill>
                <a:latin typeface="Consolas"/>
              </a:rPr>
              <a:t>disadvantages</a:t>
            </a:r>
          </a:p>
        </p:txBody>
      </p:sp>
      <p:sp>
        <p:nvSpPr>
          <p:cNvPr id="23" name="Rounded Rectangle 22"/>
          <p:cNvSpPr/>
          <p:nvPr/>
        </p:nvSpPr>
        <p:spPr>
          <a:xfrm>
            <a:off x="6461760" y="2578608"/>
            <a:ext cx="1371600" cy="219456"/>
          </a:xfrm>
          <a:prstGeom prst="roundRect">
            <a:avLst>
              <a:gd name="adj" fmla="val 4000"/>
            </a:avLst>
          </a:prstGeom>
          <a:noFill/>
          <a:ln w="12700">
            <a:solidFill>
              <a:srgbClr val="9AA4A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61760" y="2606040"/>
            <a:ext cx="1371600" cy="182880"/>
          </a:xfrm>
          <a:prstGeom prst="rect">
            <a:avLst/>
          </a:prstGeom>
          <a:noFill/>
        </p:spPr>
        <p:txBody>
          <a:bodyPr wrap="square" lIns="0" rIns="0" tIns="0" bIns="0">
            <a:spAutoFit/>
          </a:bodyPr>
          <a:lstStyle/>
          <a:p>
            <a:pPr algn="ctr">
              <a:lnSpc>
                <a:spcPct val="115000"/>
              </a:lnSpc>
            </a:pPr>
            <a:r>
              <a:rPr sz="800" b="1" i="0">
                <a:solidFill>
                  <a:srgbClr val="9AA4AE"/>
                </a:solidFill>
                <a:latin typeface="Consolas"/>
              </a:rPr>
              <a:t>advantages</a:t>
            </a:r>
          </a:p>
        </p:txBody>
      </p:sp>
      <p:sp>
        <p:nvSpPr>
          <p:cNvPr id="25" name="Rectangle 24"/>
          <p:cNvSpPr/>
          <p:nvPr/>
        </p:nvSpPr>
        <p:spPr>
          <a:xfrm>
            <a:off x="6461760" y="2688336"/>
            <a:ext cx="1371600" cy="9525"/>
          </a:xfrm>
          <a:prstGeom prst="rect">
            <a:avLst/>
          </a:prstGeom>
          <a:solidFill>
            <a:srgbClr val="9A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61760" y="2871216"/>
            <a:ext cx="1371600" cy="219456"/>
          </a:xfrm>
          <a:prstGeom prst="roundRect">
            <a:avLst>
              <a:gd name="adj" fmla="val 4000"/>
            </a:avLst>
          </a:prstGeom>
          <a:noFill/>
          <a:ln w="12700">
            <a:solidFill>
              <a:srgbClr val="9AA4A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61760" y="2898648"/>
            <a:ext cx="1371600" cy="182880"/>
          </a:xfrm>
          <a:prstGeom prst="rect">
            <a:avLst/>
          </a:prstGeom>
          <a:noFill/>
        </p:spPr>
        <p:txBody>
          <a:bodyPr wrap="square" lIns="0" rIns="0" tIns="0" bIns="0">
            <a:spAutoFit/>
          </a:bodyPr>
          <a:lstStyle/>
          <a:p>
            <a:pPr algn="ctr">
              <a:lnSpc>
                <a:spcPct val="115000"/>
              </a:lnSpc>
            </a:pPr>
            <a:r>
              <a:rPr sz="800" b="1" i="0">
                <a:solidFill>
                  <a:srgbClr val="9AA4AE"/>
                </a:solidFill>
                <a:latin typeface="Consolas"/>
              </a:rPr>
              <a:t>transfer pricing</a:t>
            </a:r>
          </a:p>
        </p:txBody>
      </p:sp>
      <p:sp>
        <p:nvSpPr>
          <p:cNvPr id="28" name="Rectangle 27"/>
          <p:cNvSpPr/>
          <p:nvPr/>
        </p:nvSpPr>
        <p:spPr>
          <a:xfrm>
            <a:off x="6461760" y="2980944"/>
            <a:ext cx="1371600" cy="9525"/>
          </a:xfrm>
          <a:prstGeom prst="rect">
            <a:avLst/>
          </a:prstGeom>
          <a:solidFill>
            <a:srgbClr val="9AA4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44840" y="2487168"/>
            <a:ext cx="3215640" cy="384048"/>
          </a:xfrm>
          <a:prstGeom prst="roundRect">
            <a:avLst>
              <a:gd name="adj" fmla="val 4000"/>
            </a:avLst>
          </a:prstGeom>
          <a:solidFill>
            <a:srgbClr val="E8EDF4"/>
          </a:solidFill>
          <a:ln w="12700">
            <a:solidFill>
              <a:srgbClr val="081E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4840" y="2578608"/>
            <a:ext cx="3215640" cy="182880"/>
          </a:xfrm>
          <a:prstGeom prst="rect">
            <a:avLst/>
          </a:prstGeom>
          <a:noFill/>
        </p:spPr>
        <p:txBody>
          <a:bodyPr wrap="square" lIns="0" rIns="0" tIns="0" bIns="0">
            <a:spAutoFit/>
          </a:bodyPr>
          <a:lstStyle/>
          <a:p>
            <a:pPr algn="ctr">
              <a:lnSpc>
                <a:spcPct val="115000"/>
              </a:lnSpc>
            </a:pPr>
            <a:r>
              <a:rPr sz="900" b="1" i="0" spc="120">
                <a:solidFill>
                  <a:srgbClr val="081E3F"/>
                </a:solidFill>
                <a:latin typeface="Consolas"/>
              </a:rPr>
              <a:t>ONE CONSTRUCT</a:t>
            </a:r>
          </a:p>
        </p:txBody>
      </p:sp>
      <p:sp>
        <p:nvSpPr>
          <p:cNvPr id="31" name="TextBox 30"/>
          <p:cNvSpPr txBox="1"/>
          <p:nvPr/>
        </p:nvSpPr>
        <p:spPr>
          <a:xfrm>
            <a:off x="8244840" y="2999232"/>
            <a:ext cx="3215640" cy="182880"/>
          </a:xfrm>
          <a:prstGeom prst="rect">
            <a:avLst/>
          </a:prstGeom>
          <a:noFill/>
        </p:spPr>
        <p:txBody>
          <a:bodyPr wrap="square" lIns="0" rIns="0" tIns="0" bIns="0">
            <a:spAutoFit/>
          </a:bodyPr>
          <a:lstStyle/>
          <a:p>
            <a:pPr algn="ctr">
              <a:lnSpc>
                <a:spcPct val="115000"/>
              </a:lnSpc>
            </a:pPr>
            <a:r>
              <a:rPr sz="1100" b="0" i="1">
                <a:solidFill>
                  <a:srgbClr val="081E3F"/>
                </a:solidFill>
                <a:latin typeface="Georgia"/>
              </a:rPr>
              <a:t>labour-related disadvantage only</a:t>
            </a:r>
          </a:p>
        </p:txBody>
      </p:sp>
      <p:sp>
        <p:nvSpPr>
          <p:cNvPr id="32" name="Rounded Rectangle 31"/>
          <p:cNvSpPr/>
          <p:nvPr/>
        </p:nvSpPr>
        <p:spPr>
          <a:xfrm>
            <a:off x="502920" y="3611880"/>
            <a:ext cx="11186160" cy="475488"/>
          </a:xfrm>
          <a:prstGeom prst="roundRect">
            <a:avLst>
              <a:gd name="adj" fmla="val 4000"/>
            </a:avLst>
          </a:prstGeom>
          <a:solidFill>
            <a:srgbClr val="E8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3712463"/>
            <a:ext cx="10820400" cy="365760"/>
          </a:xfrm>
          <a:prstGeom prst="rect">
            <a:avLst/>
          </a:prstGeom>
          <a:noFill/>
        </p:spPr>
        <p:txBody>
          <a:bodyPr wrap="square" lIns="0" rIns="0" tIns="0" bIns="0">
            <a:spAutoFit/>
          </a:bodyPr>
          <a:lstStyle/>
          <a:p>
            <a:pPr algn="l">
              <a:lnSpc>
                <a:spcPct val="115000"/>
              </a:lnSpc>
            </a:pPr>
            <a:r>
              <a:rPr sz="1350" b="0" i="1">
                <a:solidFill>
                  <a:srgbClr val="14171C"/>
                </a:solidFill>
                <a:latin typeface="Georgia"/>
              </a:rPr>
              <a:t>“While most performance measures aggregate advantages and disadvantages, labor lawsuits only measure labor-related disadvantage.”</a:t>
            </a:r>
          </a:p>
        </p:txBody>
      </p:sp>
      <p:sp>
        <p:nvSpPr>
          <p:cNvPr id="34" name="Rounded Rectangle 33"/>
          <p:cNvSpPr/>
          <p:nvPr/>
        </p:nvSpPr>
        <p:spPr>
          <a:xfrm>
            <a:off x="502920" y="4206240"/>
            <a:ext cx="3637280" cy="658368"/>
          </a:xfrm>
          <a:prstGeom prst="roundRect">
            <a:avLst>
              <a:gd name="adj" fmla="val 4000"/>
            </a:avLst>
          </a:prstGeom>
          <a:solidFill>
            <a:srgbClr val="FFFFFF"/>
          </a:solidFill>
          <a:ln w="12700">
            <a:solidFill>
              <a:srgbClr val="DD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4297680"/>
            <a:ext cx="3637280" cy="320040"/>
          </a:xfrm>
          <a:prstGeom prst="rect">
            <a:avLst/>
          </a:prstGeom>
          <a:noFill/>
        </p:spPr>
        <p:txBody>
          <a:bodyPr wrap="square" lIns="0" rIns="0" tIns="0" bIns="0">
            <a:spAutoFit/>
          </a:bodyPr>
          <a:lstStyle/>
          <a:p>
            <a:pPr algn="ctr">
              <a:lnSpc>
                <a:spcPct val="115000"/>
              </a:lnSpc>
            </a:pPr>
            <a:r>
              <a:rPr sz="2300" b="1" i="0">
                <a:solidFill>
                  <a:srgbClr val="081E3F"/>
                </a:solidFill>
                <a:latin typeface="Georgia"/>
              </a:rPr>
              <a:t>486</a:t>
            </a:r>
          </a:p>
        </p:txBody>
      </p:sp>
      <p:sp>
        <p:nvSpPr>
          <p:cNvPr id="36" name="TextBox 35"/>
          <p:cNvSpPr txBox="1"/>
          <p:nvPr/>
        </p:nvSpPr>
        <p:spPr>
          <a:xfrm>
            <a:off x="502920" y="4645152"/>
            <a:ext cx="3637280" cy="182880"/>
          </a:xfrm>
          <a:prstGeom prst="rect">
            <a:avLst/>
          </a:prstGeom>
          <a:noFill/>
        </p:spPr>
        <p:txBody>
          <a:bodyPr wrap="square" lIns="0" rIns="0" tIns="0" bIns="0">
            <a:spAutoFit/>
          </a:bodyPr>
          <a:lstStyle/>
          <a:p>
            <a:pPr algn="ctr">
              <a:lnSpc>
                <a:spcPct val="115000"/>
              </a:lnSpc>
            </a:pPr>
            <a:r>
              <a:rPr sz="850" b="1" i="0" spc="100">
                <a:solidFill>
                  <a:srgbClr val="767D86"/>
                </a:solidFill>
                <a:latin typeface="Consolas"/>
              </a:rPr>
              <a:t>foreign subsidiaries</a:t>
            </a:r>
          </a:p>
        </p:txBody>
      </p:sp>
      <p:sp>
        <p:nvSpPr>
          <p:cNvPr id="37" name="Rounded Rectangle 36"/>
          <p:cNvSpPr/>
          <p:nvPr/>
        </p:nvSpPr>
        <p:spPr>
          <a:xfrm>
            <a:off x="4277360" y="4206240"/>
            <a:ext cx="3637280" cy="658368"/>
          </a:xfrm>
          <a:prstGeom prst="roundRect">
            <a:avLst>
              <a:gd name="adj" fmla="val 4000"/>
            </a:avLst>
          </a:prstGeom>
          <a:solidFill>
            <a:srgbClr val="FFFFFF"/>
          </a:solidFill>
          <a:ln w="12700">
            <a:solidFill>
              <a:srgbClr val="DD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77360" y="4297680"/>
            <a:ext cx="3637280" cy="320040"/>
          </a:xfrm>
          <a:prstGeom prst="rect">
            <a:avLst/>
          </a:prstGeom>
          <a:noFill/>
        </p:spPr>
        <p:txBody>
          <a:bodyPr wrap="square" lIns="0" rIns="0" tIns="0" bIns="0">
            <a:spAutoFit/>
          </a:bodyPr>
          <a:lstStyle/>
          <a:p>
            <a:pPr algn="ctr">
              <a:lnSpc>
                <a:spcPct val="115000"/>
              </a:lnSpc>
            </a:pPr>
            <a:r>
              <a:rPr sz="2300" b="1" i="0">
                <a:solidFill>
                  <a:srgbClr val="081E3F"/>
                </a:solidFill>
                <a:latin typeface="Georgia"/>
              </a:rPr>
              <a:t>486</a:t>
            </a:r>
          </a:p>
        </p:txBody>
      </p:sp>
      <p:sp>
        <p:nvSpPr>
          <p:cNvPr id="39" name="TextBox 38"/>
          <p:cNvSpPr txBox="1"/>
          <p:nvPr/>
        </p:nvSpPr>
        <p:spPr>
          <a:xfrm>
            <a:off x="4277360" y="4645152"/>
            <a:ext cx="3637280" cy="182880"/>
          </a:xfrm>
          <a:prstGeom prst="rect">
            <a:avLst/>
          </a:prstGeom>
          <a:noFill/>
        </p:spPr>
        <p:txBody>
          <a:bodyPr wrap="square" lIns="0" rIns="0" tIns="0" bIns="0">
            <a:spAutoFit/>
          </a:bodyPr>
          <a:lstStyle/>
          <a:p>
            <a:pPr algn="ctr">
              <a:lnSpc>
                <a:spcPct val="115000"/>
              </a:lnSpc>
            </a:pPr>
            <a:r>
              <a:rPr sz="850" b="1" i="0" spc="100">
                <a:solidFill>
                  <a:srgbClr val="767D86"/>
                </a:solidFill>
                <a:latin typeface="Consolas"/>
              </a:rPr>
              <a:t>matched US firms</a:t>
            </a:r>
          </a:p>
        </p:txBody>
      </p:sp>
      <p:sp>
        <p:nvSpPr>
          <p:cNvPr id="40" name="Rounded Rectangle 39"/>
          <p:cNvSpPr/>
          <p:nvPr/>
        </p:nvSpPr>
        <p:spPr>
          <a:xfrm>
            <a:off x="8051800" y="4206240"/>
            <a:ext cx="3637280" cy="658368"/>
          </a:xfrm>
          <a:prstGeom prst="roundRect">
            <a:avLst>
              <a:gd name="adj" fmla="val 4000"/>
            </a:avLst>
          </a:prstGeom>
          <a:solidFill>
            <a:srgbClr val="FFFFFF"/>
          </a:solidFill>
          <a:ln w="12700">
            <a:solidFill>
              <a:srgbClr val="DD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51800" y="4297680"/>
            <a:ext cx="3637280" cy="320040"/>
          </a:xfrm>
          <a:prstGeom prst="rect">
            <a:avLst/>
          </a:prstGeom>
          <a:noFill/>
        </p:spPr>
        <p:txBody>
          <a:bodyPr wrap="square" lIns="0" rIns="0" tIns="0" bIns="0">
            <a:spAutoFit/>
          </a:bodyPr>
          <a:lstStyle/>
          <a:p>
            <a:pPr algn="ctr">
              <a:lnSpc>
                <a:spcPct val="115000"/>
              </a:lnSpc>
            </a:pPr>
            <a:r>
              <a:rPr sz="2300" b="1" i="0">
                <a:solidFill>
                  <a:srgbClr val="081E3F"/>
                </a:solidFill>
                <a:latin typeface="Georgia"/>
              </a:rPr>
              <a:t>$600k+</a:t>
            </a:r>
          </a:p>
        </p:txBody>
      </p:sp>
      <p:sp>
        <p:nvSpPr>
          <p:cNvPr id="42" name="TextBox 41"/>
          <p:cNvSpPr txBox="1"/>
          <p:nvPr/>
        </p:nvSpPr>
        <p:spPr>
          <a:xfrm>
            <a:off x="8051800" y="4645152"/>
            <a:ext cx="3637280" cy="182880"/>
          </a:xfrm>
          <a:prstGeom prst="rect">
            <a:avLst/>
          </a:prstGeom>
          <a:noFill/>
        </p:spPr>
        <p:txBody>
          <a:bodyPr wrap="square" lIns="0" rIns="0" tIns="0" bIns="0">
            <a:spAutoFit/>
          </a:bodyPr>
          <a:lstStyle/>
          <a:p>
            <a:pPr algn="ctr">
              <a:lnSpc>
                <a:spcPct val="115000"/>
              </a:lnSpc>
            </a:pPr>
            <a:r>
              <a:rPr sz="850" b="1" i="0" spc="100">
                <a:solidFill>
                  <a:srgbClr val="767D86"/>
                </a:solidFill>
                <a:latin typeface="Consolas"/>
              </a:rPr>
              <a:t>average jury award</a:t>
            </a:r>
          </a:p>
        </p:txBody>
      </p:sp>
      <p:sp>
        <p:nvSpPr>
          <p:cNvPr id="43" name="TextBox 42"/>
          <p:cNvSpPr txBox="1"/>
          <p:nvPr/>
        </p:nvSpPr>
        <p:spPr>
          <a:xfrm>
            <a:off x="502920" y="4974336"/>
            <a:ext cx="11186160" cy="182880"/>
          </a:xfrm>
          <a:prstGeom prst="rect">
            <a:avLst/>
          </a:prstGeom>
          <a:noFill/>
        </p:spPr>
        <p:txBody>
          <a:bodyPr wrap="square" lIns="0" rIns="0" tIns="0" bIns="0">
            <a:spAutoFit/>
          </a:bodyPr>
          <a:lstStyle/>
          <a:p>
            <a:pPr algn="l">
              <a:lnSpc>
                <a:spcPct val="115000"/>
              </a:lnSpc>
            </a:pPr>
            <a:r>
              <a:rPr sz="850" b="1" i="0" spc="100">
                <a:solidFill>
                  <a:srgbClr val="081E3F"/>
                </a:solidFill>
                <a:latin typeface="Consolas"/>
              </a:rPr>
              <a:t>MATCHED ON INDUSTRY AND CITY — SO THE ONLY REMAINING DIFFERENCE IS FOREIGNNESS</a:t>
            </a:r>
          </a:p>
        </p:txBody>
      </p:sp>
      <p:sp>
        <p:nvSpPr>
          <p:cNvPr id="44" name="Rectangle 43"/>
          <p:cNvSpPr/>
          <p:nvPr/>
        </p:nvSpPr>
        <p:spPr>
          <a:xfrm>
            <a:off x="502920" y="6382512"/>
            <a:ext cx="11186160" cy="9525"/>
          </a:xfrm>
          <a:prstGeom prst="rect">
            <a:avLst/>
          </a:prstGeom>
          <a:solidFill>
            <a:srgbClr val="DD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6455664"/>
            <a:ext cx="3657600" cy="182880"/>
          </a:xfrm>
          <a:prstGeom prst="rect">
            <a:avLst/>
          </a:prstGeom>
          <a:noFill/>
        </p:spPr>
        <p:txBody>
          <a:bodyPr wrap="square" lIns="0" rIns="0" tIns="0" bIns="0">
            <a:spAutoFit/>
          </a:bodyPr>
          <a:lstStyle/>
          <a:p>
            <a:pPr algn="l">
              <a:lnSpc>
                <a:spcPct val="115000"/>
              </a:lnSpc>
            </a:pPr>
            <a:r>
              <a:rPr sz="850" b="1" i="0">
                <a:solidFill>
                  <a:srgbClr val="767D86"/>
                </a:solidFill>
                <a:latin typeface="Consolas"/>
              </a:rPr>
              <a:t>Yasir A. Malik  ·  Cohort 8.14</a:t>
            </a:r>
          </a:p>
        </p:txBody>
      </p:sp>
      <p:sp>
        <p:nvSpPr>
          <p:cNvPr id="46" name="TextBox 45"/>
          <p:cNvSpPr txBox="1"/>
          <p:nvPr/>
        </p:nvSpPr>
        <p:spPr>
          <a:xfrm>
            <a:off x="4160520" y="6455664"/>
            <a:ext cx="3931920" cy="182880"/>
          </a:xfrm>
          <a:prstGeom prst="rect">
            <a:avLst/>
          </a:prstGeom>
          <a:noFill/>
        </p:spPr>
        <p:txBody>
          <a:bodyPr wrap="square" lIns="0" rIns="0" tIns="0" bIns="0">
            <a:spAutoFit/>
          </a:bodyPr>
          <a:lstStyle/>
          <a:p>
            <a:pPr algn="ctr">
              <a:lnSpc>
                <a:spcPct val="115000"/>
              </a:lnSpc>
            </a:pPr>
            <a:r>
              <a:rPr sz="850" b="0" i="0">
                <a:solidFill>
                  <a:srgbClr val="767D86"/>
                </a:solidFill>
                <a:latin typeface="Consolas"/>
              </a:rPr>
              <a:t>GEB 7365  ·  Module 2  ·  27 August 2026</a:t>
            </a:r>
          </a:p>
        </p:txBody>
      </p:sp>
      <p:sp>
        <p:nvSpPr>
          <p:cNvPr id="47" name="TextBox 46"/>
          <p:cNvSpPr txBox="1"/>
          <p:nvPr/>
        </p:nvSpPr>
        <p:spPr>
          <a:xfrm>
            <a:off x="10774680" y="6455664"/>
            <a:ext cx="914400" cy="182880"/>
          </a:xfrm>
          <a:prstGeom prst="rect">
            <a:avLst/>
          </a:prstGeom>
          <a:noFill/>
        </p:spPr>
        <p:txBody>
          <a:bodyPr wrap="square" lIns="0" rIns="0" tIns="0" bIns="0">
            <a:spAutoFit/>
          </a:bodyPr>
          <a:lstStyle/>
          <a:p>
            <a:pPr algn="r">
              <a:lnSpc>
                <a:spcPct val="115000"/>
              </a:lnSpc>
            </a:pPr>
            <a:r>
              <a:rPr sz="850" b="1" i="0">
                <a:solidFill>
                  <a:srgbClr val="B6862C"/>
                </a:solidFill>
                <a:latin typeface="Consola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u-seal.png"/>
          <p:cNvPicPr>
            <a:picLocks noChangeAspect="1"/>
          </p:cNvPicPr>
          <p:nvPr/>
        </p:nvPicPr>
        <p:blipFill>
          <a:blip r:embed="rId2"/>
          <a:stretch>
            <a:fillRect/>
          </a:stretch>
        </p:blipFill>
        <p:spPr>
          <a:xfrm>
            <a:off x="502920" y="274320"/>
            <a:ext cx="403347" cy="384048"/>
          </a:xfrm>
          <a:prstGeom prst="rect">
            <a:avLst/>
          </a:prstGeom>
        </p:spPr>
      </p:pic>
      <p:sp>
        <p:nvSpPr>
          <p:cNvPr id="4" name="TextBox 3"/>
          <p:cNvSpPr txBox="1"/>
          <p:nvPr/>
        </p:nvSpPr>
        <p:spPr>
          <a:xfrm>
            <a:off x="1005840" y="274320"/>
            <a:ext cx="5486400" cy="182880"/>
          </a:xfrm>
          <a:prstGeom prst="rect">
            <a:avLst/>
          </a:prstGeom>
          <a:noFill/>
        </p:spPr>
        <p:txBody>
          <a:bodyPr wrap="square" lIns="0" rIns="0" tIns="0" bIns="0">
            <a:spAutoFit/>
          </a:bodyPr>
          <a:lstStyle/>
          <a:p>
            <a:pPr algn="l">
              <a:lnSpc>
                <a:spcPct val="115000"/>
              </a:lnSpc>
            </a:pPr>
            <a:r>
              <a:rPr sz="950" b="1" i="0" spc="190">
                <a:solidFill>
                  <a:srgbClr val="081E3F"/>
                </a:solidFill>
                <a:latin typeface="Consolas"/>
              </a:rPr>
              <a:t>FLORIDA INTERNATIONAL UNIVERSITY</a:t>
            </a:r>
          </a:p>
        </p:txBody>
      </p:sp>
      <p:sp>
        <p:nvSpPr>
          <p:cNvPr id="5" name="TextBox 4"/>
          <p:cNvSpPr txBox="1"/>
          <p:nvPr/>
        </p:nvSpPr>
        <p:spPr>
          <a:xfrm>
            <a:off x="1005840" y="457200"/>
            <a:ext cx="6400800" cy="182880"/>
          </a:xfrm>
          <a:prstGeom prst="rect">
            <a:avLst/>
          </a:prstGeom>
          <a:noFill/>
        </p:spPr>
        <p:txBody>
          <a:bodyPr wrap="square" lIns="0" rIns="0" tIns="0" bIns="0">
            <a:spAutoFit/>
          </a:bodyPr>
          <a:lstStyle/>
          <a:p>
            <a:pPr algn="l">
              <a:lnSpc>
                <a:spcPct val="115000"/>
              </a:lnSpc>
            </a:pPr>
            <a:r>
              <a:rPr sz="1000" b="0" i="0">
                <a:solidFill>
                  <a:srgbClr val="767D86"/>
                </a:solidFill>
                <a:latin typeface="Georgia"/>
              </a:rPr>
              <a:t>Chapman Graduate School of Business  ·  Doctor of Business Administration</a:t>
            </a:r>
          </a:p>
        </p:txBody>
      </p:sp>
      <p:sp>
        <p:nvSpPr>
          <p:cNvPr id="6" name="TextBox 5"/>
          <p:cNvSpPr txBox="1"/>
          <p:nvPr/>
        </p:nvSpPr>
        <p:spPr>
          <a:xfrm>
            <a:off x="502920" y="960120"/>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CONCLUSION — ALL FOUR</a:t>
            </a:r>
          </a:p>
        </p:txBody>
      </p:sp>
      <p:sp>
        <p:nvSpPr>
          <p:cNvPr id="7" name="TextBox 6"/>
          <p:cNvSpPr txBox="1"/>
          <p:nvPr/>
        </p:nvSpPr>
        <p:spPr>
          <a:xfrm>
            <a:off x="502920" y="1170432"/>
            <a:ext cx="11186160" cy="585216"/>
          </a:xfrm>
          <a:prstGeom prst="rect">
            <a:avLst/>
          </a:prstGeom>
          <a:noFill/>
        </p:spPr>
        <p:txBody>
          <a:bodyPr wrap="square" lIns="0" rIns="0" tIns="0" bIns="0">
            <a:spAutoFit/>
          </a:bodyPr>
          <a:lstStyle/>
          <a:p>
            <a:pPr algn="l">
              <a:lnSpc>
                <a:spcPct val="112000"/>
              </a:lnSpc>
            </a:pPr>
            <a:r>
              <a:rPr sz="2900" b="1" i="0">
                <a:solidFill>
                  <a:srgbClr val="14171C"/>
                </a:solidFill>
                <a:latin typeface="Georgia"/>
              </a:rPr>
              <a:t>Daniela already named it. It is true of all four.</a:t>
            </a:r>
          </a:p>
        </p:txBody>
      </p:sp>
      <p:sp>
        <p:nvSpPr>
          <p:cNvPr id="8" name="Rounded Rectangle 7"/>
          <p:cNvSpPr/>
          <p:nvPr/>
        </p:nvSpPr>
        <p:spPr>
          <a:xfrm>
            <a:off x="502920" y="1847088"/>
            <a:ext cx="11186160" cy="530352"/>
          </a:xfrm>
          <a:prstGeom prst="roundRect">
            <a:avLst>
              <a:gd name="adj" fmla="val 4000"/>
            </a:avLst>
          </a:prstGeom>
          <a:solidFill>
            <a:srgbClr val="E3EFEC"/>
          </a:solidFill>
          <a:ln w="12700">
            <a:solidFill>
              <a:srgbClr val="1C6B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47672"/>
            <a:ext cx="10820400" cy="182880"/>
          </a:xfrm>
          <a:prstGeom prst="rect">
            <a:avLst/>
          </a:prstGeom>
          <a:noFill/>
        </p:spPr>
        <p:txBody>
          <a:bodyPr wrap="square" lIns="0" rIns="0" tIns="0" bIns="0">
            <a:spAutoFit/>
          </a:bodyPr>
          <a:lstStyle/>
          <a:p>
            <a:pPr algn="l">
              <a:lnSpc>
                <a:spcPct val="115000"/>
              </a:lnSpc>
            </a:pPr>
            <a:r>
              <a:rPr sz="900" b="1" i="0" spc="140">
                <a:solidFill>
                  <a:srgbClr val="1C6B63"/>
                </a:solidFill>
                <a:latin typeface="Consolas"/>
              </a:rPr>
              <a:t>HER SLIDE 7</a:t>
            </a:r>
          </a:p>
        </p:txBody>
      </p:sp>
      <p:sp>
        <p:nvSpPr>
          <p:cNvPr id="10" name="TextBox 9"/>
          <p:cNvSpPr txBox="1"/>
          <p:nvPr/>
        </p:nvSpPr>
        <p:spPr>
          <a:xfrm>
            <a:off x="685800" y="2112264"/>
            <a:ext cx="10820400" cy="228600"/>
          </a:xfrm>
          <a:prstGeom prst="rect">
            <a:avLst/>
          </a:prstGeom>
          <a:noFill/>
        </p:spPr>
        <p:txBody>
          <a:bodyPr wrap="square" lIns="0" rIns="0" tIns="0" bIns="0">
            <a:spAutoFit/>
          </a:bodyPr>
          <a:lstStyle/>
          <a:p>
            <a:pPr algn="l">
              <a:lnSpc>
                <a:spcPct val="115000"/>
              </a:lnSpc>
            </a:pPr>
            <a:r>
              <a:rPr sz="1450" b="0" i="1">
                <a:solidFill>
                  <a:srgbClr val="14171C"/>
                </a:solidFill>
                <a:latin typeface="Georgia"/>
              </a:rPr>
              <a:t>“Contradictions trace to unmeasured heterogeneity, not weak theory.”</a:t>
            </a:r>
          </a:p>
        </p:txBody>
      </p:sp>
      <p:sp>
        <p:nvSpPr>
          <p:cNvPr id="11" name="TextBox 10"/>
          <p:cNvSpPr txBox="1"/>
          <p:nvPr/>
        </p:nvSpPr>
        <p:spPr>
          <a:xfrm>
            <a:off x="1920240" y="2578608"/>
            <a:ext cx="3200400" cy="182880"/>
          </a:xfrm>
          <a:prstGeom prst="rect">
            <a:avLst/>
          </a:prstGeom>
          <a:noFill/>
        </p:spPr>
        <p:txBody>
          <a:bodyPr wrap="square" lIns="0" rIns="0" tIns="0" bIns="0">
            <a:spAutoFit/>
          </a:bodyPr>
          <a:lstStyle/>
          <a:p>
            <a:pPr algn="l">
              <a:lnSpc>
                <a:spcPct val="115000"/>
              </a:lnSpc>
            </a:pPr>
            <a:r>
              <a:rPr sz="900" b="1" i="0" spc="140">
                <a:solidFill>
                  <a:srgbClr val="767D86"/>
                </a:solidFill>
                <a:latin typeface="Consolas"/>
              </a:rPr>
              <a:t>WHAT WAS MEASURED</a:t>
            </a:r>
          </a:p>
        </p:txBody>
      </p:sp>
      <p:sp>
        <p:nvSpPr>
          <p:cNvPr id="12" name="TextBox 11"/>
          <p:cNvSpPr txBox="1"/>
          <p:nvPr/>
        </p:nvSpPr>
        <p:spPr>
          <a:xfrm>
            <a:off x="5715000" y="2578608"/>
            <a:ext cx="3657600" cy="182880"/>
          </a:xfrm>
          <a:prstGeom prst="rect">
            <a:avLst/>
          </a:prstGeom>
          <a:noFill/>
        </p:spPr>
        <p:txBody>
          <a:bodyPr wrap="square" lIns="0" rIns="0" tIns="0" bIns="0">
            <a:spAutoFit/>
          </a:bodyPr>
          <a:lstStyle/>
          <a:p>
            <a:pPr algn="l">
              <a:lnSpc>
                <a:spcPct val="115000"/>
              </a:lnSpc>
            </a:pPr>
            <a:r>
              <a:rPr sz="900" b="1" i="0" spc="140">
                <a:solidFill>
                  <a:srgbClr val="767D86"/>
                </a:solidFill>
                <a:latin typeface="Consolas"/>
              </a:rPr>
              <a:t>BELIEVED TO BE</a:t>
            </a:r>
          </a:p>
        </p:txBody>
      </p:sp>
      <p:sp>
        <p:nvSpPr>
          <p:cNvPr id="13" name="Rectangle 12"/>
          <p:cNvSpPr/>
          <p:nvPr/>
        </p:nvSpPr>
        <p:spPr>
          <a:xfrm>
            <a:off x="502920" y="2779776"/>
            <a:ext cx="11186160" cy="9525"/>
          </a:xfrm>
          <a:prstGeom prst="rect">
            <a:avLst/>
          </a:prstGeom>
          <a:solidFill>
            <a:srgbClr val="DD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907792"/>
            <a:ext cx="41148" cy="310896"/>
          </a:xfrm>
          <a:prstGeom prst="rect">
            <a:avLst/>
          </a:prstGeom>
          <a:solidFill>
            <a:srgbClr val="08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2971800"/>
            <a:ext cx="1280160" cy="182880"/>
          </a:xfrm>
          <a:prstGeom prst="rect">
            <a:avLst/>
          </a:prstGeom>
          <a:noFill/>
        </p:spPr>
        <p:txBody>
          <a:bodyPr wrap="square" lIns="0" rIns="0" tIns="0" bIns="0">
            <a:spAutoFit/>
          </a:bodyPr>
          <a:lstStyle/>
          <a:p>
            <a:pPr algn="l">
              <a:lnSpc>
                <a:spcPct val="115000"/>
              </a:lnSpc>
            </a:pPr>
            <a:r>
              <a:rPr sz="950" b="1" i="0" spc="110">
                <a:solidFill>
                  <a:srgbClr val="081E3F"/>
                </a:solidFill>
                <a:latin typeface="Consolas"/>
              </a:rPr>
              <a:t>CONTRACTOR</a:t>
            </a:r>
          </a:p>
        </p:txBody>
      </p:sp>
      <p:sp>
        <p:nvSpPr>
          <p:cNvPr id="16" name="TextBox 15"/>
          <p:cNvSpPr txBox="1"/>
          <p:nvPr/>
        </p:nvSpPr>
        <p:spPr>
          <a:xfrm>
            <a:off x="1920240" y="2962656"/>
            <a:ext cx="3291840" cy="228600"/>
          </a:xfrm>
          <a:prstGeom prst="rect">
            <a:avLst/>
          </a:prstGeom>
          <a:noFill/>
        </p:spPr>
        <p:txBody>
          <a:bodyPr wrap="square" lIns="0" rIns="0" tIns="0" bIns="0">
            <a:spAutoFit/>
          </a:bodyPr>
          <a:lstStyle/>
          <a:p>
            <a:pPr algn="l">
              <a:lnSpc>
                <a:spcPct val="115000"/>
              </a:lnSpc>
            </a:pPr>
            <a:r>
              <a:rPr sz="1350" b="0" i="0">
                <a:solidFill>
                  <a:srgbClr val="14171C"/>
                </a:solidFill>
                <a:latin typeface="Georgia"/>
              </a:rPr>
              <a:t>segments of one curve</a:t>
            </a:r>
          </a:p>
        </p:txBody>
      </p:sp>
      <p:sp>
        <p:nvSpPr>
          <p:cNvPr id="17" name="TextBox 16"/>
          <p:cNvSpPr txBox="1"/>
          <p:nvPr/>
        </p:nvSpPr>
        <p:spPr>
          <a:xfrm>
            <a:off x="5330952" y="2971800"/>
            <a:ext cx="274320" cy="182880"/>
          </a:xfrm>
          <a:prstGeom prst="rect">
            <a:avLst/>
          </a:prstGeom>
          <a:noFill/>
        </p:spPr>
        <p:txBody>
          <a:bodyPr wrap="square" lIns="0" rIns="0" tIns="0" bIns="0">
            <a:spAutoFit/>
          </a:bodyPr>
          <a:lstStyle/>
          <a:p>
            <a:pPr algn="l">
              <a:lnSpc>
                <a:spcPct val="115000"/>
              </a:lnSpc>
            </a:pPr>
            <a:r>
              <a:rPr sz="1300" b="0" i="0">
                <a:solidFill>
                  <a:srgbClr val="9AA4AE"/>
                </a:solidFill>
                <a:latin typeface="Georgia"/>
              </a:rPr>
              <a:t>→</a:t>
            </a:r>
          </a:p>
        </p:txBody>
      </p:sp>
      <p:sp>
        <p:nvSpPr>
          <p:cNvPr id="18" name="TextBox 17"/>
          <p:cNvSpPr txBox="1"/>
          <p:nvPr/>
        </p:nvSpPr>
        <p:spPr>
          <a:xfrm>
            <a:off x="5715000" y="2962656"/>
            <a:ext cx="3840480" cy="228600"/>
          </a:xfrm>
          <a:prstGeom prst="rect">
            <a:avLst/>
          </a:prstGeom>
          <a:noFill/>
        </p:spPr>
        <p:txBody>
          <a:bodyPr wrap="square" lIns="0" rIns="0" tIns="0" bIns="0">
            <a:spAutoFit/>
          </a:bodyPr>
          <a:lstStyle/>
          <a:p>
            <a:pPr algn="l">
              <a:lnSpc>
                <a:spcPct val="115000"/>
              </a:lnSpc>
            </a:pPr>
            <a:r>
              <a:rPr sz="1350" b="0" i="1">
                <a:solidFill>
                  <a:srgbClr val="767D86"/>
                </a:solidFill>
                <a:latin typeface="Georgia"/>
              </a:rPr>
              <a:t>the shape of the relationship</a:t>
            </a:r>
          </a:p>
        </p:txBody>
      </p:sp>
      <p:sp>
        <p:nvSpPr>
          <p:cNvPr id="19" name="Rectangle 18"/>
          <p:cNvSpPr/>
          <p:nvPr/>
        </p:nvSpPr>
        <p:spPr>
          <a:xfrm>
            <a:off x="502920" y="3310128"/>
            <a:ext cx="41148" cy="310896"/>
          </a:xfrm>
          <a:prstGeom prst="rect">
            <a:avLst/>
          </a:prstGeom>
          <a:solidFill>
            <a:srgbClr val="1C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 y="3374136"/>
            <a:ext cx="1280160" cy="182880"/>
          </a:xfrm>
          <a:prstGeom prst="rect">
            <a:avLst/>
          </a:prstGeom>
          <a:noFill/>
        </p:spPr>
        <p:txBody>
          <a:bodyPr wrap="square" lIns="0" rIns="0" tIns="0" bIns="0">
            <a:spAutoFit/>
          </a:bodyPr>
          <a:lstStyle/>
          <a:p>
            <a:pPr algn="l">
              <a:lnSpc>
                <a:spcPct val="115000"/>
              </a:lnSpc>
            </a:pPr>
            <a:r>
              <a:rPr sz="950" b="1" i="0" spc="110">
                <a:solidFill>
                  <a:srgbClr val="1C6B63"/>
                </a:solidFill>
                <a:latin typeface="Consolas"/>
              </a:rPr>
              <a:t>MEZIAS</a:t>
            </a:r>
          </a:p>
        </p:txBody>
      </p:sp>
      <p:sp>
        <p:nvSpPr>
          <p:cNvPr id="21" name="TextBox 20"/>
          <p:cNvSpPr txBox="1"/>
          <p:nvPr/>
        </p:nvSpPr>
        <p:spPr>
          <a:xfrm>
            <a:off x="1920240" y="3364992"/>
            <a:ext cx="3291840" cy="228600"/>
          </a:xfrm>
          <a:prstGeom prst="rect">
            <a:avLst/>
          </a:prstGeom>
          <a:noFill/>
        </p:spPr>
        <p:txBody>
          <a:bodyPr wrap="square" lIns="0" rIns="0" tIns="0" bIns="0">
            <a:spAutoFit/>
          </a:bodyPr>
          <a:lstStyle/>
          <a:p>
            <a:pPr algn="l">
              <a:lnSpc>
                <a:spcPct val="115000"/>
              </a:lnSpc>
            </a:pPr>
            <a:r>
              <a:rPr sz="1350" b="0" i="0">
                <a:solidFill>
                  <a:srgbClr val="14171C"/>
                </a:solidFill>
                <a:latin typeface="Georgia"/>
              </a:rPr>
              <a:t>aggregate performance</a:t>
            </a:r>
          </a:p>
        </p:txBody>
      </p:sp>
      <p:sp>
        <p:nvSpPr>
          <p:cNvPr id="22" name="TextBox 21"/>
          <p:cNvSpPr txBox="1"/>
          <p:nvPr/>
        </p:nvSpPr>
        <p:spPr>
          <a:xfrm>
            <a:off x="5330952" y="3374136"/>
            <a:ext cx="274320" cy="182880"/>
          </a:xfrm>
          <a:prstGeom prst="rect">
            <a:avLst/>
          </a:prstGeom>
          <a:noFill/>
        </p:spPr>
        <p:txBody>
          <a:bodyPr wrap="square" lIns="0" rIns="0" tIns="0" bIns="0">
            <a:spAutoFit/>
          </a:bodyPr>
          <a:lstStyle/>
          <a:p>
            <a:pPr algn="l">
              <a:lnSpc>
                <a:spcPct val="115000"/>
              </a:lnSpc>
            </a:pPr>
            <a:r>
              <a:rPr sz="1300" b="0" i="0">
                <a:solidFill>
                  <a:srgbClr val="9AA4AE"/>
                </a:solidFill>
                <a:latin typeface="Georgia"/>
              </a:rPr>
              <a:t>→</a:t>
            </a:r>
          </a:p>
        </p:txBody>
      </p:sp>
      <p:sp>
        <p:nvSpPr>
          <p:cNvPr id="23" name="TextBox 22"/>
          <p:cNvSpPr txBox="1"/>
          <p:nvPr/>
        </p:nvSpPr>
        <p:spPr>
          <a:xfrm>
            <a:off x="5715000" y="3364992"/>
            <a:ext cx="3840480" cy="228600"/>
          </a:xfrm>
          <a:prstGeom prst="rect">
            <a:avLst/>
          </a:prstGeom>
          <a:noFill/>
        </p:spPr>
        <p:txBody>
          <a:bodyPr wrap="square" lIns="0" rIns="0" tIns="0" bIns="0">
            <a:spAutoFit/>
          </a:bodyPr>
          <a:lstStyle/>
          <a:p>
            <a:pPr algn="l">
              <a:lnSpc>
                <a:spcPct val="115000"/>
              </a:lnSpc>
            </a:pPr>
            <a:r>
              <a:rPr sz="1350" b="0" i="1">
                <a:solidFill>
                  <a:srgbClr val="767D86"/>
                </a:solidFill>
                <a:latin typeface="Georgia"/>
              </a:rPr>
              <a:t>the cost of foreignness</a:t>
            </a:r>
          </a:p>
        </p:txBody>
      </p:sp>
      <p:sp>
        <p:nvSpPr>
          <p:cNvPr id="24" name="Rectangle 23"/>
          <p:cNvSpPr/>
          <p:nvPr/>
        </p:nvSpPr>
        <p:spPr>
          <a:xfrm>
            <a:off x="502920" y="3712464"/>
            <a:ext cx="41148" cy="310896"/>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 y="3776472"/>
            <a:ext cx="1280160" cy="182880"/>
          </a:xfrm>
          <a:prstGeom prst="rect">
            <a:avLst/>
          </a:prstGeom>
          <a:noFill/>
        </p:spPr>
        <p:txBody>
          <a:bodyPr wrap="square" lIns="0" rIns="0" tIns="0" bIns="0">
            <a:spAutoFit/>
          </a:bodyPr>
          <a:lstStyle/>
          <a:p>
            <a:pPr algn="l">
              <a:lnSpc>
                <a:spcPct val="115000"/>
              </a:lnSpc>
            </a:pPr>
            <a:r>
              <a:rPr sz="950" b="1" i="0" spc="110">
                <a:solidFill>
                  <a:srgbClr val="B6862C"/>
                </a:solidFill>
                <a:latin typeface="Consolas"/>
              </a:rPr>
              <a:t>GHEMAWAT</a:t>
            </a:r>
          </a:p>
        </p:txBody>
      </p:sp>
      <p:sp>
        <p:nvSpPr>
          <p:cNvPr id="26" name="TextBox 25"/>
          <p:cNvSpPr txBox="1"/>
          <p:nvPr/>
        </p:nvSpPr>
        <p:spPr>
          <a:xfrm>
            <a:off x="1920240" y="3767328"/>
            <a:ext cx="3291840" cy="228600"/>
          </a:xfrm>
          <a:prstGeom prst="rect">
            <a:avLst/>
          </a:prstGeom>
          <a:noFill/>
        </p:spPr>
        <p:txBody>
          <a:bodyPr wrap="square" lIns="0" rIns="0" tIns="0" bIns="0">
            <a:spAutoFit/>
          </a:bodyPr>
          <a:lstStyle/>
          <a:p>
            <a:pPr algn="l">
              <a:lnSpc>
                <a:spcPct val="115000"/>
              </a:lnSpc>
            </a:pPr>
            <a:r>
              <a:rPr sz="1350" b="0" i="0">
                <a:solidFill>
                  <a:srgbClr val="14171C"/>
                </a:solidFill>
                <a:latin typeface="Georgia"/>
              </a:rPr>
              <a:t>market size</a:t>
            </a:r>
          </a:p>
        </p:txBody>
      </p:sp>
      <p:sp>
        <p:nvSpPr>
          <p:cNvPr id="27" name="TextBox 26"/>
          <p:cNvSpPr txBox="1"/>
          <p:nvPr/>
        </p:nvSpPr>
        <p:spPr>
          <a:xfrm>
            <a:off x="5330952" y="3776472"/>
            <a:ext cx="274320" cy="182880"/>
          </a:xfrm>
          <a:prstGeom prst="rect">
            <a:avLst/>
          </a:prstGeom>
          <a:noFill/>
        </p:spPr>
        <p:txBody>
          <a:bodyPr wrap="square" lIns="0" rIns="0" tIns="0" bIns="0">
            <a:spAutoFit/>
          </a:bodyPr>
          <a:lstStyle/>
          <a:p>
            <a:pPr algn="l">
              <a:lnSpc>
                <a:spcPct val="115000"/>
              </a:lnSpc>
            </a:pPr>
            <a:r>
              <a:rPr sz="1300" b="0" i="0">
                <a:solidFill>
                  <a:srgbClr val="9AA4AE"/>
                </a:solidFill>
                <a:latin typeface="Georgia"/>
              </a:rPr>
              <a:t>→</a:t>
            </a:r>
          </a:p>
        </p:txBody>
      </p:sp>
      <p:sp>
        <p:nvSpPr>
          <p:cNvPr id="28" name="TextBox 27"/>
          <p:cNvSpPr txBox="1"/>
          <p:nvPr/>
        </p:nvSpPr>
        <p:spPr>
          <a:xfrm>
            <a:off x="5715000" y="3767328"/>
            <a:ext cx="3840480" cy="228600"/>
          </a:xfrm>
          <a:prstGeom prst="rect">
            <a:avLst/>
          </a:prstGeom>
          <a:noFill/>
        </p:spPr>
        <p:txBody>
          <a:bodyPr wrap="square" lIns="0" rIns="0" tIns="0" bIns="0">
            <a:spAutoFit/>
          </a:bodyPr>
          <a:lstStyle/>
          <a:p>
            <a:pPr algn="l">
              <a:lnSpc>
                <a:spcPct val="115000"/>
              </a:lnSpc>
            </a:pPr>
            <a:r>
              <a:rPr sz="1350" b="0" i="1">
                <a:solidFill>
                  <a:srgbClr val="767D86"/>
                </a:solidFill>
                <a:latin typeface="Georgia"/>
              </a:rPr>
              <a:t>opportunity</a:t>
            </a:r>
          </a:p>
        </p:txBody>
      </p:sp>
      <p:sp>
        <p:nvSpPr>
          <p:cNvPr id="29" name="Rectangle 28"/>
          <p:cNvSpPr/>
          <p:nvPr/>
        </p:nvSpPr>
        <p:spPr>
          <a:xfrm>
            <a:off x="502920" y="4114800"/>
            <a:ext cx="41148" cy="310896"/>
          </a:xfrm>
          <a:prstGeom prst="rect">
            <a:avLst/>
          </a:prstGeom>
          <a:solidFill>
            <a:srgbClr val="8C3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 y="4178808"/>
            <a:ext cx="1280160" cy="182880"/>
          </a:xfrm>
          <a:prstGeom prst="rect">
            <a:avLst/>
          </a:prstGeom>
          <a:noFill/>
        </p:spPr>
        <p:txBody>
          <a:bodyPr wrap="square" lIns="0" rIns="0" tIns="0" bIns="0">
            <a:spAutoFit/>
          </a:bodyPr>
          <a:lstStyle/>
          <a:p>
            <a:pPr algn="l">
              <a:lnSpc>
                <a:spcPct val="115000"/>
              </a:lnSpc>
            </a:pPr>
            <a:r>
              <a:rPr sz="950" b="1" i="0" spc="110">
                <a:solidFill>
                  <a:srgbClr val="8C3A1B"/>
                </a:solidFill>
                <a:latin typeface="Consolas"/>
              </a:rPr>
              <a:t>ARREGLE</a:t>
            </a:r>
          </a:p>
        </p:txBody>
      </p:sp>
      <p:sp>
        <p:nvSpPr>
          <p:cNvPr id="31" name="TextBox 30"/>
          <p:cNvSpPr txBox="1"/>
          <p:nvPr/>
        </p:nvSpPr>
        <p:spPr>
          <a:xfrm>
            <a:off x="1920240" y="4169664"/>
            <a:ext cx="3291840" cy="228600"/>
          </a:xfrm>
          <a:prstGeom prst="rect">
            <a:avLst/>
          </a:prstGeom>
          <a:noFill/>
        </p:spPr>
        <p:txBody>
          <a:bodyPr wrap="square" lIns="0" rIns="0" tIns="0" bIns="0">
            <a:spAutoFit/>
          </a:bodyPr>
          <a:lstStyle/>
          <a:p>
            <a:pPr algn="l">
              <a:lnSpc>
                <a:spcPct val="115000"/>
              </a:lnSpc>
            </a:pPr>
            <a:r>
              <a:rPr sz="1350" b="0" i="0">
                <a:solidFill>
                  <a:srgbClr val="14171C"/>
                </a:solidFill>
                <a:latin typeface="Georgia"/>
              </a:rPr>
              <a:t>220 studies</a:t>
            </a:r>
          </a:p>
        </p:txBody>
      </p:sp>
      <p:sp>
        <p:nvSpPr>
          <p:cNvPr id="32" name="TextBox 31"/>
          <p:cNvSpPr txBox="1"/>
          <p:nvPr/>
        </p:nvSpPr>
        <p:spPr>
          <a:xfrm>
            <a:off x="5330952" y="4178808"/>
            <a:ext cx="274320" cy="182880"/>
          </a:xfrm>
          <a:prstGeom prst="rect">
            <a:avLst/>
          </a:prstGeom>
          <a:noFill/>
        </p:spPr>
        <p:txBody>
          <a:bodyPr wrap="square" lIns="0" rIns="0" tIns="0" bIns="0">
            <a:spAutoFit/>
          </a:bodyPr>
          <a:lstStyle/>
          <a:p>
            <a:pPr algn="l">
              <a:lnSpc>
                <a:spcPct val="115000"/>
              </a:lnSpc>
            </a:pPr>
            <a:r>
              <a:rPr sz="1300" b="0" i="0">
                <a:solidFill>
                  <a:srgbClr val="9AA4AE"/>
                </a:solidFill>
                <a:latin typeface="Georgia"/>
              </a:rPr>
              <a:t>→</a:t>
            </a:r>
          </a:p>
        </p:txBody>
      </p:sp>
      <p:sp>
        <p:nvSpPr>
          <p:cNvPr id="33" name="TextBox 32"/>
          <p:cNvSpPr txBox="1"/>
          <p:nvPr/>
        </p:nvSpPr>
        <p:spPr>
          <a:xfrm>
            <a:off x="5715000" y="4169664"/>
            <a:ext cx="3840480" cy="228600"/>
          </a:xfrm>
          <a:prstGeom prst="rect">
            <a:avLst/>
          </a:prstGeom>
          <a:noFill/>
        </p:spPr>
        <p:txBody>
          <a:bodyPr wrap="square" lIns="0" rIns="0" tIns="0" bIns="0">
            <a:spAutoFit/>
          </a:bodyPr>
          <a:lstStyle/>
          <a:p>
            <a:pPr algn="l">
              <a:lnSpc>
                <a:spcPct val="115000"/>
              </a:lnSpc>
            </a:pPr>
            <a:r>
              <a:rPr sz="1350" b="0" i="1">
                <a:solidFill>
                  <a:srgbClr val="767D86"/>
                </a:solidFill>
                <a:latin typeface="Georgia"/>
              </a:rPr>
              <a:t>a settled question</a:t>
            </a:r>
          </a:p>
        </p:txBody>
      </p:sp>
      <p:sp>
        <p:nvSpPr>
          <p:cNvPr id="34" name="Rounded Rectangle 33"/>
          <p:cNvSpPr/>
          <p:nvPr/>
        </p:nvSpPr>
        <p:spPr>
          <a:xfrm>
            <a:off x="502920" y="4590288"/>
            <a:ext cx="11186160" cy="658368"/>
          </a:xfrm>
          <a:prstGeom prst="roundRect">
            <a:avLst>
              <a:gd name="adj" fmla="val 4000"/>
            </a:avLst>
          </a:prstGeom>
          <a:solidFill>
            <a:srgbClr val="FAF3E4"/>
          </a:solidFill>
          <a:ln w="12700">
            <a:solidFill>
              <a:srgbClr val="E4D3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709160"/>
            <a:ext cx="10820400" cy="457200"/>
          </a:xfrm>
          <a:prstGeom prst="rect">
            <a:avLst/>
          </a:prstGeom>
          <a:noFill/>
        </p:spPr>
        <p:txBody>
          <a:bodyPr wrap="square" lIns="0" rIns="0" tIns="0" bIns="0">
            <a:spAutoFit/>
          </a:bodyPr>
          <a:lstStyle/>
          <a:p>
            <a:pPr algn="l">
              <a:lnSpc>
                <a:spcPct val="115000"/>
              </a:lnSpc>
            </a:pPr>
            <a:r>
              <a:rPr sz="1500" b="0" i="1">
                <a:solidFill>
                  <a:srgbClr val="14171C"/>
                </a:solidFill>
                <a:latin typeface="Georgia"/>
              </a:rPr>
              <a:t>Not one of them was fixed by more data. Every one made progress by changing WHAT was measured — which is why this is a methods problem, not a theory problem.</a:t>
            </a:r>
          </a:p>
        </p:txBody>
      </p:sp>
      <p:sp>
        <p:nvSpPr>
          <p:cNvPr id="36" name="Rectangle 35"/>
          <p:cNvSpPr/>
          <p:nvPr/>
        </p:nvSpPr>
        <p:spPr>
          <a:xfrm>
            <a:off x="502920" y="6382512"/>
            <a:ext cx="11186160" cy="9525"/>
          </a:xfrm>
          <a:prstGeom prst="rect">
            <a:avLst/>
          </a:prstGeom>
          <a:solidFill>
            <a:srgbClr val="DD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455664"/>
            <a:ext cx="3657600" cy="182880"/>
          </a:xfrm>
          <a:prstGeom prst="rect">
            <a:avLst/>
          </a:prstGeom>
          <a:noFill/>
        </p:spPr>
        <p:txBody>
          <a:bodyPr wrap="square" lIns="0" rIns="0" tIns="0" bIns="0">
            <a:spAutoFit/>
          </a:bodyPr>
          <a:lstStyle/>
          <a:p>
            <a:pPr algn="l">
              <a:lnSpc>
                <a:spcPct val="115000"/>
              </a:lnSpc>
            </a:pPr>
            <a:r>
              <a:rPr sz="850" b="1" i="0">
                <a:solidFill>
                  <a:srgbClr val="767D86"/>
                </a:solidFill>
                <a:latin typeface="Consolas"/>
              </a:rPr>
              <a:t>Yasir A. Malik  ·  Cohort 8.14</a:t>
            </a:r>
          </a:p>
        </p:txBody>
      </p:sp>
      <p:sp>
        <p:nvSpPr>
          <p:cNvPr id="38" name="TextBox 37"/>
          <p:cNvSpPr txBox="1"/>
          <p:nvPr/>
        </p:nvSpPr>
        <p:spPr>
          <a:xfrm>
            <a:off x="4160520" y="6455664"/>
            <a:ext cx="3931920" cy="182880"/>
          </a:xfrm>
          <a:prstGeom prst="rect">
            <a:avLst/>
          </a:prstGeom>
          <a:noFill/>
        </p:spPr>
        <p:txBody>
          <a:bodyPr wrap="square" lIns="0" rIns="0" tIns="0" bIns="0">
            <a:spAutoFit/>
          </a:bodyPr>
          <a:lstStyle/>
          <a:p>
            <a:pPr algn="ctr">
              <a:lnSpc>
                <a:spcPct val="115000"/>
              </a:lnSpc>
            </a:pPr>
            <a:r>
              <a:rPr sz="850" b="0" i="0">
                <a:solidFill>
                  <a:srgbClr val="767D86"/>
                </a:solidFill>
                <a:latin typeface="Consolas"/>
              </a:rPr>
              <a:t>GEB 7365  ·  Module 2  ·  27 August 2026</a:t>
            </a:r>
          </a:p>
        </p:txBody>
      </p:sp>
      <p:sp>
        <p:nvSpPr>
          <p:cNvPr id="39" name="TextBox 38"/>
          <p:cNvSpPr txBox="1"/>
          <p:nvPr/>
        </p:nvSpPr>
        <p:spPr>
          <a:xfrm>
            <a:off x="10774680" y="6455664"/>
            <a:ext cx="914400" cy="182880"/>
          </a:xfrm>
          <a:prstGeom prst="rect">
            <a:avLst/>
          </a:prstGeom>
          <a:noFill/>
        </p:spPr>
        <p:txBody>
          <a:bodyPr wrap="square" lIns="0" rIns="0" tIns="0" bIns="0">
            <a:spAutoFit/>
          </a:bodyPr>
          <a:lstStyle/>
          <a:p>
            <a:pPr algn="r">
              <a:lnSpc>
                <a:spcPct val="115000"/>
              </a:lnSpc>
            </a:pPr>
            <a:r>
              <a:rPr sz="850" b="1" i="0">
                <a:solidFill>
                  <a:srgbClr val="B6862C"/>
                </a:solidFill>
                <a:latin typeface="Consola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8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u-seal.png"/>
          <p:cNvPicPr>
            <a:picLocks noChangeAspect="1"/>
          </p:cNvPicPr>
          <p:nvPr/>
        </p:nvPicPr>
        <p:blipFill>
          <a:blip r:embed="rId2"/>
          <a:stretch>
            <a:fillRect/>
          </a:stretch>
        </p:blipFill>
        <p:spPr>
          <a:xfrm>
            <a:off x="502920" y="274320"/>
            <a:ext cx="403347" cy="384048"/>
          </a:xfrm>
          <a:prstGeom prst="rect">
            <a:avLst/>
          </a:prstGeom>
        </p:spPr>
      </p:pic>
      <p:sp>
        <p:nvSpPr>
          <p:cNvPr id="4" name="TextBox 3"/>
          <p:cNvSpPr txBox="1"/>
          <p:nvPr/>
        </p:nvSpPr>
        <p:spPr>
          <a:xfrm>
            <a:off x="1005840" y="274320"/>
            <a:ext cx="5486400" cy="182880"/>
          </a:xfrm>
          <a:prstGeom prst="rect">
            <a:avLst/>
          </a:prstGeom>
          <a:noFill/>
        </p:spPr>
        <p:txBody>
          <a:bodyPr wrap="square" lIns="0" rIns="0" tIns="0" bIns="0">
            <a:spAutoFit/>
          </a:bodyPr>
          <a:lstStyle/>
          <a:p>
            <a:pPr algn="l">
              <a:lnSpc>
                <a:spcPct val="115000"/>
              </a:lnSpc>
            </a:pPr>
            <a:r>
              <a:rPr sz="950" b="1" i="0" spc="190">
                <a:solidFill>
                  <a:srgbClr val="FFFFFF"/>
                </a:solidFill>
                <a:latin typeface="Consolas"/>
              </a:rPr>
              <a:t>FLORIDA INTERNATIONAL UNIVERSITY</a:t>
            </a:r>
          </a:p>
        </p:txBody>
      </p:sp>
      <p:sp>
        <p:nvSpPr>
          <p:cNvPr id="5" name="TextBox 4"/>
          <p:cNvSpPr txBox="1"/>
          <p:nvPr/>
        </p:nvSpPr>
        <p:spPr>
          <a:xfrm>
            <a:off x="1005840" y="457200"/>
            <a:ext cx="6400800" cy="182880"/>
          </a:xfrm>
          <a:prstGeom prst="rect">
            <a:avLst/>
          </a:prstGeom>
          <a:noFill/>
        </p:spPr>
        <p:txBody>
          <a:bodyPr wrap="square" lIns="0" rIns="0" tIns="0" bIns="0">
            <a:spAutoFit/>
          </a:bodyPr>
          <a:lstStyle/>
          <a:p>
            <a:pPr algn="l">
              <a:lnSpc>
                <a:spcPct val="115000"/>
              </a:lnSpc>
            </a:pPr>
            <a:r>
              <a:rPr sz="1000" b="0" i="0">
                <a:solidFill>
                  <a:srgbClr val="8FA3BC"/>
                </a:solidFill>
                <a:latin typeface="Georgia"/>
              </a:rPr>
              <a:t>Chapman Graduate School of Business  ·  Doctor of Business Administration</a:t>
            </a:r>
          </a:p>
        </p:txBody>
      </p:sp>
      <p:sp>
        <p:nvSpPr>
          <p:cNvPr id="6" name="TextBox 5"/>
          <p:cNvSpPr txBox="1"/>
          <p:nvPr/>
        </p:nvSpPr>
        <p:spPr>
          <a:xfrm>
            <a:off x="502920" y="1024128"/>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ONE LAST THING</a:t>
            </a:r>
          </a:p>
        </p:txBody>
      </p:sp>
      <p:sp>
        <p:nvSpPr>
          <p:cNvPr id="7" name="TextBox 6"/>
          <p:cNvSpPr txBox="1"/>
          <p:nvPr/>
        </p:nvSpPr>
        <p:spPr>
          <a:xfrm>
            <a:off x="502920" y="1261872"/>
            <a:ext cx="11186160" cy="548640"/>
          </a:xfrm>
          <a:prstGeom prst="rect">
            <a:avLst/>
          </a:prstGeom>
          <a:noFill/>
        </p:spPr>
        <p:txBody>
          <a:bodyPr wrap="square" lIns="0" rIns="0" tIns="0" bIns="0">
            <a:spAutoFit/>
          </a:bodyPr>
          <a:lstStyle/>
          <a:p>
            <a:pPr algn="l">
              <a:lnSpc>
                <a:spcPct val="115000"/>
              </a:lnSpc>
            </a:pPr>
            <a:r>
              <a:rPr sz="3000" b="1" i="0">
                <a:solidFill>
                  <a:srgbClr val="FFFFFF"/>
                </a:solidFill>
                <a:latin typeface="Georgia"/>
              </a:rPr>
              <a:t>Eighteen years. Same question.</a:t>
            </a:r>
          </a:p>
        </p:txBody>
      </p:sp>
      <p:sp>
        <p:nvSpPr>
          <p:cNvPr id="8" name="Rectangle 7"/>
          <p:cNvSpPr/>
          <p:nvPr/>
        </p:nvSpPr>
        <p:spPr>
          <a:xfrm>
            <a:off x="1737360" y="2788920"/>
            <a:ext cx="8717280" cy="25400"/>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45920" y="2697480"/>
            <a:ext cx="182880" cy="182880"/>
          </a:xfrm>
          <a:prstGeom prst="ellipse">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011680"/>
            <a:ext cx="2560320" cy="365760"/>
          </a:xfrm>
          <a:prstGeom prst="rect">
            <a:avLst/>
          </a:prstGeom>
          <a:noFill/>
        </p:spPr>
        <p:txBody>
          <a:bodyPr wrap="square" lIns="0" rIns="0" tIns="0" bIns="0">
            <a:spAutoFit/>
          </a:bodyPr>
          <a:lstStyle/>
          <a:p>
            <a:pPr algn="ctr">
              <a:lnSpc>
                <a:spcPct val="115000"/>
              </a:lnSpc>
            </a:pPr>
            <a:r>
              <a:rPr sz="2500" b="1" i="0">
                <a:solidFill>
                  <a:srgbClr val="FFFFFF"/>
                </a:solidFill>
                <a:latin typeface="Georgia"/>
              </a:rPr>
              <a:t>2003</a:t>
            </a:r>
          </a:p>
        </p:txBody>
      </p:sp>
      <p:sp>
        <p:nvSpPr>
          <p:cNvPr id="11" name="TextBox 10"/>
          <p:cNvSpPr txBox="1"/>
          <p:nvPr/>
        </p:nvSpPr>
        <p:spPr>
          <a:xfrm>
            <a:off x="457200" y="2404872"/>
            <a:ext cx="2560320" cy="182880"/>
          </a:xfrm>
          <a:prstGeom prst="rect">
            <a:avLst/>
          </a:prstGeom>
          <a:noFill/>
        </p:spPr>
        <p:txBody>
          <a:bodyPr wrap="square" lIns="0" rIns="0" tIns="0" bIns="0">
            <a:spAutoFit/>
          </a:bodyPr>
          <a:lstStyle/>
          <a:p>
            <a:pPr algn="ctr">
              <a:lnSpc>
                <a:spcPct val="115000"/>
              </a:lnSpc>
            </a:pPr>
            <a:r>
              <a:rPr sz="900" b="1" i="0" spc="100">
                <a:solidFill>
                  <a:srgbClr val="B6862C"/>
                </a:solidFill>
                <a:latin typeface="Consolas"/>
              </a:rPr>
              <a:t>Contractor, Kundu &amp; Hsu</a:t>
            </a:r>
          </a:p>
        </p:txBody>
      </p:sp>
      <p:sp>
        <p:nvSpPr>
          <p:cNvPr id="12" name="TextBox 11"/>
          <p:cNvSpPr txBox="1"/>
          <p:nvPr/>
        </p:nvSpPr>
        <p:spPr>
          <a:xfrm>
            <a:off x="457200" y="2971800"/>
            <a:ext cx="2560320" cy="182880"/>
          </a:xfrm>
          <a:prstGeom prst="rect">
            <a:avLst/>
          </a:prstGeom>
          <a:noFill/>
        </p:spPr>
        <p:txBody>
          <a:bodyPr wrap="square" lIns="0" rIns="0" tIns="0" bIns="0">
            <a:spAutoFit/>
          </a:bodyPr>
          <a:lstStyle/>
          <a:p>
            <a:pPr algn="ctr">
              <a:lnSpc>
                <a:spcPct val="115000"/>
              </a:lnSpc>
            </a:pPr>
            <a:r>
              <a:rPr sz="1150" b="0" i="0">
                <a:solidFill>
                  <a:srgbClr val="7E93A8"/>
                </a:solidFill>
                <a:latin typeface="Georgia"/>
              </a:rPr>
              <a:t>JIBS 34(1)</a:t>
            </a:r>
          </a:p>
        </p:txBody>
      </p:sp>
      <p:sp>
        <p:nvSpPr>
          <p:cNvPr id="13" name="Oval 12"/>
          <p:cNvSpPr/>
          <p:nvPr/>
        </p:nvSpPr>
        <p:spPr>
          <a:xfrm>
            <a:off x="10363200" y="2697480"/>
            <a:ext cx="182880" cy="182880"/>
          </a:xfrm>
          <a:prstGeom prst="ellipse">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4480" y="2011680"/>
            <a:ext cx="2560320" cy="365760"/>
          </a:xfrm>
          <a:prstGeom prst="rect">
            <a:avLst/>
          </a:prstGeom>
          <a:noFill/>
        </p:spPr>
        <p:txBody>
          <a:bodyPr wrap="square" lIns="0" rIns="0" tIns="0" bIns="0">
            <a:spAutoFit/>
          </a:bodyPr>
          <a:lstStyle/>
          <a:p>
            <a:pPr algn="ctr">
              <a:lnSpc>
                <a:spcPct val="115000"/>
              </a:lnSpc>
            </a:pPr>
            <a:r>
              <a:rPr sz="2500" b="1" i="0">
                <a:solidFill>
                  <a:srgbClr val="FFFFFF"/>
                </a:solidFill>
                <a:latin typeface="Georgia"/>
              </a:rPr>
              <a:t>2021</a:t>
            </a:r>
          </a:p>
        </p:txBody>
      </p:sp>
      <p:sp>
        <p:nvSpPr>
          <p:cNvPr id="15" name="TextBox 14"/>
          <p:cNvSpPr txBox="1"/>
          <p:nvPr/>
        </p:nvSpPr>
        <p:spPr>
          <a:xfrm>
            <a:off x="9174480" y="2404872"/>
            <a:ext cx="2560320" cy="182880"/>
          </a:xfrm>
          <a:prstGeom prst="rect">
            <a:avLst/>
          </a:prstGeom>
          <a:noFill/>
        </p:spPr>
        <p:txBody>
          <a:bodyPr wrap="square" lIns="0" rIns="0" tIns="0" bIns="0">
            <a:spAutoFit/>
          </a:bodyPr>
          <a:lstStyle/>
          <a:p>
            <a:pPr algn="ctr">
              <a:lnSpc>
                <a:spcPct val="115000"/>
              </a:lnSpc>
            </a:pPr>
            <a:r>
              <a:rPr sz="900" b="1" i="0" spc="100">
                <a:solidFill>
                  <a:srgbClr val="B6862C"/>
                </a:solidFill>
                <a:latin typeface="Consolas"/>
              </a:rPr>
              <a:t>Arregle, … Kundu, …</a:t>
            </a:r>
          </a:p>
        </p:txBody>
      </p:sp>
      <p:sp>
        <p:nvSpPr>
          <p:cNvPr id="16" name="TextBox 15"/>
          <p:cNvSpPr txBox="1"/>
          <p:nvPr/>
        </p:nvSpPr>
        <p:spPr>
          <a:xfrm>
            <a:off x="9174480" y="2971800"/>
            <a:ext cx="2560320" cy="182880"/>
          </a:xfrm>
          <a:prstGeom prst="rect">
            <a:avLst/>
          </a:prstGeom>
          <a:noFill/>
        </p:spPr>
        <p:txBody>
          <a:bodyPr wrap="square" lIns="0" rIns="0" tIns="0" bIns="0">
            <a:spAutoFit/>
          </a:bodyPr>
          <a:lstStyle/>
          <a:p>
            <a:pPr algn="ctr">
              <a:lnSpc>
                <a:spcPct val="115000"/>
              </a:lnSpc>
            </a:pPr>
            <a:r>
              <a:rPr sz="1150" b="0" i="0">
                <a:solidFill>
                  <a:srgbClr val="7E93A8"/>
                </a:solidFill>
                <a:latin typeface="Georgia"/>
              </a:rPr>
              <a:t>JIBS 52</a:t>
            </a:r>
          </a:p>
        </p:txBody>
      </p:sp>
      <p:sp>
        <p:nvSpPr>
          <p:cNvPr id="17" name="TextBox 16"/>
          <p:cNvSpPr txBox="1"/>
          <p:nvPr/>
        </p:nvSpPr>
        <p:spPr>
          <a:xfrm>
            <a:off x="4632960" y="1828800"/>
            <a:ext cx="2926080" cy="182880"/>
          </a:xfrm>
          <a:prstGeom prst="rect">
            <a:avLst/>
          </a:prstGeom>
          <a:noFill/>
        </p:spPr>
        <p:txBody>
          <a:bodyPr wrap="square" lIns="0" rIns="0" tIns="0" bIns="0">
            <a:spAutoFit/>
          </a:bodyPr>
          <a:lstStyle/>
          <a:p>
            <a:pPr algn="ctr">
              <a:lnSpc>
                <a:spcPct val="115000"/>
              </a:lnSpc>
            </a:pPr>
            <a:r>
              <a:rPr sz="1100" b="1" i="0" spc="180">
                <a:solidFill>
                  <a:srgbClr val="B6862C"/>
                </a:solidFill>
                <a:latin typeface="Consolas"/>
              </a:rPr>
              <a:t>SUMIT K. KUNDU  ·  FIU</a:t>
            </a:r>
          </a:p>
        </p:txBody>
      </p:sp>
      <p:sp>
        <p:nvSpPr>
          <p:cNvPr id="18" name="TextBox 17"/>
          <p:cNvSpPr txBox="1"/>
          <p:nvPr/>
        </p:nvSpPr>
        <p:spPr>
          <a:xfrm>
            <a:off x="4632960" y="2971800"/>
            <a:ext cx="2926080" cy="182880"/>
          </a:xfrm>
          <a:prstGeom prst="rect">
            <a:avLst/>
          </a:prstGeom>
          <a:noFill/>
        </p:spPr>
        <p:txBody>
          <a:bodyPr wrap="square" lIns="0" rIns="0" tIns="0" bIns="0">
            <a:spAutoFit/>
          </a:bodyPr>
          <a:lstStyle/>
          <a:p>
            <a:pPr algn="ctr">
              <a:lnSpc>
                <a:spcPct val="115000"/>
              </a:lnSpc>
            </a:pPr>
            <a:r>
              <a:rPr sz="1250" b="0" i="1">
                <a:solidFill>
                  <a:srgbClr val="8FA3BC"/>
                </a:solidFill>
                <a:latin typeface="Georgia"/>
              </a:rPr>
              <a:t>author on both</a:t>
            </a:r>
          </a:p>
        </p:txBody>
      </p:sp>
      <p:sp>
        <p:nvSpPr>
          <p:cNvPr id="19" name="Rounded Rectangle 18"/>
          <p:cNvSpPr/>
          <p:nvPr/>
        </p:nvSpPr>
        <p:spPr>
          <a:xfrm>
            <a:off x="502920" y="3401568"/>
            <a:ext cx="11186160" cy="548640"/>
          </a:xfrm>
          <a:prstGeom prst="roundRect">
            <a:avLst>
              <a:gd name="adj" fmla="val 4000"/>
            </a:avLst>
          </a:prstGeom>
          <a:solidFill>
            <a:srgbClr val="0C2547"/>
          </a:solidFill>
          <a:ln w="16510">
            <a:solidFill>
              <a:srgbClr val="B686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520440"/>
            <a:ext cx="10820400" cy="411480"/>
          </a:xfrm>
          <a:prstGeom prst="rect">
            <a:avLst/>
          </a:prstGeom>
          <a:noFill/>
        </p:spPr>
        <p:txBody>
          <a:bodyPr wrap="square" lIns="0" rIns="0" tIns="0" bIns="0">
            <a:spAutoFit/>
          </a:bodyPr>
          <a:lstStyle/>
          <a:p>
            <a:pPr algn="l">
              <a:lnSpc>
                <a:spcPct val="115000"/>
              </a:lnSpc>
            </a:pPr>
            <a:r>
              <a:rPr sz="1400" b="0" i="1">
                <a:solidFill>
                  <a:srgbClr val="FFFFFF"/>
                </a:solidFill>
                <a:latin typeface="Georgia"/>
              </a:rPr>
              <a:t>The same question about multinationality and performance, asked of a different population eighteen years later — and Daniela's numbers show it is still the theme the field has looked at least.</a:t>
            </a:r>
          </a:p>
        </p:txBody>
      </p:sp>
      <p:sp>
        <p:nvSpPr>
          <p:cNvPr id="21" name="Rectangle 20"/>
          <p:cNvSpPr/>
          <p:nvPr/>
        </p:nvSpPr>
        <p:spPr>
          <a:xfrm>
            <a:off x="502920" y="4114800"/>
            <a:ext cx="36576" cy="438912"/>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114800"/>
            <a:ext cx="822960" cy="182880"/>
          </a:xfrm>
          <a:prstGeom prst="rect">
            <a:avLst/>
          </a:prstGeom>
          <a:noFill/>
        </p:spPr>
        <p:txBody>
          <a:bodyPr wrap="square" lIns="0" rIns="0" tIns="0" bIns="0">
            <a:spAutoFit/>
          </a:bodyPr>
          <a:lstStyle/>
          <a:p>
            <a:pPr algn="l">
              <a:lnSpc>
                <a:spcPct val="115000"/>
              </a:lnSpc>
            </a:pPr>
            <a:r>
              <a:rPr sz="900" b="1" i="0" spc="130">
                <a:solidFill>
                  <a:srgbClr val="B6862C"/>
                </a:solidFill>
                <a:latin typeface="Consolas"/>
              </a:rPr>
              <a:t>3 SEP</a:t>
            </a:r>
          </a:p>
        </p:txBody>
      </p:sp>
      <p:sp>
        <p:nvSpPr>
          <p:cNvPr id="23" name="TextBox 22"/>
          <p:cNvSpPr txBox="1"/>
          <p:nvPr/>
        </p:nvSpPr>
        <p:spPr>
          <a:xfrm>
            <a:off x="1417320" y="4114800"/>
            <a:ext cx="1828800" cy="182880"/>
          </a:xfrm>
          <a:prstGeom prst="rect">
            <a:avLst/>
          </a:prstGeom>
          <a:noFill/>
        </p:spPr>
        <p:txBody>
          <a:bodyPr wrap="square" lIns="0" rIns="0" tIns="0" bIns="0">
            <a:spAutoFit/>
          </a:bodyPr>
          <a:lstStyle/>
          <a:p>
            <a:pPr algn="l">
              <a:lnSpc>
                <a:spcPct val="115000"/>
              </a:lnSpc>
            </a:pPr>
            <a:r>
              <a:rPr sz="900" b="1" i="0" spc="130">
                <a:solidFill>
                  <a:srgbClr val="8FA3BC"/>
                </a:solidFill>
                <a:latin typeface="Consolas"/>
              </a:rPr>
              <a:t>ENTRY MODE</a:t>
            </a:r>
          </a:p>
        </p:txBody>
      </p:sp>
      <p:sp>
        <p:nvSpPr>
          <p:cNvPr id="24" name="TextBox 23"/>
          <p:cNvSpPr txBox="1"/>
          <p:nvPr/>
        </p:nvSpPr>
        <p:spPr>
          <a:xfrm>
            <a:off x="667512" y="4297680"/>
            <a:ext cx="10820400" cy="274320"/>
          </a:xfrm>
          <a:prstGeom prst="rect">
            <a:avLst/>
          </a:prstGeom>
          <a:noFill/>
        </p:spPr>
        <p:txBody>
          <a:bodyPr wrap="square" lIns="0" rIns="0" tIns="0" bIns="0">
            <a:spAutoFit/>
          </a:bodyPr>
          <a:lstStyle/>
          <a:p>
            <a:pPr algn="l">
              <a:lnSpc>
                <a:spcPct val="115000"/>
              </a:lnSpc>
            </a:pPr>
            <a:r>
              <a:rPr sz="1250" b="0" i="0">
                <a:solidFill>
                  <a:srgbClr val="B8C9D9"/>
                </a:solidFill>
                <a:latin typeface="Georgia"/>
              </a:rPr>
              <a:t>If stage one is negative, mode choice is a decision about how much of that cost to absorb at once.</a:t>
            </a:r>
          </a:p>
        </p:txBody>
      </p:sp>
      <p:sp>
        <p:nvSpPr>
          <p:cNvPr id="25" name="Rectangle 24"/>
          <p:cNvSpPr/>
          <p:nvPr/>
        </p:nvSpPr>
        <p:spPr>
          <a:xfrm>
            <a:off x="502920" y="4663440"/>
            <a:ext cx="36576" cy="438912"/>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663440"/>
            <a:ext cx="822960" cy="182880"/>
          </a:xfrm>
          <a:prstGeom prst="rect">
            <a:avLst/>
          </a:prstGeom>
          <a:noFill/>
        </p:spPr>
        <p:txBody>
          <a:bodyPr wrap="square" lIns="0" rIns="0" tIns="0" bIns="0">
            <a:spAutoFit/>
          </a:bodyPr>
          <a:lstStyle/>
          <a:p>
            <a:pPr algn="l">
              <a:lnSpc>
                <a:spcPct val="115000"/>
              </a:lnSpc>
            </a:pPr>
            <a:r>
              <a:rPr sz="900" b="1" i="0" spc="130">
                <a:solidFill>
                  <a:srgbClr val="B6862C"/>
                </a:solidFill>
                <a:latin typeface="Consolas"/>
              </a:rPr>
              <a:t>24 SEP</a:t>
            </a:r>
          </a:p>
        </p:txBody>
      </p:sp>
      <p:sp>
        <p:nvSpPr>
          <p:cNvPr id="27" name="TextBox 26"/>
          <p:cNvSpPr txBox="1"/>
          <p:nvPr/>
        </p:nvSpPr>
        <p:spPr>
          <a:xfrm>
            <a:off x="1417320" y="4663440"/>
            <a:ext cx="1828800" cy="182880"/>
          </a:xfrm>
          <a:prstGeom prst="rect">
            <a:avLst/>
          </a:prstGeom>
          <a:noFill/>
        </p:spPr>
        <p:txBody>
          <a:bodyPr wrap="square" lIns="0" rIns="0" tIns="0" bIns="0">
            <a:spAutoFit/>
          </a:bodyPr>
          <a:lstStyle/>
          <a:p>
            <a:pPr algn="l">
              <a:lnSpc>
                <a:spcPct val="115000"/>
              </a:lnSpc>
            </a:pPr>
            <a:r>
              <a:rPr sz="900" b="1" i="0" spc="130">
                <a:solidFill>
                  <a:srgbClr val="8FA3BC"/>
                </a:solidFill>
                <a:latin typeface="Consolas"/>
              </a:rPr>
              <a:t>INSTITUTIONS</a:t>
            </a:r>
          </a:p>
        </p:txBody>
      </p:sp>
      <p:sp>
        <p:nvSpPr>
          <p:cNvPr id="28" name="TextBox 27"/>
          <p:cNvSpPr txBox="1"/>
          <p:nvPr/>
        </p:nvSpPr>
        <p:spPr>
          <a:xfrm>
            <a:off x="667512" y="4846320"/>
            <a:ext cx="10820400" cy="274320"/>
          </a:xfrm>
          <a:prstGeom prst="rect">
            <a:avLst/>
          </a:prstGeom>
          <a:noFill/>
        </p:spPr>
        <p:txBody>
          <a:bodyPr wrap="square" lIns="0" rIns="0" tIns="0" bIns="0">
            <a:spAutoFit/>
          </a:bodyPr>
          <a:lstStyle/>
          <a:p>
            <a:pPr algn="l">
              <a:lnSpc>
                <a:spcPct val="115000"/>
              </a:lnSpc>
            </a:pPr>
            <a:r>
              <a:rPr sz="1250" b="0" i="0">
                <a:solidFill>
                  <a:srgbClr val="B8C9D9"/>
                </a:solidFill>
                <a:latin typeface="Georgia"/>
              </a:rPr>
              <a:t>CAGE is a pre-Hofstede way of saying what that session says with formal distance measures.</a:t>
            </a:r>
          </a:p>
        </p:txBody>
      </p:sp>
      <p:sp>
        <p:nvSpPr>
          <p:cNvPr id="29" name="Rectangle 28"/>
          <p:cNvSpPr/>
          <p:nvPr/>
        </p:nvSpPr>
        <p:spPr>
          <a:xfrm>
            <a:off x="502920" y="6382512"/>
            <a:ext cx="11186160" cy="9525"/>
          </a:xfrm>
          <a:prstGeom prst="rect">
            <a:avLst/>
          </a:prstGeom>
          <a:solidFill>
            <a:srgbClr val="1B32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455664"/>
            <a:ext cx="3657600" cy="182880"/>
          </a:xfrm>
          <a:prstGeom prst="rect">
            <a:avLst/>
          </a:prstGeom>
          <a:noFill/>
        </p:spPr>
        <p:txBody>
          <a:bodyPr wrap="square" lIns="0" rIns="0" tIns="0" bIns="0">
            <a:spAutoFit/>
          </a:bodyPr>
          <a:lstStyle/>
          <a:p>
            <a:pPr algn="l">
              <a:lnSpc>
                <a:spcPct val="115000"/>
              </a:lnSpc>
            </a:pPr>
            <a:r>
              <a:rPr sz="850" b="1" i="0">
                <a:solidFill>
                  <a:srgbClr val="7E93A8"/>
                </a:solidFill>
                <a:latin typeface="Consolas"/>
              </a:rPr>
              <a:t>Yasir A. Malik  ·  Cohort 8.14</a:t>
            </a:r>
          </a:p>
        </p:txBody>
      </p:sp>
      <p:sp>
        <p:nvSpPr>
          <p:cNvPr id="31" name="TextBox 30"/>
          <p:cNvSpPr txBox="1"/>
          <p:nvPr/>
        </p:nvSpPr>
        <p:spPr>
          <a:xfrm>
            <a:off x="4160520" y="6455664"/>
            <a:ext cx="3931920" cy="182880"/>
          </a:xfrm>
          <a:prstGeom prst="rect">
            <a:avLst/>
          </a:prstGeom>
          <a:noFill/>
        </p:spPr>
        <p:txBody>
          <a:bodyPr wrap="square" lIns="0" rIns="0" tIns="0" bIns="0">
            <a:spAutoFit/>
          </a:bodyPr>
          <a:lstStyle/>
          <a:p>
            <a:pPr algn="ctr">
              <a:lnSpc>
                <a:spcPct val="115000"/>
              </a:lnSpc>
            </a:pPr>
            <a:r>
              <a:rPr sz="850" b="0" i="0">
                <a:solidFill>
                  <a:srgbClr val="7E93A8"/>
                </a:solidFill>
                <a:latin typeface="Consolas"/>
              </a:rPr>
              <a:t>GEB 7365  ·  Module 2  ·  27 August 2026</a:t>
            </a:r>
          </a:p>
        </p:txBody>
      </p:sp>
      <p:sp>
        <p:nvSpPr>
          <p:cNvPr id="32" name="TextBox 31"/>
          <p:cNvSpPr txBox="1"/>
          <p:nvPr/>
        </p:nvSpPr>
        <p:spPr>
          <a:xfrm>
            <a:off x="10774680" y="6455664"/>
            <a:ext cx="914400" cy="182880"/>
          </a:xfrm>
          <a:prstGeom prst="rect">
            <a:avLst/>
          </a:prstGeom>
          <a:noFill/>
        </p:spPr>
        <p:txBody>
          <a:bodyPr wrap="square" lIns="0" rIns="0" tIns="0" bIns="0">
            <a:spAutoFit/>
          </a:bodyPr>
          <a:lstStyle/>
          <a:p>
            <a:pPr algn="r">
              <a:lnSpc>
                <a:spcPct val="115000"/>
              </a:lnSpc>
            </a:pPr>
            <a:r>
              <a:rPr sz="850" b="1" i="0">
                <a:solidFill>
                  <a:srgbClr val="B6862C"/>
                </a:solidFill>
                <a:latin typeface="Consola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u-seal.png"/>
          <p:cNvPicPr>
            <a:picLocks noChangeAspect="1"/>
          </p:cNvPicPr>
          <p:nvPr/>
        </p:nvPicPr>
        <p:blipFill>
          <a:blip r:embed="rId2"/>
          <a:stretch>
            <a:fillRect/>
          </a:stretch>
        </p:blipFill>
        <p:spPr>
          <a:xfrm>
            <a:off x="502920" y="274320"/>
            <a:ext cx="403347" cy="384048"/>
          </a:xfrm>
          <a:prstGeom prst="rect">
            <a:avLst/>
          </a:prstGeom>
        </p:spPr>
      </p:pic>
      <p:sp>
        <p:nvSpPr>
          <p:cNvPr id="4" name="TextBox 3"/>
          <p:cNvSpPr txBox="1"/>
          <p:nvPr/>
        </p:nvSpPr>
        <p:spPr>
          <a:xfrm>
            <a:off x="1005840" y="274320"/>
            <a:ext cx="5486400" cy="182880"/>
          </a:xfrm>
          <a:prstGeom prst="rect">
            <a:avLst/>
          </a:prstGeom>
          <a:noFill/>
        </p:spPr>
        <p:txBody>
          <a:bodyPr wrap="square" lIns="0" rIns="0" tIns="0" bIns="0">
            <a:spAutoFit/>
          </a:bodyPr>
          <a:lstStyle/>
          <a:p>
            <a:pPr algn="l">
              <a:lnSpc>
                <a:spcPct val="115000"/>
              </a:lnSpc>
            </a:pPr>
            <a:r>
              <a:rPr sz="950" b="1" i="0" spc="190">
                <a:solidFill>
                  <a:srgbClr val="081E3F"/>
                </a:solidFill>
                <a:latin typeface="Consolas"/>
              </a:rPr>
              <a:t>FLORIDA INTERNATIONAL UNIVERSITY</a:t>
            </a:r>
          </a:p>
        </p:txBody>
      </p:sp>
      <p:sp>
        <p:nvSpPr>
          <p:cNvPr id="5" name="TextBox 4"/>
          <p:cNvSpPr txBox="1"/>
          <p:nvPr/>
        </p:nvSpPr>
        <p:spPr>
          <a:xfrm>
            <a:off x="1005840" y="457200"/>
            <a:ext cx="6400800" cy="182880"/>
          </a:xfrm>
          <a:prstGeom prst="rect">
            <a:avLst/>
          </a:prstGeom>
          <a:noFill/>
        </p:spPr>
        <p:txBody>
          <a:bodyPr wrap="square" lIns="0" rIns="0" tIns="0" bIns="0">
            <a:spAutoFit/>
          </a:bodyPr>
          <a:lstStyle/>
          <a:p>
            <a:pPr algn="l">
              <a:lnSpc>
                <a:spcPct val="115000"/>
              </a:lnSpc>
            </a:pPr>
            <a:r>
              <a:rPr sz="1000" b="0" i="0">
                <a:solidFill>
                  <a:srgbClr val="767D86"/>
                </a:solidFill>
                <a:latin typeface="Georgia"/>
              </a:rPr>
              <a:t>Chapman Graduate School of Business  ·  Doctor of Business Administration</a:t>
            </a:r>
          </a:p>
        </p:txBody>
      </p:sp>
      <p:sp>
        <p:nvSpPr>
          <p:cNvPr id="6" name="TextBox 5"/>
          <p:cNvSpPr txBox="1"/>
          <p:nvPr/>
        </p:nvSpPr>
        <p:spPr>
          <a:xfrm>
            <a:off x="502920" y="960120"/>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APPENDIX A  ·  BACKUP — ONLY IF ASKED</a:t>
            </a:r>
          </a:p>
        </p:txBody>
      </p:sp>
      <p:sp>
        <p:nvSpPr>
          <p:cNvPr id="7" name="TextBox 6"/>
          <p:cNvSpPr txBox="1"/>
          <p:nvPr/>
        </p:nvSpPr>
        <p:spPr>
          <a:xfrm>
            <a:off x="502920" y="1170432"/>
            <a:ext cx="11186160" cy="574495"/>
          </a:xfrm>
          <a:prstGeom prst="rect">
            <a:avLst/>
          </a:prstGeom>
          <a:noFill/>
        </p:spPr>
        <p:txBody>
          <a:bodyPr wrap="square" lIns="0" rIns="0" tIns="0" bIns="0">
            <a:spAutoFit/>
          </a:bodyPr>
          <a:lstStyle/>
          <a:p>
            <a:pPr algn="l">
              <a:lnSpc>
                <a:spcPct val="112000"/>
              </a:lnSpc>
            </a:pPr>
            <a:r>
              <a:rPr sz="2800" b="1" i="0">
                <a:solidFill>
                  <a:srgbClr val="14171C"/>
                </a:solidFill>
                <a:latin typeface="Georgia"/>
              </a:rPr>
              <a:t>The same error, in my own study.</a:t>
            </a:r>
          </a:p>
        </p:txBody>
      </p:sp>
      <p:sp>
        <p:nvSpPr>
          <p:cNvPr id="8" name="Rounded Rectangle 7"/>
          <p:cNvSpPr/>
          <p:nvPr/>
        </p:nvSpPr>
        <p:spPr>
          <a:xfrm>
            <a:off x="502920" y="1847088"/>
            <a:ext cx="11186160" cy="512064"/>
          </a:xfrm>
          <a:prstGeom prst="roundRect">
            <a:avLst>
              <a:gd name="adj" fmla="val 4000"/>
            </a:avLst>
          </a:prstGeom>
          <a:solidFill>
            <a:srgbClr val="E8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56816"/>
            <a:ext cx="10820400" cy="365760"/>
          </a:xfrm>
          <a:prstGeom prst="rect">
            <a:avLst/>
          </a:prstGeom>
          <a:noFill/>
        </p:spPr>
        <p:txBody>
          <a:bodyPr wrap="square" lIns="0" rIns="0" tIns="0" bIns="0">
            <a:spAutoFit/>
          </a:bodyPr>
          <a:lstStyle/>
          <a:p>
            <a:pPr algn="l">
              <a:lnSpc>
                <a:spcPct val="115000"/>
              </a:lnSpc>
            </a:pPr>
            <a:r>
              <a:rPr sz="1350" b="0" i="0">
                <a:solidFill>
                  <a:srgbClr val="454B54"/>
                </a:solidFill>
                <a:latin typeface="Georgia"/>
              </a:rPr>
              <a:t>Tversky &amp; Kahneman (1974) — a wheel of fortune gave subjects 10 or 65 before they estimated the share of African countries in the UN. Median answers: 25 and 45.</a:t>
            </a:r>
          </a:p>
        </p:txBody>
      </p:sp>
      <p:sp>
        <p:nvSpPr>
          <p:cNvPr id="10" name="Rounded Rectangle 9"/>
          <p:cNvSpPr/>
          <p:nvPr/>
        </p:nvSpPr>
        <p:spPr>
          <a:xfrm>
            <a:off x="502920" y="2542032"/>
            <a:ext cx="5455920" cy="1691640"/>
          </a:xfrm>
          <a:prstGeom prst="roundRect">
            <a:avLst>
              <a:gd name="adj" fmla="val 4000"/>
            </a:avLst>
          </a:prstGeom>
          <a:solidFill>
            <a:srgbClr val="FFFFFF"/>
          </a:solidFill>
          <a:ln w="12700">
            <a:solidFill>
              <a:srgbClr val="DDD7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542032"/>
            <a:ext cx="5455920" cy="54864"/>
          </a:xfrm>
          <a:prstGeom prst="rect">
            <a:avLst/>
          </a:prstGeom>
          <a:solidFill>
            <a:srgbClr val="08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24912"/>
            <a:ext cx="5090160" cy="182880"/>
          </a:xfrm>
          <a:prstGeom prst="rect">
            <a:avLst/>
          </a:prstGeom>
          <a:noFill/>
        </p:spPr>
        <p:txBody>
          <a:bodyPr wrap="square" lIns="0" rIns="0" tIns="0" bIns="0">
            <a:spAutoFit/>
          </a:bodyPr>
          <a:lstStyle/>
          <a:p>
            <a:pPr algn="l">
              <a:lnSpc>
                <a:spcPct val="115000"/>
              </a:lnSpc>
            </a:pPr>
            <a:r>
              <a:rPr sz="900" b="1" i="0" spc="120">
                <a:solidFill>
                  <a:srgbClr val="081E3F"/>
                </a:solidFill>
                <a:latin typeface="Consolas"/>
              </a:rPr>
              <a:t>WHAT MY MODEL MEASURES</a:t>
            </a:r>
          </a:p>
        </p:txBody>
      </p:sp>
      <p:sp>
        <p:nvSpPr>
          <p:cNvPr id="13" name="TextBox 12"/>
          <p:cNvSpPr txBox="1"/>
          <p:nvPr/>
        </p:nvSpPr>
        <p:spPr>
          <a:xfrm>
            <a:off x="685800" y="2926080"/>
            <a:ext cx="5090160" cy="118872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Eight organisational interventions — training, rotation, analytical tools, structured processes, feedback, independent review, regulatory guidance, incentives — against anchoring bias, with expertise and confidence as moderators.</a:t>
            </a:r>
          </a:p>
        </p:txBody>
      </p:sp>
      <p:sp>
        <p:nvSpPr>
          <p:cNvPr id="14" name="Rounded Rectangle 13"/>
          <p:cNvSpPr/>
          <p:nvPr/>
        </p:nvSpPr>
        <p:spPr>
          <a:xfrm>
            <a:off x="6233160" y="2542032"/>
            <a:ext cx="5455920" cy="1691640"/>
          </a:xfrm>
          <a:prstGeom prst="roundRect">
            <a:avLst>
              <a:gd name="adj" fmla="val 4000"/>
            </a:avLst>
          </a:prstGeom>
          <a:solidFill>
            <a:srgbClr val="FFFFFF"/>
          </a:solidFill>
          <a:ln w="20320">
            <a:solidFill>
              <a:srgbClr val="8C3A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3160" y="2542032"/>
            <a:ext cx="5455920" cy="54864"/>
          </a:xfrm>
          <a:prstGeom prst="rect">
            <a:avLst/>
          </a:prstGeom>
          <a:solidFill>
            <a:srgbClr val="8C3A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6040" y="2724912"/>
            <a:ext cx="5090160" cy="182880"/>
          </a:xfrm>
          <a:prstGeom prst="rect">
            <a:avLst/>
          </a:prstGeom>
          <a:noFill/>
        </p:spPr>
        <p:txBody>
          <a:bodyPr wrap="square" lIns="0" rIns="0" tIns="0" bIns="0">
            <a:spAutoFit/>
          </a:bodyPr>
          <a:lstStyle/>
          <a:p>
            <a:pPr algn="l">
              <a:lnSpc>
                <a:spcPct val="115000"/>
              </a:lnSpc>
            </a:pPr>
            <a:r>
              <a:rPr sz="900" b="1" i="0" spc="120">
                <a:solidFill>
                  <a:srgbClr val="8C3A1B"/>
                </a:solidFill>
                <a:latin typeface="Consolas"/>
              </a:rPr>
              <a:t>WHAT IT ACTUALLY MEASURES</a:t>
            </a:r>
          </a:p>
        </p:txBody>
      </p:sp>
      <p:sp>
        <p:nvSpPr>
          <p:cNvPr id="17" name="TextBox 16"/>
          <p:cNvSpPr txBox="1"/>
          <p:nvPr/>
        </p:nvSpPr>
        <p:spPr>
          <a:xfrm>
            <a:off x="6416040" y="2926080"/>
            <a:ext cx="5090160" cy="91440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Anchoring bias is captured by self-report, reverse-coded. It asks auditors to report how far their judgment was driven by a reference point — the one thing the bias reliably prevents them from noticing.</a:t>
            </a:r>
          </a:p>
        </p:txBody>
      </p:sp>
      <p:sp>
        <p:nvSpPr>
          <p:cNvPr id="18" name="TextBox 17"/>
          <p:cNvSpPr txBox="1"/>
          <p:nvPr/>
        </p:nvSpPr>
        <p:spPr>
          <a:xfrm>
            <a:off x="6416040" y="3877056"/>
            <a:ext cx="5090160" cy="274320"/>
          </a:xfrm>
          <a:prstGeom prst="rect">
            <a:avLst/>
          </a:prstGeom>
          <a:noFill/>
        </p:spPr>
        <p:txBody>
          <a:bodyPr wrap="square" lIns="0" rIns="0" tIns="0" bIns="0">
            <a:spAutoFit/>
          </a:bodyPr>
          <a:lstStyle/>
          <a:p>
            <a:pPr algn="l">
              <a:lnSpc>
                <a:spcPct val="115000"/>
              </a:lnSpc>
            </a:pPr>
            <a:r>
              <a:rPr sz="1150" b="0" i="1">
                <a:solidFill>
                  <a:srgbClr val="8C3A1B"/>
                </a:solidFill>
                <a:latin typeface="Georgia"/>
              </a:rPr>
              <a:t>Perceived judgment discipline, described as anchoring reduction.</a:t>
            </a:r>
          </a:p>
        </p:txBody>
      </p:sp>
      <p:sp>
        <p:nvSpPr>
          <p:cNvPr id="19" name="Rounded Rectangle 18"/>
          <p:cNvSpPr/>
          <p:nvPr/>
        </p:nvSpPr>
        <p:spPr>
          <a:xfrm>
            <a:off x="502920" y="4370832"/>
            <a:ext cx="11186160" cy="548640"/>
          </a:xfrm>
          <a:prstGeom prst="roundRect">
            <a:avLst>
              <a:gd name="adj" fmla="val 4000"/>
            </a:avLst>
          </a:prstGeom>
          <a:solidFill>
            <a:srgbClr val="FAF3E4"/>
          </a:solidFill>
          <a:ln w="12700">
            <a:solidFill>
              <a:srgbClr val="E4D3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80560"/>
            <a:ext cx="10820400" cy="411480"/>
          </a:xfrm>
          <a:prstGeom prst="rect">
            <a:avLst/>
          </a:prstGeom>
          <a:noFill/>
        </p:spPr>
        <p:txBody>
          <a:bodyPr wrap="square" lIns="0" rIns="0" tIns="0" bIns="0">
            <a:spAutoFit/>
          </a:bodyPr>
          <a:lstStyle/>
          <a:p>
            <a:pPr algn="l">
              <a:lnSpc>
                <a:spcPct val="115000"/>
              </a:lnSpc>
            </a:pPr>
            <a:r>
              <a:rPr sz="1400" b="0" i="1">
                <a:solidFill>
                  <a:srgbClr val="14171C"/>
                </a:solidFill>
                <a:latin typeface="Georgia"/>
              </a:rPr>
              <a:t>Contractor measured segments of a curve. Mezias's field measured aggregate performance. I measured self-reported bias resistance. Three instances of the same error, and one of them is mine.</a:t>
            </a:r>
          </a:p>
        </p:txBody>
      </p:sp>
      <p:sp>
        <p:nvSpPr>
          <p:cNvPr id="21" name="TextBox 20"/>
          <p:cNvSpPr txBox="1"/>
          <p:nvPr/>
        </p:nvSpPr>
        <p:spPr>
          <a:xfrm>
            <a:off x="502920" y="5010912"/>
            <a:ext cx="11186160" cy="182880"/>
          </a:xfrm>
          <a:prstGeom prst="rect">
            <a:avLst/>
          </a:prstGeom>
          <a:noFill/>
        </p:spPr>
        <p:txBody>
          <a:bodyPr wrap="square" lIns="0" rIns="0" tIns="0" bIns="0">
            <a:spAutoFit/>
          </a:bodyPr>
          <a:lstStyle/>
          <a:p>
            <a:pPr algn="l">
              <a:lnSpc>
                <a:spcPct val="115000"/>
              </a:lnSpc>
            </a:pPr>
            <a:r>
              <a:rPr sz="850" b="1" i="0" spc="90">
                <a:solidFill>
                  <a:srgbClr val="081E3F"/>
                </a:solidFill>
                <a:latin typeface="Consolas"/>
              </a:rPr>
              <a:t>→ TVERSKY &amp; KAHNEMAN ALREADY WARNED ME: “PAYOFFS FOR ACCURACY DID NOT REDUCE THE ANCHORING EFFECT.”</a:t>
            </a:r>
          </a:p>
        </p:txBody>
      </p:sp>
      <p:sp>
        <p:nvSpPr>
          <p:cNvPr id="22" name="Rectangle 21"/>
          <p:cNvSpPr/>
          <p:nvPr/>
        </p:nvSpPr>
        <p:spPr>
          <a:xfrm>
            <a:off x="502920" y="6382512"/>
            <a:ext cx="11186160" cy="9525"/>
          </a:xfrm>
          <a:prstGeom prst="rect">
            <a:avLst/>
          </a:prstGeom>
          <a:solidFill>
            <a:srgbClr val="DD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455664"/>
            <a:ext cx="3657600" cy="182880"/>
          </a:xfrm>
          <a:prstGeom prst="rect">
            <a:avLst/>
          </a:prstGeom>
          <a:noFill/>
        </p:spPr>
        <p:txBody>
          <a:bodyPr wrap="square" lIns="0" rIns="0" tIns="0" bIns="0">
            <a:spAutoFit/>
          </a:bodyPr>
          <a:lstStyle/>
          <a:p>
            <a:pPr algn="l">
              <a:lnSpc>
                <a:spcPct val="115000"/>
              </a:lnSpc>
            </a:pPr>
            <a:r>
              <a:rPr sz="850" b="1" i="0">
                <a:solidFill>
                  <a:srgbClr val="767D86"/>
                </a:solidFill>
                <a:latin typeface="Consolas"/>
              </a:rPr>
              <a:t>Yasir A. Malik  ·  Cohort 8.14</a:t>
            </a:r>
          </a:p>
        </p:txBody>
      </p:sp>
      <p:sp>
        <p:nvSpPr>
          <p:cNvPr id="24" name="TextBox 23"/>
          <p:cNvSpPr txBox="1"/>
          <p:nvPr/>
        </p:nvSpPr>
        <p:spPr>
          <a:xfrm>
            <a:off x="4160520" y="6455664"/>
            <a:ext cx="3931920" cy="182880"/>
          </a:xfrm>
          <a:prstGeom prst="rect">
            <a:avLst/>
          </a:prstGeom>
          <a:noFill/>
        </p:spPr>
        <p:txBody>
          <a:bodyPr wrap="square" lIns="0" rIns="0" tIns="0" bIns="0">
            <a:spAutoFit/>
          </a:bodyPr>
          <a:lstStyle/>
          <a:p>
            <a:pPr algn="ctr">
              <a:lnSpc>
                <a:spcPct val="115000"/>
              </a:lnSpc>
            </a:pPr>
            <a:r>
              <a:rPr sz="850" b="0" i="0">
                <a:solidFill>
                  <a:srgbClr val="767D86"/>
                </a:solidFill>
                <a:latin typeface="Consolas"/>
              </a:rPr>
              <a:t>GEB 7365  ·  Module 2  ·  27 August 2026</a:t>
            </a:r>
          </a:p>
        </p:txBody>
      </p:sp>
      <p:sp>
        <p:nvSpPr>
          <p:cNvPr id="25" name="TextBox 24"/>
          <p:cNvSpPr txBox="1"/>
          <p:nvPr/>
        </p:nvSpPr>
        <p:spPr>
          <a:xfrm>
            <a:off x="10774680" y="6455664"/>
            <a:ext cx="914400" cy="182880"/>
          </a:xfrm>
          <a:prstGeom prst="rect">
            <a:avLst/>
          </a:prstGeom>
          <a:noFill/>
        </p:spPr>
        <p:txBody>
          <a:bodyPr wrap="square" lIns="0" rIns="0" tIns="0" bIns="0">
            <a:spAutoFit/>
          </a:bodyPr>
          <a:lstStyle/>
          <a:p>
            <a:pPr algn="r">
              <a:lnSpc>
                <a:spcPct val="115000"/>
              </a:lnSpc>
            </a:pPr>
            <a:r>
              <a:rPr sz="850" b="1" i="0">
                <a:solidFill>
                  <a:srgbClr val="B6862C"/>
                </a:solidFill>
                <a:latin typeface="Consola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u-seal.png"/>
          <p:cNvPicPr>
            <a:picLocks noChangeAspect="1"/>
          </p:cNvPicPr>
          <p:nvPr/>
        </p:nvPicPr>
        <p:blipFill>
          <a:blip r:embed="rId2"/>
          <a:stretch>
            <a:fillRect/>
          </a:stretch>
        </p:blipFill>
        <p:spPr>
          <a:xfrm>
            <a:off x="502920" y="274320"/>
            <a:ext cx="403347" cy="384048"/>
          </a:xfrm>
          <a:prstGeom prst="rect">
            <a:avLst/>
          </a:prstGeom>
        </p:spPr>
      </p:pic>
      <p:sp>
        <p:nvSpPr>
          <p:cNvPr id="4" name="TextBox 3"/>
          <p:cNvSpPr txBox="1"/>
          <p:nvPr/>
        </p:nvSpPr>
        <p:spPr>
          <a:xfrm>
            <a:off x="1005840" y="274320"/>
            <a:ext cx="5486400" cy="182880"/>
          </a:xfrm>
          <a:prstGeom prst="rect">
            <a:avLst/>
          </a:prstGeom>
          <a:noFill/>
        </p:spPr>
        <p:txBody>
          <a:bodyPr wrap="square" lIns="0" rIns="0" tIns="0" bIns="0">
            <a:spAutoFit/>
          </a:bodyPr>
          <a:lstStyle/>
          <a:p>
            <a:pPr algn="l">
              <a:lnSpc>
                <a:spcPct val="115000"/>
              </a:lnSpc>
            </a:pPr>
            <a:r>
              <a:rPr sz="950" b="1" i="0" spc="190">
                <a:solidFill>
                  <a:srgbClr val="081E3F"/>
                </a:solidFill>
                <a:latin typeface="Consolas"/>
              </a:rPr>
              <a:t>FLORIDA INTERNATIONAL UNIVERSITY</a:t>
            </a:r>
          </a:p>
        </p:txBody>
      </p:sp>
      <p:sp>
        <p:nvSpPr>
          <p:cNvPr id="5" name="TextBox 4"/>
          <p:cNvSpPr txBox="1"/>
          <p:nvPr/>
        </p:nvSpPr>
        <p:spPr>
          <a:xfrm>
            <a:off x="1005840" y="457200"/>
            <a:ext cx="6400800" cy="182880"/>
          </a:xfrm>
          <a:prstGeom prst="rect">
            <a:avLst/>
          </a:prstGeom>
          <a:noFill/>
        </p:spPr>
        <p:txBody>
          <a:bodyPr wrap="square" lIns="0" rIns="0" tIns="0" bIns="0">
            <a:spAutoFit/>
          </a:bodyPr>
          <a:lstStyle/>
          <a:p>
            <a:pPr algn="l">
              <a:lnSpc>
                <a:spcPct val="115000"/>
              </a:lnSpc>
            </a:pPr>
            <a:r>
              <a:rPr sz="1000" b="0" i="0">
                <a:solidFill>
                  <a:srgbClr val="767D86"/>
                </a:solidFill>
                <a:latin typeface="Georgia"/>
              </a:rPr>
              <a:t>Chapman Graduate School of Business  ·  Doctor of Business Administration</a:t>
            </a:r>
          </a:p>
        </p:txBody>
      </p:sp>
      <p:sp>
        <p:nvSpPr>
          <p:cNvPr id="6" name="TextBox 5"/>
          <p:cNvSpPr txBox="1"/>
          <p:nvPr/>
        </p:nvSpPr>
        <p:spPr>
          <a:xfrm>
            <a:off x="502920" y="960120"/>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APPENDIX B  ·  EVERY QUOTE AND FIGURE, WITH ITS PAGE</a:t>
            </a:r>
          </a:p>
        </p:txBody>
      </p:sp>
      <p:sp>
        <p:nvSpPr>
          <p:cNvPr id="7" name="TextBox 6"/>
          <p:cNvSpPr txBox="1"/>
          <p:nvPr/>
        </p:nvSpPr>
        <p:spPr>
          <a:xfrm>
            <a:off x="502920" y="1170432"/>
            <a:ext cx="11186160" cy="574495"/>
          </a:xfrm>
          <a:prstGeom prst="rect">
            <a:avLst/>
          </a:prstGeom>
          <a:noFill/>
        </p:spPr>
        <p:txBody>
          <a:bodyPr wrap="square" lIns="0" rIns="0" tIns="0" bIns="0">
            <a:spAutoFit/>
          </a:bodyPr>
          <a:lstStyle/>
          <a:p>
            <a:pPr algn="l">
              <a:lnSpc>
                <a:spcPct val="112000"/>
              </a:lnSpc>
            </a:pPr>
            <a:r>
              <a:rPr sz="2800" b="1" i="0">
                <a:solidFill>
                  <a:srgbClr val="14171C"/>
                </a:solidFill>
                <a:latin typeface="Georgia"/>
              </a:rPr>
              <a:t>Verification record.</a:t>
            </a:r>
          </a:p>
        </p:txBody>
      </p:sp>
      <p:sp>
        <p:nvSpPr>
          <p:cNvPr id="8" name="TextBox 7"/>
          <p:cNvSpPr txBox="1"/>
          <p:nvPr/>
        </p:nvSpPr>
        <p:spPr>
          <a:xfrm>
            <a:off x="594360" y="1920240"/>
            <a:ext cx="658368" cy="182880"/>
          </a:xfrm>
          <a:prstGeom prst="rect">
            <a:avLst/>
          </a:prstGeom>
          <a:noFill/>
        </p:spPr>
        <p:txBody>
          <a:bodyPr wrap="square" lIns="0" rIns="0" tIns="0" bIns="0">
            <a:spAutoFit/>
          </a:bodyPr>
          <a:lstStyle/>
          <a:p>
            <a:pPr algn="l">
              <a:lnSpc>
                <a:spcPct val="115000"/>
              </a:lnSpc>
            </a:pPr>
            <a:r>
              <a:rPr sz="850" b="1" i="0" spc="120">
                <a:solidFill>
                  <a:srgbClr val="767D86"/>
                </a:solidFill>
                <a:latin typeface="Consolas"/>
              </a:rPr>
              <a:t>SLIDE</a:t>
            </a:r>
          </a:p>
        </p:txBody>
      </p:sp>
      <p:sp>
        <p:nvSpPr>
          <p:cNvPr id="9" name="TextBox 8"/>
          <p:cNvSpPr txBox="1"/>
          <p:nvPr/>
        </p:nvSpPr>
        <p:spPr>
          <a:xfrm>
            <a:off x="1371600" y="1920240"/>
            <a:ext cx="1280160" cy="182880"/>
          </a:xfrm>
          <a:prstGeom prst="rect">
            <a:avLst/>
          </a:prstGeom>
          <a:noFill/>
        </p:spPr>
        <p:txBody>
          <a:bodyPr wrap="square" lIns="0" rIns="0" tIns="0" bIns="0">
            <a:spAutoFit/>
          </a:bodyPr>
          <a:lstStyle/>
          <a:p>
            <a:pPr algn="l">
              <a:lnSpc>
                <a:spcPct val="115000"/>
              </a:lnSpc>
            </a:pPr>
            <a:r>
              <a:rPr sz="850" b="1" i="0" spc="120">
                <a:solidFill>
                  <a:srgbClr val="767D86"/>
                </a:solidFill>
                <a:latin typeface="Consolas"/>
              </a:rPr>
              <a:t>CLAIM</a:t>
            </a:r>
          </a:p>
        </p:txBody>
      </p:sp>
      <p:sp>
        <p:nvSpPr>
          <p:cNvPr id="10" name="TextBox 9"/>
          <p:cNvSpPr txBox="1"/>
          <p:nvPr/>
        </p:nvSpPr>
        <p:spPr>
          <a:xfrm>
            <a:off x="6355080" y="1920240"/>
            <a:ext cx="1280160" cy="182880"/>
          </a:xfrm>
          <a:prstGeom prst="rect">
            <a:avLst/>
          </a:prstGeom>
          <a:noFill/>
        </p:spPr>
        <p:txBody>
          <a:bodyPr wrap="square" lIns="0" rIns="0" tIns="0" bIns="0">
            <a:spAutoFit/>
          </a:bodyPr>
          <a:lstStyle/>
          <a:p>
            <a:pPr algn="l">
              <a:lnSpc>
                <a:spcPct val="115000"/>
              </a:lnSpc>
            </a:pPr>
            <a:r>
              <a:rPr sz="850" b="1" i="0" spc="120">
                <a:solidFill>
                  <a:srgbClr val="767D86"/>
                </a:solidFill>
                <a:latin typeface="Consolas"/>
              </a:rPr>
              <a:t>SOURCE</a:t>
            </a:r>
          </a:p>
        </p:txBody>
      </p:sp>
      <p:sp>
        <p:nvSpPr>
          <p:cNvPr id="11" name="TextBox 10"/>
          <p:cNvSpPr txBox="1"/>
          <p:nvPr/>
        </p:nvSpPr>
        <p:spPr>
          <a:xfrm>
            <a:off x="9189720" y="1920240"/>
            <a:ext cx="1280160" cy="182880"/>
          </a:xfrm>
          <a:prstGeom prst="rect">
            <a:avLst/>
          </a:prstGeom>
          <a:noFill/>
        </p:spPr>
        <p:txBody>
          <a:bodyPr wrap="square" lIns="0" rIns="0" tIns="0" bIns="0">
            <a:spAutoFit/>
          </a:bodyPr>
          <a:lstStyle/>
          <a:p>
            <a:pPr algn="l">
              <a:lnSpc>
                <a:spcPct val="115000"/>
              </a:lnSpc>
            </a:pPr>
            <a:r>
              <a:rPr sz="850" b="1" i="0" spc="120">
                <a:solidFill>
                  <a:srgbClr val="767D86"/>
                </a:solidFill>
                <a:latin typeface="Consolas"/>
              </a:rPr>
              <a:t>CHECKED</a:t>
            </a:r>
          </a:p>
        </p:txBody>
      </p:sp>
      <p:sp>
        <p:nvSpPr>
          <p:cNvPr id="12" name="Rectangle 11"/>
          <p:cNvSpPr/>
          <p:nvPr/>
        </p:nvSpPr>
        <p:spPr>
          <a:xfrm>
            <a:off x="502920" y="2103120"/>
            <a:ext cx="11186160" cy="9525"/>
          </a:xfrm>
          <a:prstGeom prst="rect">
            <a:avLst/>
          </a:prstGeom>
          <a:solidFill>
            <a:srgbClr val="DD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21284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11</a:t>
            </a:r>
          </a:p>
        </p:txBody>
      </p:sp>
      <p:sp>
        <p:nvSpPr>
          <p:cNvPr id="14" name="TextBox 13"/>
          <p:cNvSpPr txBox="1"/>
          <p:nvPr/>
        </p:nvSpPr>
        <p:spPr>
          <a:xfrm>
            <a:off x="1371600" y="221284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Sigmoid, three stages; four findings are segments of one curve</a:t>
            </a:r>
          </a:p>
        </p:txBody>
      </p:sp>
      <p:sp>
        <p:nvSpPr>
          <p:cNvPr id="15" name="TextBox 14"/>
          <p:cNvSpPr txBox="1"/>
          <p:nvPr/>
        </p:nvSpPr>
        <p:spPr>
          <a:xfrm>
            <a:off x="6355080" y="221284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Contractor p.7, Fig. 1</a:t>
            </a:r>
          </a:p>
        </p:txBody>
      </p:sp>
      <p:sp>
        <p:nvSpPr>
          <p:cNvPr id="16" name="TextBox 15"/>
          <p:cNvSpPr txBox="1"/>
          <p:nvPr/>
        </p:nvSpPr>
        <p:spPr>
          <a:xfrm>
            <a:off x="9189720" y="221284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17" name="Rectangle 16"/>
          <p:cNvSpPr/>
          <p:nvPr/>
        </p:nvSpPr>
        <p:spPr>
          <a:xfrm>
            <a:off x="502920" y="241401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246430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11</a:t>
            </a:r>
          </a:p>
        </p:txBody>
      </p:sp>
      <p:sp>
        <p:nvSpPr>
          <p:cNvPr id="19" name="TextBox 18"/>
          <p:cNvSpPr txBox="1"/>
          <p:nvPr/>
        </p:nvSpPr>
        <p:spPr>
          <a:xfrm>
            <a:off x="1371600" y="246430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“Depending on which part of Figure 1 we examined…”</a:t>
            </a:r>
          </a:p>
        </p:txBody>
      </p:sp>
      <p:sp>
        <p:nvSpPr>
          <p:cNvPr id="20" name="TextBox 19"/>
          <p:cNvSpPr txBox="1"/>
          <p:nvPr/>
        </p:nvSpPr>
        <p:spPr>
          <a:xfrm>
            <a:off x="6355080" y="246430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Contractor p.7</a:t>
            </a:r>
          </a:p>
        </p:txBody>
      </p:sp>
      <p:sp>
        <p:nvSpPr>
          <p:cNvPr id="21" name="TextBox 20"/>
          <p:cNvSpPr txBox="1"/>
          <p:nvPr/>
        </p:nvSpPr>
        <p:spPr>
          <a:xfrm>
            <a:off x="9189720" y="246430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22" name="Rectangle 21"/>
          <p:cNvSpPr/>
          <p:nvPr/>
        </p:nvSpPr>
        <p:spPr>
          <a:xfrm>
            <a:off x="502920" y="266547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271576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12</a:t>
            </a:r>
          </a:p>
        </p:txBody>
      </p:sp>
      <p:sp>
        <p:nvSpPr>
          <p:cNvPr id="24" name="TextBox 23"/>
          <p:cNvSpPr txBox="1"/>
          <p:nvPr/>
        </p:nvSpPr>
        <p:spPr>
          <a:xfrm>
            <a:off x="1371600" y="271576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Knowledge-based vs capital-intensive; lower fixed capital burden</a:t>
            </a:r>
          </a:p>
        </p:txBody>
      </p:sp>
      <p:sp>
        <p:nvSpPr>
          <p:cNvPr id="25" name="TextBox 24"/>
          <p:cNvSpPr txBox="1"/>
          <p:nvPr/>
        </p:nvSpPr>
        <p:spPr>
          <a:xfrm>
            <a:off x="6355080" y="271576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Contractor p.9</a:t>
            </a:r>
          </a:p>
        </p:txBody>
      </p:sp>
      <p:sp>
        <p:nvSpPr>
          <p:cNvPr id="26" name="TextBox 25"/>
          <p:cNvSpPr txBox="1"/>
          <p:nvPr/>
        </p:nvSpPr>
        <p:spPr>
          <a:xfrm>
            <a:off x="9189720" y="271576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27" name="Rectangle 26"/>
          <p:cNvSpPr/>
          <p:nvPr/>
        </p:nvSpPr>
        <p:spPr>
          <a:xfrm>
            <a:off x="502920" y="291693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296722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12</a:t>
            </a:r>
          </a:p>
        </p:txBody>
      </p:sp>
      <p:sp>
        <p:nvSpPr>
          <p:cNvPr id="29" name="TextBox 28"/>
          <p:cNvSpPr txBox="1"/>
          <p:nvPr/>
        </p:nvSpPr>
        <p:spPr>
          <a:xfrm>
            <a:off x="1371600" y="296722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“Few companies possess the managerial tools…”</a:t>
            </a:r>
          </a:p>
        </p:txBody>
      </p:sp>
      <p:sp>
        <p:nvSpPr>
          <p:cNvPr id="30" name="TextBox 29"/>
          <p:cNvSpPr txBox="1"/>
          <p:nvPr/>
        </p:nvSpPr>
        <p:spPr>
          <a:xfrm>
            <a:off x="6355080" y="296722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Contractor p.11</a:t>
            </a:r>
          </a:p>
        </p:txBody>
      </p:sp>
      <p:sp>
        <p:nvSpPr>
          <p:cNvPr id="31" name="TextBox 30"/>
          <p:cNvSpPr txBox="1"/>
          <p:nvPr/>
        </p:nvSpPr>
        <p:spPr>
          <a:xfrm>
            <a:off x="9189720" y="296722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32" name="Rectangle 31"/>
          <p:cNvSpPr/>
          <p:nvPr/>
        </p:nvSpPr>
        <p:spPr>
          <a:xfrm>
            <a:off x="502920" y="316839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21868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13</a:t>
            </a:r>
          </a:p>
        </p:txBody>
      </p:sp>
      <p:sp>
        <p:nvSpPr>
          <p:cNvPr id="34" name="TextBox 33"/>
          <p:cNvSpPr txBox="1"/>
          <p:nvPr/>
        </p:nvSpPr>
        <p:spPr>
          <a:xfrm>
            <a:off x="1371600" y="321868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486 foreign subsidiaries vs 486 US, same industries and cities</a:t>
            </a:r>
          </a:p>
        </p:txBody>
      </p:sp>
      <p:sp>
        <p:nvSpPr>
          <p:cNvPr id="35" name="TextBox 34"/>
          <p:cNvSpPr txBox="1"/>
          <p:nvPr/>
        </p:nvSpPr>
        <p:spPr>
          <a:xfrm>
            <a:off x="6355080" y="321868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Mezias p.229–231</a:t>
            </a:r>
          </a:p>
        </p:txBody>
      </p:sp>
      <p:sp>
        <p:nvSpPr>
          <p:cNvPr id="36" name="TextBox 35"/>
          <p:cNvSpPr txBox="1"/>
          <p:nvPr/>
        </p:nvSpPr>
        <p:spPr>
          <a:xfrm>
            <a:off x="9189720" y="321868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37" name="Rectangle 36"/>
          <p:cNvSpPr/>
          <p:nvPr/>
        </p:nvSpPr>
        <p:spPr>
          <a:xfrm>
            <a:off x="502920" y="341985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4360" y="347014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13</a:t>
            </a:r>
          </a:p>
        </p:txBody>
      </p:sp>
      <p:sp>
        <p:nvSpPr>
          <p:cNvPr id="39" name="TextBox 38"/>
          <p:cNvSpPr txBox="1"/>
          <p:nvPr/>
        </p:nvSpPr>
        <p:spPr>
          <a:xfrm>
            <a:off x="1371600" y="347014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“labor lawsuits only measure labor-related disadvantage”</a:t>
            </a:r>
          </a:p>
        </p:txBody>
      </p:sp>
      <p:sp>
        <p:nvSpPr>
          <p:cNvPr id="40" name="TextBox 39"/>
          <p:cNvSpPr txBox="1"/>
          <p:nvPr/>
        </p:nvSpPr>
        <p:spPr>
          <a:xfrm>
            <a:off x="6355080" y="347014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Mezias p.231</a:t>
            </a:r>
          </a:p>
        </p:txBody>
      </p:sp>
      <p:sp>
        <p:nvSpPr>
          <p:cNvPr id="41" name="TextBox 40"/>
          <p:cNvSpPr txBox="1"/>
          <p:nvPr/>
        </p:nvSpPr>
        <p:spPr>
          <a:xfrm>
            <a:off x="9189720" y="347014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42" name="Rectangle 41"/>
          <p:cNvSpPr/>
          <p:nvPr/>
        </p:nvSpPr>
        <p:spPr>
          <a:xfrm>
            <a:off x="502920" y="367131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4360" y="372160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13</a:t>
            </a:r>
          </a:p>
        </p:txBody>
      </p:sp>
      <p:sp>
        <p:nvSpPr>
          <p:cNvPr id="44" name="TextBox 43"/>
          <p:cNvSpPr txBox="1"/>
          <p:nvPr/>
        </p:nvSpPr>
        <p:spPr>
          <a:xfrm>
            <a:off x="1371600" y="372160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78.9% / 70.0% / 58.4%; award &gt; $600,000; fees ~$100,000</a:t>
            </a:r>
          </a:p>
        </p:txBody>
      </p:sp>
      <p:sp>
        <p:nvSpPr>
          <p:cNvPr id="45" name="TextBox 44"/>
          <p:cNvSpPr txBox="1"/>
          <p:nvPr/>
        </p:nvSpPr>
        <p:spPr>
          <a:xfrm>
            <a:off x="6355080" y="372160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Mezias p.232</a:t>
            </a:r>
          </a:p>
        </p:txBody>
      </p:sp>
      <p:sp>
        <p:nvSpPr>
          <p:cNvPr id="46" name="TextBox 45"/>
          <p:cNvSpPr txBox="1"/>
          <p:nvPr/>
        </p:nvSpPr>
        <p:spPr>
          <a:xfrm>
            <a:off x="9189720" y="372160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47" name="Rectangle 46"/>
          <p:cNvSpPr/>
          <p:nvPr/>
        </p:nvSpPr>
        <p:spPr>
          <a:xfrm>
            <a:off x="502920" y="392277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 y="397306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14</a:t>
            </a:r>
          </a:p>
        </p:txBody>
      </p:sp>
      <p:sp>
        <p:nvSpPr>
          <p:cNvPr id="49" name="TextBox 48"/>
          <p:cNvSpPr txBox="1"/>
          <p:nvPr/>
        </p:nvSpPr>
        <p:spPr>
          <a:xfrm>
            <a:off x="1371600" y="397306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“varied and at times incompatible findings”</a:t>
            </a:r>
          </a:p>
        </p:txBody>
      </p:sp>
      <p:sp>
        <p:nvSpPr>
          <p:cNvPr id="50" name="TextBox 49"/>
          <p:cNvSpPr txBox="1"/>
          <p:nvPr/>
        </p:nvSpPr>
        <p:spPr>
          <a:xfrm>
            <a:off x="6355080" y="397306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Arregle, abstract</a:t>
            </a:r>
          </a:p>
        </p:txBody>
      </p:sp>
      <p:sp>
        <p:nvSpPr>
          <p:cNvPr id="51" name="TextBox 50"/>
          <p:cNvSpPr txBox="1"/>
          <p:nvPr/>
        </p:nvSpPr>
        <p:spPr>
          <a:xfrm>
            <a:off x="9189720" y="397306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52" name="Rectangle 51"/>
          <p:cNvSpPr/>
          <p:nvPr/>
        </p:nvSpPr>
        <p:spPr>
          <a:xfrm>
            <a:off x="502920" y="417423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22452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15</a:t>
            </a:r>
          </a:p>
        </p:txBody>
      </p:sp>
      <p:sp>
        <p:nvSpPr>
          <p:cNvPr id="54" name="TextBox 53"/>
          <p:cNvSpPr txBox="1"/>
          <p:nvPr/>
        </p:nvSpPr>
        <p:spPr>
          <a:xfrm>
            <a:off x="1371600" y="422452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Performance is 12% of the 220 studies</a:t>
            </a:r>
          </a:p>
        </p:txBody>
      </p:sp>
      <p:sp>
        <p:nvSpPr>
          <p:cNvPr id="55" name="TextBox 54"/>
          <p:cNvSpPr txBox="1"/>
          <p:nvPr/>
        </p:nvSpPr>
        <p:spPr>
          <a:xfrm>
            <a:off x="6355080" y="422452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Arregle p.6</a:t>
            </a:r>
          </a:p>
        </p:txBody>
      </p:sp>
      <p:sp>
        <p:nvSpPr>
          <p:cNvPr id="56" name="TextBox 55"/>
          <p:cNvSpPr txBox="1"/>
          <p:nvPr/>
        </p:nvSpPr>
        <p:spPr>
          <a:xfrm>
            <a:off x="9189720" y="422452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57" name="Rectangle 56"/>
          <p:cNvSpPr/>
          <p:nvPr/>
        </p:nvSpPr>
        <p:spPr>
          <a:xfrm>
            <a:off x="502920" y="442569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4360" y="447598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15</a:t>
            </a:r>
          </a:p>
        </p:txBody>
      </p:sp>
      <p:sp>
        <p:nvSpPr>
          <p:cNvPr id="59" name="TextBox 58"/>
          <p:cNvSpPr txBox="1"/>
          <p:nvPr/>
        </p:nvSpPr>
        <p:spPr>
          <a:xfrm>
            <a:off x="1371600" y="447598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Kundu authored both the 2003 and 2021 papers</a:t>
            </a:r>
          </a:p>
        </p:txBody>
      </p:sp>
      <p:sp>
        <p:nvSpPr>
          <p:cNvPr id="60" name="TextBox 59"/>
          <p:cNvSpPr txBox="1"/>
          <p:nvPr/>
        </p:nvSpPr>
        <p:spPr>
          <a:xfrm>
            <a:off x="6355080" y="447598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Both title pages</a:t>
            </a:r>
          </a:p>
        </p:txBody>
      </p:sp>
      <p:sp>
        <p:nvSpPr>
          <p:cNvPr id="61" name="TextBox 60"/>
          <p:cNvSpPr txBox="1"/>
          <p:nvPr/>
        </p:nvSpPr>
        <p:spPr>
          <a:xfrm>
            <a:off x="9189720" y="447598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62" name="Rectangle 61"/>
          <p:cNvSpPr/>
          <p:nvPr/>
        </p:nvSpPr>
        <p:spPr>
          <a:xfrm>
            <a:off x="502920" y="467715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4360" y="4727448"/>
            <a:ext cx="640080" cy="182880"/>
          </a:xfrm>
          <a:prstGeom prst="rect">
            <a:avLst/>
          </a:prstGeom>
          <a:noFill/>
        </p:spPr>
        <p:txBody>
          <a:bodyPr wrap="square" lIns="0" rIns="0" tIns="0" bIns="0">
            <a:spAutoFit/>
          </a:bodyPr>
          <a:lstStyle/>
          <a:p>
            <a:pPr algn="l">
              <a:lnSpc>
                <a:spcPct val="115000"/>
              </a:lnSpc>
            </a:pPr>
            <a:r>
              <a:rPr sz="900" b="1" i="0">
                <a:solidFill>
                  <a:srgbClr val="081E3F"/>
                </a:solidFill>
                <a:latin typeface="Consolas"/>
              </a:rPr>
              <a:t>A1</a:t>
            </a:r>
          </a:p>
        </p:txBody>
      </p:sp>
      <p:sp>
        <p:nvSpPr>
          <p:cNvPr id="64" name="TextBox 63"/>
          <p:cNvSpPr txBox="1"/>
          <p:nvPr/>
        </p:nvSpPr>
        <p:spPr>
          <a:xfrm>
            <a:off x="1371600" y="4727448"/>
            <a:ext cx="4937760" cy="201168"/>
          </a:xfrm>
          <a:prstGeom prst="rect">
            <a:avLst/>
          </a:prstGeom>
          <a:noFill/>
        </p:spPr>
        <p:txBody>
          <a:bodyPr wrap="square" lIns="0" rIns="0" tIns="0" bIns="0">
            <a:spAutoFit/>
          </a:bodyPr>
          <a:lstStyle/>
          <a:p>
            <a:pPr algn="l">
              <a:lnSpc>
                <a:spcPct val="115000"/>
              </a:lnSpc>
            </a:pPr>
            <a:r>
              <a:rPr sz="1150" b="0" i="0">
                <a:solidFill>
                  <a:srgbClr val="14171C"/>
                </a:solidFill>
                <a:latin typeface="Georgia"/>
              </a:rPr>
              <a:t>Wheel of fortune: 10 → 25, 65 → 45; payoffs did not reduce it</a:t>
            </a:r>
          </a:p>
        </p:txBody>
      </p:sp>
      <p:sp>
        <p:nvSpPr>
          <p:cNvPr id="65" name="TextBox 64"/>
          <p:cNvSpPr txBox="1"/>
          <p:nvPr/>
        </p:nvSpPr>
        <p:spPr>
          <a:xfrm>
            <a:off x="6355080" y="4727448"/>
            <a:ext cx="2743200" cy="201168"/>
          </a:xfrm>
          <a:prstGeom prst="rect">
            <a:avLst/>
          </a:prstGeom>
          <a:noFill/>
        </p:spPr>
        <p:txBody>
          <a:bodyPr wrap="square" lIns="0" rIns="0" tIns="0" bIns="0">
            <a:spAutoFit/>
          </a:bodyPr>
          <a:lstStyle/>
          <a:p>
            <a:pPr algn="l">
              <a:lnSpc>
                <a:spcPct val="115000"/>
              </a:lnSpc>
            </a:pPr>
            <a:r>
              <a:rPr sz="1100" b="0" i="0">
                <a:solidFill>
                  <a:srgbClr val="767D86"/>
                </a:solidFill>
                <a:latin typeface="Georgia"/>
              </a:rPr>
              <a:t>Tversky &amp; Kahneman p.1128</a:t>
            </a:r>
          </a:p>
        </p:txBody>
      </p:sp>
      <p:sp>
        <p:nvSpPr>
          <p:cNvPr id="66" name="TextBox 65"/>
          <p:cNvSpPr txBox="1"/>
          <p:nvPr/>
        </p:nvSpPr>
        <p:spPr>
          <a:xfrm>
            <a:off x="9189720" y="4727448"/>
            <a:ext cx="1097280" cy="182880"/>
          </a:xfrm>
          <a:prstGeom prst="rect">
            <a:avLst/>
          </a:prstGeom>
          <a:noFill/>
        </p:spPr>
        <p:txBody>
          <a:bodyPr wrap="square" lIns="0" rIns="0" tIns="0" bIns="0">
            <a:spAutoFit/>
          </a:bodyPr>
          <a:lstStyle/>
          <a:p>
            <a:pPr algn="l">
              <a:lnSpc>
                <a:spcPct val="115000"/>
              </a:lnSpc>
            </a:pPr>
            <a:r>
              <a:rPr sz="800" b="1" i="0" spc="100">
                <a:solidFill>
                  <a:srgbClr val="1C6B63"/>
                </a:solidFill>
                <a:latin typeface="Consolas"/>
              </a:rPr>
              <a:t>EXACT</a:t>
            </a:r>
          </a:p>
        </p:txBody>
      </p:sp>
      <p:sp>
        <p:nvSpPr>
          <p:cNvPr id="67" name="Rectangle 66"/>
          <p:cNvSpPr/>
          <p:nvPr/>
        </p:nvSpPr>
        <p:spPr>
          <a:xfrm>
            <a:off x="502920" y="4928616"/>
            <a:ext cx="11186160" cy="6350"/>
          </a:xfrm>
          <a:prstGeom prst="rect">
            <a:avLst/>
          </a:prstGeom>
          <a:solidFill>
            <a:srgbClr val="EF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502920" y="4956048"/>
            <a:ext cx="11186160" cy="365760"/>
          </a:xfrm>
          <a:prstGeom prst="roundRect">
            <a:avLst>
              <a:gd name="adj" fmla="val 4000"/>
            </a:avLst>
          </a:prstGeom>
          <a:solidFill>
            <a:srgbClr val="E8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85800" y="5029200"/>
            <a:ext cx="10820400" cy="228600"/>
          </a:xfrm>
          <a:prstGeom prst="rect">
            <a:avLst/>
          </a:prstGeom>
          <a:noFill/>
        </p:spPr>
        <p:txBody>
          <a:bodyPr wrap="square" lIns="0" rIns="0" tIns="0" bIns="0">
            <a:spAutoFit/>
          </a:bodyPr>
          <a:lstStyle/>
          <a:p>
            <a:pPr algn="l">
              <a:lnSpc>
                <a:spcPct val="115000"/>
              </a:lnSpc>
            </a:pPr>
            <a:r>
              <a:rPr sz="1200" b="0" i="1">
                <a:solidFill>
                  <a:srgbClr val="14171C"/>
                </a:solidFill>
                <a:latin typeface="Georgia"/>
              </a:rPr>
              <a:t>All verified against the source PDFs, 26 August 2026. Nothing is paraphrased and presented as a quote.</a:t>
            </a:r>
          </a:p>
        </p:txBody>
      </p:sp>
      <p:sp>
        <p:nvSpPr>
          <p:cNvPr id="70" name="Rectangle 69"/>
          <p:cNvSpPr/>
          <p:nvPr/>
        </p:nvSpPr>
        <p:spPr>
          <a:xfrm>
            <a:off x="502920" y="6382512"/>
            <a:ext cx="11186160" cy="9525"/>
          </a:xfrm>
          <a:prstGeom prst="rect">
            <a:avLst/>
          </a:prstGeom>
          <a:solidFill>
            <a:srgbClr val="DD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02920" y="6455664"/>
            <a:ext cx="3657600" cy="182880"/>
          </a:xfrm>
          <a:prstGeom prst="rect">
            <a:avLst/>
          </a:prstGeom>
          <a:noFill/>
        </p:spPr>
        <p:txBody>
          <a:bodyPr wrap="square" lIns="0" rIns="0" tIns="0" bIns="0">
            <a:spAutoFit/>
          </a:bodyPr>
          <a:lstStyle/>
          <a:p>
            <a:pPr algn="l">
              <a:lnSpc>
                <a:spcPct val="115000"/>
              </a:lnSpc>
            </a:pPr>
            <a:r>
              <a:rPr sz="850" b="1" i="0">
                <a:solidFill>
                  <a:srgbClr val="767D86"/>
                </a:solidFill>
                <a:latin typeface="Consolas"/>
              </a:rPr>
              <a:t>Yasir A. Malik  ·  Cohort 8.14</a:t>
            </a:r>
          </a:p>
        </p:txBody>
      </p:sp>
      <p:sp>
        <p:nvSpPr>
          <p:cNvPr id="72" name="TextBox 71"/>
          <p:cNvSpPr txBox="1"/>
          <p:nvPr/>
        </p:nvSpPr>
        <p:spPr>
          <a:xfrm>
            <a:off x="4160520" y="6455664"/>
            <a:ext cx="3931920" cy="182880"/>
          </a:xfrm>
          <a:prstGeom prst="rect">
            <a:avLst/>
          </a:prstGeom>
          <a:noFill/>
        </p:spPr>
        <p:txBody>
          <a:bodyPr wrap="square" lIns="0" rIns="0" tIns="0" bIns="0">
            <a:spAutoFit/>
          </a:bodyPr>
          <a:lstStyle/>
          <a:p>
            <a:pPr algn="ctr">
              <a:lnSpc>
                <a:spcPct val="115000"/>
              </a:lnSpc>
            </a:pPr>
            <a:r>
              <a:rPr sz="850" b="0" i="0">
                <a:solidFill>
                  <a:srgbClr val="767D86"/>
                </a:solidFill>
                <a:latin typeface="Consolas"/>
              </a:rPr>
              <a:t>GEB 7365  ·  Module 2  ·  27 August 2026</a:t>
            </a:r>
          </a:p>
        </p:txBody>
      </p:sp>
      <p:sp>
        <p:nvSpPr>
          <p:cNvPr id="73" name="TextBox 72"/>
          <p:cNvSpPr txBox="1"/>
          <p:nvPr/>
        </p:nvSpPr>
        <p:spPr>
          <a:xfrm>
            <a:off x="10774680" y="6455664"/>
            <a:ext cx="914400" cy="182880"/>
          </a:xfrm>
          <a:prstGeom prst="rect">
            <a:avLst/>
          </a:prstGeom>
          <a:noFill/>
        </p:spPr>
        <p:txBody>
          <a:bodyPr wrap="square" lIns="0" rIns="0" tIns="0" bIns="0">
            <a:spAutoFit/>
          </a:bodyPr>
          <a:lstStyle/>
          <a:p>
            <a:pPr algn="r">
              <a:lnSpc>
                <a:spcPct val="115000"/>
              </a:lnSpc>
            </a:pPr>
            <a:r>
              <a:rPr sz="850" b="1" i="0">
                <a:solidFill>
                  <a:srgbClr val="B6862C"/>
                </a:solidFill>
                <a:latin typeface="Consola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CFB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fiu-seal.png"/>
          <p:cNvPicPr>
            <a:picLocks noChangeAspect="1"/>
          </p:cNvPicPr>
          <p:nvPr/>
        </p:nvPicPr>
        <p:blipFill>
          <a:blip r:embed="rId2"/>
          <a:stretch>
            <a:fillRect/>
          </a:stretch>
        </p:blipFill>
        <p:spPr>
          <a:xfrm>
            <a:off x="502920" y="274320"/>
            <a:ext cx="403347" cy="384048"/>
          </a:xfrm>
          <a:prstGeom prst="rect">
            <a:avLst/>
          </a:prstGeom>
        </p:spPr>
      </p:pic>
      <p:sp>
        <p:nvSpPr>
          <p:cNvPr id="4" name="TextBox 3"/>
          <p:cNvSpPr txBox="1"/>
          <p:nvPr/>
        </p:nvSpPr>
        <p:spPr>
          <a:xfrm>
            <a:off x="1005840" y="274320"/>
            <a:ext cx="5486400" cy="182880"/>
          </a:xfrm>
          <a:prstGeom prst="rect">
            <a:avLst/>
          </a:prstGeom>
          <a:noFill/>
        </p:spPr>
        <p:txBody>
          <a:bodyPr wrap="square" lIns="0" rIns="0" tIns="0" bIns="0">
            <a:spAutoFit/>
          </a:bodyPr>
          <a:lstStyle/>
          <a:p>
            <a:pPr algn="l">
              <a:lnSpc>
                <a:spcPct val="115000"/>
              </a:lnSpc>
            </a:pPr>
            <a:r>
              <a:rPr sz="950" b="1" i="0" spc="190">
                <a:solidFill>
                  <a:srgbClr val="081E3F"/>
                </a:solidFill>
                <a:latin typeface="Consolas"/>
              </a:rPr>
              <a:t>FLORIDA INTERNATIONAL UNIVERSITY</a:t>
            </a:r>
          </a:p>
        </p:txBody>
      </p:sp>
      <p:sp>
        <p:nvSpPr>
          <p:cNvPr id="5" name="TextBox 4"/>
          <p:cNvSpPr txBox="1"/>
          <p:nvPr/>
        </p:nvSpPr>
        <p:spPr>
          <a:xfrm>
            <a:off x="1005840" y="457200"/>
            <a:ext cx="6400800" cy="182880"/>
          </a:xfrm>
          <a:prstGeom prst="rect">
            <a:avLst/>
          </a:prstGeom>
          <a:noFill/>
        </p:spPr>
        <p:txBody>
          <a:bodyPr wrap="square" lIns="0" rIns="0" tIns="0" bIns="0">
            <a:spAutoFit/>
          </a:bodyPr>
          <a:lstStyle/>
          <a:p>
            <a:pPr algn="l">
              <a:lnSpc>
                <a:spcPct val="115000"/>
              </a:lnSpc>
            </a:pPr>
            <a:r>
              <a:rPr sz="1000" b="0" i="0">
                <a:solidFill>
                  <a:srgbClr val="767D86"/>
                </a:solidFill>
                <a:latin typeface="Georgia"/>
              </a:rPr>
              <a:t>Chapman Graduate School of Business  ·  Doctor of Business Administration</a:t>
            </a:r>
          </a:p>
        </p:txBody>
      </p:sp>
      <p:sp>
        <p:nvSpPr>
          <p:cNvPr id="6" name="TextBox 5"/>
          <p:cNvSpPr txBox="1"/>
          <p:nvPr/>
        </p:nvSpPr>
        <p:spPr>
          <a:xfrm>
            <a:off x="502920" y="960120"/>
            <a:ext cx="11186160" cy="201168"/>
          </a:xfrm>
          <a:prstGeom prst="rect">
            <a:avLst/>
          </a:prstGeom>
          <a:noFill/>
        </p:spPr>
        <p:txBody>
          <a:bodyPr wrap="square" lIns="0" rIns="0" tIns="0" bIns="0">
            <a:spAutoFit/>
          </a:bodyPr>
          <a:lstStyle/>
          <a:p>
            <a:pPr algn="l">
              <a:lnSpc>
                <a:spcPct val="115000"/>
              </a:lnSpc>
            </a:pPr>
            <a:r>
              <a:rPr sz="950" b="1" i="0" spc="200">
                <a:solidFill>
                  <a:srgbClr val="B6862C"/>
                </a:solidFill>
                <a:latin typeface="Consolas"/>
              </a:rPr>
              <a:t>APPENDIX C</a:t>
            </a:r>
          </a:p>
        </p:txBody>
      </p:sp>
      <p:sp>
        <p:nvSpPr>
          <p:cNvPr id="7" name="TextBox 6"/>
          <p:cNvSpPr txBox="1"/>
          <p:nvPr/>
        </p:nvSpPr>
        <p:spPr>
          <a:xfrm>
            <a:off x="502920" y="1170432"/>
            <a:ext cx="11186160" cy="574495"/>
          </a:xfrm>
          <a:prstGeom prst="rect">
            <a:avLst/>
          </a:prstGeom>
          <a:noFill/>
        </p:spPr>
        <p:txBody>
          <a:bodyPr wrap="square" lIns="0" rIns="0" tIns="0" bIns="0">
            <a:spAutoFit/>
          </a:bodyPr>
          <a:lstStyle/>
          <a:p>
            <a:pPr algn="l">
              <a:lnSpc>
                <a:spcPct val="112000"/>
              </a:lnSpc>
            </a:pPr>
            <a:r>
              <a:rPr sz="2800" b="1" i="0">
                <a:solidFill>
                  <a:srgbClr val="14171C"/>
                </a:solidFill>
                <a:latin typeface="Georgia"/>
              </a:rPr>
              <a:t>References.</a:t>
            </a:r>
          </a:p>
        </p:txBody>
      </p:sp>
      <p:sp>
        <p:nvSpPr>
          <p:cNvPr id="8" name="Rectangle 7"/>
          <p:cNvSpPr/>
          <p:nvPr/>
        </p:nvSpPr>
        <p:spPr>
          <a:xfrm>
            <a:off x="502920" y="1920240"/>
            <a:ext cx="36576" cy="457200"/>
          </a:xfrm>
          <a:prstGeom prst="rect">
            <a:avLst/>
          </a:prstGeom>
          <a:solidFill>
            <a:srgbClr val="1C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920240"/>
            <a:ext cx="1188720" cy="182880"/>
          </a:xfrm>
          <a:prstGeom prst="rect">
            <a:avLst/>
          </a:prstGeom>
          <a:noFill/>
        </p:spPr>
        <p:txBody>
          <a:bodyPr wrap="square" lIns="0" rIns="0" tIns="0" bIns="0">
            <a:spAutoFit/>
          </a:bodyPr>
          <a:lstStyle/>
          <a:p>
            <a:pPr algn="l">
              <a:lnSpc>
                <a:spcPct val="115000"/>
              </a:lnSpc>
            </a:pPr>
            <a:r>
              <a:rPr sz="850" b="1" i="0" spc="120">
                <a:solidFill>
                  <a:srgbClr val="1C6B63"/>
                </a:solidFill>
                <a:latin typeface="Consolas"/>
              </a:rPr>
              <a:t>DANIELA</a:t>
            </a:r>
          </a:p>
        </p:txBody>
      </p:sp>
      <p:sp>
        <p:nvSpPr>
          <p:cNvPr id="10" name="TextBox 9"/>
          <p:cNvSpPr txBox="1"/>
          <p:nvPr/>
        </p:nvSpPr>
        <p:spPr>
          <a:xfrm>
            <a:off x="2057400" y="1901952"/>
            <a:ext cx="9448800" cy="45720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Ghemawat, P. (2001). Distance still matters: The hard reality of global expansion. Harvard Business Review, 79(8), 137–147.</a:t>
            </a:r>
          </a:p>
        </p:txBody>
      </p:sp>
      <p:sp>
        <p:nvSpPr>
          <p:cNvPr id="11" name="Rectangle 10"/>
          <p:cNvSpPr/>
          <p:nvPr/>
        </p:nvSpPr>
        <p:spPr>
          <a:xfrm>
            <a:off x="502920" y="2487168"/>
            <a:ext cx="36576" cy="457200"/>
          </a:xfrm>
          <a:prstGeom prst="rect">
            <a:avLst/>
          </a:prstGeom>
          <a:solidFill>
            <a:srgbClr val="1C6B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2487168"/>
            <a:ext cx="1188720" cy="182880"/>
          </a:xfrm>
          <a:prstGeom prst="rect">
            <a:avLst/>
          </a:prstGeom>
          <a:noFill/>
        </p:spPr>
        <p:txBody>
          <a:bodyPr wrap="square" lIns="0" rIns="0" tIns="0" bIns="0">
            <a:spAutoFit/>
          </a:bodyPr>
          <a:lstStyle/>
          <a:p>
            <a:pPr algn="l">
              <a:lnSpc>
                <a:spcPct val="115000"/>
              </a:lnSpc>
            </a:pPr>
            <a:r>
              <a:rPr sz="850" b="1" i="0" spc="120">
                <a:solidFill>
                  <a:srgbClr val="1C6B63"/>
                </a:solidFill>
                <a:latin typeface="Consolas"/>
              </a:rPr>
              <a:t>DANIELA</a:t>
            </a:r>
          </a:p>
        </p:txBody>
      </p:sp>
      <p:sp>
        <p:nvSpPr>
          <p:cNvPr id="13" name="TextBox 12"/>
          <p:cNvSpPr txBox="1"/>
          <p:nvPr/>
        </p:nvSpPr>
        <p:spPr>
          <a:xfrm>
            <a:off x="2057400" y="2468880"/>
            <a:ext cx="9448800" cy="45720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Arregle, J.-L., Chirico, F., Kano, L., Kundu, S. K., Majocchi, A., &amp; Schulze, W. S. (2021). Family firm internationalization: Past research and an agenda for the future. Journal of International Business Studies, 52, 1159–1198.</a:t>
            </a:r>
          </a:p>
        </p:txBody>
      </p:sp>
      <p:sp>
        <p:nvSpPr>
          <p:cNvPr id="14" name="Rectangle 13"/>
          <p:cNvSpPr/>
          <p:nvPr/>
        </p:nvSpPr>
        <p:spPr>
          <a:xfrm>
            <a:off x="502920" y="3054096"/>
            <a:ext cx="36576" cy="457200"/>
          </a:xfrm>
          <a:prstGeom prst="rect">
            <a:avLst/>
          </a:prstGeom>
          <a:solidFill>
            <a:srgbClr val="08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054096"/>
            <a:ext cx="1188720" cy="182880"/>
          </a:xfrm>
          <a:prstGeom prst="rect">
            <a:avLst/>
          </a:prstGeom>
          <a:noFill/>
        </p:spPr>
        <p:txBody>
          <a:bodyPr wrap="square" lIns="0" rIns="0" tIns="0" bIns="0">
            <a:spAutoFit/>
          </a:bodyPr>
          <a:lstStyle/>
          <a:p>
            <a:pPr algn="l">
              <a:lnSpc>
                <a:spcPct val="115000"/>
              </a:lnSpc>
            </a:pPr>
            <a:r>
              <a:rPr sz="850" b="1" i="0" spc="120">
                <a:solidFill>
                  <a:srgbClr val="081E3F"/>
                </a:solidFill>
                <a:latin typeface="Consolas"/>
              </a:rPr>
              <a:t>YASIR</a:t>
            </a:r>
          </a:p>
        </p:txBody>
      </p:sp>
      <p:sp>
        <p:nvSpPr>
          <p:cNvPr id="16" name="TextBox 15"/>
          <p:cNvSpPr txBox="1"/>
          <p:nvPr/>
        </p:nvSpPr>
        <p:spPr>
          <a:xfrm>
            <a:off x="2057400" y="3035808"/>
            <a:ext cx="9448800" cy="45720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Contractor, F. J., Kundu, S. K., &amp; Hsu, C.-C. (2003). A three-stage theory of international expansion: The link between multinationality and performance in the service sector. Journal of International Business Studies, 34(1), 5–18.</a:t>
            </a:r>
          </a:p>
        </p:txBody>
      </p:sp>
      <p:sp>
        <p:nvSpPr>
          <p:cNvPr id="17" name="Rectangle 16"/>
          <p:cNvSpPr/>
          <p:nvPr/>
        </p:nvSpPr>
        <p:spPr>
          <a:xfrm>
            <a:off x="502920" y="3621024"/>
            <a:ext cx="36576" cy="457200"/>
          </a:xfrm>
          <a:prstGeom prst="rect">
            <a:avLst/>
          </a:prstGeom>
          <a:solidFill>
            <a:srgbClr val="081E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621024"/>
            <a:ext cx="1188720" cy="182880"/>
          </a:xfrm>
          <a:prstGeom prst="rect">
            <a:avLst/>
          </a:prstGeom>
          <a:noFill/>
        </p:spPr>
        <p:txBody>
          <a:bodyPr wrap="square" lIns="0" rIns="0" tIns="0" bIns="0">
            <a:spAutoFit/>
          </a:bodyPr>
          <a:lstStyle/>
          <a:p>
            <a:pPr algn="l">
              <a:lnSpc>
                <a:spcPct val="115000"/>
              </a:lnSpc>
            </a:pPr>
            <a:r>
              <a:rPr sz="850" b="1" i="0" spc="120">
                <a:solidFill>
                  <a:srgbClr val="081E3F"/>
                </a:solidFill>
                <a:latin typeface="Consolas"/>
              </a:rPr>
              <a:t>YASIR</a:t>
            </a:r>
          </a:p>
        </p:txBody>
      </p:sp>
      <p:sp>
        <p:nvSpPr>
          <p:cNvPr id="19" name="TextBox 18"/>
          <p:cNvSpPr txBox="1"/>
          <p:nvPr/>
        </p:nvSpPr>
        <p:spPr>
          <a:xfrm>
            <a:off x="2057400" y="3602736"/>
            <a:ext cx="9448800" cy="45720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Mezias, J. M. (2002). Identifying liabilities of foreignness and strategies to minimize their effects: The case of labor lawsuit judgments in the United States. Strategic Management Journal, 23(3), 229–244.</a:t>
            </a:r>
          </a:p>
        </p:txBody>
      </p:sp>
      <p:sp>
        <p:nvSpPr>
          <p:cNvPr id="20" name="Rectangle 19"/>
          <p:cNvSpPr/>
          <p:nvPr/>
        </p:nvSpPr>
        <p:spPr>
          <a:xfrm>
            <a:off x="502920" y="4187952"/>
            <a:ext cx="36576"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4187952"/>
            <a:ext cx="1188720" cy="182880"/>
          </a:xfrm>
          <a:prstGeom prst="rect">
            <a:avLst/>
          </a:prstGeom>
          <a:noFill/>
        </p:spPr>
        <p:txBody>
          <a:bodyPr wrap="square" lIns="0" rIns="0" tIns="0" bIns="0">
            <a:spAutoFit/>
          </a:bodyPr>
          <a:lstStyle/>
          <a:p>
            <a:pPr algn="l">
              <a:lnSpc>
                <a:spcPct val="115000"/>
              </a:lnSpc>
            </a:pPr>
            <a:r>
              <a:rPr sz="850" b="1" i="0" spc="120">
                <a:solidFill>
                  <a:srgbClr val="B6862C"/>
                </a:solidFill>
                <a:latin typeface="Consolas"/>
              </a:rPr>
              <a:t>APPENDIX A</a:t>
            </a:r>
          </a:p>
        </p:txBody>
      </p:sp>
      <p:sp>
        <p:nvSpPr>
          <p:cNvPr id="22" name="TextBox 21"/>
          <p:cNvSpPr txBox="1"/>
          <p:nvPr/>
        </p:nvSpPr>
        <p:spPr>
          <a:xfrm>
            <a:off x="2057400" y="4169664"/>
            <a:ext cx="9448800" cy="457200"/>
          </a:xfrm>
          <a:prstGeom prst="rect">
            <a:avLst/>
          </a:prstGeom>
          <a:noFill/>
        </p:spPr>
        <p:txBody>
          <a:bodyPr wrap="square" lIns="0" rIns="0" tIns="0" bIns="0">
            <a:spAutoFit/>
          </a:bodyPr>
          <a:lstStyle/>
          <a:p>
            <a:pPr algn="l">
              <a:lnSpc>
                <a:spcPct val="115000"/>
              </a:lnSpc>
            </a:pPr>
            <a:r>
              <a:rPr sz="1200" b="0" i="0">
                <a:solidFill>
                  <a:srgbClr val="454B54"/>
                </a:solidFill>
                <a:latin typeface="Georgia"/>
              </a:rPr>
              <a:t>Tversky, A., &amp; Kahneman, D. (1974). Judgment under uncertainty: Heuristics and biases. Science, 185(4157), 1124–1131.</a:t>
            </a:r>
          </a:p>
        </p:txBody>
      </p:sp>
      <p:sp>
        <p:nvSpPr>
          <p:cNvPr id="23" name="Rounded Rectangle 22"/>
          <p:cNvSpPr/>
          <p:nvPr/>
        </p:nvSpPr>
        <p:spPr>
          <a:xfrm>
            <a:off x="502920" y="4754880"/>
            <a:ext cx="11186160" cy="548640"/>
          </a:xfrm>
          <a:prstGeom prst="roundRect">
            <a:avLst>
              <a:gd name="adj" fmla="val 4000"/>
            </a:avLst>
          </a:prstGeom>
          <a:solidFill>
            <a:srgbClr val="E8E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864608"/>
            <a:ext cx="10820400" cy="411480"/>
          </a:xfrm>
          <a:prstGeom prst="rect">
            <a:avLst/>
          </a:prstGeom>
          <a:noFill/>
        </p:spPr>
        <p:txBody>
          <a:bodyPr wrap="square" lIns="0" rIns="0" tIns="0" bIns="0">
            <a:spAutoFit/>
          </a:bodyPr>
          <a:lstStyle/>
          <a:p>
            <a:pPr algn="l">
              <a:lnSpc>
                <a:spcPct val="115000"/>
              </a:lnSpc>
            </a:pPr>
            <a:r>
              <a:rPr sz="1150" b="0" i="1">
                <a:solidFill>
                  <a:srgbClr val="14171C"/>
                </a:solidFill>
                <a:latin typeface="Georgia"/>
              </a:rPr>
              <a:t>Presented by Daniela Garcia Aguirre and Yasir A. Malik · GEB 7365 International Business Theory and Practice · Prof. William Newburry · FIU Chapman Graduate School of Business, DBA Cohort 8.14 · 27 August 2026</a:t>
            </a:r>
          </a:p>
        </p:txBody>
      </p:sp>
      <p:sp>
        <p:nvSpPr>
          <p:cNvPr id="25" name="Rectangle 24"/>
          <p:cNvSpPr/>
          <p:nvPr/>
        </p:nvSpPr>
        <p:spPr>
          <a:xfrm>
            <a:off x="502920" y="6382512"/>
            <a:ext cx="11186160" cy="9525"/>
          </a:xfrm>
          <a:prstGeom prst="rect">
            <a:avLst/>
          </a:prstGeom>
          <a:solidFill>
            <a:srgbClr val="DDD7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455664"/>
            <a:ext cx="3657600" cy="182880"/>
          </a:xfrm>
          <a:prstGeom prst="rect">
            <a:avLst/>
          </a:prstGeom>
          <a:noFill/>
        </p:spPr>
        <p:txBody>
          <a:bodyPr wrap="square" lIns="0" rIns="0" tIns="0" bIns="0">
            <a:spAutoFit/>
          </a:bodyPr>
          <a:lstStyle/>
          <a:p>
            <a:pPr algn="l">
              <a:lnSpc>
                <a:spcPct val="115000"/>
              </a:lnSpc>
            </a:pPr>
            <a:r>
              <a:rPr sz="850" b="1" i="0">
                <a:solidFill>
                  <a:srgbClr val="767D86"/>
                </a:solidFill>
                <a:latin typeface="Consolas"/>
              </a:rPr>
              <a:t>Yasir A. Malik  ·  Cohort 8.14</a:t>
            </a:r>
          </a:p>
        </p:txBody>
      </p:sp>
      <p:sp>
        <p:nvSpPr>
          <p:cNvPr id="27" name="TextBox 26"/>
          <p:cNvSpPr txBox="1"/>
          <p:nvPr/>
        </p:nvSpPr>
        <p:spPr>
          <a:xfrm>
            <a:off x="4160520" y="6455664"/>
            <a:ext cx="3931920" cy="182880"/>
          </a:xfrm>
          <a:prstGeom prst="rect">
            <a:avLst/>
          </a:prstGeom>
          <a:noFill/>
        </p:spPr>
        <p:txBody>
          <a:bodyPr wrap="square" lIns="0" rIns="0" tIns="0" bIns="0">
            <a:spAutoFit/>
          </a:bodyPr>
          <a:lstStyle/>
          <a:p>
            <a:pPr algn="ctr">
              <a:lnSpc>
                <a:spcPct val="115000"/>
              </a:lnSpc>
            </a:pPr>
            <a:r>
              <a:rPr sz="850" b="0" i="0">
                <a:solidFill>
                  <a:srgbClr val="767D86"/>
                </a:solidFill>
                <a:latin typeface="Consolas"/>
              </a:rPr>
              <a:t>GEB 7365  ·  Module 2  ·  27 August 2026</a:t>
            </a:r>
          </a:p>
        </p:txBody>
      </p:sp>
      <p:sp>
        <p:nvSpPr>
          <p:cNvPr id="28" name="TextBox 27"/>
          <p:cNvSpPr txBox="1"/>
          <p:nvPr/>
        </p:nvSpPr>
        <p:spPr>
          <a:xfrm>
            <a:off x="10774680" y="6455664"/>
            <a:ext cx="914400" cy="182880"/>
          </a:xfrm>
          <a:prstGeom prst="rect">
            <a:avLst/>
          </a:prstGeom>
          <a:noFill/>
        </p:spPr>
        <p:txBody>
          <a:bodyPr wrap="square" lIns="0" rIns="0" tIns="0" bIns="0">
            <a:spAutoFit/>
          </a:bodyPr>
          <a:lstStyle/>
          <a:p>
            <a:pPr algn="r">
              <a:lnSpc>
                <a:spcPct val="115000"/>
              </a:lnSpc>
            </a:pPr>
            <a:r>
              <a:rPr sz="850" b="1" i="0">
                <a:solidFill>
                  <a:srgbClr val="B6862C"/>
                </a:solidFill>
                <a:latin typeface="Consolas"/>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1931</Words>
  <Application>Microsoft Office PowerPoint</Application>
  <PresentationFormat>Widescreen</PresentationFormat>
  <Paragraphs>148</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Daniela Garcia Gorrin</cp:lastModifiedBy>
  <cp:revision>2</cp:revision>
  <dcterms:created xsi:type="dcterms:W3CDTF">2026-08-27T01:23:03Z</dcterms:created>
  <dcterms:modified xsi:type="dcterms:W3CDTF">2026-08-27T02:33:31Z</dcterms:modified>
</cp:coreProperties>
</file>