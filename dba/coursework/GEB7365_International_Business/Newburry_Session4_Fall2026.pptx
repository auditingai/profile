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av" ContentType="audio/wav"/>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81"/>
  </p:notesMasterIdLst>
  <p:sldIdLst>
    <p:sldId id="948" r:id="rId5"/>
    <p:sldId id="1142" r:id="rId6"/>
    <p:sldId id="1159" r:id="rId7"/>
    <p:sldId id="1160" r:id="rId8"/>
    <p:sldId id="1161" r:id="rId9"/>
    <p:sldId id="1162" r:id="rId10"/>
    <p:sldId id="1210" r:id="rId11"/>
    <p:sldId id="1026" r:id="rId12"/>
    <p:sldId id="1027" r:id="rId13"/>
    <p:sldId id="996" r:id="rId14"/>
    <p:sldId id="995" r:id="rId15"/>
    <p:sldId id="943" r:id="rId16"/>
    <p:sldId id="586" r:id="rId17"/>
    <p:sldId id="806" r:id="rId18"/>
    <p:sldId id="1001" r:id="rId19"/>
    <p:sldId id="975" r:id="rId20"/>
    <p:sldId id="1211" r:id="rId21"/>
    <p:sldId id="1021" r:id="rId22"/>
    <p:sldId id="1147" r:id="rId23"/>
    <p:sldId id="1148" r:id="rId24"/>
    <p:sldId id="1149" r:id="rId25"/>
    <p:sldId id="1022" r:id="rId26"/>
    <p:sldId id="1023" r:id="rId27"/>
    <p:sldId id="1024" r:id="rId28"/>
    <p:sldId id="1150" r:id="rId29"/>
    <p:sldId id="1151" r:id="rId30"/>
    <p:sldId id="1031" r:id="rId31"/>
    <p:sldId id="1155" r:id="rId32"/>
    <p:sldId id="1165" r:id="rId33"/>
    <p:sldId id="1111" r:id="rId34"/>
    <p:sldId id="1112" r:id="rId35"/>
    <p:sldId id="1113" r:id="rId36"/>
    <p:sldId id="1114" r:id="rId37"/>
    <p:sldId id="1115" r:id="rId38"/>
    <p:sldId id="1116" r:id="rId39"/>
    <p:sldId id="1117" r:id="rId40"/>
    <p:sldId id="982" r:id="rId41"/>
    <p:sldId id="983" r:id="rId42"/>
    <p:sldId id="1118" r:id="rId43"/>
    <p:sldId id="1119" r:id="rId44"/>
    <p:sldId id="1120" r:id="rId45"/>
    <p:sldId id="1133" r:id="rId46"/>
    <p:sldId id="985" r:id="rId47"/>
    <p:sldId id="1121" r:id="rId48"/>
    <p:sldId id="1122" r:id="rId49"/>
    <p:sldId id="1213" r:id="rId50"/>
    <p:sldId id="987" r:id="rId51"/>
    <p:sldId id="1123" r:id="rId52"/>
    <p:sldId id="1124" r:id="rId53"/>
    <p:sldId id="1125" r:id="rId54"/>
    <p:sldId id="1126" r:id="rId55"/>
    <p:sldId id="1127" r:id="rId56"/>
    <p:sldId id="1128" r:id="rId57"/>
    <p:sldId id="1135" r:id="rId58"/>
    <p:sldId id="989" r:id="rId59"/>
    <p:sldId id="1129" r:id="rId60"/>
    <p:sldId id="1130" r:id="rId61"/>
    <p:sldId id="1131" r:id="rId62"/>
    <p:sldId id="1132" r:id="rId63"/>
    <p:sldId id="1214" r:id="rId64"/>
    <p:sldId id="1003" r:id="rId65"/>
    <p:sldId id="1141" r:id="rId66"/>
    <p:sldId id="1012" r:id="rId67"/>
    <p:sldId id="1011" r:id="rId68"/>
    <p:sldId id="1013" r:id="rId69"/>
    <p:sldId id="1014" r:id="rId70"/>
    <p:sldId id="1015" r:id="rId71"/>
    <p:sldId id="1010" r:id="rId72"/>
    <p:sldId id="1006" r:id="rId73"/>
    <p:sldId id="1004" r:id="rId74"/>
    <p:sldId id="1007" r:id="rId75"/>
    <p:sldId id="1008" r:id="rId76"/>
    <p:sldId id="1191" r:id="rId77"/>
    <p:sldId id="1190" r:id="rId78"/>
    <p:sldId id="1189" r:id="rId79"/>
    <p:sldId id="1166" r:id="rId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duardo 1" initials="E1"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97" autoAdjust="0"/>
    <p:restoredTop sz="94660"/>
  </p:normalViewPr>
  <p:slideViewPr>
    <p:cSldViewPr snapToGrid="0">
      <p:cViewPr varScale="1">
        <p:scale>
          <a:sx n="128" d="100"/>
          <a:sy n="128" d="100"/>
        </p:scale>
        <p:origin x="156" y="738"/>
      </p:cViewPr>
      <p:guideLst/>
    </p:cSldViewPr>
  </p:slideViewPr>
  <p:notesTextViewPr>
    <p:cViewPr>
      <p:scale>
        <a:sx n="1" d="1"/>
        <a:sy n="1" d="1"/>
      </p:scale>
      <p:origin x="0" y="0"/>
    </p:cViewPr>
  </p:notesTextViewPr>
  <p:sorterViewPr>
    <p:cViewPr varScale="1">
      <p:scale>
        <a:sx n="100" d="100"/>
        <a:sy n="100" d="100"/>
      </p:scale>
      <p:origin x="0" y="-1071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viewProps" Target="view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826FFC-0371-44A1-A824-54AFB67668D5}" type="doc">
      <dgm:prSet loTypeId="urn:microsoft.com/office/officeart/2005/8/layout/orgChart1" loCatId="hierarchy" qsTypeId="urn:microsoft.com/office/officeart/2005/8/quickstyle/simple1#1" qsCatId="simple" csTypeId="urn:microsoft.com/office/officeart/2005/8/colors/accent1_2#1" csCatId="accent1"/>
      <dgm:spPr/>
    </dgm:pt>
    <dgm:pt modelId="{9C3EFA45-4461-4B6E-907B-D49B9719011E}">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charset="0"/>
              <a:cs typeface="Arial" charset="0"/>
            </a:rPr>
            <a:t>Global Headquarters</a:t>
          </a:r>
          <a:endParaRPr kumimoji="0" lang="en-US" altLang="en-US" b="0" i="0" u="none" strike="noStrike" cap="none" normalizeH="0" baseline="0" dirty="0">
            <a:ln>
              <a:noFill/>
            </a:ln>
            <a:solidFill>
              <a:schemeClr val="bg1"/>
            </a:solidFill>
            <a:effectLst/>
            <a:latin typeface="Arial" charset="0"/>
            <a:cs typeface="Arial" charset="0"/>
          </a:endParaRPr>
        </a:p>
      </dgm:t>
    </dgm:pt>
    <dgm:pt modelId="{BD6F63B7-3742-45B0-8EB2-BF5446518BBA}" type="parTrans" cxnId="{2F987B7D-9CDB-4645-850B-095F504E28E8}">
      <dgm:prSet/>
      <dgm:spPr/>
      <dgm:t>
        <a:bodyPr/>
        <a:lstStyle/>
        <a:p>
          <a:endParaRPr lang="en-US"/>
        </a:p>
      </dgm:t>
    </dgm:pt>
    <dgm:pt modelId="{130D5EC2-AABB-43C6-895C-E2B0CC96F2FE}" type="sibTrans" cxnId="{2F987B7D-9CDB-4645-850B-095F504E28E8}">
      <dgm:prSet/>
      <dgm:spPr/>
      <dgm:t>
        <a:bodyPr/>
        <a:lstStyle/>
        <a:p>
          <a:endParaRPr lang="en-US"/>
        </a:p>
      </dgm:t>
    </dgm:pt>
    <dgm:pt modelId="{75413C06-6888-4904-BA45-864FC5EC2E32}" type="asst">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1" u="none" strike="noStrike" cap="none" normalizeH="0" baseline="0" dirty="0">
              <a:ln>
                <a:noFill/>
              </a:ln>
              <a:solidFill>
                <a:srgbClr val="FFFF00"/>
              </a:solidFill>
              <a:effectLst/>
              <a:latin typeface="Arial" charset="0"/>
              <a:cs typeface="Arial" charset="0"/>
            </a:rPr>
            <a:t>Global Functions/</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1" u="none" strike="noStrike" cap="none" normalizeH="0" baseline="0" dirty="0">
              <a:ln>
                <a:noFill/>
              </a:ln>
              <a:solidFill>
                <a:srgbClr val="FFFF00"/>
              </a:solidFill>
              <a:effectLst/>
              <a:latin typeface="Arial" charset="0"/>
              <a:cs typeface="Arial" charset="0"/>
            </a:rPr>
            <a:t>Corporate Support</a:t>
          </a:r>
          <a:endParaRPr kumimoji="0" lang="en-US" altLang="en-US" b="0" i="0" u="none" strike="noStrike" cap="none" normalizeH="0" baseline="0" dirty="0">
            <a:ln>
              <a:noFill/>
            </a:ln>
            <a:solidFill>
              <a:srgbClr val="FFFF00"/>
            </a:solidFill>
            <a:effectLst/>
            <a:latin typeface="Arial" charset="0"/>
            <a:cs typeface="Arial" charset="0"/>
          </a:endParaRPr>
        </a:p>
      </dgm:t>
    </dgm:pt>
    <dgm:pt modelId="{D26D1444-7CFD-40FD-9888-8E0DA73EC748}" type="parTrans" cxnId="{E8C16BA9-B4C0-4CF7-85B1-28AFB38B517D}">
      <dgm:prSet/>
      <dgm:spPr/>
      <dgm:t>
        <a:bodyPr/>
        <a:lstStyle/>
        <a:p>
          <a:endParaRPr lang="en-US"/>
        </a:p>
      </dgm:t>
    </dgm:pt>
    <dgm:pt modelId="{74C875FE-0F22-4003-914B-B5677292A88B}" type="sibTrans" cxnId="{E8C16BA9-B4C0-4CF7-85B1-28AFB38B517D}">
      <dgm:prSet/>
      <dgm:spPr/>
      <dgm:t>
        <a:bodyPr/>
        <a:lstStyle/>
        <a:p>
          <a:endParaRPr lang="en-US"/>
        </a:p>
      </dgm:t>
    </dgm:pt>
    <dgm:pt modelId="{269243DA-FC93-4DC3-8670-3189608844FD}">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charset="0"/>
              <a:cs typeface="Arial" charset="0"/>
            </a:rPr>
            <a:t>Product 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charset="0"/>
              <a:cs typeface="Arial" charset="0"/>
            </a:rPr>
            <a:t>Division</a:t>
          </a:r>
          <a:endParaRPr kumimoji="0" lang="en-US" altLang="en-US" b="0" i="0" u="none" strike="noStrike" cap="none" normalizeH="0" baseline="0" dirty="0">
            <a:ln>
              <a:noFill/>
            </a:ln>
            <a:solidFill>
              <a:schemeClr val="bg1"/>
            </a:solidFill>
            <a:effectLst/>
            <a:latin typeface="Arial" charset="0"/>
            <a:cs typeface="Arial" charset="0"/>
          </a:endParaRPr>
        </a:p>
      </dgm:t>
    </dgm:pt>
    <dgm:pt modelId="{5B08544B-A48B-4329-8B79-9F809AF8917B}" type="parTrans" cxnId="{47D3ABC0-F3FC-4B3A-8CF7-D084C918DE4F}">
      <dgm:prSet/>
      <dgm:spPr/>
      <dgm:t>
        <a:bodyPr/>
        <a:lstStyle/>
        <a:p>
          <a:endParaRPr lang="en-US"/>
        </a:p>
      </dgm:t>
    </dgm:pt>
    <dgm:pt modelId="{EFC458F3-0E5D-41E4-8EEC-67C32A461B69}" type="sibTrans" cxnId="{47D3ABC0-F3FC-4B3A-8CF7-D084C918DE4F}">
      <dgm:prSet/>
      <dgm:spPr/>
      <dgm:t>
        <a:bodyPr/>
        <a:lstStyle/>
        <a:p>
          <a:endParaRPr lang="en-US"/>
        </a:p>
      </dgm:t>
    </dgm:pt>
    <dgm:pt modelId="{52F77CB9-7EA6-4E74-BF51-F570F2DC026A}">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charset="0"/>
              <a:cs typeface="Arial" charset="0"/>
            </a:rPr>
            <a:t>Product 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charset="0"/>
              <a:cs typeface="Arial" charset="0"/>
            </a:rPr>
            <a:t>Division</a:t>
          </a:r>
          <a:endParaRPr kumimoji="0" lang="en-US" altLang="en-US" b="0" i="0" u="none" strike="noStrike" cap="none" normalizeH="0" baseline="0" dirty="0">
            <a:ln>
              <a:noFill/>
            </a:ln>
            <a:solidFill>
              <a:schemeClr val="bg1"/>
            </a:solidFill>
            <a:effectLst/>
            <a:latin typeface="Arial" charset="0"/>
            <a:cs typeface="Arial" charset="0"/>
          </a:endParaRPr>
        </a:p>
      </dgm:t>
    </dgm:pt>
    <dgm:pt modelId="{C7BBEA03-2053-4FCC-8C34-48EF4AA37625}" type="parTrans" cxnId="{AD77EF72-6C67-49E0-86B2-A4D71A8D7665}">
      <dgm:prSet/>
      <dgm:spPr/>
      <dgm:t>
        <a:bodyPr/>
        <a:lstStyle/>
        <a:p>
          <a:endParaRPr lang="en-US"/>
        </a:p>
      </dgm:t>
    </dgm:pt>
    <dgm:pt modelId="{4308C0F3-1735-469A-94C5-21B943752338}" type="sibTrans" cxnId="{AD77EF72-6C67-49E0-86B2-A4D71A8D7665}">
      <dgm:prSet/>
      <dgm:spPr/>
      <dgm:t>
        <a:bodyPr/>
        <a:lstStyle/>
        <a:p>
          <a:endParaRPr lang="en-US"/>
        </a:p>
      </dgm:t>
    </dgm:pt>
    <dgm:pt modelId="{42236910-E33B-4EB9-AD6B-E473EE66D319}">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charset="0"/>
              <a:cs typeface="Arial" charset="0"/>
            </a:rPr>
            <a:t>Marketing</a:t>
          </a:r>
          <a:endParaRPr kumimoji="0" lang="en-US" altLang="en-US" b="0" i="0" u="none" strike="noStrike" cap="none" normalizeH="0" baseline="0" dirty="0">
            <a:ln>
              <a:noFill/>
            </a:ln>
            <a:solidFill>
              <a:schemeClr val="bg1"/>
            </a:solidFill>
            <a:effectLst/>
            <a:latin typeface="Arial" charset="0"/>
            <a:cs typeface="Arial" charset="0"/>
          </a:endParaRPr>
        </a:p>
      </dgm:t>
    </dgm:pt>
    <dgm:pt modelId="{5198E801-2D88-456B-A08F-D465A38CDC46}" type="parTrans" cxnId="{646BE825-972E-4C20-88A7-23CE4B7BFA7A}">
      <dgm:prSet/>
      <dgm:spPr/>
      <dgm:t>
        <a:bodyPr/>
        <a:lstStyle/>
        <a:p>
          <a:endParaRPr lang="en-US"/>
        </a:p>
      </dgm:t>
    </dgm:pt>
    <dgm:pt modelId="{764572EC-7953-4985-A2B6-C1A074F1281A}" type="sibTrans" cxnId="{646BE825-972E-4C20-88A7-23CE4B7BFA7A}">
      <dgm:prSet/>
      <dgm:spPr/>
      <dgm:t>
        <a:bodyPr/>
        <a:lstStyle/>
        <a:p>
          <a:endParaRPr lang="en-US"/>
        </a:p>
      </dgm:t>
    </dgm:pt>
    <dgm:pt modelId="{8707202B-318B-4797-A26F-341A3723179B}">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charset="0"/>
              <a:cs typeface="Arial" charset="0"/>
            </a:rPr>
            <a:t>Manufacturing</a:t>
          </a:r>
          <a:endParaRPr kumimoji="0" lang="en-US" altLang="en-US" b="0" i="0" u="none" strike="noStrike" cap="none" normalizeH="0" baseline="0" dirty="0">
            <a:ln>
              <a:noFill/>
            </a:ln>
            <a:solidFill>
              <a:schemeClr val="bg1"/>
            </a:solidFill>
            <a:effectLst/>
            <a:latin typeface="Arial" charset="0"/>
            <a:cs typeface="Arial" charset="0"/>
          </a:endParaRPr>
        </a:p>
      </dgm:t>
    </dgm:pt>
    <dgm:pt modelId="{C046418C-9F65-4365-81AC-31A70FB39820}" type="parTrans" cxnId="{8359897D-45D9-47F0-830C-852ADE6DD46F}">
      <dgm:prSet/>
      <dgm:spPr/>
      <dgm:t>
        <a:bodyPr/>
        <a:lstStyle/>
        <a:p>
          <a:endParaRPr lang="en-US"/>
        </a:p>
      </dgm:t>
    </dgm:pt>
    <dgm:pt modelId="{1CA7AF17-A07E-422E-B0A5-F5EE9623AB6B}" type="sibTrans" cxnId="{8359897D-45D9-47F0-830C-852ADE6DD46F}">
      <dgm:prSet/>
      <dgm:spPr/>
      <dgm:t>
        <a:bodyPr/>
        <a:lstStyle/>
        <a:p>
          <a:endParaRPr lang="en-US"/>
        </a:p>
      </dgm:t>
    </dgm:pt>
    <dgm:pt modelId="{E498F99C-312B-4EE5-88F5-81F9A21CED1F}">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charset="0"/>
              <a:cs typeface="Arial" charset="0"/>
            </a:rPr>
            <a:t>Country 1</a:t>
          </a:r>
          <a:endParaRPr kumimoji="0" lang="en-US" altLang="en-US" b="0" i="0" u="none" strike="noStrike" cap="none" normalizeH="0" baseline="0" dirty="0">
            <a:ln>
              <a:noFill/>
            </a:ln>
            <a:solidFill>
              <a:schemeClr val="bg1"/>
            </a:solidFill>
            <a:effectLst/>
            <a:latin typeface="Arial" charset="0"/>
            <a:cs typeface="Arial" charset="0"/>
          </a:endParaRPr>
        </a:p>
      </dgm:t>
    </dgm:pt>
    <dgm:pt modelId="{B343D775-2F8D-47DD-9874-6272B0A87A34}" type="parTrans" cxnId="{344CD266-56BF-4167-87CE-86E223C92261}">
      <dgm:prSet/>
      <dgm:spPr/>
      <dgm:t>
        <a:bodyPr/>
        <a:lstStyle/>
        <a:p>
          <a:endParaRPr lang="en-US"/>
        </a:p>
      </dgm:t>
    </dgm:pt>
    <dgm:pt modelId="{4B747529-057A-424C-B8F1-58B914AA5883}" type="sibTrans" cxnId="{344CD266-56BF-4167-87CE-86E223C92261}">
      <dgm:prSet/>
      <dgm:spPr/>
      <dgm:t>
        <a:bodyPr/>
        <a:lstStyle/>
        <a:p>
          <a:endParaRPr lang="en-US"/>
        </a:p>
      </dgm:t>
    </dgm:pt>
    <dgm:pt modelId="{FCE2583D-037D-4573-8537-672D32C121B4}">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charset="0"/>
              <a:cs typeface="Arial" charset="0"/>
            </a:rPr>
            <a:t>Country 2</a:t>
          </a:r>
          <a:endParaRPr kumimoji="0" lang="en-US" altLang="en-US" b="0" i="0" u="none" strike="noStrike" cap="none" normalizeH="0" baseline="0" dirty="0">
            <a:ln>
              <a:noFill/>
            </a:ln>
            <a:solidFill>
              <a:schemeClr val="bg1"/>
            </a:solidFill>
            <a:effectLst/>
            <a:latin typeface="Arial" charset="0"/>
            <a:cs typeface="Arial" charset="0"/>
          </a:endParaRPr>
        </a:p>
      </dgm:t>
    </dgm:pt>
    <dgm:pt modelId="{4350ACF2-8C1B-4919-9A1D-A642FDACE798}" type="parTrans" cxnId="{A5997D32-4488-4526-B6C7-B1CC8E522664}">
      <dgm:prSet/>
      <dgm:spPr/>
      <dgm:t>
        <a:bodyPr/>
        <a:lstStyle/>
        <a:p>
          <a:endParaRPr lang="en-US"/>
        </a:p>
      </dgm:t>
    </dgm:pt>
    <dgm:pt modelId="{B8C2088F-4B63-46D0-82DC-69BF78450488}" type="sibTrans" cxnId="{A5997D32-4488-4526-B6C7-B1CC8E522664}">
      <dgm:prSet/>
      <dgm:spPr/>
      <dgm:t>
        <a:bodyPr/>
        <a:lstStyle/>
        <a:p>
          <a:endParaRPr lang="en-US"/>
        </a:p>
      </dgm:t>
    </dgm:pt>
    <dgm:pt modelId="{8F8DAC20-E17B-46B3-9103-4ADF0A156AD1}">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charset="0"/>
              <a:cs typeface="Arial" charset="0"/>
            </a:rPr>
            <a:t>Country 3</a:t>
          </a:r>
          <a:endParaRPr kumimoji="0" lang="en-US" altLang="en-US" b="0" i="0" u="none" strike="noStrike" cap="none" normalizeH="0" baseline="0" dirty="0">
            <a:ln>
              <a:noFill/>
            </a:ln>
            <a:solidFill>
              <a:schemeClr val="bg1"/>
            </a:solidFill>
            <a:effectLst/>
            <a:latin typeface="Arial" charset="0"/>
            <a:cs typeface="Arial" charset="0"/>
          </a:endParaRPr>
        </a:p>
      </dgm:t>
    </dgm:pt>
    <dgm:pt modelId="{00A0BDE6-67C5-4E4E-AC87-E1C33D5ADC3B}" type="parTrans" cxnId="{BF8B7DBB-E352-42A8-B353-7F41F3232025}">
      <dgm:prSet/>
      <dgm:spPr/>
      <dgm:t>
        <a:bodyPr/>
        <a:lstStyle/>
        <a:p>
          <a:endParaRPr lang="en-US"/>
        </a:p>
      </dgm:t>
    </dgm:pt>
    <dgm:pt modelId="{CEBCF475-ADC6-4CAC-86F4-6C095A563151}" type="sibTrans" cxnId="{BF8B7DBB-E352-42A8-B353-7F41F3232025}">
      <dgm:prSet/>
      <dgm:spPr/>
      <dgm:t>
        <a:bodyPr/>
        <a:lstStyle/>
        <a:p>
          <a:endParaRPr lang="en-US"/>
        </a:p>
      </dgm:t>
    </dgm:pt>
    <dgm:pt modelId="{4C22DE5D-15DF-469E-9E12-3DAD6C382C67}">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charset="0"/>
              <a:cs typeface="Arial" charset="0"/>
            </a:rPr>
            <a:t>Product 3</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Arial" charset="0"/>
              <a:cs typeface="Arial" charset="0"/>
            </a:rPr>
            <a:t>Division</a:t>
          </a:r>
          <a:endParaRPr kumimoji="0" lang="en-US" altLang="en-US" b="0" i="0" u="none" strike="noStrike" cap="none" normalizeH="0" baseline="0" dirty="0">
            <a:ln>
              <a:noFill/>
            </a:ln>
            <a:solidFill>
              <a:schemeClr val="bg1"/>
            </a:solidFill>
            <a:effectLst/>
            <a:latin typeface="Arial" charset="0"/>
            <a:cs typeface="Arial" charset="0"/>
          </a:endParaRPr>
        </a:p>
      </dgm:t>
    </dgm:pt>
    <dgm:pt modelId="{E48F829E-C147-49E8-9271-E8CED8F50693}" type="parTrans" cxnId="{0674198A-1C7E-4763-916A-BAECB8586F53}">
      <dgm:prSet/>
      <dgm:spPr/>
      <dgm:t>
        <a:bodyPr/>
        <a:lstStyle/>
        <a:p>
          <a:endParaRPr lang="en-US"/>
        </a:p>
      </dgm:t>
    </dgm:pt>
    <dgm:pt modelId="{832E40A7-5154-4CDA-B7A3-38C434E2B0A0}" type="sibTrans" cxnId="{0674198A-1C7E-4763-916A-BAECB8586F53}">
      <dgm:prSet/>
      <dgm:spPr/>
      <dgm:t>
        <a:bodyPr/>
        <a:lstStyle/>
        <a:p>
          <a:endParaRPr lang="en-US"/>
        </a:p>
      </dgm:t>
    </dgm:pt>
    <dgm:pt modelId="{4984EC1B-AA53-4FA4-847B-3D73D3C4A960}" type="pres">
      <dgm:prSet presAssocID="{BA826FFC-0371-44A1-A824-54AFB67668D5}" presName="hierChild1" presStyleCnt="0">
        <dgm:presLayoutVars>
          <dgm:orgChart val="1"/>
          <dgm:chPref val="1"/>
          <dgm:dir/>
          <dgm:animOne val="branch"/>
          <dgm:animLvl val="lvl"/>
          <dgm:resizeHandles/>
        </dgm:presLayoutVars>
      </dgm:prSet>
      <dgm:spPr/>
    </dgm:pt>
    <dgm:pt modelId="{7905F84E-EBFF-4E6F-A141-F03E19C54B66}" type="pres">
      <dgm:prSet presAssocID="{9C3EFA45-4461-4B6E-907B-D49B9719011E}" presName="hierRoot1" presStyleCnt="0">
        <dgm:presLayoutVars>
          <dgm:hierBranch/>
        </dgm:presLayoutVars>
      </dgm:prSet>
      <dgm:spPr/>
    </dgm:pt>
    <dgm:pt modelId="{A6146F11-A6A9-42FC-8684-806F44EA55D1}" type="pres">
      <dgm:prSet presAssocID="{9C3EFA45-4461-4B6E-907B-D49B9719011E}" presName="rootComposite1" presStyleCnt="0"/>
      <dgm:spPr/>
    </dgm:pt>
    <dgm:pt modelId="{8A97A174-4EB6-449C-A8B2-28C6BAA2B5EF}" type="pres">
      <dgm:prSet presAssocID="{9C3EFA45-4461-4B6E-907B-D49B9719011E}" presName="rootText1" presStyleLbl="node0" presStyleIdx="0" presStyleCnt="1">
        <dgm:presLayoutVars>
          <dgm:chPref val="3"/>
        </dgm:presLayoutVars>
      </dgm:prSet>
      <dgm:spPr/>
    </dgm:pt>
    <dgm:pt modelId="{C05A925A-15A9-4E0F-B2E7-B51D1CB42587}" type="pres">
      <dgm:prSet presAssocID="{9C3EFA45-4461-4B6E-907B-D49B9719011E}" presName="rootConnector1" presStyleLbl="node1" presStyleIdx="0" presStyleCnt="0"/>
      <dgm:spPr/>
    </dgm:pt>
    <dgm:pt modelId="{C8C86B3B-097B-439F-8207-4C258B57FEB5}" type="pres">
      <dgm:prSet presAssocID="{9C3EFA45-4461-4B6E-907B-D49B9719011E}" presName="hierChild2" presStyleCnt="0"/>
      <dgm:spPr/>
    </dgm:pt>
    <dgm:pt modelId="{6FFAAB15-0D45-4305-ADA0-21E4F6537EFF}" type="pres">
      <dgm:prSet presAssocID="{5B08544B-A48B-4329-8B79-9F809AF8917B}" presName="Name35" presStyleLbl="parChTrans1D2" presStyleIdx="0" presStyleCnt="4"/>
      <dgm:spPr/>
    </dgm:pt>
    <dgm:pt modelId="{7F41E531-9808-4D4E-942B-3E087DD1F7C5}" type="pres">
      <dgm:prSet presAssocID="{269243DA-FC93-4DC3-8670-3189608844FD}" presName="hierRoot2" presStyleCnt="0">
        <dgm:presLayoutVars>
          <dgm:hierBranch/>
        </dgm:presLayoutVars>
      </dgm:prSet>
      <dgm:spPr/>
    </dgm:pt>
    <dgm:pt modelId="{568A7232-7AB8-4738-B4DF-740E5440BBB1}" type="pres">
      <dgm:prSet presAssocID="{269243DA-FC93-4DC3-8670-3189608844FD}" presName="rootComposite" presStyleCnt="0"/>
      <dgm:spPr/>
    </dgm:pt>
    <dgm:pt modelId="{54BB4341-A16F-4B79-8ACA-EACF9AAB11E0}" type="pres">
      <dgm:prSet presAssocID="{269243DA-FC93-4DC3-8670-3189608844FD}" presName="rootText" presStyleLbl="node2" presStyleIdx="0" presStyleCnt="3">
        <dgm:presLayoutVars>
          <dgm:chPref val="3"/>
        </dgm:presLayoutVars>
      </dgm:prSet>
      <dgm:spPr/>
    </dgm:pt>
    <dgm:pt modelId="{85A4B045-FEA0-4A58-A53E-3CB8D16FF4FA}" type="pres">
      <dgm:prSet presAssocID="{269243DA-FC93-4DC3-8670-3189608844FD}" presName="rootConnector" presStyleLbl="node2" presStyleIdx="0" presStyleCnt="3"/>
      <dgm:spPr/>
    </dgm:pt>
    <dgm:pt modelId="{6BD3AF8A-3A64-4B1B-AF33-80A87A2AFFD5}" type="pres">
      <dgm:prSet presAssocID="{269243DA-FC93-4DC3-8670-3189608844FD}" presName="hierChild4" presStyleCnt="0"/>
      <dgm:spPr/>
    </dgm:pt>
    <dgm:pt modelId="{A715EA41-B98C-48E8-8308-5253F91790F9}" type="pres">
      <dgm:prSet presAssocID="{269243DA-FC93-4DC3-8670-3189608844FD}" presName="hierChild5" presStyleCnt="0"/>
      <dgm:spPr/>
    </dgm:pt>
    <dgm:pt modelId="{C9369481-0842-44B2-8B9A-CE45EA2533FE}" type="pres">
      <dgm:prSet presAssocID="{C7BBEA03-2053-4FCC-8C34-48EF4AA37625}" presName="Name35" presStyleLbl="parChTrans1D2" presStyleIdx="1" presStyleCnt="4"/>
      <dgm:spPr/>
    </dgm:pt>
    <dgm:pt modelId="{6900472C-01C6-472B-9D7D-7EDBE3FD8575}" type="pres">
      <dgm:prSet presAssocID="{52F77CB9-7EA6-4E74-BF51-F570F2DC026A}" presName="hierRoot2" presStyleCnt="0">
        <dgm:presLayoutVars>
          <dgm:hierBranch/>
        </dgm:presLayoutVars>
      </dgm:prSet>
      <dgm:spPr/>
    </dgm:pt>
    <dgm:pt modelId="{B4E34120-25C1-4B6B-9FC1-949043ED4F05}" type="pres">
      <dgm:prSet presAssocID="{52F77CB9-7EA6-4E74-BF51-F570F2DC026A}" presName="rootComposite" presStyleCnt="0"/>
      <dgm:spPr/>
    </dgm:pt>
    <dgm:pt modelId="{81442FEC-3C0E-498A-B3C9-9415FC4D2E2B}" type="pres">
      <dgm:prSet presAssocID="{52F77CB9-7EA6-4E74-BF51-F570F2DC026A}" presName="rootText" presStyleLbl="node2" presStyleIdx="1" presStyleCnt="3">
        <dgm:presLayoutVars>
          <dgm:chPref val="3"/>
        </dgm:presLayoutVars>
      </dgm:prSet>
      <dgm:spPr/>
    </dgm:pt>
    <dgm:pt modelId="{BEF6E9D1-7419-47B2-8D56-0C7C846ED4E5}" type="pres">
      <dgm:prSet presAssocID="{52F77CB9-7EA6-4E74-BF51-F570F2DC026A}" presName="rootConnector" presStyleLbl="node2" presStyleIdx="1" presStyleCnt="3"/>
      <dgm:spPr/>
    </dgm:pt>
    <dgm:pt modelId="{725EDEBC-AE08-49F5-B081-B41A35F5E8B4}" type="pres">
      <dgm:prSet presAssocID="{52F77CB9-7EA6-4E74-BF51-F570F2DC026A}" presName="hierChild4" presStyleCnt="0"/>
      <dgm:spPr/>
    </dgm:pt>
    <dgm:pt modelId="{80FE946E-9B90-403F-B3FD-1734E4B2820D}" type="pres">
      <dgm:prSet presAssocID="{5198E801-2D88-456B-A08F-D465A38CDC46}" presName="Name35" presStyleLbl="parChTrans1D3" presStyleIdx="0" presStyleCnt="2"/>
      <dgm:spPr/>
    </dgm:pt>
    <dgm:pt modelId="{7AA036E7-02CB-4A40-9D72-91C7602D8332}" type="pres">
      <dgm:prSet presAssocID="{42236910-E33B-4EB9-AD6B-E473EE66D319}" presName="hierRoot2" presStyleCnt="0">
        <dgm:presLayoutVars>
          <dgm:hierBranch val="r"/>
        </dgm:presLayoutVars>
      </dgm:prSet>
      <dgm:spPr/>
    </dgm:pt>
    <dgm:pt modelId="{73064592-AA82-49A5-B901-09C6ECC2EA59}" type="pres">
      <dgm:prSet presAssocID="{42236910-E33B-4EB9-AD6B-E473EE66D319}" presName="rootComposite" presStyleCnt="0"/>
      <dgm:spPr/>
    </dgm:pt>
    <dgm:pt modelId="{791FCD29-495F-468A-9997-6AF3431AF3C7}" type="pres">
      <dgm:prSet presAssocID="{42236910-E33B-4EB9-AD6B-E473EE66D319}" presName="rootText" presStyleLbl="node3" presStyleIdx="0" presStyleCnt="2">
        <dgm:presLayoutVars>
          <dgm:chPref val="3"/>
        </dgm:presLayoutVars>
      </dgm:prSet>
      <dgm:spPr/>
    </dgm:pt>
    <dgm:pt modelId="{BEFF566B-6235-4005-978A-F4BB891E2CFA}" type="pres">
      <dgm:prSet presAssocID="{42236910-E33B-4EB9-AD6B-E473EE66D319}" presName="rootConnector" presStyleLbl="node3" presStyleIdx="0" presStyleCnt="2"/>
      <dgm:spPr/>
    </dgm:pt>
    <dgm:pt modelId="{A11E06B0-4491-4457-B613-4011E7A35B0F}" type="pres">
      <dgm:prSet presAssocID="{42236910-E33B-4EB9-AD6B-E473EE66D319}" presName="hierChild4" presStyleCnt="0"/>
      <dgm:spPr/>
    </dgm:pt>
    <dgm:pt modelId="{F719ED0F-5DFE-4B25-8318-2C55DF016A37}" type="pres">
      <dgm:prSet presAssocID="{42236910-E33B-4EB9-AD6B-E473EE66D319}" presName="hierChild5" presStyleCnt="0"/>
      <dgm:spPr/>
    </dgm:pt>
    <dgm:pt modelId="{4C14CFBC-74EC-44CD-9895-CCD22F9A6ED6}" type="pres">
      <dgm:prSet presAssocID="{C046418C-9F65-4365-81AC-31A70FB39820}" presName="Name35" presStyleLbl="parChTrans1D3" presStyleIdx="1" presStyleCnt="2"/>
      <dgm:spPr/>
    </dgm:pt>
    <dgm:pt modelId="{08F5B9EC-EE60-4FD8-8D95-4EC6F33E7E3A}" type="pres">
      <dgm:prSet presAssocID="{8707202B-318B-4797-A26F-341A3723179B}" presName="hierRoot2" presStyleCnt="0">
        <dgm:presLayoutVars>
          <dgm:hierBranch/>
        </dgm:presLayoutVars>
      </dgm:prSet>
      <dgm:spPr/>
    </dgm:pt>
    <dgm:pt modelId="{E2446AF8-E61C-46BB-B3BA-7BEBB3E071FB}" type="pres">
      <dgm:prSet presAssocID="{8707202B-318B-4797-A26F-341A3723179B}" presName="rootComposite" presStyleCnt="0"/>
      <dgm:spPr/>
    </dgm:pt>
    <dgm:pt modelId="{DEF94255-4BD2-4293-AD86-7F87D94E52B4}" type="pres">
      <dgm:prSet presAssocID="{8707202B-318B-4797-A26F-341A3723179B}" presName="rootText" presStyleLbl="node3" presStyleIdx="1" presStyleCnt="2">
        <dgm:presLayoutVars>
          <dgm:chPref val="3"/>
        </dgm:presLayoutVars>
      </dgm:prSet>
      <dgm:spPr/>
    </dgm:pt>
    <dgm:pt modelId="{687A3B13-6CAA-4D06-9B19-A3E91F83EAE7}" type="pres">
      <dgm:prSet presAssocID="{8707202B-318B-4797-A26F-341A3723179B}" presName="rootConnector" presStyleLbl="node3" presStyleIdx="1" presStyleCnt="2"/>
      <dgm:spPr/>
    </dgm:pt>
    <dgm:pt modelId="{D8022AAE-94E0-4C8A-858F-58D5A352E1E2}" type="pres">
      <dgm:prSet presAssocID="{8707202B-318B-4797-A26F-341A3723179B}" presName="hierChild4" presStyleCnt="0"/>
      <dgm:spPr/>
    </dgm:pt>
    <dgm:pt modelId="{0BCBA96A-A67B-48D8-845C-3FF0E436A00C}" type="pres">
      <dgm:prSet presAssocID="{B343D775-2F8D-47DD-9874-6272B0A87A34}" presName="Name35" presStyleLbl="parChTrans1D4" presStyleIdx="0" presStyleCnt="3"/>
      <dgm:spPr/>
    </dgm:pt>
    <dgm:pt modelId="{4BDA11A9-B978-42F6-BE88-5A4D91D69A8D}" type="pres">
      <dgm:prSet presAssocID="{E498F99C-312B-4EE5-88F5-81F9A21CED1F}" presName="hierRoot2" presStyleCnt="0">
        <dgm:presLayoutVars>
          <dgm:hierBranch val="r"/>
        </dgm:presLayoutVars>
      </dgm:prSet>
      <dgm:spPr/>
    </dgm:pt>
    <dgm:pt modelId="{E27B1F06-3C03-44A0-BBDB-B4919FD9F817}" type="pres">
      <dgm:prSet presAssocID="{E498F99C-312B-4EE5-88F5-81F9A21CED1F}" presName="rootComposite" presStyleCnt="0"/>
      <dgm:spPr/>
    </dgm:pt>
    <dgm:pt modelId="{F95F5C69-B75D-4EE8-A43B-0D994F73832E}" type="pres">
      <dgm:prSet presAssocID="{E498F99C-312B-4EE5-88F5-81F9A21CED1F}" presName="rootText" presStyleLbl="node4" presStyleIdx="0" presStyleCnt="3">
        <dgm:presLayoutVars>
          <dgm:chPref val="3"/>
        </dgm:presLayoutVars>
      </dgm:prSet>
      <dgm:spPr/>
    </dgm:pt>
    <dgm:pt modelId="{A4CF4021-3345-4910-A925-4DE673AE5E09}" type="pres">
      <dgm:prSet presAssocID="{E498F99C-312B-4EE5-88F5-81F9A21CED1F}" presName="rootConnector" presStyleLbl="node4" presStyleIdx="0" presStyleCnt="3"/>
      <dgm:spPr/>
    </dgm:pt>
    <dgm:pt modelId="{D44919E8-8572-4DBE-B710-61C8B7A8FA3B}" type="pres">
      <dgm:prSet presAssocID="{E498F99C-312B-4EE5-88F5-81F9A21CED1F}" presName="hierChild4" presStyleCnt="0"/>
      <dgm:spPr/>
    </dgm:pt>
    <dgm:pt modelId="{712C1B0A-03C3-4CAA-9A15-94D0B472FB12}" type="pres">
      <dgm:prSet presAssocID="{E498F99C-312B-4EE5-88F5-81F9A21CED1F}" presName="hierChild5" presStyleCnt="0"/>
      <dgm:spPr/>
    </dgm:pt>
    <dgm:pt modelId="{16336E6E-7CBE-4491-9A44-CCEE3C61563C}" type="pres">
      <dgm:prSet presAssocID="{4350ACF2-8C1B-4919-9A1D-A642FDACE798}" presName="Name35" presStyleLbl="parChTrans1D4" presStyleIdx="1" presStyleCnt="3"/>
      <dgm:spPr/>
    </dgm:pt>
    <dgm:pt modelId="{A5979478-932C-405D-9830-0A5093AD26D1}" type="pres">
      <dgm:prSet presAssocID="{FCE2583D-037D-4573-8537-672D32C121B4}" presName="hierRoot2" presStyleCnt="0">
        <dgm:presLayoutVars>
          <dgm:hierBranch val="r"/>
        </dgm:presLayoutVars>
      </dgm:prSet>
      <dgm:spPr/>
    </dgm:pt>
    <dgm:pt modelId="{02CD96A3-0DA4-4F95-BA39-43827454A451}" type="pres">
      <dgm:prSet presAssocID="{FCE2583D-037D-4573-8537-672D32C121B4}" presName="rootComposite" presStyleCnt="0"/>
      <dgm:spPr/>
    </dgm:pt>
    <dgm:pt modelId="{21BBAB62-47E1-4E8A-93B9-E1E381D92D68}" type="pres">
      <dgm:prSet presAssocID="{FCE2583D-037D-4573-8537-672D32C121B4}" presName="rootText" presStyleLbl="node4" presStyleIdx="1" presStyleCnt="3">
        <dgm:presLayoutVars>
          <dgm:chPref val="3"/>
        </dgm:presLayoutVars>
      </dgm:prSet>
      <dgm:spPr/>
    </dgm:pt>
    <dgm:pt modelId="{0C8F5DF1-3AE7-4F70-9414-2E80C9820EAA}" type="pres">
      <dgm:prSet presAssocID="{FCE2583D-037D-4573-8537-672D32C121B4}" presName="rootConnector" presStyleLbl="node4" presStyleIdx="1" presStyleCnt="3"/>
      <dgm:spPr/>
    </dgm:pt>
    <dgm:pt modelId="{4DB53E7A-3076-403E-9285-E683F2F5F8B8}" type="pres">
      <dgm:prSet presAssocID="{FCE2583D-037D-4573-8537-672D32C121B4}" presName="hierChild4" presStyleCnt="0"/>
      <dgm:spPr/>
    </dgm:pt>
    <dgm:pt modelId="{4E1A9B11-B61E-49B9-A7EF-45F2196A7CCD}" type="pres">
      <dgm:prSet presAssocID="{FCE2583D-037D-4573-8537-672D32C121B4}" presName="hierChild5" presStyleCnt="0"/>
      <dgm:spPr/>
    </dgm:pt>
    <dgm:pt modelId="{15568A19-5626-4D66-8DA2-2112ADE73101}" type="pres">
      <dgm:prSet presAssocID="{00A0BDE6-67C5-4E4E-AC87-E1C33D5ADC3B}" presName="Name35" presStyleLbl="parChTrans1D4" presStyleIdx="2" presStyleCnt="3"/>
      <dgm:spPr/>
    </dgm:pt>
    <dgm:pt modelId="{C5ADA6EB-6824-43E6-AE97-FB3D82766C64}" type="pres">
      <dgm:prSet presAssocID="{8F8DAC20-E17B-46B3-9103-4ADF0A156AD1}" presName="hierRoot2" presStyleCnt="0">
        <dgm:presLayoutVars>
          <dgm:hierBranch val="r"/>
        </dgm:presLayoutVars>
      </dgm:prSet>
      <dgm:spPr/>
    </dgm:pt>
    <dgm:pt modelId="{734ACB00-019E-46BE-B8A5-C5EA372E46B4}" type="pres">
      <dgm:prSet presAssocID="{8F8DAC20-E17B-46B3-9103-4ADF0A156AD1}" presName="rootComposite" presStyleCnt="0"/>
      <dgm:spPr/>
    </dgm:pt>
    <dgm:pt modelId="{5DFFE36B-EA2C-46E3-8CA5-A36D2189B1E7}" type="pres">
      <dgm:prSet presAssocID="{8F8DAC20-E17B-46B3-9103-4ADF0A156AD1}" presName="rootText" presStyleLbl="node4" presStyleIdx="2" presStyleCnt="3">
        <dgm:presLayoutVars>
          <dgm:chPref val="3"/>
        </dgm:presLayoutVars>
      </dgm:prSet>
      <dgm:spPr/>
    </dgm:pt>
    <dgm:pt modelId="{7E44777C-9AB0-4E4E-B5DA-C3FFC86EDA80}" type="pres">
      <dgm:prSet presAssocID="{8F8DAC20-E17B-46B3-9103-4ADF0A156AD1}" presName="rootConnector" presStyleLbl="node4" presStyleIdx="2" presStyleCnt="3"/>
      <dgm:spPr/>
    </dgm:pt>
    <dgm:pt modelId="{8FA4D450-03F6-4DB4-9FB9-0459874D7843}" type="pres">
      <dgm:prSet presAssocID="{8F8DAC20-E17B-46B3-9103-4ADF0A156AD1}" presName="hierChild4" presStyleCnt="0"/>
      <dgm:spPr/>
    </dgm:pt>
    <dgm:pt modelId="{97BC87E2-6A68-45CD-B129-6329984D1496}" type="pres">
      <dgm:prSet presAssocID="{8F8DAC20-E17B-46B3-9103-4ADF0A156AD1}" presName="hierChild5" presStyleCnt="0"/>
      <dgm:spPr/>
    </dgm:pt>
    <dgm:pt modelId="{F9B49750-857B-4340-A7C2-E738EF6857D2}" type="pres">
      <dgm:prSet presAssocID="{8707202B-318B-4797-A26F-341A3723179B}" presName="hierChild5" presStyleCnt="0"/>
      <dgm:spPr/>
    </dgm:pt>
    <dgm:pt modelId="{F521EABA-1F2D-45F7-8256-F8AB8AD97960}" type="pres">
      <dgm:prSet presAssocID="{52F77CB9-7EA6-4E74-BF51-F570F2DC026A}" presName="hierChild5" presStyleCnt="0"/>
      <dgm:spPr/>
    </dgm:pt>
    <dgm:pt modelId="{12C4F075-88A3-4565-8239-45510069C1E4}" type="pres">
      <dgm:prSet presAssocID="{E48F829E-C147-49E8-9271-E8CED8F50693}" presName="Name35" presStyleLbl="parChTrans1D2" presStyleIdx="2" presStyleCnt="4"/>
      <dgm:spPr/>
    </dgm:pt>
    <dgm:pt modelId="{784856F8-CCE7-4600-9966-A9838D096EA8}" type="pres">
      <dgm:prSet presAssocID="{4C22DE5D-15DF-469E-9E12-3DAD6C382C67}" presName="hierRoot2" presStyleCnt="0">
        <dgm:presLayoutVars>
          <dgm:hierBranch/>
        </dgm:presLayoutVars>
      </dgm:prSet>
      <dgm:spPr/>
    </dgm:pt>
    <dgm:pt modelId="{32D1C3DE-0689-4B02-B8DD-6AED36911E74}" type="pres">
      <dgm:prSet presAssocID="{4C22DE5D-15DF-469E-9E12-3DAD6C382C67}" presName="rootComposite" presStyleCnt="0"/>
      <dgm:spPr/>
    </dgm:pt>
    <dgm:pt modelId="{1A5DB09C-AAFD-4989-A1AF-D123292F9FF0}" type="pres">
      <dgm:prSet presAssocID="{4C22DE5D-15DF-469E-9E12-3DAD6C382C67}" presName="rootText" presStyleLbl="node2" presStyleIdx="2" presStyleCnt="3">
        <dgm:presLayoutVars>
          <dgm:chPref val="3"/>
        </dgm:presLayoutVars>
      </dgm:prSet>
      <dgm:spPr/>
    </dgm:pt>
    <dgm:pt modelId="{281E63A0-B5F4-4D97-809E-0E819EF56462}" type="pres">
      <dgm:prSet presAssocID="{4C22DE5D-15DF-469E-9E12-3DAD6C382C67}" presName="rootConnector" presStyleLbl="node2" presStyleIdx="2" presStyleCnt="3"/>
      <dgm:spPr/>
    </dgm:pt>
    <dgm:pt modelId="{61B07B3C-12A3-4CC5-ACF5-B266188D80DF}" type="pres">
      <dgm:prSet presAssocID="{4C22DE5D-15DF-469E-9E12-3DAD6C382C67}" presName="hierChild4" presStyleCnt="0"/>
      <dgm:spPr/>
    </dgm:pt>
    <dgm:pt modelId="{C956352D-E749-46AC-BC7C-A2C37940C532}" type="pres">
      <dgm:prSet presAssocID="{4C22DE5D-15DF-469E-9E12-3DAD6C382C67}" presName="hierChild5" presStyleCnt="0"/>
      <dgm:spPr/>
    </dgm:pt>
    <dgm:pt modelId="{C5152B2D-038B-40EA-AE2F-6CD1A66DB3B7}" type="pres">
      <dgm:prSet presAssocID="{9C3EFA45-4461-4B6E-907B-D49B9719011E}" presName="hierChild3" presStyleCnt="0"/>
      <dgm:spPr/>
    </dgm:pt>
    <dgm:pt modelId="{ABC6E60B-A6D8-4CFE-9117-5C7A7A586D7F}" type="pres">
      <dgm:prSet presAssocID="{D26D1444-7CFD-40FD-9888-8E0DA73EC748}" presName="Name111" presStyleLbl="parChTrans1D2" presStyleIdx="3" presStyleCnt="4"/>
      <dgm:spPr/>
    </dgm:pt>
    <dgm:pt modelId="{9E87D2D4-B4B9-4D1E-BDB6-7DE9D2CF9CDA}" type="pres">
      <dgm:prSet presAssocID="{75413C06-6888-4904-BA45-864FC5EC2E32}" presName="hierRoot3" presStyleCnt="0">
        <dgm:presLayoutVars>
          <dgm:hierBranch/>
        </dgm:presLayoutVars>
      </dgm:prSet>
      <dgm:spPr/>
    </dgm:pt>
    <dgm:pt modelId="{18024BB4-9736-41F1-B1F2-9B8358F134EE}" type="pres">
      <dgm:prSet presAssocID="{75413C06-6888-4904-BA45-864FC5EC2E32}" presName="rootComposite3" presStyleCnt="0"/>
      <dgm:spPr/>
    </dgm:pt>
    <dgm:pt modelId="{D108996F-11BD-4641-BEAF-961200BC610D}" type="pres">
      <dgm:prSet presAssocID="{75413C06-6888-4904-BA45-864FC5EC2E32}" presName="rootText3" presStyleLbl="asst1" presStyleIdx="0" presStyleCnt="1">
        <dgm:presLayoutVars>
          <dgm:chPref val="3"/>
        </dgm:presLayoutVars>
      </dgm:prSet>
      <dgm:spPr/>
    </dgm:pt>
    <dgm:pt modelId="{FDFECBA0-DA64-4B22-B4C3-5937FF3FF3D9}" type="pres">
      <dgm:prSet presAssocID="{75413C06-6888-4904-BA45-864FC5EC2E32}" presName="rootConnector3" presStyleLbl="asst1" presStyleIdx="0" presStyleCnt="1"/>
      <dgm:spPr/>
    </dgm:pt>
    <dgm:pt modelId="{FEEE78B2-4019-45D7-9C85-E130FA3AC9A6}" type="pres">
      <dgm:prSet presAssocID="{75413C06-6888-4904-BA45-864FC5EC2E32}" presName="hierChild6" presStyleCnt="0"/>
      <dgm:spPr/>
    </dgm:pt>
    <dgm:pt modelId="{E94C1307-6781-49EF-BEC4-076E86A915E5}" type="pres">
      <dgm:prSet presAssocID="{75413C06-6888-4904-BA45-864FC5EC2E32}" presName="hierChild7" presStyleCnt="0"/>
      <dgm:spPr/>
    </dgm:pt>
  </dgm:ptLst>
  <dgm:cxnLst>
    <dgm:cxn modelId="{3C337E03-B1CD-47CB-A932-B55DD1583625}" type="presOf" srcId="{D26D1444-7CFD-40FD-9888-8E0DA73EC748}" destId="{ABC6E60B-A6D8-4CFE-9117-5C7A7A586D7F}" srcOrd="0" destOrd="0" presId="urn:microsoft.com/office/officeart/2005/8/layout/orgChart1"/>
    <dgm:cxn modelId="{9D20BE05-782A-4EA0-8602-AD5F8F400632}" type="presOf" srcId="{269243DA-FC93-4DC3-8670-3189608844FD}" destId="{85A4B045-FEA0-4A58-A53E-3CB8D16FF4FA}" srcOrd="1" destOrd="0" presId="urn:microsoft.com/office/officeart/2005/8/layout/orgChart1"/>
    <dgm:cxn modelId="{5906B808-B78F-47D0-8415-C70FD75AFF1C}" type="presOf" srcId="{E498F99C-312B-4EE5-88F5-81F9A21CED1F}" destId="{F95F5C69-B75D-4EE8-A43B-0D994F73832E}" srcOrd="0" destOrd="0" presId="urn:microsoft.com/office/officeart/2005/8/layout/orgChart1"/>
    <dgm:cxn modelId="{2EC4DF11-A54D-4500-A2C1-434458E9DD03}" type="presOf" srcId="{BA826FFC-0371-44A1-A824-54AFB67668D5}" destId="{4984EC1B-AA53-4FA4-847B-3D73D3C4A960}" srcOrd="0" destOrd="0" presId="urn:microsoft.com/office/officeart/2005/8/layout/orgChart1"/>
    <dgm:cxn modelId="{96B0FF21-33E8-44EA-B9F1-58324E3BE890}" type="presOf" srcId="{C7BBEA03-2053-4FCC-8C34-48EF4AA37625}" destId="{C9369481-0842-44B2-8B9A-CE45EA2533FE}" srcOrd="0" destOrd="0" presId="urn:microsoft.com/office/officeart/2005/8/layout/orgChart1"/>
    <dgm:cxn modelId="{47B2AF24-57E4-4D68-AE07-65725B445AA5}" type="presOf" srcId="{9C3EFA45-4461-4B6E-907B-D49B9719011E}" destId="{C05A925A-15A9-4E0F-B2E7-B51D1CB42587}" srcOrd="1" destOrd="0" presId="urn:microsoft.com/office/officeart/2005/8/layout/orgChart1"/>
    <dgm:cxn modelId="{646BE825-972E-4C20-88A7-23CE4B7BFA7A}" srcId="{52F77CB9-7EA6-4E74-BF51-F570F2DC026A}" destId="{42236910-E33B-4EB9-AD6B-E473EE66D319}" srcOrd="0" destOrd="0" parTransId="{5198E801-2D88-456B-A08F-D465A38CDC46}" sibTransId="{764572EC-7953-4985-A2B6-C1A074F1281A}"/>
    <dgm:cxn modelId="{2D6C8E2B-547E-438F-BC8A-855D25E42C95}" type="presOf" srcId="{52F77CB9-7EA6-4E74-BF51-F570F2DC026A}" destId="{81442FEC-3C0E-498A-B3C9-9415FC4D2E2B}" srcOrd="0" destOrd="0" presId="urn:microsoft.com/office/officeart/2005/8/layout/orgChart1"/>
    <dgm:cxn modelId="{A5997D32-4488-4526-B6C7-B1CC8E522664}" srcId="{8707202B-318B-4797-A26F-341A3723179B}" destId="{FCE2583D-037D-4573-8537-672D32C121B4}" srcOrd="1" destOrd="0" parTransId="{4350ACF2-8C1B-4919-9A1D-A642FDACE798}" sibTransId="{B8C2088F-4B63-46D0-82DC-69BF78450488}"/>
    <dgm:cxn modelId="{5C5EA734-8DD1-49DA-B5A5-BA7533448B06}" type="presOf" srcId="{8707202B-318B-4797-A26F-341A3723179B}" destId="{DEF94255-4BD2-4293-AD86-7F87D94E52B4}" srcOrd="0" destOrd="0" presId="urn:microsoft.com/office/officeart/2005/8/layout/orgChart1"/>
    <dgm:cxn modelId="{2444343D-B163-4757-AF83-03CC6ECB77EE}" type="presOf" srcId="{5B08544B-A48B-4329-8B79-9F809AF8917B}" destId="{6FFAAB15-0D45-4305-ADA0-21E4F6537EFF}" srcOrd="0" destOrd="0" presId="urn:microsoft.com/office/officeart/2005/8/layout/orgChart1"/>
    <dgm:cxn modelId="{191E0262-C953-4545-972A-AA73E0D21481}" type="presOf" srcId="{B343D775-2F8D-47DD-9874-6272B0A87A34}" destId="{0BCBA96A-A67B-48D8-845C-3FF0E436A00C}" srcOrd="0" destOrd="0" presId="urn:microsoft.com/office/officeart/2005/8/layout/orgChart1"/>
    <dgm:cxn modelId="{BB339362-8FFA-47ED-B755-337C9B8146C9}" type="presOf" srcId="{4C22DE5D-15DF-469E-9E12-3DAD6C382C67}" destId="{281E63A0-B5F4-4D97-809E-0E819EF56462}" srcOrd="1" destOrd="0" presId="urn:microsoft.com/office/officeart/2005/8/layout/orgChart1"/>
    <dgm:cxn modelId="{344CD266-56BF-4167-87CE-86E223C92261}" srcId="{8707202B-318B-4797-A26F-341A3723179B}" destId="{E498F99C-312B-4EE5-88F5-81F9A21CED1F}" srcOrd="0" destOrd="0" parTransId="{B343D775-2F8D-47DD-9874-6272B0A87A34}" sibTransId="{4B747529-057A-424C-B8F1-58B914AA5883}"/>
    <dgm:cxn modelId="{A7B9674B-6A50-4A34-B25A-233C990D1ECB}" type="presOf" srcId="{4C22DE5D-15DF-469E-9E12-3DAD6C382C67}" destId="{1A5DB09C-AAFD-4989-A1AF-D123292F9FF0}" srcOrd="0" destOrd="0" presId="urn:microsoft.com/office/officeart/2005/8/layout/orgChart1"/>
    <dgm:cxn modelId="{AD77EF72-6C67-49E0-86B2-A4D71A8D7665}" srcId="{9C3EFA45-4461-4B6E-907B-D49B9719011E}" destId="{52F77CB9-7EA6-4E74-BF51-F570F2DC026A}" srcOrd="2" destOrd="0" parTransId="{C7BBEA03-2053-4FCC-8C34-48EF4AA37625}" sibTransId="{4308C0F3-1735-469A-94C5-21B943752338}"/>
    <dgm:cxn modelId="{17458174-C5A8-461D-AD0D-A820A3232DDA}" type="presOf" srcId="{4350ACF2-8C1B-4919-9A1D-A642FDACE798}" destId="{16336E6E-7CBE-4491-9A44-CCEE3C61563C}" srcOrd="0" destOrd="0" presId="urn:microsoft.com/office/officeart/2005/8/layout/orgChart1"/>
    <dgm:cxn modelId="{DA10637C-599B-46C3-8016-5D7BBCDC6D2D}" type="presOf" srcId="{E48F829E-C147-49E8-9271-E8CED8F50693}" destId="{12C4F075-88A3-4565-8239-45510069C1E4}" srcOrd="0" destOrd="0" presId="urn:microsoft.com/office/officeart/2005/8/layout/orgChart1"/>
    <dgm:cxn modelId="{2F987B7D-9CDB-4645-850B-095F504E28E8}" srcId="{BA826FFC-0371-44A1-A824-54AFB67668D5}" destId="{9C3EFA45-4461-4B6E-907B-D49B9719011E}" srcOrd="0" destOrd="0" parTransId="{BD6F63B7-3742-45B0-8EB2-BF5446518BBA}" sibTransId="{130D5EC2-AABB-43C6-895C-E2B0CC96F2FE}"/>
    <dgm:cxn modelId="{8359897D-45D9-47F0-830C-852ADE6DD46F}" srcId="{52F77CB9-7EA6-4E74-BF51-F570F2DC026A}" destId="{8707202B-318B-4797-A26F-341A3723179B}" srcOrd="1" destOrd="0" parTransId="{C046418C-9F65-4365-81AC-31A70FB39820}" sibTransId="{1CA7AF17-A07E-422E-B0A5-F5EE9623AB6B}"/>
    <dgm:cxn modelId="{A53B3888-AEB6-4D7D-AC5F-F5D30C4707C0}" type="presOf" srcId="{00A0BDE6-67C5-4E4E-AC87-E1C33D5ADC3B}" destId="{15568A19-5626-4D66-8DA2-2112ADE73101}" srcOrd="0" destOrd="0" presId="urn:microsoft.com/office/officeart/2005/8/layout/orgChart1"/>
    <dgm:cxn modelId="{DBBEC989-B9FF-480F-936A-6C5135948590}" type="presOf" srcId="{75413C06-6888-4904-BA45-864FC5EC2E32}" destId="{D108996F-11BD-4641-BEAF-961200BC610D}" srcOrd="0" destOrd="0" presId="urn:microsoft.com/office/officeart/2005/8/layout/orgChart1"/>
    <dgm:cxn modelId="{0674198A-1C7E-4763-916A-BAECB8586F53}" srcId="{9C3EFA45-4461-4B6E-907B-D49B9719011E}" destId="{4C22DE5D-15DF-469E-9E12-3DAD6C382C67}" srcOrd="3" destOrd="0" parTransId="{E48F829E-C147-49E8-9271-E8CED8F50693}" sibTransId="{832E40A7-5154-4CDA-B7A3-38C434E2B0A0}"/>
    <dgm:cxn modelId="{A7988B8C-F4D9-490E-B302-50B9B4A3B7D9}" type="presOf" srcId="{9C3EFA45-4461-4B6E-907B-D49B9719011E}" destId="{8A97A174-4EB6-449C-A8B2-28C6BAA2B5EF}" srcOrd="0" destOrd="0" presId="urn:microsoft.com/office/officeart/2005/8/layout/orgChart1"/>
    <dgm:cxn modelId="{461A49A1-2E38-4233-8E36-056944AFEC66}" type="presOf" srcId="{42236910-E33B-4EB9-AD6B-E473EE66D319}" destId="{BEFF566B-6235-4005-978A-F4BB891E2CFA}" srcOrd="1" destOrd="0" presId="urn:microsoft.com/office/officeart/2005/8/layout/orgChart1"/>
    <dgm:cxn modelId="{E8C16BA9-B4C0-4CF7-85B1-28AFB38B517D}" srcId="{9C3EFA45-4461-4B6E-907B-D49B9719011E}" destId="{75413C06-6888-4904-BA45-864FC5EC2E32}" srcOrd="0" destOrd="0" parTransId="{D26D1444-7CFD-40FD-9888-8E0DA73EC748}" sibTransId="{74C875FE-0F22-4003-914B-B5677292A88B}"/>
    <dgm:cxn modelId="{2BD265B0-D623-432A-958D-A6A548B62882}" type="presOf" srcId="{8707202B-318B-4797-A26F-341A3723179B}" destId="{687A3B13-6CAA-4D06-9B19-A3E91F83EAE7}" srcOrd="1" destOrd="0" presId="urn:microsoft.com/office/officeart/2005/8/layout/orgChart1"/>
    <dgm:cxn modelId="{7A3E86B8-5173-465C-BAE3-035C2032EEE0}" type="presOf" srcId="{269243DA-FC93-4DC3-8670-3189608844FD}" destId="{54BB4341-A16F-4B79-8ACA-EACF9AAB11E0}" srcOrd="0" destOrd="0" presId="urn:microsoft.com/office/officeart/2005/8/layout/orgChart1"/>
    <dgm:cxn modelId="{BF8B7DBB-E352-42A8-B353-7F41F3232025}" srcId="{8707202B-318B-4797-A26F-341A3723179B}" destId="{8F8DAC20-E17B-46B3-9103-4ADF0A156AD1}" srcOrd="2" destOrd="0" parTransId="{00A0BDE6-67C5-4E4E-AC87-E1C33D5ADC3B}" sibTransId="{CEBCF475-ADC6-4CAC-86F4-6C095A563151}"/>
    <dgm:cxn modelId="{DE5CECBB-3AB6-4029-809E-4A31F2C59546}" type="presOf" srcId="{75413C06-6888-4904-BA45-864FC5EC2E32}" destId="{FDFECBA0-DA64-4B22-B4C3-5937FF3FF3D9}" srcOrd="1" destOrd="0" presId="urn:microsoft.com/office/officeart/2005/8/layout/orgChart1"/>
    <dgm:cxn modelId="{18175AC0-6E11-4C62-85F4-A00B4B2D47CF}" type="presOf" srcId="{42236910-E33B-4EB9-AD6B-E473EE66D319}" destId="{791FCD29-495F-468A-9997-6AF3431AF3C7}" srcOrd="0" destOrd="0" presId="urn:microsoft.com/office/officeart/2005/8/layout/orgChart1"/>
    <dgm:cxn modelId="{47D3ABC0-F3FC-4B3A-8CF7-D084C918DE4F}" srcId="{9C3EFA45-4461-4B6E-907B-D49B9719011E}" destId="{269243DA-FC93-4DC3-8670-3189608844FD}" srcOrd="1" destOrd="0" parTransId="{5B08544B-A48B-4329-8B79-9F809AF8917B}" sibTransId="{EFC458F3-0E5D-41E4-8EEC-67C32A461B69}"/>
    <dgm:cxn modelId="{308266CD-FCD5-4329-9DAC-33B45CA3E332}" type="presOf" srcId="{FCE2583D-037D-4573-8537-672D32C121B4}" destId="{21BBAB62-47E1-4E8A-93B9-E1E381D92D68}" srcOrd="0" destOrd="0" presId="urn:microsoft.com/office/officeart/2005/8/layout/orgChart1"/>
    <dgm:cxn modelId="{2E8082D0-F9E0-43A6-BA74-4ADC59FAA675}" type="presOf" srcId="{52F77CB9-7EA6-4E74-BF51-F570F2DC026A}" destId="{BEF6E9D1-7419-47B2-8D56-0C7C846ED4E5}" srcOrd="1" destOrd="0" presId="urn:microsoft.com/office/officeart/2005/8/layout/orgChart1"/>
    <dgm:cxn modelId="{E501B2D5-8D2C-46D9-9F04-017FAD0D0CCB}" type="presOf" srcId="{8F8DAC20-E17B-46B3-9103-4ADF0A156AD1}" destId="{7E44777C-9AB0-4E4E-B5DA-C3FFC86EDA80}" srcOrd="1" destOrd="0" presId="urn:microsoft.com/office/officeart/2005/8/layout/orgChart1"/>
    <dgm:cxn modelId="{1CCFACD9-5DCD-4865-8608-AED0E90FF7B9}" type="presOf" srcId="{8F8DAC20-E17B-46B3-9103-4ADF0A156AD1}" destId="{5DFFE36B-EA2C-46E3-8CA5-A36D2189B1E7}" srcOrd="0" destOrd="0" presId="urn:microsoft.com/office/officeart/2005/8/layout/orgChart1"/>
    <dgm:cxn modelId="{D726DDD9-AECE-4E3D-8466-F11514B005D1}" type="presOf" srcId="{E498F99C-312B-4EE5-88F5-81F9A21CED1F}" destId="{A4CF4021-3345-4910-A925-4DE673AE5E09}" srcOrd="1" destOrd="0" presId="urn:microsoft.com/office/officeart/2005/8/layout/orgChart1"/>
    <dgm:cxn modelId="{0D297FDA-DDB6-4FDF-BFB2-3434919302F4}" type="presOf" srcId="{5198E801-2D88-456B-A08F-D465A38CDC46}" destId="{80FE946E-9B90-403F-B3FD-1734E4B2820D}" srcOrd="0" destOrd="0" presId="urn:microsoft.com/office/officeart/2005/8/layout/orgChart1"/>
    <dgm:cxn modelId="{4D8B7EF4-39B6-477E-9F5B-7E7D9EE0FA82}" type="presOf" srcId="{C046418C-9F65-4365-81AC-31A70FB39820}" destId="{4C14CFBC-74EC-44CD-9895-CCD22F9A6ED6}" srcOrd="0" destOrd="0" presId="urn:microsoft.com/office/officeart/2005/8/layout/orgChart1"/>
    <dgm:cxn modelId="{5B10A9FC-7CF1-484A-9B88-5C625E330B00}" type="presOf" srcId="{FCE2583D-037D-4573-8537-672D32C121B4}" destId="{0C8F5DF1-3AE7-4F70-9414-2E80C9820EAA}" srcOrd="1" destOrd="0" presId="urn:microsoft.com/office/officeart/2005/8/layout/orgChart1"/>
    <dgm:cxn modelId="{253AC18D-87B6-48B5-8E27-A54E8B5B314A}" type="presParOf" srcId="{4984EC1B-AA53-4FA4-847B-3D73D3C4A960}" destId="{7905F84E-EBFF-4E6F-A141-F03E19C54B66}" srcOrd="0" destOrd="0" presId="urn:microsoft.com/office/officeart/2005/8/layout/orgChart1"/>
    <dgm:cxn modelId="{B073C635-9581-4ED8-899D-55570698B36F}" type="presParOf" srcId="{7905F84E-EBFF-4E6F-A141-F03E19C54B66}" destId="{A6146F11-A6A9-42FC-8684-806F44EA55D1}" srcOrd="0" destOrd="0" presId="urn:microsoft.com/office/officeart/2005/8/layout/orgChart1"/>
    <dgm:cxn modelId="{8290540C-3281-4387-AE26-D21314CCAA9F}" type="presParOf" srcId="{A6146F11-A6A9-42FC-8684-806F44EA55D1}" destId="{8A97A174-4EB6-449C-A8B2-28C6BAA2B5EF}" srcOrd="0" destOrd="0" presId="urn:microsoft.com/office/officeart/2005/8/layout/orgChart1"/>
    <dgm:cxn modelId="{5B74F5E7-F11B-44E9-917A-0C44A1F6D37C}" type="presParOf" srcId="{A6146F11-A6A9-42FC-8684-806F44EA55D1}" destId="{C05A925A-15A9-4E0F-B2E7-B51D1CB42587}" srcOrd="1" destOrd="0" presId="urn:microsoft.com/office/officeart/2005/8/layout/orgChart1"/>
    <dgm:cxn modelId="{67359B01-8C27-4AEC-85F0-92496B515CCB}" type="presParOf" srcId="{7905F84E-EBFF-4E6F-A141-F03E19C54B66}" destId="{C8C86B3B-097B-439F-8207-4C258B57FEB5}" srcOrd="1" destOrd="0" presId="urn:microsoft.com/office/officeart/2005/8/layout/orgChart1"/>
    <dgm:cxn modelId="{A6370F01-6739-4A8B-961C-59583ECB7082}" type="presParOf" srcId="{C8C86B3B-097B-439F-8207-4C258B57FEB5}" destId="{6FFAAB15-0D45-4305-ADA0-21E4F6537EFF}" srcOrd="0" destOrd="0" presId="urn:microsoft.com/office/officeart/2005/8/layout/orgChart1"/>
    <dgm:cxn modelId="{A34669A3-19A1-4E66-8479-159CE3F2E35D}" type="presParOf" srcId="{C8C86B3B-097B-439F-8207-4C258B57FEB5}" destId="{7F41E531-9808-4D4E-942B-3E087DD1F7C5}" srcOrd="1" destOrd="0" presId="urn:microsoft.com/office/officeart/2005/8/layout/orgChart1"/>
    <dgm:cxn modelId="{78F8975B-FB11-49BE-A3DA-E5E0CFAE4502}" type="presParOf" srcId="{7F41E531-9808-4D4E-942B-3E087DD1F7C5}" destId="{568A7232-7AB8-4738-B4DF-740E5440BBB1}" srcOrd="0" destOrd="0" presId="urn:microsoft.com/office/officeart/2005/8/layout/orgChart1"/>
    <dgm:cxn modelId="{4D6E29C7-B9E6-427E-B1D0-B2A2A5DA271B}" type="presParOf" srcId="{568A7232-7AB8-4738-B4DF-740E5440BBB1}" destId="{54BB4341-A16F-4B79-8ACA-EACF9AAB11E0}" srcOrd="0" destOrd="0" presId="urn:microsoft.com/office/officeart/2005/8/layout/orgChart1"/>
    <dgm:cxn modelId="{695B1C3E-1AAA-42E9-832A-5FAB0DC03B09}" type="presParOf" srcId="{568A7232-7AB8-4738-B4DF-740E5440BBB1}" destId="{85A4B045-FEA0-4A58-A53E-3CB8D16FF4FA}" srcOrd="1" destOrd="0" presId="urn:microsoft.com/office/officeart/2005/8/layout/orgChart1"/>
    <dgm:cxn modelId="{E7F639FA-E484-4B7B-9916-14B9565A692A}" type="presParOf" srcId="{7F41E531-9808-4D4E-942B-3E087DD1F7C5}" destId="{6BD3AF8A-3A64-4B1B-AF33-80A87A2AFFD5}" srcOrd="1" destOrd="0" presId="urn:microsoft.com/office/officeart/2005/8/layout/orgChart1"/>
    <dgm:cxn modelId="{DC87DD1A-29DE-478F-ACC8-A3635D1BFB1F}" type="presParOf" srcId="{7F41E531-9808-4D4E-942B-3E087DD1F7C5}" destId="{A715EA41-B98C-48E8-8308-5253F91790F9}" srcOrd="2" destOrd="0" presId="urn:microsoft.com/office/officeart/2005/8/layout/orgChart1"/>
    <dgm:cxn modelId="{F494CD7F-4DBB-4DAE-8DE9-EE9802786144}" type="presParOf" srcId="{C8C86B3B-097B-439F-8207-4C258B57FEB5}" destId="{C9369481-0842-44B2-8B9A-CE45EA2533FE}" srcOrd="2" destOrd="0" presId="urn:microsoft.com/office/officeart/2005/8/layout/orgChart1"/>
    <dgm:cxn modelId="{A1EF174E-91DE-4D14-9C3B-FF2DF5140E6F}" type="presParOf" srcId="{C8C86B3B-097B-439F-8207-4C258B57FEB5}" destId="{6900472C-01C6-472B-9D7D-7EDBE3FD8575}" srcOrd="3" destOrd="0" presId="urn:microsoft.com/office/officeart/2005/8/layout/orgChart1"/>
    <dgm:cxn modelId="{E5EF88BD-42D7-4950-A8A3-0B2244EDEC2F}" type="presParOf" srcId="{6900472C-01C6-472B-9D7D-7EDBE3FD8575}" destId="{B4E34120-25C1-4B6B-9FC1-949043ED4F05}" srcOrd="0" destOrd="0" presId="urn:microsoft.com/office/officeart/2005/8/layout/orgChart1"/>
    <dgm:cxn modelId="{F46E0E9F-CC54-465C-ACBF-0EAA577C642C}" type="presParOf" srcId="{B4E34120-25C1-4B6B-9FC1-949043ED4F05}" destId="{81442FEC-3C0E-498A-B3C9-9415FC4D2E2B}" srcOrd="0" destOrd="0" presId="urn:microsoft.com/office/officeart/2005/8/layout/orgChart1"/>
    <dgm:cxn modelId="{021408AD-8489-42A1-B4CF-0768FCBEAA6A}" type="presParOf" srcId="{B4E34120-25C1-4B6B-9FC1-949043ED4F05}" destId="{BEF6E9D1-7419-47B2-8D56-0C7C846ED4E5}" srcOrd="1" destOrd="0" presId="urn:microsoft.com/office/officeart/2005/8/layout/orgChart1"/>
    <dgm:cxn modelId="{754B751A-96CC-4CA0-8A9A-60A6D753EFAE}" type="presParOf" srcId="{6900472C-01C6-472B-9D7D-7EDBE3FD8575}" destId="{725EDEBC-AE08-49F5-B081-B41A35F5E8B4}" srcOrd="1" destOrd="0" presId="urn:microsoft.com/office/officeart/2005/8/layout/orgChart1"/>
    <dgm:cxn modelId="{9D6EF3F5-0934-41C2-8359-F482EDD87FAF}" type="presParOf" srcId="{725EDEBC-AE08-49F5-B081-B41A35F5E8B4}" destId="{80FE946E-9B90-403F-B3FD-1734E4B2820D}" srcOrd="0" destOrd="0" presId="urn:microsoft.com/office/officeart/2005/8/layout/orgChart1"/>
    <dgm:cxn modelId="{F6B231AD-C773-4AFB-85DE-76578A3D2998}" type="presParOf" srcId="{725EDEBC-AE08-49F5-B081-B41A35F5E8B4}" destId="{7AA036E7-02CB-4A40-9D72-91C7602D8332}" srcOrd="1" destOrd="0" presId="urn:microsoft.com/office/officeart/2005/8/layout/orgChart1"/>
    <dgm:cxn modelId="{A9C2CE2F-9CE2-49AE-9533-A6079A00C7D1}" type="presParOf" srcId="{7AA036E7-02CB-4A40-9D72-91C7602D8332}" destId="{73064592-AA82-49A5-B901-09C6ECC2EA59}" srcOrd="0" destOrd="0" presId="urn:microsoft.com/office/officeart/2005/8/layout/orgChart1"/>
    <dgm:cxn modelId="{495AD3CB-98A9-4DF2-8A0E-F9E522994FF0}" type="presParOf" srcId="{73064592-AA82-49A5-B901-09C6ECC2EA59}" destId="{791FCD29-495F-468A-9997-6AF3431AF3C7}" srcOrd="0" destOrd="0" presId="urn:microsoft.com/office/officeart/2005/8/layout/orgChart1"/>
    <dgm:cxn modelId="{3B89EF29-D754-4D0B-8258-D4F00F572F22}" type="presParOf" srcId="{73064592-AA82-49A5-B901-09C6ECC2EA59}" destId="{BEFF566B-6235-4005-978A-F4BB891E2CFA}" srcOrd="1" destOrd="0" presId="urn:microsoft.com/office/officeart/2005/8/layout/orgChart1"/>
    <dgm:cxn modelId="{E6A7D030-7974-41BD-BB85-5B6A67E7463D}" type="presParOf" srcId="{7AA036E7-02CB-4A40-9D72-91C7602D8332}" destId="{A11E06B0-4491-4457-B613-4011E7A35B0F}" srcOrd="1" destOrd="0" presId="urn:microsoft.com/office/officeart/2005/8/layout/orgChart1"/>
    <dgm:cxn modelId="{FC1AE58F-E381-486C-85B4-37BAE88144E9}" type="presParOf" srcId="{7AA036E7-02CB-4A40-9D72-91C7602D8332}" destId="{F719ED0F-5DFE-4B25-8318-2C55DF016A37}" srcOrd="2" destOrd="0" presId="urn:microsoft.com/office/officeart/2005/8/layout/orgChart1"/>
    <dgm:cxn modelId="{8F3EEF6F-6891-41C3-A8D8-6E77D946416F}" type="presParOf" srcId="{725EDEBC-AE08-49F5-B081-B41A35F5E8B4}" destId="{4C14CFBC-74EC-44CD-9895-CCD22F9A6ED6}" srcOrd="2" destOrd="0" presId="urn:microsoft.com/office/officeart/2005/8/layout/orgChart1"/>
    <dgm:cxn modelId="{D957E3F4-4696-4E10-BE77-1430F2485DA7}" type="presParOf" srcId="{725EDEBC-AE08-49F5-B081-B41A35F5E8B4}" destId="{08F5B9EC-EE60-4FD8-8D95-4EC6F33E7E3A}" srcOrd="3" destOrd="0" presId="urn:microsoft.com/office/officeart/2005/8/layout/orgChart1"/>
    <dgm:cxn modelId="{7FD0C581-ADD7-4588-BF13-62C08B9FF7EE}" type="presParOf" srcId="{08F5B9EC-EE60-4FD8-8D95-4EC6F33E7E3A}" destId="{E2446AF8-E61C-46BB-B3BA-7BEBB3E071FB}" srcOrd="0" destOrd="0" presId="urn:microsoft.com/office/officeart/2005/8/layout/orgChart1"/>
    <dgm:cxn modelId="{C1D90A8D-0D67-4CBC-82EE-BE604199DB71}" type="presParOf" srcId="{E2446AF8-E61C-46BB-B3BA-7BEBB3E071FB}" destId="{DEF94255-4BD2-4293-AD86-7F87D94E52B4}" srcOrd="0" destOrd="0" presId="urn:microsoft.com/office/officeart/2005/8/layout/orgChart1"/>
    <dgm:cxn modelId="{6CED2837-B255-404E-9765-914EA9059E8C}" type="presParOf" srcId="{E2446AF8-E61C-46BB-B3BA-7BEBB3E071FB}" destId="{687A3B13-6CAA-4D06-9B19-A3E91F83EAE7}" srcOrd="1" destOrd="0" presId="urn:microsoft.com/office/officeart/2005/8/layout/orgChart1"/>
    <dgm:cxn modelId="{B45C4315-7BB9-4CF5-8FB4-0E48F6A8931E}" type="presParOf" srcId="{08F5B9EC-EE60-4FD8-8D95-4EC6F33E7E3A}" destId="{D8022AAE-94E0-4C8A-858F-58D5A352E1E2}" srcOrd="1" destOrd="0" presId="urn:microsoft.com/office/officeart/2005/8/layout/orgChart1"/>
    <dgm:cxn modelId="{CBACDC3C-3F4F-466F-B23A-FF06EE10E2BC}" type="presParOf" srcId="{D8022AAE-94E0-4C8A-858F-58D5A352E1E2}" destId="{0BCBA96A-A67B-48D8-845C-3FF0E436A00C}" srcOrd="0" destOrd="0" presId="urn:microsoft.com/office/officeart/2005/8/layout/orgChart1"/>
    <dgm:cxn modelId="{EEF804B4-ECA5-4ED5-B1C0-4CEE4F20D6CE}" type="presParOf" srcId="{D8022AAE-94E0-4C8A-858F-58D5A352E1E2}" destId="{4BDA11A9-B978-42F6-BE88-5A4D91D69A8D}" srcOrd="1" destOrd="0" presId="urn:microsoft.com/office/officeart/2005/8/layout/orgChart1"/>
    <dgm:cxn modelId="{FFC6B7D1-A8A2-4017-929E-CAEF49DBF5E5}" type="presParOf" srcId="{4BDA11A9-B978-42F6-BE88-5A4D91D69A8D}" destId="{E27B1F06-3C03-44A0-BBDB-B4919FD9F817}" srcOrd="0" destOrd="0" presId="urn:microsoft.com/office/officeart/2005/8/layout/orgChart1"/>
    <dgm:cxn modelId="{FDB6D7D9-AF47-415B-A310-0B68292F822A}" type="presParOf" srcId="{E27B1F06-3C03-44A0-BBDB-B4919FD9F817}" destId="{F95F5C69-B75D-4EE8-A43B-0D994F73832E}" srcOrd="0" destOrd="0" presId="urn:microsoft.com/office/officeart/2005/8/layout/orgChart1"/>
    <dgm:cxn modelId="{DC8BA978-A6FA-4E4F-8495-EC108B39FAEC}" type="presParOf" srcId="{E27B1F06-3C03-44A0-BBDB-B4919FD9F817}" destId="{A4CF4021-3345-4910-A925-4DE673AE5E09}" srcOrd="1" destOrd="0" presId="urn:microsoft.com/office/officeart/2005/8/layout/orgChart1"/>
    <dgm:cxn modelId="{0242C836-76FE-47D3-BB0A-7C3B89E8EB5A}" type="presParOf" srcId="{4BDA11A9-B978-42F6-BE88-5A4D91D69A8D}" destId="{D44919E8-8572-4DBE-B710-61C8B7A8FA3B}" srcOrd="1" destOrd="0" presId="urn:microsoft.com/office/officeart/2005/8/layout/orgChart1"/>
    <dgm:cxn modelId="{84AF75F0-1C06-4A92-AE32-C6EF8E41DA22}" type="presParOf" srcId="{4BDA11A9-B978-42F6-BE88-5A4D91D69A8D}" destId="{712C1B0A-03C3-4CAA-9A15-94D0B472FB12}" srcOrd="2" destOrd="0" presId="urn:microsoft.com/office/officeart/2005/8/layout/orgChart1"/>
    <dgm:cxn modelId="{14A70D04-9F0A-4578-AFBC-F12918917B53}" type="presParOf" srcId="{D8022AAE-94E0-4C8A-858F-58D5A352E1E2}" destId="{16336E6E-7CBE-4491-9A44-CCEE3C61563C}" srcOrd="2" destOrd="0" presId="urn:microsoft.com/office/officeart/2005/8/layout/orgChart1"/>
    <dgm:cxn modelId="{DC3B7B16-2D6D-45AD-9F37-3751FD3F87E6}" type="presParOf" srcId="{D8022AAE-94E0-4C8A-858F-58D5A352E1E2}" destId="{A5979478-932C-405D-9830-0A5093AD26D1}" srcOrd="3" destOrd="0" presId="urn:microsoft.com/office/officeart/2005/8/layout/orgChart1"/>
    <dgm:cxn modelId="{243928DA-6E90-4B7B-ACCA-A0E20A7B3611}" type="presParOf" srcId="{A5979478-932C-405D-9830-0A5093AD26D1}" destId="{02CD96A3-0DA4-4F95-BA39-43827454A451}" srcOrd="0" destOrd="0" presId="urn:microsoft.com/office/officeart/2005/8/layout/orgChart1"/>
    <dgm:cxn modelId="{55E81C9C-9355-4B7B-9DC5-C9132AD3E048}" type="presParOf" srcId="{02CD96A3-0DA4-4F95-BA39-43827454A451}" destId="{21BBAB62-47E1-4E8A-93B9-E1E381D92D68}" srcOrd="0" destOrd="0" presId="urn:microsoft.com/office/officeart/2005/8/layout/orgChart1"/>
    <dgm:cxn modelId="{7715CD86-C00A-46B2-A5DD-54200663D651}" type="presParOf" srcId="{02CD96A3-0DA4-4F95-BA39-43827454A451}" destId="{0C8F5DF1-3AE7-4F70-9414-2E80C9820EAA}" srcOrd="1" destOrd="0" presId="urn:microsoft.com/office/officeart/2005/8/layout/orgChart1"/>
    <dgm:cxn modelId="{287DAFE3-2D6F-4F2A-AFC0-5D5D0B08D64E}" type="presParOf" srcId="{A5979478-932C-405D-9830-0A5093AD26D1}" destId="{4DB53E7A-3076-403E-9285-E683F2F5F8B8}" srcOrd="1" destOrd="0" presId="urn:microsoft.com/office/officeart/2005/8/layout/orgChart1"/>
    <dgm:cxn modelId="{475BA98D-935B-4348-A37E-A5B9AC92847A}" type="presParOf" srcId="{A5979478-932C-405D-9830-0A5093AD26D1}" destId="{4E1A9B11-B61E-49B9-A7EF-45F2196A7CCD}" srcOrd="2" destOrd="0" presId="urn:microsoft.com/office/officeart/2005/8/layout/orgChart1"/>
    <dgm:cxn modelId="{CAFEAD56-1192-40E1-A2FD-09CB80F331D2}" type="presParOf" srcId="{D8022AAE-94E0-4C8A-858F-58D5A352E1E2}" destId="{15568A19-5626-4D66-8DA2-2112ADE73101}" srcOrd="4" destOrd="0" presId="urn:microsoft.com/office/officeart/2005/8/layout/orgChart1"/>
    <dgm:cxn modelId="{9D0D41E8-0BCA-410A-87FD-9225E658FBBB}" type="presParOf" srcId="{D8022AAE-94E0-4C8A-858F-58D5A352E1E2}" destId="{C5ADA6EB-6824-43E6-AE97-FB3D82766C64}" srcOrd="5" destOrd="0" presId="urn:microsoft.com/office/officeart/2005/8/layout/orgChart1"/>
    <dgm:cxn modelId="{06C68F88-3C5D-40B7-8BD1-89BF38A9483F}" type="presParOf" srcId="{C5ADA6EB-6824-43E6-AE97-FB3D82766C64}" destId="{734ACB00-019E-46BE-B8A5-C5EA372E46B4}" srcOrd="0" destOrd="0" presId="urn:microsoft.com/office/officeart/2005/8/layout/orgChart1"/>
    <dgm:cxn modelId="{AEF41965-1BDE-4916-9CAF-3C867D53F72D}" type="presParOf" srcId="{734ACB00-019E-46BE-B8A5-C5EA372E46B4}" destId="{5DFFE36B-EA2C-46E3-8CA5-A36D2189B1E7}" srcOrd="0" destOrd="0" presId="urn:microsoft.com/office/officeart/2005/8/layout/orgChart1"/>
    <dgm:cxn modelId="{0B63153B-B0AA-4C0D-A73E-C053F3CC626C}" type="presParOf" srcId="{734ACB00-019E-46BE-B8A5-C5EA372E46B4}" destId="{7E44777C-9AB0-4E4E-B5DA-C3FFC86EDA80}" srcOrd="1" destOrd="0" presId="urn:microsoft.com/office/officeart/2005/8/layout/orgChart1"/>
    <dgm:cxn modelId="{FA5C4AC1-1CFB-457A-8EA6-2B8E8CA48FE6}" type="presParOf" srcId="{C5ADA6EB-6824-43E6-AE97-FB3D82766C64}" destId="{8FA4D450-03F6-4DB4-9FB9-0459874D7843}" srcOrd="1" destOrd="0" presId="urn:microsoft.com/office/officeart/2005/8/layout/orgChart1"/>
    <dgm:cxn modelId="{84185036-9AA6-4AFF-93E1-9A4D73D35654}" type="presParOf" srcId="{C5ADA6EB-6824-43E6-AE97-FB3D82766C64}" destId="{97BC87E2-6A68-45CD-B129-6329984D1496}" srcOrd="2" destOrd="0" presId="urn:microsoft.com/office/officeart/2005/8/layout/orgChart1"/>
    <dgm:cxn modelId="{7DCC1C30-934F-40E4-A880-2CA6ED9FB13B}" type="presParOf" srcId="{08F5B9EC-EE60-4FD8-8D95-4EC6F33E7E3A}" destId="{F9B49750-857B-4340-A7C2-E738EF6857D2}" srcOrd="2" destOrd="0" presId="urn:microsoft.com/office/officeart/2005/8/layout/orgChart1"/>
    <dgm:cxn modelId="{0076C088-B804-49EC-A9A0-F3DEC38FE382}" type="presParOf" srcId="{6900472C-01C6-472B-9D7D-7EDBE3FD8575}" destId="{F521EABA-1F2D-45F7-8256-F8AB8AD97960}" srcOrd="2" destOrd="0" presId="urn:microsoft.com/office/officeart/2005/8/layout/orgChart1"/>
    <dgm:cxn modelId="{851A6395-B517-47F0-800F-FB3B16401F57}" type="presParOf" srcId="{C8C86B3B-097B-439F-8207-4C258B57FEB5}" destId="{12C4F075-88A3-4565-8239-45510069C1E4}" srcOrd="4" destOrd="0" presId="urn:microsoft.com/office/officeart/2005/8/layout/orgChart1"/>
    <dgm:cxn modelId="{2CAEF389-9277-4DE8-A8B7-251B913F24F7}" type="presParOf" srcId="{C8C86B3B-097B-439F-8207-4C258B57FEB5}" destId="{784856F8-CCE7-4600-9966-A9838D096EA8}" srcOrd="5" destOrd="0" presId="urn:microsoft.com/office/officeart/2005/8/layout/orgChart1"/>
    <dgm:cxn modelId="{FED7C50F-909D-4CE9-AD01-32240C7EC39D}" type="presParOf" srcId="{784856F8-CCE7-4600-9966-A9838D096EA8}" destId="{32D1C3DE-0689-4B02-B8DD-6AED36911E74}" srcOrd="0" destOrd="0" presId="urn:microsoft.com/office/officeart/2005/8/layout/orgChart1"/>
    <dgm:cxn modelId="{9FF89A3C-11B1-4A5B-A4FD-86B3B7DA0D22}" type="presParOf" srcId="{32D1C3DE-0689-4B02-B8DD-6AED36911E74}" destId="{1A5DB09C-AAFD-4989-A1AF-D123292F9FF0}" srcOrd="0" destOrd="0" presId="urn:microsoft.com/office/officeart/2005/8/layout/orgChart1"/>
    <dgm:cxn modelId="{C16DAC05-D985-4E3C-9D36-46E51531DDE8}" type="presParOf" srcId="{32D1C3DE-0689-4B02-B8DD-6AED36911E74}" destId="{281E63A0-B5F4-4D97-809E-0E819EF56462}" srcOrd="1" destOrd="0" presId="urn:microsoft.com/office/officeart/2005/8/layout/orgChart1"/>
    <dgm:cxn modelId="{AF372F83-ED8A-43D1-A4A2-60086A20AB09}" type="presParOf" srcId="{784856F8-CCE7-4600-9966-A9838D096EA8}" destId="{61B07B3C-12A3-4CC5-ACF5-B266188D80DF}" srcOrd="1" destOrd="0" presId="urn:microsoft.com/office/officeart/2005/8/layout/orgChart1"/>
    <dgm:cxn modelId="{AE387E12-DEC9-4D14-81C7-D9D97728E714}" type="presParOf" srcId="{784856F8-CCE7-4600-9966-A9838D096EA8}" destId="{C956352D-E749-46AC-BC7C-A2C37940C532}" srcOrd="2" destOrd="0" presId="urn:microsoft.com/office/officeart/2005/8/layout/orgChart1"/>
    <dgm:cxn modelId="{C0DD484E-C861-4882-92AD-3C1406A7A98C}" type="presParOf" srcId="{7905F84E-EBFF-4E6F-A141-F03E19C54B66}" destId="{C5152B2D-038B-40EA-AE2F-6CD1A66DB3B7}" srcOrd="2" destOrd="0" presId="urn:microsoft.com/office/officeart/2005/8/layout/orgChart1"/>
    <dgm:cxn modelId="{0F3DB673-1214-465C-AF69-370148CB6953}" type="presParOf" srcId="{C5152B2D-038B-40EA-AE2F-6CD1A66DB3B7}" destId="{ABC6E60B-A6D8-4CFE-9117-5C7A7A586D7F}" srcOrd="0" destOrd="0" presId="urn:microsoft.com/office/officeart/2005/8/layout/orgChart1"/>
    <dgm:cxn modelId="{A3045A82-72E3-4A63-9202-DC4391E87D8E}" type="presParOf" srcId="{C5152B2D-038B-40EA-AE2F-6CD1A66DB3B7}" destId="{9E87D2D4-B4B9-4D1E-BDB6-7DE9D2CF9CDA}" srcOrd="1" destOrd="0" presId="urn:microsoft.com/office/officeart/2005/8/layout/orgChart1"/>
    <dgm:cxn modelId="{93EFB28F-AF2D-4642-9378-23AA0D99FC5F}" type="presParOf" srcId="{9E87D2D4-B4B9-4D1E-BDB6-7DE9D2CF9CDA}" destId="{18024BB4-9736-41F1-B1F2-9B8358F134EE}" srcOrd="0" destOrd="0" presId="urn:microsoft.com/office/officeart/2005/8/layout/orgChart1"/>
    <dgm:cxn modelId="{0798D220-CF72-4647-88CF-B6D757D26227}" type="presParOf" srcId="{18024BB4-9736-41F1-B1F2-9B8358F134EE}" destId="{D108996F-11BD-4641-BEAF-961200BC610D}" srcOrd="0" destOrd="0" presId="urn:microsoft.com/office/officeart/2005/8/layout/orgChart1"/>
    <dgm:cxn modelId="{A081C0D8-9BC4-4286-B6C2-2E4BDDF40D95}" type="presParOf" srcId="{18024BB4-9736-41F1-B1F2-9B8358F134EE}" destId="{FDFECBA0-DA64-4B22-B4C3-5937FF3FF3D9}" srcOrd="1" destOrd="0" presId="urn:microsoft.com/office/officeart/2005/8/layout/orgChart1"/>
    <dgm:cxn modelId="{FDF0C7DF-9A18-4EA2-9E78-0D2714680108}" type="presParOf" srcId="{9E87D2D4-B4B9-4D1E-BDB6-7DE9D2CF9CDA}" destId="{FEEE78B2-4019-45D7-9C85-E130FA3AC9A6}" srcOrd="1" destOrd="0" presId="urn:microsoft.com/office/officeart/2005/8/layout/orgChart1"/>
    <dgm:cxn modelId="{7F941A28-FD56-4459-B286-71E577107E30}" type="presParOf" srcId="{9E87D2D4-B4B9-4D1E-BDB6-7DE9D2CF9CDA}" destId="{E94C1307-6781-49EF-BEC4-076E86A915E5}" srcOrd="2" destOrd="0" presId="urn:microsoft.com/office/officeart/2005/8/layout/orgChart1"/>
  </dgm:cxnLst>
  <dgm:bg>
    <a:solidFill>
      <a:srgbClr val="0070C0"/>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C6E60B-A6D8-4CFE-9117-5C7A7A586D7F}">
      <dsp:nvSpPr>
        <dsp:cNvPr id="0" name=""/>
        <dsp:cNvSpPr/>
      </dsp:nvSpPr>
      <dsp:spPr>
        <a:xfrm>
          <a:off x="3176601" y="683809"/>
          <a:ext cx="143572" cy="628984"/>
        </a:xfrm>
        <a:custGeom>
          <a:avLst/>
          <a:gdLst/>
          <a:ahLst/>
          <a:cxnLst/>
          <a:rect l="0" t="0" r="0" b="0"/>
          <a:pathLst>
            <a:path>
              <a:moveTo>
                <a:pt x="143572" y="0"/>
              </a:moveTo>
              <a:lnTo>
                <a:pt x="143572" y="628984"/>
              </a:lnTo>
              <a:lnTo>
                <a:pt x="0" y="62898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C4F075-88A3-4565-8239-45510069C1E4}">
      <dsp:nvSpPr>
        <dsp:cNvPr id="0" name=""/>
        <dsp:cNvSpPr/>
      </dsp:nvSpPr>
      <dsp:spPr>
        <a:xfrm>
          <a:off x="3320174" y="683809"/>
          <a:ext cx="1654503" cy="1257969"/>
        </a:xfrm>
        <a:custGeom>
          <a:avLst/>
          <a:gdLst/>
          <a:ahLst/>
          <a:cxnLst/>
          <a:rect l="0" t="0" r="0" b="0"/>
          <a:pathLst>
            <a:path>
              <a:moveTo>
                <a:pt x="0" y="0"/>
              </a:moveTo>
              <a:lnTo>
                <a:pt x="0" y="1114397"/>
              </a:lnTo>
              <a:lnTo>
                <a:pt x="1654503" y="1114397"/>
              </a:lnTo>
              <a:lnTo>
                <a:pt x="1654503" y="125796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5568A19-5626-4D66-8DA2-2112ADE73101}">
      <dsp:nvSpPr>
        <dsp:cNvPr id="0" name=""/>
        <dsp:cNvSpPr/>
      </dsp:nvSpPr>
      <dsp:spPr>
        <a:xfrm>
          <a:off x="4147425" y="3596283"/>
          <a:ext cx="1654503" cy="287145"/>
        </a:xfrm>
        <a:custGeom>
          <a:avLst/>
          <a:gdLst/>
          <a:ahLst/>
          <a:cxnLst/>
          <a:rect l="0" t="0" r="0" b="0"/>
          <a:pathLst>
            <a:path>
              <a:moveTo>
                <a:pt x="0" y="0"/>
              </a:moveTo>
              <a:lnTo>
                <a:pt x="0" y="143572"/>
              </a:lnTo>
              <a:lnTo>
                <a:pt x="1654503" y="143572"/>
              </a:lnTo>
              <a:lnTo>
                <a:pt x="1654503" y="2871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6336E6E-7CBE-4491-9A44-CCEE3C61563C}">
      <dsp:nvSpPr>
        <dsp:cNvPr id="0" name=""/>
        <dsp:cNvSpPr/>
      </dsp:nvSpPr>
      <dsp:spPr>
        <a:xfrm>
          <a:off x="4101705" y="3596283"/>
          <a:ext cx="91440" cy="287145"/>
        </a:xfrm>
        <a:custGeom>
          <a:avLst/>
          <a:gdLst/>
          <a:ahLst/>
          <a:cxnLst/>
          <a:rect l="0" t="0" r="0" b="0"/>
          <a:pathLst>
            <a:path>
              <a:moveTo>
                <a:pt x="45720" y="0"/>
              </a:moveTo>
              <a:lnTo>
                <a:pt x="45720" y="2871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BCBA96A-A67B-48D8-845C-3FF0E436A00C}">
      <dsp:nvSpPr>
        <dsp:cNvPr id="0" name=""/>
        <dsp:cNvSpPr/>
      </dsp:nvSpPr>
      <dsp:spPr>
        <a:xfrm>
          <a:off x="2492922" y="3596283"/>
          <a:ext cx="1654503" cy="287145"/>
        </a:xfrm>
        <a:custGeom>
          <a:avLst/>
          <a:gdLst/>
          <a:ahLst/>
          <a:cxnLst/>
          <a:rect l="0" t="0" r="0" b="0"/>
          <a:pathLst>
            <a:path>
              <a:moveTo>
                <a:pt x="1654503" y="0"/>
              </a:moveTo>
              <a:lnTo>
                <a:pt x="1654503" y="143572"/>
              </a:lnTo>
              <a:lnTo>
                <a:pt x="0" y="143572"/>
              </a:lnTo>
              <a:lnTo>
                <a:pt x="0" y="2871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14CFBC-74EC-44CD-9895-CCD22F9A6ED6}">
      <dsp:nvSpPr>
        <dsp:cNvPr id="0" name=""/>
        <dsp:cNvSpPr/>
      </dsp:nvSpPr>
      <dsp:spPr>
        <a:xfrm>
          <a:off x="3320174" y="2625458"/>
          <a:ext cx="827251" cy="287145"/>
        </a:xfrm>
        <a:custGeom>
          <a:avLst/>
          <a:gdLst/>
          <a:ahLst/>
          <a:cxnLst/>
          <a:rect l="0" t="0" r="0" b="0"/>
          <a:pathLst>
            <a:path>
              <a:moveTo>
                <a:pt x="0" y="0"/>
              </a:moveTo>
              <a:lnTo>
                <a:pt x="0" y="143572"/>
              </a:lnTo>
              <a:lnTo>
                <a:pt x="827251" y="143572"/>
              </a:lnTo>
              <a:lnTo>
                <a:pt x="827251" y="2871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0FE946E-9B90-403F-B3FD-1734E4B2820D}">
      <dsp:nvSpPr>
        <dsp:cNvPr id="0" name=""/>
        <dsp:cNvSpPr/>
      </dsp:nvSpPr>
      <dsp:spPr>
        <a:xfrm>
          <a:off x="2492922" y="2625458"/>
          <a:ext cx="827251" cy="287145"/>
        </a:xfrm>
        <a:custGeom>
          <a:avLst/>
          <a:gdLst/>
          <a:ahLst/>
          <a:cxnLst/>
          <a:rect l="0" t="0" r="0" b="0"/>
          <a:pathLst>
            <a:path>
              <a:moveTo>
                <a:pt x="827251" y="0"/>
              </a:moveTo>
              <a:lnTo>
                <a:pt x="827251" y="143572"/>
              </a:lnTo>
              <a:lnTo>
                <a:pt x="0" y="143572"/>
              </a:lnTo>
              <a:lnTo>
                <a:pt x="0" y="2871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9369481-0842-44B2-8B9A-CE45EA2533FE}">
      <dsp:nvSpPr>
        <dsp:cNvPr id="0" name=""/>
        <dsp:cNvSpPr/>
      </dsp:nvSpPr>
      <dsp:spPr>
        <a:xfrm>
          <a:off x="3274454" y="683809"/>
          <a:ext cx="91440" cy="1257969"/>
        </a:xfrm>
        <a:custGeom>
          <a:avLst/>
          <a:gdLst/>
          <a:ahLst/>
          <a:cxnLst/>
          <a:rect l="0" t="0" r="0" b="0"/>
          <a:pathLst>
            <a:path>
              <a:moveTo>
                <a:pt x="45720" y="0"/>
              </a:moveTo>
              <a:lnTo>
                <a:pt x="45720" y="125796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FAAB15-0D45-4305-ADA0-21E4F6537EFF}">
      <dsp:nvSpPr>
        <dsp:cNvPr id="0" name=""/>
        <dsp:cNvSpPr/>
      </dsp:nvSpPr>
      <dsp:spPr>
        <a:xfrm>
          <a:off x="1665670" y="683809"/>
          <a:ext cx="1654503" cy="1257969"/>
        </a:xfrm>
        <a:custGeom>
          <a:avLst/>
          <a:gdLst/>
          <a:ahLst/>
          <a:cxnLst/>
          <a:rect l="0" t="0" r="0" b="0"/>
          <a:pathLst>
            <a:path>
              <a:moveTo>
                <a:pt x="1654503" y="0"/>
              </a:moveTo>
              <a:lnTo>
                <a:pt x="1654503" y="1114397"/>
              </a:lnTo>
              <a:lnTo>
                <a:pt x="0" y="1114397"/>
              </a:lnTo>
              <a:lnTo>
                <a:pt x="0" y="125796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97A174-4EB6-449C-A8B2-28C6BAA2B5EF}">
      <dsp:nvSpPr>
        <dsp:cNvPr id="0" name=""/>
        <dsp:cNvSpPr/>
      </dsp:nvSpPr>
      <dsp:spPr>
        <a:xfrm>
          <a:off x="2636494" y="130"/>
          <a:ext cx="1367358" cy="6836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kern="1200" cap="none" normalizeH="0" baseline="0" dirty="0">
              <a:ln>
                <a:noFill/>
              </a:ln>
              <a:solidFill>
                <a:schemeClr val="bg1"/>
              </a:solidFill>
              <a:effectLst/>
              <a:latin typeface="Arial" charset="0"/>
              <a:cs typeface="Arial" charset="0"/>
            </a:rPr>
            <a:t>Global Headquarters</a:t>
          </a:r>
          <a:endParaRPr kumimoji="0" lang="en-US" altLang="en-US" sz="1200" b="0" i="0" u="none" strike="noStrike" kern="1200" cap="none" normalizeH="0" baseline="0" dirty="0">
            <a:ln>
              <a:noFill/>
            </a:ln>
            <a:solidFill>
              <a:schemeClr val="bg1"/>
            </a:solidFill>
            <a:effectLst/>
            <a:latin typeface="Arial" charset="0"/>
            <a:cs typeface="Arial" charset="0"/>
          </a:endParaRPr>
        </a:p>
      </dsp:txBody>
      <dsp:txXfrm>
        <a:off x="2636494" y="130"/>
        <a:ext cx="1367358" cy="683679"/>
      </dsp:txXfrm>
    </dsp:sp>
    <dsp:sp modelId="{54BB4341-A16F-4B79-8ACA-EACF9AAB11E0}">
      <dsp:nvSpPr>
        <dsp:cNvPr id="0" name=""/>
        <dsp:cNvSpPr/>
      </dsp:nvSpPr>
      <dsp:spPr>
        <a:xfrm>
          <a:off x="981991" y="1941779"/>
          <a:ext cx="1367358" cy="6836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kern="1200" cap="none" normalizeH="0" baseline="0" dirty="0">
              <a:ln>
                <a:noFill/>
              </a:ln>
              <a:solidFill>
                <a:schemeClr val="bg1"/>
              </a:solidFill>
              <a:effectLst/>
              <a:latin typeface="Arial" charset="0"/>
              <a:cs typeface="Arial" charset="0"/>
            </a:rPr>
            <a:t>Product 1</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kern="1200" cap="none" normalizeH="0" baseline="0" dirty="0">
              <a:ln>
                <a:noFill/>
              </a:ln>
              <a:solidFill>
                <a:schemeClr val="bg1"/>
              </a:solidFill>
              <a:effectLst/>
              <a:latin typeface="Arial" charset="0"/>
              <a:cs typeface="Arial" charset="0"/>
            </a:rPr>
            <a:t>Division</a:t>
          </a:r>
          <a:endParaRPr kumimoji="0" lang="en-US" altLang="en-US" sz="1200" b="0" i="0" u="none" strike="noStrike" kern="1200" cap="none" normalizeH="0" baseline="0" dirty="0">
            <a:ln>
              <a:noFill/>
            </a:ln>
            <a:solidFill>
              <a:schemeClr val="bg1"/>
            </a:solidFill>
            <a:effectLst/>
            <a:latin typeface="Arial" charset="0"/>
            <a:cs typeface="Arial" charset="0"/>
          </a:endParaRPr>
        </a:p>
      </dsp:txBody>
      <dsp:txXfrm>
        <a:off x="981991" y="1941779"/>
        <a:ext cx="1367358" cy="683679"/>
      </dsp:txXfrm>
    </dsp:sp>
    <dsp:sp modelId="{81442FEC-3C0E-498A-B3C9-9415FC4D2E2B}">
      <dsp:nvSpPr>
        <dsp:cNvPr id="0" name=""/>
        <dsp:cNvSpPr/>
      </dsp:nvSpPr>
      <dsp:spPr>
        <a:xfrm>
          <a:off x="2636494" y="1941779"/>
          <a:ext cx="1367358" cy="6836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kern="1200" cap="none" normalizeH="0" baseline="0" dirty="0">
              <a:ln>
                <a:noFill/>
              </a:ln>
              <a:solidFill>
                <a:schemeClr val="bg1"/>
              </a:solidFill>
              <a:effectLst/>
              <a:latin typeface="Arial" charset="0"/>
              <a:cs typeface="Arial" charset="0"/>
            </a:rPr>
            <a:t>Product 2</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kern="1200" cap="none" normalizeH="0" baseline="0" dirty="0">
              <a:ln>
                <a:noFill/>
              </a:ln>
              <a:solidFill>
                <a:schemeClr val="bg1"/>
              </a:solidFill>
              <a:effectLst/>
              <a:latin typeface="Arial" charset="0"/>
              <a:cs typeface="Arial" charset="0"/>
            </a:rPr>
            <a:t>Division</a:t>
          </a:r>
          <a:endParaRPr kumimoji="0" lang="en-US" altLang="en-US" sz="1200" b="0" i="0" u="none" strike="noStrike" kern="1200" cap="none" normalizeH="0" baseline="0" dirty="0">
            <a:ln>
              <a:noFill/>
            </a:ln>
            <a:solidFill>
              <a:schemeClr val="bg1"/>
            </a:solidFill>
            <a:effectLst/>
            <a:latin typeface="Arial" charset="0"/>
            <a:cs typeface="Arial" charset="0"/>
          </a:endParaRPr>
        </a:p>
      </dsp:txBody>
      <dsp:txXfrm>
        <a:off x="2636494" y="1941779"/>
        <a:ext cx="1367358" cy="683679"/>
      </dsp:txXfrm>
    </dsp:sp>
    <dsp:sp modelId="{791FCD29-495F-468A-9997-6AF3431AF3C7}">
      <dsp:nvSpPr>
        <dsp:cNvPr id="0" name=""/>
        <dsp:cNvSpPr/>
      </dsp:nvSpPr>
      <dsp:spPr>
        <a:xfrm>
          <a:off x="1809243" y="2912603"/>
          <a:ext cx="1367358" cy="6836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kern="1200" cap="none" normalizeH="0" baseline="0" dirty="0">
              <a:ln>
                <a:noFill/>
              </a:ln>
              <a:solidFill>
                <a:schemeClr val="bg1"/>
              </a:solidFill>
              <a:effectLst/>
              <a:latin typeface="Arial" charset="0"/>
              <a:cs typeface="Arial" charset="0"/>
            </a:rPr>
            <a:t>Marketing</a:t>
          </a:r>
          <a:endParaRPr kumimoji="0" lang="en-US" altLang="en-US" sz="1200" b="0" i="0" u="none" strike="noStrike" kern="1200" cap="none" normalizeH="0" baseline="0" dirty="0">
            <a:ln>
              <a:noFill/>
            </a:ln>
            <a:solidFill>
              <a:schemeClr val="bg1"/>
            </a:solidFill>
            <a:effectLst/>
            <a:latin typeface="Arial" charset="0"/>
            <a:cs typeface="Arial" charset="0"/>
          </a:endParaRPr>
        </a:p>
      </dsp:txBody>
      <dsp:txXfrm>
        <a:off x="1809243" y="2912603"/>
        <a:ext cx="1367358" cy="683679"/>
      </dsp:txXfrm>
    </dsp:sp>
    <dsp:sp modelId="{DEF94255-4BD2-4293-AD86-7F87D94E52B4}">
      <dsp:nvSpPr>
        <dsp:cNvPr id="0" name=""/>
        <dsp:cNvSpPr/>
      </dsp:nvSpPr>
      <dsp:spPr>
        <a:xfrm>
          <a:off x="3463746" y="2912603"/>
          <a:ext cx="1367358" cy="6836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kern="1200" cap="none" normalizeH="0" baseline="0" dirty="0">
              <a:ln>
                <a:noFill/>
              </a:ln>
              <a:solidFill>
                <a:schemeClr val="bg1"/>
              </a:solidFill>
              <a:effectLst/>
              <a:latin typeface="Arial" charset="0"/>
              <a:cs typeface="Arial" charset="0"/>
            </a:rPr>
            <a:t>Manufacturing</a:t>
          </a:r>
          <a:endParaRPr kumimoji="0" lang="en-US" altLang="en-US" sz="1200" b="0" i="0" u="none" strike="noStrike" kern="1200" cap="none" normalizeH="0" baseline="0" dirty="0">
            <a:ln>
              <a:noFill/>
            </a:ln>
            <a:solidFill>
              <a:schemeClr val="bg1"/>
            </a:solidFill>
            <a:effectLst/>
            <a:latin typeface="Arial" charset="0"/>
            <a:cs typeface="Arial" charset="0"/>
          </a:endParaRPr>
        </a:p>
      </dsp:txBody>
      <dsp:txXfrm>
        <a:off x="3463746" y="2912603"/>
        <a:ext cx="1367358" cy="683679"/>
      </dsp:txXfrm>
    </dsp:sp>
    <dsp:sp modelId="{F95F5C69-B75D-4EE8-A43B-0D994F73832E}">
      <dsp:nvSpPr>
        <dsp:cNvPr id="0" name=""/>
        <dsp:cNvSpPr/>
      </dsp:nvSpPr>
      <dsp:spPr>
        <a:xfrm>
          <a:off x="1809243" y="3883428"/>
          <a:ext cx="1367358" cy="6836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kern="1200" cap="none" normalizeH="0" baseline="0" dirty="0">
              <a:ln>
                <a:noFill/>
              </a:ln>
              <a:solidFill>
                <a:schemeClr val="bg1"/>
              </a:solidFill>
              <a:effectLst/>
              <a:latin typeface="Arial" charset="0"/>
              <a:cs typeface="Arial" charset="0"/>
            </a:rPr>
            <a:t>Country 1</a:t>
          </a:r>
          <a:endParaRPr kumimoji="0" lang="en-US" altLang="en-US" sz="1200" b="0" i="0" u="none" strike="noStrike" kern="1200" cap="none" normalizeH="0" baseline="0" dirty="0">
            <a:ln>
              <a:noFill/>
            </a:ln>
            <a:solidFill>
              <a:schemeClr val="bg1"/>
            </a:solidFill>
            <a:effectLst/>
            <a:latin typeface="Arial" charset="0"/>
            <a:cs typeface="Arial" charset="0"/>
          </a:endParaRPr>
        </a:p>
      </dsp:txBody>
      <dsp:txXfrm>
        <a:off x="1809243" y="3883428"/>
        <a:ext cx="1367358" cy="683679"/>
      </dsp:txXfrm>
    </dsp:sp>
    <dsp:sp modelId="{21BBAB62-47E1-4E8A-93B9-E1E381D92D68}">
      <dsp:nvSpPr>
        <dsp:cNvPr id="0" name=""/>
        <dsp:cNvSpPr/>
      </dsp:nvSpPr>
      <dsp:spPr>
        <a:xfrm>
          <a:off x="3463746" y="3883428"/>
          <a:ext cx="1367358" cy="6836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kern="1200" cap="none" normalizeH="0" baseline="0" dirty="0">
              <a:ln>
                <a:noFill/>
              </a:ln>
              <a:solidFill>
                <a:schemeClr val="bg1"/>
              </a:solidFill>
              <a:effectLst/>
              <a:latin typeface="Arial" charset="0"/>
              <a:cs typeface="Arial" charset="0"/>
            </a:rPr>
            <a:t>Country 2</a:t>
          </a:r>
          <a:endParaRPr kumimoji="0" lang="en-US" altLang="en-US" sz="1200" b="0" i="0" u="none" strike="noStrike" kern="1200" cap="none" normalizeH="0" baseline="0" dirty="0">
            <a:ln>
              <a:noFill/>
            </a:ln>
            <a:solidFill>
              <a:schemeClr val="bg1"/>
            </a:solidFill>
            <a:effectLst/>
            <a:latin typeface="Arial" charset="0"/>
            <a:cs typeface="Arial" charset="0"/>
          </a:endParaRPr>
        </a:p>
      </dsp:txBody>
      <dsp:txXfrm>
        <a:off x="3463746" y="3883428"/>
        <a:ext cx="1367358" cy="683679"/>
      </dsp:txXfrm>
    </dsp:sp>
    <dsp:sp modelId="{5DFFE36B-EA2C-46E3-8CA5-A36D2189B1E7}">
      <dsp:nvSpPr>
        <dsp:cNvPr id="0" name=""/>
        <dsp:cNvSpPr/>
      </dsp:nvSpPr>
      <dsp:spPr>
        <a:xfrm>
          <a:off x="5118250" y="3883428"/>
          <a:ext cx="1367358" cy="6836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kern="1200" cap="none" normalizeH="0" baseline="0" dirty="0">
              <a:ln>
                <a:noFill/>
              </a:ln>
              <a:solidFill>
                <a:schemeClr val="bg1"/>
              </a:solidFill>
              <a:effectLst/>
              <a:latin typeface="Arial" charset="0"/>
              <a:cs typeface="Arial" charset="0"/>
            </a:rPr>
            <a:t>Country 3</a:t>
          </a:r>
          <a:endParaRPr kumimoji="0" lang="en-US" altLang="en-US" sz="1200" b="0" i="0" u="none" strike="noStrike" kern="1200" cap="none" normalizeH="0" baseline="0" dirty="0">
            <a:ln>
              <a:noFill/>
            </a:ln>
            <a:solidFill>
              <a:schemeClr val="bg1"/>
            </a:solidFill>
            <a:effectLst/>
            <a:latin typeface="Arial" charset="0"/>
            <a:cs typeface="Arial" charset="0"/>
          </a:endParaRPr>
        </a:p>
      </dsp:txBody>
      <dsp:txXfrm>
        <a:off x="5118250" y="3883428"/>
        <a:ext cx="1367358" cy="683679"/>
      </dsp:txXfrm>
    </dsp:sp>
    <dsp:sp modelId="{1A5DB09C-AAFD-4989-A1AF-D123292F9FF0}">
      <dsp:nvSpPr>
        <dsp:cNvPr id="0" name=""/>
        <dsp:cNvSpPr/>
      </dsp:nvSpPr>
      <dsp:spPr>
        <a:xfrm>
          <a:off x="4290998" y="1941779"/>
          <a:ext cx="1367358" cy="6836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kern="1200" cap="none" normalizeH="0" baseline="0" dirty="0">
              <a:ln>
                <a:noFill/>
              </a:ln>
              <a:solidFill>
                <a:schemeClr val="bg1"/>
              </a:solidFill>
              <a:effectLst/>
              <a:latin typeface="Arial" charset="0"/>
              <a:cs typeface="Arial" charset="0"/>
            </a:rPr>
            <a:t>Product 3</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kern="1200" cap="none" normalizeH="0" baseline="0" dirty="0">
              <a:ln>
                <a:noFill/>
              </a:ln>
              <a:solidFill>
                <a:schemeClr val="bg1"/>
              </a:solidFill>
              <a:effectLst/>
              <a:latin typeface="Arial" charset="0"/>
              <a:cs typeface="Arial" charset="0"/>
            </a:rPr>
            <a:t>Division</a:t>
          </a:r>
          <a:endParaRPr kumimoji="0" lang="en-US" altLang="en-US" sz="1200" b="0" i="0" u="none" strike="noStrike" kern="1200" cap="none" normalizeH="0" baseline="0" dirty="0">
            <a:ln>
              <a:noFill/>
            </a:ln>
            <a:solidFill>
              <a:schemeClr val="bg1"/>
            </a:solidFill>
            <a:effectLst/>
            <a:latin typeface="Arial" charset="0"/>
            <a:cs typeface="Arial" charset="0"/>
          </a:endParaRPr>
        </a:p>
      </dsp:txBody>
      <dsp:txXfrm>
        <a:off x="4290998" y="1941779"/>
        <a:ext cx="1367358" cy="683679"/>
      </dsp:txXfrm>
    </dsp:sp>
    <dsp:sp modelId="{D108996F-11BD-4641-BEAF-961200BC610D}">
      <dsp:nvSpPr>
        <dsp:cNvPr id="0" name=""/>
        <dsp:cNvSpPr/>
      </dsp:nvSpPr>
      <dsp:spPr>
        <a:xfrm>
          <a:off x="1809243" y="970954"/>
          <a:ext cx="1367358" cy="68367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kern="1200" cap="none" normalizeH="0" baseline="0" dirty="0">
              <a:ln>
                <a:noFill/>
              </a:ln>
              <a:solidFill>
                <a:srgbClr val="FFFF00"/>
              </a:solidFill>
              <a:effectLst/>
              <a:latin typeface="Arial" charset="0"/>
              <a:cs typeface="Arial" charset="0"/>
            </a:rPr>
            <a:t>Global Functions/</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1" u="none" strike="noStrike" kern="1200" cap="none" normalizeH="0" baseline="0" dirty="0">
              <a:ln>
                <a:noFill/>
              </a:ln>
              <a:solidFill>
                <a:srgbClr val="FFFF00"/>
              </a:solidFill>
              <a:effectLst/>
              <a:latin typeface="Arial" charset="0"/>
              <a:cs typeface="Arial" charset="0"/>
            </a:rPr>
            <a:t>Corporate Support</a:t>
          </a:r>
          <a:endParaRPr kumimoji="0" lang="en-US" altLang="en-US" sz="1200" b="0" i="0" u="none" strike="noStrike" kern="1200" cap="none" normalizeH="0" baseline="0" dirty="0">
            <a:ln>
              <a:noFill/>
            </a:ln>
            <a:solidFill>
              <a:srgbClr val="FFFF00"/>
            </a:solidFill>
            <a:effectLst/>
            <a:latin typeface="Arial" charset="0"/>
            <a:cs typeface="Arial" charset="0"/>
          </a:endParaRPr>
        </a:p>
      </dsp:txBody>
      <dsp:txXfrm>
        <a:off x="1809243" y="970954"/>
        <a:ext cx="1367358" cy="683679"/>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BE8FB8-435D-2347-BE0C-8C8605F7E0B6}" type="datetimeFigureOut">
              <a:rPr lang="en-US" smtClean="0"/>
              <a:t>9/4/2026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B7D53D-4AF1-3446-B142-98B7F29EEE94}" type="slidenum">
              <a:rPr lang="en-US" smtClean="0"/>
              <a:t>‹#›</a:t>
            </a:fld>
            <a:endParaRPr lang="en-US"/>
          </a:p>
        </p:txBody>
      </p:sp>
    </p:spTree>
    <p:extLst>
      <p:ext uri="{BB962C8B-B14F-4D97-AF65-F5344CB8AC3E}">
        <p14:creationId xmlns:p14="http://schemas.microsoft.com/office/powerpoint/2010/main" val="31617055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p>
            <a:fld id="{3209538B-9B25-4E78-B833-0F39F84D4A9D}" type="slidenum">
              <a:rPr lang="en-US" altLang="en-US"/>
              <a:pPr/>
              <a:t>1</a:t>
            </a:fld>
            <a:endParaRPr lang="en-US" altLang="en-US"/>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p:spPr>
        <p:txBody>
          <a:bodyPr/>
          <a:lstStyle/>
          <a:p>
            <a:pPr eaLnBrk="1" hangingPunct="1"/>
            <a:endParaRPr lang="es-PA"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A7660-E4AE-C937-E2FF-169F5CCAC033}"/>
            </a:ext>
          </a:extLst>
        </p:cNvPr>
        <p:cNvGrpSpPr/>
        <p:nvPr/>
      </p:nvGrpSpPr>
      <p:grpSpPr>
        <a:xfrm>
          <a:off x="0" y="0"/>
          <a:ext cx="0" cy="0"/>
          <a:chOff x="0" y="0"/>
          <a:chExt cx="0" cy="0"/>
        </a:xfrm>
      </p:grpSpPr>
      <p:sp>
        <p:nvSpPr>
          <p:cNvPr id="33793" name="Rectangle 7">
            <a:extLst>
              <a:ext uri="{FF2B5EF4-FFF2-40B4-BE49-F238E27FC236}">
                <a16:creationId xmlns:a16="http://schemas.microsoft.com/office/drawing/2014/main" id="{9D99239F-0EE3-D2F6-E13D-A4CCA43E15C2}"/>
              </a:ext>
            </a:extLst>
          </p:cNvPr>
          <p:cNvSpPr>
            <a:spLocks noGrp="1" noChangeArrowheads="1"/>
          </p:cNvSpPr>
          <p:nvPr>
            <p:ph type="sldNum" sz="quarter" idx="5"/>
          </p:nvPr>
        </p:nvSpPr>
        <p:spPr>
          <a:noFill/>
        </p:spPr>
        <p:txBody>
          <a:bodyPr/>
          <a:lstStyle/>
          <a:p>
            <a:fld id="{D7B638B3-081E-4ACD-ADD8-E1962CB6A058}" type="slidenum">
              <a:rPr lang="en-US" altLang="en-US" smtClean="0">
                <a:latin typeface="Arial" charset="0"/>
                <a:ea typeface="MS PGothic" pitchFamily="34" charset="-128"/>
              </a:rPr>
              <a:pPr/>
              <a:t>2</a:t>
            </a:fld>
            <a:endParaRPr lang="en-US" altLang="en-US">
              <a:latin typeface="Arial" charset="0"/>
              <a:ea typeface="MS PGothic" pitchFamily="34" charset="-128"/>
            </a:endParaRPr>
          </a:p>
        </p:txBody>
      </p:sp>
      <p:sp>
        <p:nvSpPr>
          <p:cNvPr id="33794" name="Rectangle 2">
            <a:extLst>
              <a:ext uri="{FF2B5EF4-FFF2-40B4-BE49-F238E27FC236}">
                <a16:creationId xmlns:a16="http://schemas.microsoft.com/office/drawing/2014/main" id="{B8EEED93-C7F6-81B8-F372-24698F9FAB69}"/>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F419B7F7-E430-3521-5794-798DBB976EBF}"/>
              </a:ext>
            </a:extLst>
          </p:cNvPr>
          <p:cNvSpPr>
            <a:spLocks noGrp="1" noChangeArrowheads="1"/>
          </p:cNvSpPr>
          <p:nvPr>
            <p:ph type="body" idx="1"/>
          </p:nvPr>
        </p:nvSpPr>
        <p:spPr>
          <a:noFill/>
          <a:ln/>
        </p:spPr>
        <p:txBody>
          <a:bodyPr/>
          <a:lstStyle/>
          <a:p>
            <a:pPr eaLnBrk="1" hangingPunct="1"/>
            <a:endParaRPr lang="es-PA" altLang="en-US"/>
          </a:p>
        </p:txBody>
      </p:sp>
    </p:spTree>
    <p:extLst>
      <p:ext uri="{BB962C8B-B14F-4D97-AF65-F5344CB8AC3E}">
        <p14:creationId xmlns:p14="http://schemas.microsoft.com/office/powerpoint/2010/main" val="2924443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81D02718-120B-4B97-87AC-AD3C610230B1}" type="slidenum">
              <a:rPr lang="en-US" altLang="en-US" sz="1200">
                <a:solidFill>
                  <a:schemeClr val="tx1"/>
                </a:solidFill>
              </a:rPr>
              <a:pPr algn="r" eaLnBrk="1" hangingPunct="1"/>
              <a:t>13</a:t>
            </a:fld>
            <a:endParaRPr lang="en-US" altLang="en-US" sz="1200">
              <a:solidFill>
                <a:schemeClr val="tx1"/>
              </a:solidFill>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pPr eaLnBrk="1" hangingPunct="1"/>
            <a:endParaRPr lang="es-PA"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2"/>
          <p:cNvSpPr>
            <a:spLocks noGrp="1" noRot="1" noChangeAspect="1" noChangeArrowheads="1" noTextEdit="1"/>
          </p:cNvSpPr>
          <p:nvPr>
            <p:ph type="sldImg"/>
          </p:nvPr>
        </p:nvSpPr>
        <p:spPr>
          <a:xfrm>
            <a:off x="384175" y="687388"/>
            <a:ext cx="6089650" cy="3425825"/>
          </a:xfrm>
          <a:ln/>
        </p:spPr>
      </p:sp>
      <p:sp>
        <p:nvSpPr>
          <p:cNvPr id="160770"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58480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640DE-67EB-D48B-CEB5-394D85B9E972}"/>
            </a:ext>
          </a:extLst>
        </p:cNvPr>
        <p:cNvGrpSpPr/>
        <p:nvPr/>
      </p:nvGrpSpPr>
      <p:grpSpPr>
        <a:xfrm>
          <a:off x="0" y="0"/>
          <a:ext cx="0" cy="0"/>
          <a:chOff x="0" y="0"/>
          <a:chExt cx="0" cy="0"/>
        </a:xfrm>
      </p:grpSpPr>
      <p:sp>
        <p:nvSpPr>
          <p:cNvPr id="160769" name="Rectangle 2">
            <a:extLst>
              <a:ext uri="{FF2B5EF4-FFF2-40B4-BE49-F238E27FC236}">
                <a16:creationId xmlns:a16="http://schemas.microsoft.com/office/drawing/2014/main" id="{CE76ED95-4252-CC6A-81DD-33210B38F01C}"/>
              </a:ext>
            </a:extLst>
          </p:cNvPr>
          <p:cNvSpPr>
            <a:spLocks noGrp="1" noRot="1" noChangeAspect="1" noChangeArrowheads="1" noTextEdit="1"/>
          </p:cNvSpPr>
          <p:nvPr>
            <p:ph type="sldImg"/>
          </p:nvPr>
        </p:nvSpPr>
        <p:spPr>
          <a:xfrm>
            <a:off x="384175" y="687388"/>
            <a:ext cx="6089650" cy="3425825"/>
          </a:xfrm>
          <a:ln/>
        </p:spPr>
      </p:sp>
      <p:sp>
        <p:nvSpPr>
          <p:cNvPr id="160770" name="Rectangle 3">
            <a:extLst>
              <a:ext uri="{FF2B5EF4-FFF2-40B4-BE49-F238E27FC236}">
                <a16:creationId xmlns:a16="http://schemas.microsoft.com/office/drawing/2014/main" id="{DC51EF83-C96F-01AD-2A96-565EDAA7CD0B}"/>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252088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8546A-FD96-7CC2-02AB-DA09E66DD4EE}"/>
            </a:ext>
          </a:extLst>
        </p:cNvPr>
        <p:cNvGrpSpPr/>
        <p:nvPr/>
      </p:nvGrpSpPr>
      <p:grpSpPr>
        <a:xfrm>
          <a:off x="0" y="0"/>
          <a:ext cx="0" cy="0"/>
          <a:chOff x="0" y="0"/>
          <a:chExt cx="0" cy="0"/>
        </a:xfrm>
      </p:grpSpPr>
      <p:sp>
        <p:nvSpPr>
          <p:cNvPr id="160769" name="Rectangle 2">
            <a:extLst>
              <a:ext uri="{FF2B5EF4-FFF2-40B4-BE49-F238E27FC236}">
                <a16:creationId xmlns:a16="http://schemas.microsoft.com/office/drawing/2014/main" id="{EDF8FA1B-868F-1366-FB91-564CB6187E95}"/>
              </a:ext>
            </a:extLst>
          </p:cNvPr>
          <p:cNvSpPr>
            <a:spLocks noGrp="1" noRot="1" noChangeAspect="1" noChangeArrowheads="1" noTextEdit="1"/>
          </p:cNvSpPr>
          <p:nvPr>
            <p:ph type="sldImg"/>
          </p:nvPr>
        </p:nvSpPr>
        <p:spPr>
          <a:xfrm>
            <a:off x="384175" y="687388"/>
            <a:ext cx="6089650" cy="3425825"/>
          </a:xfrm>
          <a:ln/>
        </p:spPr>
      </p:sp>
      <p:sp>
        <p:nvSpPr>
          <p:cNvPr id="160770" name="Rectangle 3">
            <a:extLst>
              <a:ext uri="{FF2B5EF4-FFF2-40B4-BE49-F238E27FC236}">
                <a16:creationId xmlns:a16="http://schemas.microsoft.com/office/drawing/2014/main" id="{AC4883C8-EB46-112E-0FD0-664123455D3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45435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miter lim="800000"/>
            <a:headEnd/>
            <a:tailEnd/>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95BD0D1-E865-41D4-9154-149FC98A1014}" type="slidenum">
              <a:rPr kumimoji="0" lang="en-US" altLang="en-US" sz="12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altLang="en-US" sz="12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
        <p:nvSpPr>
          <p:cNvPr id="82947" name="Rectangle 7"/>
          <p:cNvSpPr txBox="1">
            <a:spLocks noGrp="1" noChangeArrowheads="1"/>
          </p:cNvSpPr>
          <p:nvPr/>
        </p:nvSpPr>
        <p:spPr bwMode="auto">
          <a:xfrm>
            <a:off x="3884613" y="8685213"/>
            <a:ext cx="2971800" cy="457200"/>
          </a:xfrm>
          <a:prstGeom prst="rect">
            <a:avLst/>
          </a:prstGeom>
          <a:noFill/>
          <a:ln w="9525">
            <a:noFill/>
            <a:miter lim="800000"/>
            <a:headEnd/>
            <a:tailEnd/>
          </a:ln>
          <a:effectLst/>
        </p:spPr>
        <p:txBody>
          <a:bodyPr anchor="b"/>
          <a:lstStyle/>
          <a:p>
            <a:pPr marL="0" marR="0" lvl="0" indent="0" algn="r" defTabSz="914400" rtl="0" eaLnBrk="1" fontAlgn="auto" latinLnBrk="0" hangingPunct="1">
              <a:lnSpc>
                <a:spcPct val="100000"/>
              </a:lnSpc>
              <a:spcBef>
                <a:spcPts val="0"/>
              </a:spcBef>
              <a:spcAft>
                <a:spcPts val="0"/>
              </a:spcAft>
              <a:buClrTx/>
              <a:buSzTx/>
              <a:buFontTx/>
              <a:buNone/>
              <a:tabLst/>
              <a:defRPr/>
            </a:pPr>
            <a:fld id="{B89B35DF-6D9E-44C5-9600-300F3AEBECD4}" type="slidenum">
              <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948" name="Rectangle 2"/>
          <p:cNvSpPr>
            <a:spLocks noGrp="1" noRot="1" noChangeAspect="1" noChangeArrowheads="1" noTextEdit="1"/>
          </p:cNvSpPr>
          <p:nvPr>
            <p:ph type="sldImg"/>
          </p:nvPr>
        </p:nvSpPr>
        <p:spPr>
          <a:ln/>
        </p:spPr>
      </p:sp>
      <p:sp>
        <p:nvSpPr>
          <p:cNvPr id="82949" name="Rectangle 3"/>
          <p:cNvSpPr>
            <a:spLocks noGrp="1" noChangeArrowheads="1"/>
          </p:cNvSpPr>
          <p:nvPr>
            <p:ph type="body" idx="1"/>
          </p:nvPr>
        </p:nvSpPr>
        <p:spPr>
          <a:xfrm>
            <a:off x="915988" y="4343400"/>
            <a:ext cx="5026025" cy="4114800"/>
          </a:xfrm>
          <a:noFill/>
        </p:spPr>
        <p:txBody>
          <a:bodyPr lIns="90003" tIns="45001" rIns="90003" bIns="45001"/>
          <a:lstStyle/>
          <a:p>
            <a:pPr eaLnBrk="1" hangingPunct="1"/>
            <a:endParaRPr lang="en-US" altLang="en-US">
              <a:latin typeface="Arial" pitchFamily="34" charset="0"/>
              <a:cs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C1018-353C-BFD2-17F7-8D2ACD10767B}"/>
            </a:ext>
          </a:extLst>
        </p:cNvPr>
        <p:cNvGrpSpPr/>
        <p:nvPr/>
      </p:nvGrpSpPr>
      <p:grpSpPr>
        <a:xfrm>
          <a:off x="0" y="0"/>
          <a:ext cx="0" cy="0"/>
          <a:chOff x="0" y="0"/>
          <a:chExt cx="0" cy="0"/>
        </a:xfrm>
      </p:grpSpPr>
      <p:sp>
        <p:nvSpPr>
          <p:cNvPr id="160769" name="Rectangle 2">
            <a:extLst>
              <a:ext uri="{FF2B5EF4-FFF2-40B4-BE49-F238E27FC236}">
                <a16:creationId xmlns:a16="http://schemas.microsoft.com/office/drawing/2014/main" id="{28D80B55-2533-EB44-5F2C-FA370769CD99}"/>
              </a:ext>
            </a:extLst>
          </p:cNvPr>
          <p:cNvSpPr>
            <a:spLocks noGrp="1" noRot="1" noChangeAspect="1" noChangeArrowheads="1" noTextEdit="1"/>
          </p:cNvSpPr>
          <p:nvPr>
            <p:ph type="sldImg"/>
          </p:nvPr>
        </p:nvSpPr>
        <p:spPr>
          <a:xfrm>
            <a:off x="384175" y="687388"/>
            <a:ext cx="6089650" cy="3425825"/>
          </a:xfrm>
          <a:ln/>
        </p:spPr>
      </p:sp>
      <p:sp>
        <p:nvSpPr>
          <p:cNvPr id="160770" name="Rectangle 3">
            <a:extLst>
              <a:ext uri="{FF2B5EF4-FFF2-40B4-BE49-F238E27FC236}">
                <a16:creationId xmlns:a16="http://schemas.microsoft.com/office/drawing/2014/main" id="{2D8C546E-D59E-B133-071D-42256EF1A7D5}"/>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85379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26C96-2D46-9C4B-AE46-859B792ABC19}"/>
              </a:ext>
            </a:extLst>
          </p:cNvPr>
          <p:cNvSpPr>
            <a:spLocks noGrp="1"/>
          </p:cNvSpPr>
          <p:nvPr>
            <p:ph type="ctrTitle"/>
          </p:nvPr>
        </p:nvSpPr>
        <p:spPr>
          <a:xfrm>
            <a:off x="1859280" y="1041400"/>
            <a:ext cx="9072880" cy="2387600"/>
          </a:xfrm>
        </p:spPr>
        <p:txBody>
          <a:bodyPr anchor="b"/>
          <a:lstStyle>
            <a:lvl1pPr algn="l">
              <a:defRPr sz="6000">
                <a:latin typeface="+mj-lt"/>
              </a:defRPr>
            </a:lvl1pPr>
          </a:lstStyle>
          <a:p>
            <a:r>
              <a:rPr lang="en-US"/>
              <a:t>Click to edit Master title style</a:t>
            </a:r>
          </a:p>
        </p:txBody>
      </p:sp>
      <p:sp>
        <p:nvSpPr>
          <p:cNvPr id="3" name="Subtitle 2">
            <a:extLst>
              <a:ext uri="{FF2B5EF4-FFF2-40B4-BE49-F238E27FC236}">
                <a16:creationId xmlns:a16="http://schemas.microsoft.com/office/drawing/2014/main" id="{D5E1DDBC-27B7-EE49-AF57-DEA041F418A9}"/>
              </a:ext>
            </a:extLst>
          </p:cNvPr>
          <p:cNvSpPr>
            <a:spLocks noGrp="1"/>
          </p:cNvSpPr>
          <p:nvPr>
            <p:ph type="subTitle" idx="1"/>
          </p:nvPr>
        </p:nvSpPr>
        <p:spPr>
          <a:xfrm>
            <a:off x="1859280" y="3521075"/>
            <a:ext cx="9072880" cy="1655762"/>
          </a:xfrm>
        </p:spPr>
        <p:txBody>
          <a:bodyPr/>
          <a:lstStyle>
            <a:lvl1pPr marL="0" indent="0" algn="l">
              <a:buNone/>
              <a:defRPr sz="24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968913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pic>
        <p:nvPicPr>
          <p:cNvPr id="9" name="Picture 8" descr="A picture containing bird&#10;&#10;Description automatically generated">
            <a:extLst>
              <a:ext uri="{FF2B5EF4-FFF2-40B4-BE49-F238E27FC236}">
                <a16:creationId xmlns:a16="http://schemas.microsoft.com/office/drawing/2014/main" id="{C044CC65-39BB-9241-8761-4877F830C20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4C8C506-62B0-3B4E-A6FC-2F95F5B74E22}"/>
              </a:ext>
            </a:extLst>
          </p:cNvPr>
          <p:cNvSpPr>
            <a:spLocks noGrp="1"/>
          </p:cNvSpPr>
          <p:nvPr>
            <p:ph type="title"/>
          </p:nvPr>
        </p:nvSpPr>
        <p:spPr>
          <a:xfrm>
            <a:off x="1920240" y="365125"/>
            <a:ext cx="9433560" cy="1325563"/>
          </a:xfrm>
        </p:spPr>
        <p:txBody>
          <a:bodyPr/>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17237528-8BB0-6B46-9CD9-542AA14DDB32}"/>
              </a:ext>
            </a:extLst>
          </p:cNvPr>
          <p:cNvSpPr>
            <a:spLocks noGrp="1"/>
          </p:cNvSpPr>
          <p:nvPr>
            <p:ph idx="1"/>
          </p:nvPr>
        </p:nvSpPr>
        <p:spPr>
          <a:xfrm>
            <a:off x="1920240" y="1825625"/>
            <a:ext cx="9433560" cy="3955415"/>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8132C5-8314-D44C-97FA-65F882B9A367}"/>
              </a:ext>
            </a:extLst>
          </p:cNvPr>
          <p:cNvSpPr>
            <a:spLocks noGrp="1"/>
          </p:cNvSpPr>
          <p:nvPr>
            <p:ph type="dt" sz="half" idx="10"/>
          </p:nvPr>
        </p:nvSpPr>
        <p:spPr>
          <a:xfrm>
            <a:off x="1920240" y="6356350"/>
            <a:ext cx="2611120" cy="365125"/>
          </a:xfrm>
        </p:spPr>
        <p:txBody>
          <a:bodyPr/>
          <a:lstStyle/>
          <a:p>
            <a:fld id="{372E3958-41DC-4E88-862F-9DD6679C83BC}" type="datetime1">
              <a:rPr lang="en-US" smtClean="0"/>
              <a:t>9/4/2026</a:t>
            </a:fld>
            <a:endParaRPr lang="en-US"/>
          </a:p>
        </p:txBody>
      </p:sp>
      <p:sp>
        <p:nvSpPr>
          <p:cNvPr id="5" name="Footer Placeholder 4">
            <a:extLst>
              <a:ext uri="{FF2B5EF4-FFF2-40B4-BE49-F238E27FC236}">
                <a16:creationId xmlns:a16="http://schemas.microsoft.com/office/drawing/2014/main" id="{8E277702-0E8E-D04E-B52C-068046A40D95}"/>
              </a:ext>
            </a:extLst>
          </p:cNvPr>
          <p:cNvSpPr>
            <a:spLocks noGrp="1"/>
          </p:cNvSpPr>
          <p:nvPr>
            <p:ph type="ftr" sz="quarter" idx="11"/>
          </p:nvPr>
        </p:nvSpPr>
        <p:spPr/>
        <p:txBody>
          <a:bodyPr/>
          <a:lstStyle/>
          <a:p>
            <a:r>
              <a:rPr lang="en-US"/>
              <a:t>Newburry Creative Sparks 2024</a:t>
            </a:r>
          </a:p>
        </p:txBody>
      </p:sp>
      <p:sp>
        <p:nvSpPr>
          <p:cNvPr id="6" name="Slide Number Placeholder 5">
            <a:extLst>
              <a:ext uri="{FF2B5EF4-FFF2-40B4-BE49-F238E27FC236}">
                <a16:creationId xmlns:a16="http://schemas.microsoft.com/office/drawing/2014/main" id="{3CA9647A-416E-A040-B69A-AFDA53EA0EA4}"/>
              </a:ext>
            </a:extLst>
          </p:cNvPr>
          <p:cNvSpPr>
            <a:spLocks noGrp="1"/>
          </p:cNvSpPr>
          <p:nvPr>
            <p:ph type="sldNum" sz="quarter" idx="12"/>
          </p:nvPr>
        </p:nvSpPr>
        <p:spPr/>
        <p:txBody>
          <a:bodyPr/>
          <a:lstStyle/>
          <a:p>
            <a:fld id="{7EE6AFEC-37F4-1D48-80F4-D3D02F74536C}" type="slidenum">
              <a:rPr lang="en-US" smtClean="0"/>
              <a:t>‹#›</a:t>
            </a:fld>
            <a:endParaRPr lang="en-US"/>
          </a:p>
        </p:txBody>
      </p:sp>
    </p:spTree>
    <p:extLst>
      <p:ext uri="{BB962C8B-B14F-4D97-AF65-F5344CB8AC3E}">
        <p14:creationId xmlns:p14="http://schemas.microsoft.com/office/powerpoint/2010/main" val="4088190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pic>
        <p:nvPicPr>
          <p:cNvPr id="4" name="Picture 3" descr="A picture containing bird&#10;&#10;Description automatically generated">
            <a:extLst>
              <a:ext uri="{FF2B5EF4-FFF2-40B4-BE49-F238E27FC236}">
                <a16:creationId xmlns:a16="http://schemas.microsoft.com/office/drawing/2014/main" id="{3DD46B9C-C849-2547-9330-BEEFD7C81820}"/>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Content Placeholder 2">
            <a:extLst>
              <a:ext uri="{FF2B5EF4-FFF2-40B4-BE49-F238E27FC236}">
                <a16:creationId xmlns:a16="http://schemas.microsoft.com/office/drawing/2014/main" id="{BAD4CAFE-77C6-2B47-A011-297FF70AFF8E}"/>
              </a:ext>
            </a:extLst>
          </p:cNvPr>
          <p:cNvSpPr>
            <a:spLocks noGrp="1"/>
          </p:cNvSpPr>
          <p:nvPr>
            <p:ph sz="half" idx="1"/>
          </p:nvPr>
        </p:nvSpPr>
        <p:spPr>
          <a:xfrm>
            <a:off x="1920240" y="1825625"/>
            <a:ext cx="4582160" cy="3833495"/>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E78DEC-E24D-5E4F-929A-926B6CED4916}"/>
              </a:ext>
            </a:extLst>
          </p:cNvPr>
          <p:cNvSpPr>
            <a:spLocks noGrp="1"/>
          </p:cNvSpPr>
          <p:nvPr>
            <p:ph type="dt" sz="half" idx="10"/>
          </p:nvPr>
        </p:nvSpPr>
        <p:spPr>
          <a:xfrm>
            <a:off x="1920240" y="6356350"/>
            <a:ext cx="2611120" cy="365125"/>
          </a:xfrm>
        </p:spPr>
        <p:txBody>
          <a:bodyPr/>
          <a:lstStyle/>
          <a:p>
            <a:fld id="{2A1F3EF2-1C86-45CE-AE6E-56CDA0C384AA}" type="datetime1">
              <a:rPr lang="en-US" smtClean="0"/>
              <a:t>9/4/2026</a:t>
            </a:fld>
            <a:endParaRPr lang="en-US"/>
          </a:p>
        </p:txBody>
      </p:sp>
      <p:sp>
        <p:nvSpPr>
          <p:cNvPr id="6" name="Footer Placeholder 5">
            <a:extLst>
              <a:ext uri="{FF2B5EF4-FFF2-40B4-BE49-F238E27FC236}">
                <a16:creationId xmlns:a16="http://schemas.microsoft.com/office/drawing/2014/main" id="{D8E8C3D4-F607-1F4C-89FB-51FC6CDE4CCB}"/>
              </a:ext>
            </a:extLst>
          </p:cNvPr>
          <p:cNvSpPr>
            <a:spLocks noGrp="1"/>
          </p:cNvSpPr>
          <p:nvPr>
            <p:ph type="ftr" sz="quarter" idx="11"/>
          </p:nvPr>
        </p:nvSpPr>
        <p:spPr/>
        <p:txBody>
          <a:bodyPr/>
          <a:lstStyle/>
          <a:p>
            <a:r>
              <a:rPr lang="en-US"/>
              <a:t>Newburry Creative Sparks 2024</a:t>
            </a:r>
          </a:p>
        </p:txBody>
      </p:sp>
      <p:sp>
        <p:nvSpPr>
          <p:cNvPr id="7" name="Slide Number Placeholder 6">
            <a:extLst>
              <a:ext uri="{FF2B5EF4-FFF2-40B4-BE49-F238E27FC236}">
                <a16:creationId xmlns:a16="http://schemas.microsoft.com/office/drawing/2014/main" id="{2C140EA9-9A4A-154E-835E-F0346154DF63}"/>
              </a:ext>
            </a:extLst>
          </p:cNvPr>
          <p:cNvSpPr>
            <a:spLocks noGrp="1"/>
          </p:cNvSpPr>
          <p:nvPr>
            <p:ph type="sldNum" sz="quarter" idx="12"/>
          </p:nvPr>
        </p:nvSpPr>
        <p:spPr/>
        <p:txBody>
          <a:bodyPr/>
          <a:lstStyle/>
          <a:p>
            <a:fld id="{7EE6AFEC-37F4-1D48-80F4-D3D02F74536C}" type="slidenum">
              <a:rPr lang="en-US" smtClean="0"/>
              <a:t>‹#›</a:t>
            </a:fld>
            <a:endParaRPr lang="en-US"/>
          </a:p>
        </p:txBody>
      </p:sp>
      <p:sp>
        <p:nvSpPr>
          <p:cNvPr id="8" name="Title 1">
            <a:extLst>
              <a:ext uri="{FF2B5EF4-FFF2-40B4-BE49-F238E27FC236}">
                <a16:creationId xmlns:a16="http://schemas.microsoft.com/office/drawing/2014/main" id="{B6EE7176-8C0B-1F43-9A31-283CA5592829}"/>
              </a:ext>
            </a:extLst>
          </p:cNvPr>
          <p:cNvSpPr txBox="1">
            <a:spLocks/>
          </p:cNvSpPr>
          <p:nvPr userDrawn="1"/>
        </p:nvSpPr>
        <p:spPr>
          <a:xfrm>
            <a:off x="1920240" y="365125"/>
            <a:ext cx="943356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bg1"/>
                </a:solidFill>
                <a:latin typeface="+mj-lt"/>
                <a:ea typeface="+mj-ea"/>
                <a:cs typeface="+mj-cs"/>
              </a:defRPr>
            </a:lvl1pPr>
          </a:lstStyle>
          <a:p>
            <a:r>
              <a:rPr lang="en-US"/>
              <a:t>Click to edit Master title style</a:t>
            </a:r>
          </a:p>
        </p:txBody>
      </p:sp>
      <p:sp>
        <p:nvSpPr>
          <p:cNvPr id="10" name="Content Placeholder 2">
            <a:extLst>
              <a:ext uri="{FF2B5EF4-FFF2-40B4-BE49-F238E27FC236}">
                <a16:creationId xmlns:a16="http://schemas.microsoft.com/office/drawing/2014/main" id="{C4EF6F23-0457-734A-8122-E94EE569E45B}"/>
              </a:ext>
            </a:extLst>
          </p:cNvPr>
          <p:cNvSpPr>
            <a:spLocks noGrp="1"/>
          </p:cNvSpPr>
          <p:nvPr>
            <p:ph sz="half" idx="13"/>
          </p:nvPr>
        </p:nvSpPr>
        <p:spPr>
          <a:xfrm>
            <a:off x="6771640" y="1825625"/>
            <a:ext cx="4582160" cy="3833495"/>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0746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pic>
        <p:nvPicPr>
          <p:cNvPr id="4" name="Picture 3" descr="A picture containing bird&#10;&#10;Description automatically generated">
            <a:extLst>
              <a:ext uri="{FF2B5EF4-FFF2-40B4-BE49-F238E27FC236}">
                <a16:creationId xmlns:a16="http://schemas.microsoft.com/office/drawing/2014/main" id="{9E88F586-00C7-2745-B91C-6D19355905F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6C56BB26-8D17-FF41-8233-095B59A9CDAE}"/>
              </a:ext>
            </a:extLst>
          </p:cNvPr>
          <p:cNvSpPr>
            <a:spLocks noGrp="1"/>
          </p:cNvSpPr>
          <p:nvPr>
            <p:ph type="body" idx="1"/>
          </p:nvPr>
        </p:nvSpPr>
        <p:spPr>
          <a:xfrm>
            <a:off x="1918652" y="1681163"/>
            <a:ext cx="458216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6FB5802E-8632-E64F-8945-8F160C08F39F}"/>
              </a:ext>
            </a:extLst>
          </p:cNvPr>
          <p:cNvSpPr>
            <a:spLocks noGrp="1"/>
          </p:cNvSpPr>
          <p:nvPr>
            <p:ph type="body" sz="quarter" idx="3"/>
          </p:nvPr>
        </p:nvSpPr>
        <p:spPr>
          <a:xfrm>
            <a:off x="6771640" y="1681163"/>
            <a:ext cx="458374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a:extLst>
              <a:ext uri="{FF2B5EF4-FFF2-40B4-BE49-F238E27FC236}">
                <a16:creationId xmlns:a16="http://schemas.microsoft.com/office/drawing/2014/main" id="{BCF88939-A5E5-534A-8777-76D8C439AFE1}"/>
              </a:ext>
            </a:extLst>
          </p:cNvPr>
          <p:cNvSpPr>
            <a:spLocks noGrp="1"/>
          </p:cNvSpPr>
          <p:nvPr>
            <p:ph type="dt" sz="half" idx="10"/>
          </p:nvPr>
        </p:nvSpPr>
        <p:spPr/>
        <p:txBody>
          <a:bodyPr/>
          <a:lstStyle/>
          <a:p>
            <a:fld id="{DDF8022E-5D0E-48DB-9628-CAE853F9EF3A}" type="datetime1">
              <a:rPr lang="en-US" smtClean="0"/>
              <a:t>9/4/2026</a:t>
            </a:fld>
            <a:endParaRPr lang="en-US"/>
          </a:p>
        </p:txBody>
      </p:sp>
      <p:sp>
        <p:nvSpPr>
          <p:cNvPr id="8" name="Footer Placeholder 7">
            <a:extLst>
              <a:ext uri="{FF2B5EF4-FFF2-40B4-BE49-F238E27FC236}">
                <a16:creationId xmlns:a16="http://schemas.microsoft.com/office/drawing/2014/main" id="{014D3F7B-B0B5-EE48-ADBA-3DA485EF3553}"/>
              </a:ext>
            </a:extLst>
          </p:cNvPr>
          <p:cNvSpPr>
            <a:spLocks noGrp="1"/>
          </p:cNvSpPr>
          <p:nvPr>
            <p:ph type="ftr" sz="quarter" idx="11"/>
          </p:nvPr>
        </p:nvSpPr>
        <p:spPr/>
        <p:txBody>
          <a:bodyPr/>
          <a:lstStyle/>
          <a:p>
            <a:r>
              <a:rPr lang="en-US"/>
              <a:t>Newburry Creative Sparks 2024</a:t>
            </a:r>
          </a:p>
        </p:txBody>
      </p:sp>
      <p:sp>
        <p:nvSpPr>
          <p:cNvPr id="9" name="Slide Number Placeholder 8">
            <a:extLst>
              <a:ext uri="{FF2B5EF4-FFF2-40B4-BE49-F238E27FC236}">
                <a16:creationId xmlns:a16="http://schemas.microsoft.com/office/drawing/2014/main" id="{CC0F55C2-337F-F94B-AA8D-2667A97CEF10}"/>
              </a:ext>
            </a:extLst>
          </p:cNvPr>
          <p:cNvSpPr>
            <a:spLocks noGrp="1"/>
          </p:cNvSpPr>
          <p:nvPr>
            <p:ph type="sldNum" sz="quarter" idx="12"/>
          </p:nvPr>
        </p:nvSpPr>
        <p:spPr/>
        <p:txBody>
          <a:bodyPr/>
          <a:lstStyle/>
          <a:p>
            <a:fld id="{7EE6AFEC-37F4-1D48-80F4-D3D02F74536C}" type="slidenum">
              <a:rPr lang="en-US" smtClean="0"/>
              <a:t>‹#›</a:t>
            </a:fld>
            <a:endParaRPr lang="en-US"/>
          </a:p>
        </p:txBody>
      </p:sp>
      <p:sp>
        <p:nvSpPr>
          <p:cNvPr id="10" name="Content Placeholder 2">
            <a:extLst>
              <a:ext uri="{FF2B5EF4-FFF2-40B4-BE49-F238E27FC236}">
                <a16:creationId xmlns:a16="http://schemas.microsoft.com/office/drawing/2014/main" id="{8C8E4565-FC2C-B444-8F57-8F7547ABAC29}"/>
              </a:ext>
            </a:extLst>
          </p:cNvPr>
          <p:cNvSpPr>
            <a:spLocks noGrp="1"/>
          </p:cNvSpPr>
          <p:nvPr>
            <p:ph sz="half" idx="13"/>
          </p:nvPr>
        </p:nvSpPr>
        <p:spPr>
          <a:xfrm>
            <a:off x="1920240" y="2671762"/>
            <a:ext cx="4582160" cy="29873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6B9C816B-C660-9C4B-8BB9-ED115ACA4448}"/>
              </a:ext>
            </a:extLst>
          </p:cNvPr>
          <p:cNvSpPr txBox="1">
            <a:spLocks/>
          </p:cNvSpPr>
          <p:nvPr userDrawn="1"/>
        </p:nvSpPr>
        <p:spPr>
          <a:xfrm>
            <a:off x="1920240" y="365125"/>
            <a:ext cx="943356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bg1"/>
                </a:solidFill>
                <a:latin typeface="+mj-lt"/>
                <a:ea typeface="+mj-ea"/>
                <a:cs typeface="+mj-cs"/>
              </a:defRPr>
            </a:lvl1pPr>
          </a:lstStyle>
          <a:p>
            <a:r>
              <a:rPr lang="en-US"/>
              <a:t>Click to edit Master title style</a:t>
            </a:r>
          </a:p>
        </p:txBody>
      </p:sp>
      <p:sp>
        <p:nvSpPr>
          <p:cNvPr id="12" name="Content Placeholder 2">
            <a:extLst>
              <a:ext uri="{FF2B5EF4-FFF2-40B4-BE49-F238E27FC236}">
                <a16:creationId xmlns:a16="http://schemas.microsoft.com/office/drawing/2014/main" id="{01E401C8-8FFC-A04D-A35D-59169EAE3D32}"/>
              </a:ext>
            </a:extLst>
          </p:cNvPr>
          <p:cNvSpPr>
            <a:spLocks noGrp="1"/>
          </p:cNvSpPr>
          <p:nvPr>
            <p:ph sz="half" idx="14"/>
          </p:nvPr>
        </p:nvSpPr>
        <p:spPr>
          <a:xfrm>
            <a:off x="6771640" y="2671762"/>
            <a:ext cx="4582160" cy="29873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8328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pic>
        <p:nvPicPr>
          <p:cNvPr id="9" name="Picture 8" descr="A picture containing yellow, food, table&#10;&#10;Description automatically generated">
            <a:extLst>
              <a:ext uri="{FF2B5EF4-FFF2-40B4-BE49-F238E27FC236}">
                <a16:creationId xmlns:a16="http://schemas.microsoft.com/office/drawing/2014/main" id="{FAF6D7D9-EAC0-F141-95A0-936F67BC7F99}"/>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4C8C506-62B0-3B4E-A6FC-2F95F5B74E22}"/>
              </a:ext>
            </a:extLst>
          </p:cNvPr>
          <p:cNvSpPr>
            <a:spLocks noGrp="1"/>
          </p:cNvSpPr>
          <p:nvPr>
            <p:ph type="title"/>
          </p:nvPr>
        </p:nvSpPr>
        <p:spPr>
          <a:xfrm>
            <a:off x="1920240" y="365125"/>
            <a:ext cx="943356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7237528-8BB0-6B46-9CD9-542AA14DDB32}"/>
              </a:ext>
            </a:extLst>
          </p:cNvPr>
          <p:cNvSpPr>
            <a:spLocks noGrp="1"/>
          </p:cNvSpPr>
          <p:nvPr>
            <p:ph idx="1"/>
          </p:nvPr>
        </p:nvSpPr>
        <p:spPr>
          <a:xfrm>
            <a:off x="1920240" y="1825625"/>
            <a:ext cx="9433560" cy="395541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8132C5-8314-D44C-97FA-65F882B9A367}"/>
              </a:ext>
            </a:extLst>
          </p:cNvPr>
          <p:cNvSpPr>
            <a:spLocks noGrp="1"/>
          </p:cNvSpPr>
          <p:nvPr>
            <p:ph type="dt" sz="half" idx="10"/>
          </p:nvPr>
        </p:nvSpPr>
        <p:spPr>
          <a:xfrm>
            <a:off x="1920240" y="6356350"/>
            <a:ext cx="2611120" cy="365125"/>
          </a:xfrm>
        </p:spPr>
        <p:txBody>
          <a:bodyPr/>
          <a:lstStyle>
            <a:lvl1pPr>
              <a:defRPr>
                <a:solidFill>
                  <a:schemeClr val="bg1">
                    <a:lumMod val="85000"/>
                  </a:schemeClr>
                </a:solidFill>
              </a:defRPr>
            </a:lvl1pPr>
          </a:lstStyle>
          <a:p>
            <a:fld id="{4D7315D7-8650-4B25-B154-D49AF5449F6D}" type="datetime1">
              <a:rPr lang="en-US" smtClean="0"/>
              <a:t>9/4/2026</a:t>
            </a:fld>
            <a:endParaRPr lang="en-US"/>
          </a:p>
        </p:txBody>
      </p:sp>
      <p:sp>
        <p:nvSpPr>
          <p:cNvPr id="5" name="Footer Placeholder 4">
            <a:extLst>
              <a:ext uri="{FF2B5EF4-FFF2-40B4-BE49-F238E27FC236}">
                <a16:creationId xmlns:a16="http://schemas.microsoft.com/office/drawing/2014/main" id="{8E277702-0E8E-D04E-B52C-068046A40D95}"/>
              </a:ext>
            </a:extLst>
          </p:cNvPr>
          <p:cNvSpPr>
            <a:spLocks noGrp="1"/>
          </p:cNvSpPr>
          <p:nvPr>
            <p:ph type="ftr" sz="quarter" idx="11"/>
          </p:nvPr>
        </p:nvSpPr>
        <p:spPr/>
        <p:txBody>
          <a:bodyPr/>
          <a:lstStyle>
            <a:lvl1pPr>
              <a:defRPr>
                <a:solidFill>
                  <a:schemeClr val="bg1">
                    <a:lumMod val="85000"/>
                  </a:schemeClr>
                </a:solidFill>
              </a:defRPr>
            </a:lvl1pPr>
          </a:lstStyle>
          <a:p>
            <a:r>
              <a:rPr lang="en-US"/>
              <a:t>Newburry Creative Sparks 2024</a:t>
            </a:r>
          </a:p>
        </p:txBody>
      </p:sp>
      <p:sp>
        <p:nvSpPr>
          <p:cNvPr id="6" name="Slide Number Placeholder 5">
            <a:extLst>
              <a:ext uri="{FF2B5EF4-FFF2-40B4-BE49-F238E27FC236}">
                <a16:creationId xmlns:a16="http://schemas.microsoft.com/office/drawing/2014/main" id="{3CA9647A-416E-A040-B69A-AFDA53EA0EA4}"/>
              </a:ext>
            </a:extLst>
          </p:cNvPr>
          <p:cNvSpPr>
            <a:spLocks noGrp="1"/>
          </p:cNvSpPr>
          <p:nvPr>
            <p:ph type="sldNum" sz="quarter" idx="12"/>
          </p:nvPr>
        </p:nvSpPr>
        <p:spPr/>
        <p:txBody>
          <a:bodyPr/>
          <a:lstStyle>
            <a:lvl1pPr>
              <a:defRPr>
                <a:solidFill>
                  <a:schemeClr val="bg1">
                    <a:lumMod val="85000"/>
                  </a:schemeClr>
                </a:solidFill>
              </a:defRPr>
            </a:lvl1pPr>
          </a:lstStyle>
          <a:p>
            <a:fld id="{7EE6AFEC-37F4-1D48-80F4-D3D02F74536C}" type="slidenum">
              <a:rPr lang="en-US" smtClean="0"/>
              <a:pPr/>
              <a:t>‹#›</a:t>
            </a:fld>
            <a:endParaRPr lang="en-US"/>
          </a:p>
        </p:txBody>
      </p:sp>
    </p:spTree>
    <p:extLst>
      <p:ext uri="{BB962C8B-B14F-4D97-AF65-F5344CB8AC3E}">
        <p14:creationId xmlns:p14="http://schemas.microsoft.com/office/powerpoint/2010/main" val="656036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wo Content">
    <p:spTree>
      <p:nvGrpSpPr>
        <p:cNvPr id="1" name=""/>
        <p:cNvGrpSpPr/>
        <p:nvPr/>
      </p:nvGrpSpPr>
      <p:grpSpPr>
        <a:xfrm>
          <a:off x="0" y="0"/>
          <a:ext cx="0" cy="0"/>
          <a:chOff x="0" y="0"/>
          <a:chExt cx="0" cy="0"/>
        </a:xfrm>
      </p:grpSpPr>
      <p:pic>
        <p:nvPicPr>
          <p:cNvPr id="4" name="Picture 3" descr="A picture containing yellow, food, table&#10;&#10;Description automatically generated">
            <a:extLst>
              <a:ext uri="{FF2B5EF4-FFF2-40B4-BE49-F238E27FC236}">
                <a16:creationId xmlns:a16="http://schemas.microsoft.com/office/drawing/2014/main" id="{C7169667-9940-4141-961C-FEF890E1A3D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Content Placeholder 2">
            <a:extLst>
              <a:ext uri="{FF2B5EF4-FFF2-40B4-BE49-F238E27FC236}">
                <a16:creationId xmlns:a16="http://schemas.microsoft.com/office/drawing/2014/main" id="{BAD4CAFE-77C6-2B47-A011-297FF70AFF8E}"/>
              </a:ext>
            </a:extLst>
          </p:cNvPr>
          <p:cNvSpPr>
            <a:spLocks noGrp="1"/>
          </p:cNvSpPr>
          <p:nvPr>
            <p:ph sz="half" idx="1"/>
          </p:nvPr>
        </p:nvSpPr>
        <p:spPr>
          <a:xfrm>
            <a:off x="1920240" y="1825625"/>
            <a:ext cx="4582160" cy="3833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E78DEC-E24D-5E4F-929A-926B6CED4916}"/>
              </a:ext>
            </a:extLst>
          </p:cNvPr>
          <p:cNvSpPr>
            <a:spLocks noGrp="1"/>
          </p:cNvSpPr>
          <p:nvPr>
            <p:ph type="dt" sz="half" idx="10"/>
          </p:nvPr>
        </p:nvSpPr>
        <p:spPr>
          <a:xfrm>
            <a:off x="1923117" y="6356349"/>
            <a:ext cx="2611120" cy="365125"/>
          </a:xfrm>
        </p:spPr>
        <p:txBody>
          <a:bodyPr/>
          <a:lstStyle>
            <a:lvl1pPr>
              <a:defRPr>
                <a:solidFill>
                  <a:schemeClr val="bg1">
                    <a:lumMod val="85000"/>
                  </a:schemeClr>
                </a:solidFill>
              </a:defRPr>
            </a:lvl1pPr>
          </a:lstStyle>
          <a:p>
            <a:fld id="{77AED92B-49CD-4D97-9E35-D19FC2383835}" type="datetime1">
              <a:rPr lang="en-US" smtClean="0"/>
              <a:t>9/4/2026</a:t>
            </a:fld>
            <a:endParaRPr lang="en-US"/>
          </a:p>
        </p:txBody>
      </p:sp>
      <p:sp>
        <p:nvSpPr>
          <p:cNvPr id="6" name="Footer Placeholder 5">
            <a:extLst>
              <a:ext uri="{FF2B5EF4-FFF2-40B4-BE49-F238E27FC236}">
                <a16:creationId xmlns:a16="http://schemas.microsoft.com/office/drawing/2014/main" id="{D8E8C3D4-F607-1F4C-89FB-51FC6CDE4CCB}"/>
              </a:ext>
            </a:extLst>
          </p:cNvPr>
          <p:cNvSpPr>
            <a:spLocks noGrp="1"/>
          </p:cNvSpPr>
          <p:nvPr>
            <p:ph type="ftr" sz="quarter" idx="11"/>
          </p:nvPr>
        </p:nvSpPr>
        <p:spPr>
          <a:xfrm>
            <a:off x="4856817" y="6356349"/>
            <a:ext cx="4114800" cy="365125"/>
          </a:xfrm>
        </p:spPr>
        <p:txBody>
          <a:bodyPr/>
          <a:lstStyle>
            <a:lvl1pPr>
              <a:defRPr>
                <a:solidFill>
                  <a:schemeClr val="bg1">
                    <a:lumMod val="85000"/>
                  </a:schemeClr>
                </a:solidFill>
              </a:defRPr>
            </a:lvl1pPr>
          </a:lstStyle>
          <a:p>
            <a:r>
              <a:rPr lang="en-US"/>
              <a:t>Newburry Creative Sparks 2024</a:t>
            </a:r>
          </a:p>
        </p:txBody>
      </p:sp>
      <p:sp>
        <p:nvSpPr>
          <p:cNvPr id="7" name="Slide Number Placeholder 6">
            <a:extLst>
              <a:ext uri="{FF2B5EF4-FFF2-40B4-BE49-F238E27FC236}">
                <a16:creationId xmlns:a16="http://schemas.microsoft.com/office/drawing/2014/main" id="{2C140EA9-9A4A-154E-835E-F0346154DF63}"/>
              </a:ext>
            </a:extLst>
          </p:cNvPr>
          <p:cNvSpPr>
            <a:spLocks noGrp="1"/>
          </p:cNvSpPr>
          <p:nvPr>
            <p:ph type="sldNum" sz="quarter" idx="12"/>
          </p:nvPr>
        </p:nvSpPr>
        <p:spPr/>
        <p:txBody>
          <a:bodyPr/>
          <a:lstStyle>
            <a:lvl1pPr>
              <a:defRPr>
                <a:solidFill>
                  <a:schemeClr val="bg1">
                    <a:lumMod val="85000"/>
                  </a:schemeClr>
                </a:solidFill>
              </a:defRPr>
            </a:lvl1pPr>
          </a:lstStyle>
          <a:p>
            <a:fld id="{7EE6AFEC-37F4-1D48-80F4-D3D02F74536C}" type="slidenum">
              <a:rPr lang="en-US" smtClean="0"/>
              <a:pPr/>
              <a:t>‹#›</a:t>
            </a:fld>
            <a:endParaRPr lang="en-US"/>
          </a:p>
        </p:txBody>
      </p:sp>
      <p:sp>
        <p:nvSpPr>
          <p:cNvPr id="8" name="Title 1">
            <a:extLst>
              <a:ext uri="{FF2B5EF4-FFF2-40B4-BE49-F238E27FC236}">
                <a16:creationId xmlns:a16="http://schemas.microsoft.com/office/drawing/2014/main" id="{B6EE7176-8C0B-1F43-9A31-283CA5592829}"/>
              </a:ext>
            </a:extLst>
          </p:cNvPr>
          <p:cNvSpPr txBox="1">
            <a:spLocks/>
          </p:cNvSpPr>
          <p:nvPr userDrawn="1"/>
        </p:nvSpPr>
        <p:spPr>
          <a:xfrm>
            <a:off x="1920240" y="365125"/>
            <a:ext cx="943356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bg1"/>
                </a:solidFill>
                <a:latin typeface="+mj-lt"/>
                <a:ea typeface="+mj-ea"/>
                <a:cs typeface="+mj-cs"/>
              </a:defRPr>
            </a:lvl1pPr>
          </a:lstStyle>
          <a:p>
            <a:r>
              <a:rPr lang="en-US"/>
              <a:t>Click to edit Master title style</a:t>
            </a:r>
          </a:p>
        </p:txBody>
      </p:sp>
      <p:sp>
        <p:nvSpPr>
          <p:cNvPr id="10" name="Content Placeholder 2">
            <a:extLst>
              <a:ext uri="{FF2B5EF4-FFF2-40B4-BE49-F238E27FC236}">
                <a16:creationId xmlns:a16="http://schemas.microsoft.com/office/drawing/2014/main" id="{C4EF6F23-0457-734A-8122-E94EE569E45B}"/>
              </a:ext>
            </a:extLst>
          </p:cNvPr>
          <p:cNvSpPr>
            <a:spLocks noGrp="1"/>
          </p:cNvSpPr>
          <p:nvPr>
            <p:ph sz="half" idx="13"/>
          </p:nvPr>
        </p:nvSpPr>
        <p:spPr>
          <a:xfrm>
            <a:off x="6771640" y="1825625"/>
            <a:ext cx="4582160" cy="3833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297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Comparison">
    <p:spTree>
      <p:nvGrpSpPr>
        <p:cNvPr id="1" name=""/>
        <p:cNvGrpSpPr/>
        <p:nvPr/>
      </p:nvGrpSpPr>
      <p:grpSpPr>
        <a:xfrm>
          <a:off x="0" y="0"/>
          <a:ext cx="0" cy="0"/>
          <a:chOff x="0" y="0"/>
          <a:chExt cx="0" cy="0"/>
        </a:xfrm>
      </p:grpSpPr>
      <p:pic>
        <p:nvPicPr>
          <p:cNvPr id="4" name="Picture 3" descr="A picture containing yellow, food, table&#10;&#10;Description automatically generated">
            <a:extLst>
              <a:ext uri="{FF2B5EF4-FFF2-40B4-BE49-F238E27FC236}">
                <a16:creationId xmlns:a16="http://schemas.microsoft.com/office/drawing/2014/main" id="{53716C7D-BA51-CA40-9587-2BD03F49D86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6C56BB26-8D17-FF41-8233-095B59A9CDAE}"/>
              </a:ext>
            </a:extLst>
          </p:cNvPr>
          <p:cNvSpPr>
            <a:spLocks noGrp="1"/>
          </p:cNvSpPr>
          <p:nvPr>
            <p:ph type="body" idx="1"/>
          </p:nvPr>
        </p:nvSpPr>
        <p:spPr>
          <a:xfrm>
            <a:off x="1918652" y="1681163"/>
            <a:ext cx="458216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6FB5802E-8632-E64F-8945-8F160C08F39F}"/>
              </a:ext>
            </a:extLst>
          </p:cNvPr>
          <p:cNvSpPr>
            <a:spLocks noGrp="1"/>
          </p:cNvSpPr>
          <p:nvPr>
            <p:ph type="body" sz="quarter" idx="3"/>
          </p:nvPr>
        </p:nvSpPr>
        <p:spPr>
          <a:xfrm>
            <a:off x="6771640" y="1681163"/>
            <a:ext cx="458374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a:extLst>
              <a:ext uri="{FF2B5EF4-FFF2-40B4-BE49-F238E27FC236}">
                <a16:creationId xmlns:a16="http://schemas.microsoft.com/office/drawing/2014/main" id="{BCF88939-A5E5-534A-8777-76D8C439AFE1}"/>
              </a:ext>
            </a:extLst>
          </p:cNvPr>
          <p:cNvSpPr>
            <a:spLocks noGrp="1"/>
          </p:cNvSpPr>
          <p:nvPr>
            <p:ph type="dt" sz="half" idx="10"/>
          </p:nvPr>
        </p:nvSpPr>
        <p:spPr/>
        <p:txBody>
          <a:bodyPr/>
          <a:lstStyle>
            <a:lvl1pPr>
              <a:defRPr>
                <a:solidFill>
                  <a:schemeClr val="bg1">
                    <a:lumMod val="85000"/>
                  </a:schemeClr>
                </a:solidFill>
              </a:defRPr>
            </a:lvl1pPr>
          </a:lstStyle>
          <a:p>
            <a:fld id="{A8E91207-E737-4121-BBB1-AD0CC5064BEB}" type="datetime1">
              <a:rPr lang="en-US" smtClean="0"/>
              <a:t>9/4/2026</a:t>
            </a:fld>
            <a:endParaRPr lang="en-US"/>
          </a:p>
        </p:txBody>
      </p:sp>
      <p:sp>
        <p:nvSpPr>
          <p:cNvPr id="8" name="Footer Placeholder 7">
            <a:extLst>
              <a:ext uri="{FF2B5EF4-FFF2-40B4-BE49-F238E27FC236}">
                <a16:creationId xmlns:a16="http://schemas.microsoft.com/office/drawing/2014/main" id="{014D3F7B-B0B5-EE48-ADBA-3DA485EF3553}"/>
              </a:ext>
            </a:extLst>
          </p:cNvPr>
          <p:cNvSpPr>
            <a:spLocks noGrp="1"/>
          </p:cNvSpPr>
          <p:nvPr>
            <p:ph type="ftr" sz="quarter" idx="11"/>
          </p:nvPr>
        </p:nvSpPr>
        <p:spPr/>
        <p:txBody>
          <a:bodyPr/>
          <a:lstStyle>
            <a:lvl1pPr>
              <a:defRPr>
                <a:solidFill>
                  <a:schemeClr val="bg1">
                    <a:lumMod val="85000"/>
                  </a:schemeClr>
                </a:solidFill>
              </a:defRPr>
            </a:lvl1pPr>
          </a:lstStyle>
          <a:p>
            <a:r>
              <a:rPr lang="en-US"/>
              <a:t>Newburry Creative Sparks 2024</a:t>
            </a:r>
          </a:p>
        </p:txBody>
      </p:sp>
      <p:sp>
        <p:nvSpPr>
          <p:cNvPr id="9" name="Slide Number Placeholder 8">
            <a:extLst>
              <a:ext uri="{FF2B5EF4-FFF2-40B4-BE49-F238E27FC236}">
                <a16:creationId xmlns:a16="http://schemas.microsoft.com/office/drawing/2014/main" id="{CC0F55C2-337F-F94B-AA8D-2667A97CEF10}"/>
              </a:ext>
            </a:extLst>
          </p:cNvPr>
          <p:cNvSpPr>
            <a:spLocks noGrp="1"/>
          </p:cNvSpPr>
          <p:nvPr>
            <p:ph type="sldNum" sz="quarter" idx="12"/>
          </p:nvPr>
        </p:nvSpPr>
        <p:spPr/>
        <p:txBody>
          <a:bodyPr/>
          <a:lstStyle>
            <a:lvl1pPr>
              <a:defRPr>
                <a:solidFill>
                  <a:schemeClr val="bg1">
                    <a:lumMod val="85000"/>
                  </a:schemeClr>
                </a:solidFill>
              </a:defRPr>
            </a:lvl1pPr>
          </a:lstStyle>
          <a:p>
            <a:fld id="{7EE6AFEC-37F4-1D48-80F4-D3D02F74536C}" type="slidenum">
              <a:rPr lang="en-US" smtClean="0"/>
              <a:pPr/>
              <a:t>‹#›</a:t>
            </a:fld>
            <a:endParaRPr lang="en-US"/>
          </a:p>
        </p:txBody>
      </p:sp>
      <p:sp>
        <p:nvSpPr>
          <p:cNvPr id="10" name="Content Placeholder 2">
            <a:extLst>
              <a:ext uri="{FF2B5EF4-FFF2-40B4-BE49-F238E27FC236}">
                <a16:creationId xmlns:a16="http://schemas.microsoft.com/office/drawing/2014/main" id="{8C8E4565-FC2C-B444-8F57-8F7547ABAC29}"/>
              </a:ext>
            </a:extLst>
          </p:cNvPr>
          <p:cNvSpPr>
            <a:spLocks noGrp="1"/>
          </p:cNvSpPr>
          <p:nvPr>
            <p:ph sz="half" idx="13"/>
          </p:nvPr>
        </p:nvSpPr>
        <p:spPr>
          <a:xfrm>
            <a:off x="1920240" y="2671762"/>
            <a:ext cx="4582160" cy="29873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6B9C816B-C660-9C4B-8BB9-ED115ACA4448}"/>
              </a:ext>
            </a:extLst>
          </p:cNvPr>
          <p:cNvSpPr txBox="1">
            <a:spLocks/>
          </p:cNvSpPr>
          <p:nvPr userDrawn="1"/>
        </p:nvSpPr>
        <p:spPr>
          <a:xfrm>
            <a:off x="1920240" y="365125"/>
            <a:ext cx="943356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bg1"/>
                </a:solidFill>
                <a:latin typeface="+mj-lt"/>
                <a:ea typeface="+mj-ea"/>
                <a:cs typeface="+mj-cs"/>
              </a:defRPr>
            </a:lvl1pPr>
          </a:lstStyle>
          <a:p>
            <a:r>
              <a:rPr lang="en-US"/>
              <a:t>Click to edit Master title style</a:t>
            </a:r>
          </a:p>
        </p:txBody>
      </p:sp>
      <p:sp>
        <p:nvSpPr>
          <p:cNvPr id="12" name="Content Placeholder 2">
            <a:extLst>
              <a:ext uri="{FF2B5EF4-FFF2-40B4-BE49-F238E27FC236}">
                <a16:creationId xmlns:a16="http://schemas.microsoft.com/office/drawing/2014/main" id="{01E401C8-8FFC-A04D-A35D-59169EAE3D32}"/>
              </a:ext>
            </a:extLst>
          </p:cNvPr>
          <p:cNvSpPr>
            <a:spLocks noGrp="1"/>
          </p:cNvSpPr>
          <p:nvPr>
            <p:ph sz="half" idx="14"/>
          </p:nvPr>
        </p:nvSpPr>
        <p:spPr>
          <a:xfrm>
            <a:off x="6771640" y="2671762"/>
            <a:ext cx="4582160" cy="29873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67942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2_Title and Content">
    <p:spTree>
      <p:nvGrpSpPr>
        <p:cNvPr id="1" name=""/>
        <p:cNvGrpSpPr/>
        <p:nvPr/>
      </p:nvGrpSpPr>
      <p:grpSpPr>
        <a:xfrm>
          <a:off x="0" y="0"/>
          <a:ext cx="0" cy="0"/>
          <a:chOff x="0" y="0"/>
          <a:chExt cx="0" cy="0"/>
        </a:xfrm>
      </p:grpSpPr>
      <p:pic>
        <p:nvPicPr>
          <p:cNvPr id="11" name="Picture 10" descr="A close up of a logo&#10;&#10;Description automatically generated">
            <a:extLst>
              <a:ext uri="{FF2B5EF4-FFF2-40B4-BE49-F238E27FC236}">
                <a16:creationId xmlns:a16="http://schemas.microsoft.com/office/drawing/2014/main" id="{849C9D60-39E6-8244-84DF-498C5CE1EB7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4C8C506-62B0-3B4E-A6FC-2F95F5B74E22}"/>
              </a:ext>
            </a:extLst>
          </p:cNvPr>
          <p:cNvSpPr>
            <a:spLocks noGrp="1"/>
          </p:cNvSpPr>
          <p:nvPr>
            <p:ph type="title"/>
          </p:nvPr>
        </p:nvSpPr>
        <p:spPr>
          <a:xfrm>
            <a:off x="1920240" y="365125"/>
            <a:ext cx="9433560" cy="1325563"/>
          </a:xfrm>
        </p:spPr>
        <p:txBody>
          <a:bodyPr/>
          <a:lstStyle>
            <a:lvl1pP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7237528-8BB0-6B46-9CD9-542AA14DDB32}"/>
              </a:ext>
            </a:extLst>
          </p:cNvPr>
          <p:cNvSpPr>
            <a:spLocks noGrp="1"/>
          </p:cNvSpPr>
          <p:nvPr>
            <p:ph idx="1"/>
          </p:nvPr>
        </p:nvSpPr>
        <p:spPr>
          <a:xfrm>
            <a:off x="1920240" y="1825625"/>
            <a:ext cx="9433560" cy="3955415"/>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8132C5-8314-D44C-97FA-65F882B9A367}"/>
              </a:ext>
            </a:extLst>
          </p:cNvPr>
          <p:cNvSpPr>
            <a:spLocks noGrp="1"/>
          </p:cNvSpPr>
          <p:nvPr>
            <p:ph type="dt" sz="half" idx="10"/>
          </p:nvPr>
        </p:nvSpPr>
        <p:spPr>
          <a:xfrm>
            <a:off x="1920240" y="6356350"/>
            <a:ext cx="2611120" cy="365125"/>
          </a:xfrm>
        </p:spPr>
        <p:txBody>
          <a:bodyPr/>
          <a:lstStyle/>
          <a:p>
            <a:fld id="{1A38A9CB-2169-4B57-8C1E-CC81523615A0}" type="datetime1">
              <a:rPr lang="en-US" smtClean="0"/>
              <a:t>9/4/2026</a:t>
            </a:fld>
            <a:endParaRPr lang="en-US"/>
          </a:p>
        </p:txBody>
      </p:sp>
      <p:sp>
        <p:nvSpPr>
          <p:cNvPr id="5" name="Footer Placeholder 4">
            <a:extLst>
              <a:ext uri="{FF2B5EF4-FFF2-40B4-BE49-F238E27FC236}">
                <a16:creationId xmlns:a16="http://schemas.microsoft.com/office/drawing/2014/main" id="{8E277702-0E8E-D04E-B52C-068046A40D95}"/>
              </a:ext>
            </a:extLst>
          </p:cNvPr>
          <p:cNvSpPr>
            <a:spLocks noGrp="1"/>
          </p:cNvSpPr>
          <p:nvPr>
            <p:ph type="ftr" sz="quarter" idx="11"/>
          </p:nvPr>
        </p:nvSpPr>
        <p:spPr/>
        <p:txBody>
          <a:bodyPr/>
          <a:lstStyle/>
          <a:p>
            <a:r>
              <a:rPr lang="en-US"/>
              <a:t>Newburry Creative Sparks 2024</a:t>
            </a:r>
          </a:p>
        </p:txBody>
      </p:sp>
      <p:sp>
        <p:nvSpPr>
          <p:cNvPr id="6" name="Slide Number Placeholder 5">
            <a:extLst>
              <a:ext uri="{FF2B5EF4-FFF2-40B4-BE49-F238E27FC236}">
                <a16:creationId xmlns:a16="http://schemas.microsoft.com/office/drawing/2014/main" id="{3CA9647A-416E-A040-B69A-AFDA53EA0EA4}"/>
              </a:ext>
            </a:extLst>
          </p:cNvPr>
          <p:cNvSpPr>
            <a:spLocks noGrp="1"/>
          </p:cNvSpPr>
          <p:nvPr>
            <p:ph type="sldNum" sz="quarter" idx="12"/>
          </p:nvPr>
        </p:nvSpPr>
        <p:spPr/>
        <p:txBody>
          <a:bodyPr/>
          <a:lstStyle/>
          <a:p>
            <a:fld id="{7EE6AFEC-37F4-1D48-80F4-D3D02F74536C}" type="slidenum">
              <a:rPr lang="en-US" smtClean="0"/>
              <a:t>‹#›</a:t>
            </a:fld>
            <a:endParaRPr lang="en-US"/>
          </a:p>
        </p:txBody>
      </p:sp>
    </p:spTree>
    <p:extLst>
      <p:ext uri="{BB962C8B-B14F-4D97-AF65-F5344CB8AC3E}">
        <p14:creationId xmlns:p14="http://schemas.microsoft.com/office/powerpoint/2010/main" val="3377924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2_Two Content">
    <p:spTree>
      <p:nvGrpSpPr>
        <p:cNvPr id="1" name=""/>
        <p:cNvGrpSpPr/>
        <p:nvPr/>
      </p:nvGrpSpPr>
      <p:grpSpPr>
        <a:xfrm>
          <a:off x="0" y="0"/>
          <a:ext cx="0" cy="0"/>
          <a:chOff x="0" y="0"/>
          <a:chExt cx="0" cy="0"/>
        </a:xfrm>
      </p:grpSpPr>
      <p:pic>
        <p:nvPicPr>
          <p:cNvPr id="4" name="Picture 3" descr="A close up of a logo&#10;&#10;Description automatically generated">
            <a:extLst>
              <a:ext uri="{FF2B5EF4-FFF2-40B4-BE49-F238E27FC236}">
                <a16:creationId xmlns:a16="http://schemas.microsoft.com/office/drawing/2014/main" id="{5CD972FF-A8A9-AF46-9264-2AAA41AFA1E8}"/>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Content Placeholder 2">
            <a:extLst>
              <a:ext uri="{FF2B5EF4-FFF2-40B4-BE49-F238E27FC236}">
                <a16:creationId xmlns:a16="http://schemas.microsoft.com/office/drawing/2014/main" id="{BAD4CAFE-77C6-2B47-A011-297FF70AFF8E}"/>
              </a:ext>
            </a:extLst>
          </p:cNvPr>
          <p:cNvSpPr>
            <a:spLocks noGrp="1"/>
          </p:cNvSpPr>
          <p:nvPr>
            <p:ph sz="half" idx="1"/>
          </p:nvPr>
        </p:nvSpPr>
        <p:spPr>
          <a:xfrm>
            <a:off x="1920240" y="1825625"/>
            <a:ext cx="4582160" cy="3833495"/>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E78DEC-E24D-5E4F-929A-926B6CED4916}"/>
              </a:ext>
            </a:extLst>
          </p:cNvPr>
          <p:cNvSpPr>
            <a:spLocks noGrp="1"/>
          </p:cNvSpPr>
          <p:nvPr>
            <p:ph type="dt" sz="half" idx="10"/>
          </p:nvPr>
        </p:nvSpPr>
        <p:spPr>
          <a:xfrm>
            <a:off x="1920240" y="6356350"/>
            <a:ext cx="2611120" cy="365125"/>
          </a:xfrm>
        </p:spPr>
        <p:txBody>
          <a:bodyPr/>
          <a:lstStyle/>
          <a:p>
            <a:fld id="{8952DE1F-5B37-4669-B70C-C9EC279C3B61}" type="datetime1">
              <a:rPr lang="en-US" smtClean="0"/>
              <a:t>9/4/2026</a:t>
            </a:fld>
            <a:endParaRPr lang="en-US"/>
          </a:p>
        </p:txBody>
      </p:sp>
      <p:sp>
        <p:nvSpPr>
          <p:cNvPr id="6" name="Footer Placeholder 5">
            <a:extLst>
              <a:ext uri="{FF2B5EF4-FFF2-40B4-BE49-F238E27FC236}">
                <a16:creationId xmlns:a16="http://schemas.microsoft.com/office/drawing/2014/main" id="{D8E8C3D4-F607-1F4C-89FB-51FC6CDE4CCB}"/>
              </a:ext>
            </a:extLst>
          </p:cNvPr>
          <p:cNvSpPr>
            <a:spLocks noGrp="1"/>
          </p:cNvSpPr>
          <p:nvPr>
            <p:ph type="ftr" sz="quarter" idx="11"/>
          </p:nvPr>
        </p:nvSpPr>
        <p:spPr/>
        <p:txBody>
          <a:bodyPr/>
          <a:lstStyle/>
          <a:p>
            <a:r>
              <a:rPr lang="en-US"/>
              <a:t>Newburry Creative Sparks 2024</a:t>
            </a:r>
          </a:p>
        </p:txBody>
      </p:sp>
      <p:sp>
        <p:nvSpPr>
          <p:cNvPr id="7" name="Slide Number Placeholder 6">
            <a:extLst>
              <a:ext uri="{FF2B5EF4-FFF2-40B4-BE49-F238E27FC236}">
                <a16:creationId xmlns:a16="http://schemas.microsoft.com/office/drawing/2014/main" id="{2C140EA9-9A4A-154E-835E-F0346154DF63}"/>
              </a:ext>
            </a:extLst>
          </p:cNvPr>
          <p:cNvSpPr>
            <a:spLocks noGrp="1"/>
          </p:cNvSpPr>
          <p:nvPr>
            <p:ph type="sldNum" sz="quarter" idx="12"/>
          </p:nvPr>
        </p:nvSpPr>
        <p:spPr/>
        <p:txBody>
          <a:bodyPr/>
          <a:lstStyle/>
          <a:p>
            <a:fld id="{7EE6AFEC-37F4-1D48-80F4-D3D02F74536C}" type="slidenum">
              <a:rPr lang="en-US" smtClean="0"/>
              <a:t>‹#›</a:t>
            </a:fld>
            <a:endParaRPr lang="en-US"/>
          </a:p>
        </p:txBody>
      </p:sp>
      <p:sp>
        <p:nvSpPr>
          <p:cNvPr id="8" name="Title 1">
            <a:extLst>
              <a:ext uri="{FF2B5EF4-FFF2-40B4-BE49-F238E27FC236}">
                <a16:creationId xmlns:a16="http://schemas.microsoft.com/office/drawing/2014/main" id="{B6EE7176-8C0B-1F43-9A31-283CA5592829}"/>
              </a:ext>
            </a:extLst>
          </p:cNvPr>
          <p:cNvSpPr txBox="1">
            <a:spLocks/>
          </p:cNvSpPr>
          <p:nvPr userDrawn="1"/>
        </p:nvSpPr>
        <p:spPr>
          <a:xfrm>
            <a:off x="1920240" y="365125"/>
            <a:ext cx="943356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bg1"/>
                </a:solidFill>
                <a:latin typeface="+mj-lt"/>
                <a:ea typeface="+mj-ea"/>
                <a:cs typeface="+mj-cs"/>
              </a:defRPr>
            </a:lvl1pPr>
          </a:lstStyle>
          <a:p>
            <a:r>
              <a:rPr lang="en-US">
                <a:solidFill>
                  <a:schemeClr val="accent1"/>
                </a:solidFill>
              </a:rPr>
              <a:t>Click to edit Master title style</a:t>
            </a:r>
          </a:p>
        </p:txBody>
      </p:sp>
      <p:sp>
        <p:nvSpPr>
          <p:cNvPr id="10" name="Content Placeholder 2">
            <a:extLst>
              <a:ext uri="{FF2B5EF4-FFF2-40B4-BE49-F238E27FC236}">
                <a16:creationId xmlns:a16="http://schemas.microsoft.com/office/drawing/2014/main" id="{C4EF6F23-0457-734A-8122-E94EE569E45B}"/>
              </a:ext>
            </a:extLst>
          </p:cNvPr>
          <p:cNvSpPr>
            <a:spLocks noGrp="1"/>
          </p:cNvSpPr>
          <p:nvPr>
            <p:ph sz="half" idx="13"/>
          </p:nvPr>
        </p:nvSpPr>
        <p:spPr>
          <a:xfrm>
            <a:off x="6771640" y="1825625"/>
            <a:ext cx="4582160" cy="3833495"/>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38488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Comparison">
    <p:spTree>
      <p:nvGrpSpPr>
        <p:cNvPr id="1" name=""/>
        <p:cNvGrpSpPr/>
        <p:nvPr/>
      </p:nvGrpSpPr>
      <p:grpSpPr>
        <a:xfrm>
          <a:off x="0" y="0"/>
          <a:ext cx="0" cy="0"/>
          <a:chOff x="0" y="0"/>
          <a:chExt cx="0" cy="0"/>
        </a:xfrm>
      </p:grpSpPr>
      <p:pic>
        <p:nvPicPr>
          <p:cNvPr id="4" name="Picture 3" descr="A close up of a logo&#10;&#10;Description automatically generated">
            <a:extLst>
              <a:ext uri="{FF2B5EF4-FFF2-40B4-BE49-F238E27FC236}">
                <a16:creationId xmlns:a16="http://schemas.microsoft.com/office/drawing/2014/main" id="{6B74D571-5D0A-1C4A-8AEF-1EC65E11EB30}"/>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6C56BB26-8D17-FF41-8233-095B59A9CDAE}"/>
              </a:ext>
            </a:extLst>
          </p:cNvPr>
          <p:cNvSpPr>
            <a:spLocks noGrp="1"/>
          </p:cNvSpPr>
          <p:nvPr>
            <p:ph type="body" idx="1"/>
          </p:nvPr>
        </p:nvSpPr>
        <p:spPr>
          <a:xfrm>
            <a:off x="1918652" y="1681163"/>
            <a:ext cx="4582160"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6FB5802E-8632-E64F-8945-8F160C08F39F}"/>
              </a:ext>
            </a:extLst>
          </p:cNvPr>
          <p:cNvSpPr>
            <a:spLocks noGrp="1"/>
          </p:cNvSpPr>
          <p:nvPr>
            <p:ph type="body" sz="quarter" idx="3"/>
          </p:nvPr>
        </p:nvSpPr>
        <p:spPr>
          <a:xfrm>
            <a:off x="6771640" y="1681163"/>
            <a:ext cx="4583748"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a:extLst>
              <a:ext uri="{FF2B5EF4-FFF2-40B4-BE49-F238E27FC236}">
                <a16:creationId xmlns:a16="http://schemas.microsoft.com/office/drawing/2014/main" id="{BCF88939-A5E5-534A-8777-76D8C439AFE1}"/>
              </a:ext>
            </a:extLst>
          </p:cNvPr>
          <p:cNvSpPr>
            <a:spLocks noGrp="1"/>
          </p:cNvSpPr>
          <p:nvPr>
            <p:ph type="dt" sz="half" idx="10"/>
          </p:nvPr>
        </p:nvSpPr>
        <p:spPr/>
        <p:txBody>
          <a:bodyPr/>
          <a:lstStyle/>
          <a:p>
            <a:fld id="{C70174A9-E4A5-4E88-B54D-04A175BC927C}" type="datetime1">
              <a:rPr lang="en-US" smtClean="0"/>
              <a:t>9/4/2026</a:t>
            </a:fld>
            <a:endParaRPr lang="en-US"/>
          </a:p>
        </p:txBody>
      </p:sp>
      <p:sp>
        <p:nvSpPr>
          <p:cNvPr id="8" name="Footer Placeholder 7">
            <a:extLst>
              <a:ext uri="{FF2B5EF4-FFF2-40B4-BE49-F238E27FC236}">
                <a16:creationId xmlns:a16="http://schemas.microsoft.com/office/drawing/2014/main" id="{014D3F7B-B0B5-EE48-ADBA-3DA485EF3553}"/>
              </a:ext>
            </a:extLst>
          </p:cNvPr>
          <p:cNvSpPr>
            <a:spLocks noGrp="1"/>
          </p:cNvSpPr>
          <p:nvPr>
            <p:ph type="ftr" sz="quarter" idx="11"/>
          </p:nvPr>
        </p:nvSpPr>
        <p:spPr/>
        <p:txBody>
          <a:bodyPr/>
          <a:lstStyle/>
          <a:p>
            <a:r>
              <a:rPr lang="en-US"/>
              <a:t>Newburry Creative Sparks 2024</a:t>
            </a:r>
          </a:p>
        </p:txBody>
      </p:sp>
      <p:sp>
        <p:nvSpPr>
          <p:cNvPr id="9" name="Slide Number Placeholder 8">
            <a:extLst>
              <a:ext uri="{FF2B5EF4-FFF2-40B4-BE49-F238E27FC236}">
                <a16:creationId xmlns:a16="http://schemas.microsoft.com/office/drawing/2014/main" id="{CC0F55C2-337F-F94B-AA8D-2667A97CEF10}"/>
              </a:ext>
            </a:extLst>
          </p:cNvPr>
          <p:cNvSpPr>
            <a:spLocks noGrp="1"/>
          </p:cNvSpPr>
          <p:nvPr>
            <p:ph type="sldNum" sz="quarter" idx="12"/>
          </p:nvPr>
        </p:nvSpPr>
        <p:spPr/>
        <p:txBody>
          <a:bodyPr/>
          <a:lstStyle/>
          <a:p>
            <a:fld id="{7EE6AFEC-37F4-1D48-80F4-D3D02F74536C}" type="slidenum">
              <a:rPr lang="en-US" smtClean="0"/>
              <a:t>‹#›</a:t>
            </a:fld>
            <a:endParaRPr lang="en-US"/>
          </a:p>
        </p:txBody>
      </p:sp>
      <p:sp>
        <p:nvSpPr>
          <p:cNvPr id="10" name="Content Placeholder 2">
            <a:extLst>
              <a:ext uri="{FF2B5EF4-FFF2-40B4-BE49-F238E27FC236}">
                <a16:creationId xmlns:a16="http://schemas.microsoft.com/office/drawing/2014/main" id="{8C8E4565-FC2C-B444-8F57-8F7547ABAC29}"/>
              </a:ext>
            </a:extLst>
          </p:cNvPr>
          <p:cNvSpPr>
            <a:spLocks noGrp="1"/>
          </p:cNvSpPr>
          <p:nvPr>
            <p:ph sz="half" idx="13"/>
          </p:nvPr>
        </p:nvSpPr>
        <p:spPr>
          <a:xfrm>
            <a:off x="1920240" y="2671762"/>
            <a:ext cx="4582160" cy="2987358"/>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6B9C816B-C660-9C4B-8BB9-ED115ACA4448}"/>
              </a:ext>
            </a:extLst>
          </p:cNvPr>
          <p:cNvSpPr txBox="1">
            <a:spLocks/>
          </p:cNvSpPr>
          <p:nvPr userDrawn="1"/>
        </p:nvSpPr>
        <p:spPr>
          <a:xfrm>
            <a:off x="1920240" y="365125"/>
            <a:ext cx="943356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bg1"/>
                </a:solidFill>
                <a:latin typeface="+mj-lt"/>
                <a:ea typeface="+mj-ea"/>
                <a:cs typeface="+mj-cs"/>
              </a:defRPr>
            </a:lvl1pPr>
          </a:lstStyle>
          <a:p>
            <a:r>
              <a:rPr lang="en-US">
                <a:solidFill>
                  <a:schemeClr val="accent1"/>
                </a:solidFill>
              </a:rPr>
              <a:t>Click to edit Master title style</a:t>
            </a:r>
          </a:p>
        </p:txBody>
      </p:sp>
      <p:sp>
        <p:nvSpPr>
          <p:cNvPr id="12" name="Content Placeholder 2">
            <a:extLst>
              <a:ext uri="{FF2B5EF4-FFF2-40B4-BE49-F238E27FC236}">
                <a16:creationId xmlns:a16="http://schemas.microsoft.com/office/drawing/2014/main" id="{01E401C8-8FFC-A04D-A35D-59169EAE3D32}"/>
              </a:ext>
            </a:extLst>
          </p:cNvPr>
          <p:cNvSpPr>
            <a:spLocks noGrp="1"/>
          </p:cNvSpPr>
          <p:nvPr>
            <p:ph sz="half" idx="14"/>
          </p:nvPr>
        </p:nvSpPr>
        <p:spPr>
          <a:xfrm>
            <a:off x="6771640" y="2671762"/>
            <a:ext cx="4582160" cy="2987358"/>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4085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 preserve="1">
  <p:cSld name="3_Title and Content">
    <p:spTree>
      <p:nvGrpSpPr>
        <p:cNvPr id="1" name=""/>
        <p:cNvGrpSpPr/>
        <p:nvPr/>
      </p:nvGrpSpPr>
      <p:grpSpPr>
        <a:xfrm>
          <a:off x="0" y="0"/>
          <a:ext cx="0" cy="0"/>
          <a:chOff x="0" y="0"/>
          <a:chExt cx="0" cy="0"/>
        </a:xfrm>
      </p:grpSpPr>
      <p:pic>
        <p:nvPicPr>
          <p:cNvPr id="8" name="Picture 7" descr="A picture containing sitting, water, man, black&#10;&#10;Description automatically generated">
            <a:extLst>
              <a:ext uri="{FF2B5EF4-FFF2-40B4-BE49-F238E27FC236}">
                <a16:creationId xmlns:a16="http://schemas.microsoft.com/office/drawing/2014/main" id="{5C761069-666A-9F4F-AAE5-C820E56AA27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4C8C506-62B0-3B4E-A6FC-2F95F5B74E22}"/>
              </a:ext>
            </a:extLst>
          </p:cNvPr>
          <p:cNvSpPr>
            <a:spLocks noGrp="1"/>
          </p:cNvSpPr>
          <p:nvPr>
            <p:ph type="title"/>
          </p:nvPr>
        </p:nvSpPr>
        <p:spPr>
          <a:xfrm>
            <a:off x="1920240" y="365125"/>
            <a:ext cx="9433560" cy="1325563"/>
          </a:xfrm>
        </p:spPr>
        <p:txBody>
          <a:bodyPr/>
          <a:lstStyle>
            <a:lvl1pP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7237528-8BB0-6B46-9CD9-542AA14DDB32}"/>
              </a:ext>
            </a:extLst>
          </p:cNvPr>
          <p:cNvSpPr>
            <a:spLocks noGrp="1"/>
          </p:cNvSpPr>
          <p:nvPr>
            <p:ph idx="1"/>
          </p:nvPr>
        </p:nvSpPr>
        <p:spPr>
          <a:xfrm>
            <a:off x="1920240" y="1825625"/>
            <a:ext cx="9433560" cy="3955415"/>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8132C5-8314-D44C-97FA-65F882B9A367}"/>
              </a:ext>
            </a:extLst>
          </p:cNvPr>
          <p:cNvSpPr>
            <a:spLocks noGrp="1"/>
          </p:cNvSpPr>
          <p:nvPr>
            <p:ph type="dt" sz="half" idx="10"/>
          </p:nvPr>
        </p:nvSpPr>
        <p:spPr>
          <a:xfrm>
            <a:off x="1920240" y="6356350"/>
            <a:ext cx="2611120" cy="365125"/>
          </a:xfrm>
        </p:spPr>
        <p:txBody>
          <a:bodyPr/>
          <a:lstStyle>
            <a:lvl1pPr>
              <a:defRPr>
                <a:solidFill>
                  <a:schemeClr val="tx1">
                    <a:lumMod val="75000"/>
                    <a:lumOff val="25000"/>
                  </a:schemeClr>
                </a:solidFill>
              </a:defRPr>
            </a:lvl1pPr>
          </a:lstStyle>
          <a:p>
            <a:fld id="{6EB55537-DD8B-4D5C-B1F8-1E5050CE2B88}" type="datetime1">
              <a:rPr lang="en-US" smtClean="0"/>
              <a:t>9/4/2026</a:t>
            </a:fld>
            <a:endParaRPr lang="en-US"/>
          </a:p>
        </p:txBody>
      </p:sp>
      <p:sp>
        <p:nvSpPr>
          <p:cNvPr id="5" name="Footer Placeholder 4">
            <a:extLst>
              <a:ext uri="{FF2B5EF4-FFF2-40B4-BE49-F238E27FC236}">
                <a16:creationId xmlns:a16="http://schemas.microsoft.com/office/drawing/2014/main" id="{8E277702-0E8E-D04E-B52C-068046A40D95}"/>
              </a:ext>
            </a:extLst>
          </p:cNvPr>
          <p:cNvSpPr>
            <a:spLocks noGrp="1"/>
          </p:cNvSpPr>
          <p:nvPr>
            <p:ph type="ftr" sz="quarter" idx="11"/>
          </p:nvPr>
        </p:nvSpPr>
        <p:spPr/>
        <p:txBody>
          <a:bodyPr/>
          <a:lstStyle>
            <a:lvl1pPr>
              <a:defRPr>
                <a:solidFill>
                  <a:schemeClr val="tx1">
                    <a:lumMod val="75000"/>
                    <a:lumOff val="25000"/>
                  </a:schemeClr>
                </a:solidFill>
              </a:defRPr>
            </a:lvl1pPr>
          </a:lstStyle>
          <a:p>
            <a:r>
              <a:rPr lang="en-US"/>
              <a:t>Newburry Creative Sparks 2024</a:t>
            </a:r>
          </a:p>
        </p:txBody>
      </p:sp>
      <p:sp>
        <p:nvSpPr>
          <p:cNvPr id="6" name="Slide Number Placeholder 5">
            <a:extLst>
              <a:ext uri="{FF2B5EF4-FFF2-40B4-BE49-F238E27FC236}">
                <a16:creationId xmlns:a16="http://schemas.microsoft.com/office/drawing/2014/main" id="{3CA9647A-416E-A040-B69A-AFDA53EA0EA4}"/>
              </a:ext>
            </a:extLst>
          </p:cNvPr>
          <p:cNvSpPr>
            <a:spLocks noGrp="1"/>
          </p:cNvSpPr>
          <p:nvPr>
            <p:ph type="sldNum" sz="quarter" idx="12"/>
          </p:nvPr>
        </p:nvSpPr>
        <p:spPr/>
        <p:txBody>
          <a:bodyPr/>
          <a:lstStyle>
            <a:lvl1pPr>
              <a:defRPr>
                <a:solidFill>
                  <a:schemeClr val="tx1">
                    <a:lumMod val="75000"/>
                    <a:lumOff val="25000"/>
                  </a:schemeClr>
                </a:solidFill>
              </a:defRPr>
            </a:lvl1pPr>
          </a:lstStyle>
          <a:p>
            <a:fld id="{7EE6AFEC-37F4-1D48-80F4-D3D02F74536C}" type="slidenum">
              <a:rPr lang="en-US" smtClean="0"/>
              <a:pPr/>
              <a:t>‹#›</a:t>
            </a:fld>
            <a:endParaRPr lang="en-US"/>
          </a:p>
        </p:txBody>
      </p:sp>
    </p:spTree>
    <p:extLst>
      <p:ext uri="{BB962C8B-B14F-4D97-AF65-F5344CB8AC3E}">
        <p14:creationId xmlns:p14="http://schemas.microsoft.com/office/powerpoint/2010/main" val="26977100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_Two Content">
    <p:spTree>
      <p:nvGrpSpPr>
        <p:cNvPr id="1" name=""/>
        <p:cNvGrpSpPr/>
        <p:nvPr/>
      </p:nvGrpSpPr>
      <p:grpSpPr>
        <a:xfrm>
          <a:off x="0" y="0"/>
          <a:ext cx="0" cy="0"/>
          <a:chOff x="0" y="0"/>
          <a:chExt cx="0" cy="0"/>
        </a:xfrm>
      </p:grpSpPr>
      <p:pic>
        <p:nvPicPr>
          <p:cNvPr id="4" name="Picture 3" descr="A picture containing sitting, water, man, black&#10;&#10;Description automatically generated">
            <a:extLst>
              <a:ext uri="{FF2B5EF4-FFF2-40B4-BE49-F238E27FC236}">
                <a16:creationId xmlns:a16="http://schemas.microsoft.com/office/drawing/2014/main" id="{D65D4768-7035-6E47-8FDF-2C1C622E73A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Content Placeholder 2">
            <a:extLst>
              <a:ext uri="{FF2B5EF4-FFF2-40B4-BE49-F238E27FC236}">
                <a16:creationId xmlns:a16="http://schemas.microsoft.com/office/drawing/2014/main" id="{BAD4CAFE-77C6-2B47-A011-297FF70AFF8E}"/>
              </a:ext>
            </a:extLst>
          </p:cNvPr>
          <p:cNvSpPr>
            <a:spLocks noGrp="1"/>
          </p:cNvSpPr>
          <p:nvPr>
            <p:ph sz="half" idx="1"/>
          </p:nvPr>
        </p:nvSpPr>
        <p:spPr>
          <a:xfrm>
            <a:off x="1920240" y="1825625"/>
            <a:ext cx="4582160" cy="3833495"/>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E78DEC-E24D-5E4F-929A-926B6CED4916}"/>
              </a:ext>
            </a:extLst>
          </p:cNvPr>
          <p:cNvSpPr>
            <a:spLocks noGrp="1"/>
          </p:cNvSpPr>
          <p:nvPr>
            <p:ph type="dt" sz="half" idx="10"/>
          </p:nvPr>
        </p:nvSpPr>
        <p:spPr>
          <a:xfrm>
            <a:off x="1920240" y="6356350"/>
            <a:ext cx="2611120" cy="365125"/>
          </a:xfrm>
        </p:spPr>
        <p:txBody>
          <a:bodyPr/>
          <a:lstStyle>
            <a:lvl1pPr>
              <a:defRPr>
                <a:solidFill>
                  <a:schemeClr val="tx1">
                    <a:lumMod val="75000"/>
                    <a:lumOff val="25000"/>
                  </a:schemeClr>
                </a:solidFill>
              </a:defRPr>
            </a:lvl1pPr>
          </a:lstStyle>
          <a:p>
            <a:fld id="{BCD415E1-AD4E-422B-A4F9-C8D80834CF15}" type="datetime1">
              <a:rPr lang="en-US" smtClean="0"/>
              <a:t>9/4/2026</a:t>
            </a:fld>
            <a:endParaRPr lang="en-US"/>
          </a:p>
        </p:txBody>
      </p:sp>
      <p:sp>
        <p:nvSpPr>
          <p:cNvPr id="6" name="Footer Placeholder 5">
            <a:extLst>
              <a:ext uri="{FF2B5EF4-FFF2-40B4-BE49-F238E27FC236}">
                <a16:creationId xmlns:a16="http://schemas.microsoft.com/office/drawing/2014/main" id="{D8E8C3D4-F607-1F4C-89FB-51FC6CDE4CCB}"/>
              </a:ext>
            </a:extLst>
          </p:cNvPr>
          <p:cNvSpPr>
            <a:spLocks noGrp="1"/>
          </p:cNvSpPr>
          <p:nvPr>
            <p:ph type="ftr" sz="quarter" idx="11"/>
          </p:nvPr>
        </p:nvSpPr>
        <p:spPr/>
        <p:txBody>
          <a:bodyPr/>
          <a:lstStyle>
            <a:lvl1pPr>
              <a:defRPr>
                <a:solidFill>
                  <a:schemeClr val="tx1">
                    <a:lumMod val="75000"/>
                    <a:lumOff val="25000"/>
                  </a:schemeClr>
                </a:solidFill>
              </a:defRPr>
            </a:lvl1pPr>
          </a:lstStyle>
          <a:p>
            <a:r>
              <a:rPr lang="en-US"/>
              <a:t>Newburry Creative Sparks 2024</a:t>
            </a:r>
          </a:p>
        </p:txBody>
      </p:sp>
      <p:sp>
        <p:nvSpPr>
          <p:cNvPr id="7" name="Slide Number Placeholder 6">
            <a:extLst>
              <a:ext uri="{FF2B5EF4-FFF2-40B4-BE49-F238E27FC236}">
                <a16:creationId xmlns:a16="http://schemas.microsoft.com/office/drawing/2014/main" id="{2C140EA9-9A4A-154E-835E-F0346154DF63}"/>
              </a:ext>
            </a:extLst>
          </p:cNvPr>
          <p:cNvSpPr>
            <a:spLocks noGrp="1"/>
          </p:cNvSpPr>
          <p:nvPr>
            <p:ph type="sldNum" sz="quarter" idx="12"/>
          </p:nvPr>
        </p:nvSpPr>
        <p:spPr/>
        <p:txBody>
          <a:bodyPr/>
          <a:lstStyle>
            <a:lvl1pPr>
              <a:defRPr>
                <a:solidFill>
                  <a:schemeClr val="tx1">
                    <a:lumMod val="75000"/>
                    <a:lumOff val="25000"/>
                  </a:schemeClr>
                </a:solidFill>
              </a:defRPr>
            </a:lvl1pPr>
          </a:lstStyle>
          <a:p>
            <a:fld id="{7EE6AFEC-37F4-1D48-80F4-D3D02F74536C}" type="slidenum">
              <a:rPr lang="en-US" smtClean="0"/>
              <a:pPr/>
              <a:t>‹#›</a:t>
            </a:fld>
            <a:endParaRPr lang="en-US"/>
          </a:p>
        </p:txBody>
      </p:sp>
      <p:sp>
        <p:nvSpPr>
          <p:cNvPr id="8" name="Title 1">
            <a:extLst>
              <a:ext uri="{FF2B5EF4-FFF2-40B4-BE49-F238E27FC236}">
                <a16:creationId xmlns:a16="http://schemas.microsoft.com/office/drawing/2014/main" id="{B6EE7176-8C0B-1F43-9A31-283CA5592829}"/>
              </a:ext>
            </a:extLst>
          </p:cNvPr>
          <p:cNvSpPr txBox="1">
            <a:spLocks/>
          </p:cNvSpPr>
          <p:nvPr userDrawn="1"/>
        </p:nvSpPr>
        <p:spPr>
          <a:xfrm>
            <a:off x="1920240" y="365125"/>
            <a:ext cx="943356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bg1"/>
                </a:solidFill>
                <a:latin typeface="+mj-lt"/>
                <a:ea typeface="+mj-ea"/>
                <a:cs typeface="+mj-cs"/>
              </a:defRPr>
            </a:lvl1pPr>
          </a:lstStyle>
          <a:p>
            <a:r>
              <a:rPr lang="en-US">
                <a:solidFill>
                  <a:schemeClr val="accent1"/>
                </a:solidFill>
              </a:rPr>
              <a:t>Click to edit Master title style</a:t>
            </a:r>
          </a:p>
        </p:txBody>
      </p:sp>
      <p:sp>
        <p:nvSpPr>
          <p:cNvPr id="10" name="Content Placeholder 2">
            <a:extLst>
              <a:ext uri="{FF2B5EF4-FFF2-40B4-BE49-F238E27FC236}">
                <a16:creationId xmlns:a16="http://schemas.microsoft.com/office/drawing/2014/main" id="{C4EF6F23-0457-734A-8122-E94EE569E45B}"/>
              </a:ext>
            </a:extLst>
          </p:cNvPr>
          <p:cNvSpPr>
            <a:spLocks noGrp="1"/>
          </p:cNvSpPr>
          <p:nvPr>
            <p:ph sz="half" idx="13"/>
          </p:nvPr>
        </p:nvSpPr>
        <p:spPr>
          <a:xfrm>
            <a:off x="6771640" y="1825625"/>
            <a:ext cx="4582160" cy="3833495"/>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966218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omparison">
    <p:spTree>
      <p:nvGrpSpPr>
        <p:cNvPr id="1" name=""/>
        <p:cNvGrpSpPr/>
        <p:nvPr/>
      </p:nvGrpSpPr>
      <p:grpSpPr>
        <a:xfrm>
          <a:off x="0" y="0"/>
          <a:ext cx="0" cy="0"/>
          <a:chOff x="0" y="0"/>
          <a:chExt cx="0" cy="0"/>
        </a:xfrm>
      </p:grpSpPr>
      <p:pic>
        <p:nvPicPr>
          <p:cNvPr id="4" name="Picture 3" descr="A picture containing sitting, water, man, black&#10;&#10;Description automatically generated">
            <a:extLst>
              <a:ext uri="{FF2B5EF4-FFF2-40B4-BE49-F238E27FC236}">
                <a16:creationId xmlns:a16="http://schemas.microsoft.com/office/drawing/2014/main" id="{93491192-B8BA-BE43-9DB4-C892BF178B5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6C56BB26-8D17-FF41-8233-095B59A9CDAE}"/>
              </a:ext>
            </a:extLst>
          </p:cNvPr>
          <p:cNvSpPr>
            <a:spLocks noGrp="1"/>
          </p:cNvSpPr>
          <p:nvPr>
            <p:ph type="body" idx="1"/>
          </p:nvPr>
        </p:nvSpPr>
        <p:spPr>
          <a:xfrm>
            <a:off x="1918652" y="1681163"/>
            <a:ext cx="4582160"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6FB5802E-8632-E64F-8945-8F160C08F39F}"/>
              </a:ext>
            </a:extLst>
          </p:cNvPr>
          <p:cNvSpPr>
            <a:spLocks noGrp="1"/>
          </p:cNvSpPr>
          <p:nvPr>
            <p:ph type="body" sz="quarter" idx="3"/>
          </p:nvPr>
        </p:nvSpPr>
        <p:spPr>
          <a:xfrm>
            <a:off x="6771640" y="1681163"/>
            <a:ext cx="4583748"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a:extLst>
              <a:ext uri="{FF2B5EF4-FFF2-40B4-BE49-F238E27FC236}">
                <a16:creationId xmlns:a16="http://schemas.microsoft.com/office/drawing/2014/main" id="{BCF88939-A5E5-534A-8777-76D8C439AFE1}"/>
              </a:ext>
            </a:extLst>
          </p:cNvPr>
          <p:cNvSpPr>
            <a:spLocks noGrp="1"/>
          </p:cNvSpPr>
          <p:nvPr>
            <p:ph type="dt" sz="half" idx="10"/>
          </p:nvPr>
        </p:nvSpPr>
        <p:spPr/>
        <p:txBody>
          <a:bodyPr/>
          <a:lstStyle>
            <a:lvl1pPr>
              <a:defRPr>
                <a:solidFill>
                  <a:schemeClr val="tx1">
                    <a:lumMod val="75000"/>
                    <a:lumOff val="25000"/>
                  </a:schemeClr>
                </a:solidFill>
              </a:defRPr>
            </a:lvl1pPr>
          </a:lstStyle>
          <a:p>
            <a:fld id="{B6F14318-3A07-4010-9460-75321C3A64BE}" type="datetime1">
              <a:rPr lang="en-US" smtClean="0"/>
              <a:t>9/4/2026</a:t>
            </a:fld>
            <a:endParaRPr lang="en-US"/>
          </a:p>
        </p:txBody>
      </p:sp>
      <p:sp>
        <p:nvSpPr>
          <p:cNvPr id="8" name="Footer Placeholder 7">
            <a:extLst>
              <a:ext uri="{FF2B5EF4-FFF2-40B4-BE49-F238E27FC236}">
                <a16:creationId xmlns:a16="http://schemas.microsoft.com/office/drawing/2014/main" id="{014D3F7B-B0B5-EE48-ADBA-3DA485EF3553}"/>
              </a:ext>
            </a:extLst>
          </p:cNvPr>
          <p:cNvSpPr>
            <a:spLocks noGrp="1"/>
          </p:cNvSpPr>
          <p:nvPr>
            <p:ph type="ftr" sz="quarter" idx="11"/>
          </p:nvPr>
        </p:nvSpPr>
        <p:spPr/>
        <p:txBody>
          <a:bodyPr/>
          <a:lstStyle>
            <a:lvl1pPr>
              <a:defRPr>
                <a:solidFill>
                  <a:schemeClr val="tx1">
                    <a:lumMod val="75000"/>
                    <a:lumOff val="25000"/>
                  </a:schemeClr>
                </a:solidFill>
              </a:defRPr>
            </a:lvl1pPr>
          </a:lstStyle>
          <a:p>
            <a:r>
              <a:rPr lang="en-US"/>
              <a:t>Newburry Creative Sparks 2024</a:t>
            </a:r>
          </a:p>
        </p:txBody>
      </p:sp>
      <p:sp>
        <p:nvSpPr>
          <p:cNvPr id="9" name="Slide Number Placeholder 8">
            <a:extLst>
              <a:ext uri="{FF2B5EF4-FFF2-40B4-BE49-F238E27FC236}">
                <a16:creationId xmlns:a16="http://schemas.microsoft.com/office/drawing/2014/main" id="{CC0F55C2-337F-F94B-AA8D-2667A97CEF10}"/>
              </a:ext>
            </a:extLst>
          </p:cNvPr>
          <p:cNvSpPr>
            <a:spLocks noGrp="1"/>
          </p:cNvSpPr>
          <p:nvPr>
            <p:ph type="sldNum" sz="quarter" idx="12"/>
          </p:nvPr>
        </p:nvSpPr>
        <p:spPr/>
        <p:txBody>
          <a:bodyPr/>
          <a:lstStyle>
            <a:lvl1pPr>
              <a:defRPr>
                <a:solidFill>
                  <a:schemeClr val="tx1">
                    <a:lumMod val="75000"/>
                    <a:lumOff val="25000"/>
                  </a:schemeClr>
                </a:solidFill>
              </a:defRPr>
            </a:lvl1pPr>
          </a:lstStyle>
          <a:p>
            <a:fld id="{7EE6AFEC-37F4-1D48-80F4-D3D02F74536C}" type="slidenum">
              <a:rPr lang="en-US" smtClean="0"/>
              <a:pPr/>
              <a:t>‹#›</a:t>
            </a:fld>
            <a:endParaRPr lang="en-US"/>
          </a:p>
        </p:txBody>
      </p:sp>
      <p:sp>
        <p:nvSpPr>
          <p:cNvPr id="10" name="Content Placeholder 2">
            <a:extLst>
              <a:ext uri="{FF2B5EF4-FFF2-40B4-BE49-F238E27FC236}">
                <a16:creationId xmlns:a16="http://schemas.microsoft.com/office/drawing/2014/main" id="{8C8E4565-FC2C-B444-8F57-8F7547ABAC29}"/>
              </a:ext>
            </a:extLst>
          </p:cNvPr>
          <p:cNvSpPr>
            <a:spLocks noGrp="1"/>
          </p:cNvSpPr>
          <p:nvPr>
            <p:ph sz="half" idx="13"/>
          </p:nvPr>
        </p:nvSpPr>
        <p:spPr>
          <a:xfrm>
            <a:off x="1920240" y="2671762"/>
            <a:ext cx="4582160" cy="2987358"/>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6B9C816B-C660-9C4B-8BB9-ED115ACA4448}"/>
              </a:ext>
            </a:extLst>
          </p:cNvPr>
          <p:cNvSpPr txBox="1">
            <a:spLocks/>
          </p:cNvSpPr>
          <p:nvPr userDrawn="1"/>
        </p:nvSpPr>
        <p:spPr>
          <a:xfrm>
            <a:off x="1920240" y="365125"/>
            <a:ext cx="943356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bg1"/>
                </a:solidFill>
                <a:latin typeface="+mj-lt"/>
                <a:ea typeface="+mj-ea"/>
                <a:cs typeface="+mj-cs"/>
              </a:defRPr>
            </a:lvl1pPr>
          </a:lstStyle>
          <a:p>
            <a:r>
              <a:rPr lang="en-US">
                <a:solidFill>
                  <a:schemeClr val="accent1"/>
                </a:solidFill>
              </a:rPr>
              <a:t>Click to edit Master title style</a:t>
            </a:r>
          </a:p>
        </p:txBody>
      </p:sp>
      <p:sp>
        <p:nvSpPr>
          <p:cNvPr id="12" name="Content Placeholder 2">
            <a:extLst>
              <a:ext uri="{FF2B5EF4-FFF2-40B4-BE49-F238E27FC236}">
                <a16:creationId xmlns:a16="http://schemas.microsoft.com/office/drawing/2014/main" id="{01E401C8-8FFC-A04D-A35D-59169EAE3D32}"/>
              </a:ext>
            </a:extLst>
          </p:cNvPr>
          <p:cNvSpPr>
            <a:spLocks noGrp="1"/>
          </p:cNvSpPr>
          <p:nvPr>
            <p:ph sz="half" idx="14"/>
          </p:nvPr>
        </p:nvSpPr>
        <p:spPr>
          <a:xfrm>
            <a:off x="6771640" y="2671762"/>
            <a:ext cx="4582160" cy="2987358"/>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71793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4_Title and Content">
    <p:spTree>
      <p:nvGrpSpPr>
        <p:cNvPr id="1" name=""/>
        <p:cNvGrpSpPr/>
        <p:nvPr/>
      </p:nvGrpSpPr>
      <p:grpSpPr>
        <a:xfrm>
          <a:off x="0" y="0"/>
          <a:ext cx="0" cy="0"/>
          <a:chOff x="0" y="0"/>
          <a:chExt cx="0" cy="0"/>
        </a:xfrm>
      </p:grpSpPr>
      <p:pic>
        <p:nvPicPr>
          <p:cNvPr id="8" name="Picture 7" descr="A picture containing computer, table, laptop&#10;&#10;Description automatically generated">
            <a:extLst>
              <a:ext uri="{FF2B5EF4-FFF2-40B4-BE49-F238E27FC236}">
                <a16:creationId xmlns:a16="http://schemas.microsoft.com/office/drawing/2014/main" id="{42F412DF-B8F5-A041-BE63-643C22DC7ED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4C8C506-62B0-3B4E-A6FC-2F95F5B74E22}"/>
              </a:ext>
            </a:extLst>
          </p:cNvPr>
          <p:cNvSpPr>
            <a:spLocks noGrp="1"/>
          </p:cNvSpPr>
          <p:nvPr>
            <p:ph type="title"/>
          </p:nvPr>
        </p:nvSpPr>
        <p:spPr>
          <a:xfrm>
            <a:off x="1920240" y="365125"/>
            <a:ext cx="9433560" cy="1325563"/>
          </a:xfrm>
        </p:spPr>
        <p:txBody>
          <a:bodyPr/>
          <a:lstStyle>
            <a:lvl1pP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7237528-8BB0-6B46-9CD9-542AA14DDB32}"/>
              </a:ext>
            </a:extLst>
          </p:cNvPr>
          <p:cNvSpPr>
            <a:spLocks noGrp="1"/>
          </p:cNvSpPr>
          <p:nvPr>
            <p:ph idx="1"/>
          </p:nvPr>
        </p:nvSpPr>
        <p:spPr>
          <a:xfrm>
            <a:off x="1920240" y="1825625"/>
            <a:ext cx="9433560" cy="3955415"/>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8132C5-8314-D44C-97FA-65F882B9A367}"/>
              </a:ext>
            </a:extLst>
          </p:cNvPr>
          <p:cNvSpPr>
            <a:spLocks noGrp="1"/>
          </p:cNvSpPr>
          <p:nvPr>
            <p:ph type="dt" sz="half" idx="10"/>
          </p:nvPr>
        </p:nvSpPr>
        <p:spPr>
          <a:xfrm>
            <a:off x="1920240" y="6356350"/>
            <a:ext cx="2611120" cy="365125"/>
          </a:xfrm>
        </p:spPr>
        <p:txBody>
          <a:bodyPr/>
          <a:lstStyle>
            <a:lvl1pPr>
              <a:defRPr>
                <a:solidFill>
                  <a:schemeClr val="tx1">
                    <a:lumMod val="65000"/>
                    <a:lumOff val="35000"/>
                  </a:schemeClr>
                </a:solidFill>
              </a:defRPr>
            </a:lvl1pPr>
          </a:lstStyle>
          <a:p>
            <a:fld id="{D729BF6A-B62A-472A-B4A0-3C2DA652E0A7}" type="datetime1">
              <a:rPr lang="en-US" smtClean="0"/>
              <a:t>9/4/2026</a:t>
            </a:fld>
            <a:endParaRPr lang="en-US"/>
          </a:p>
        </p:txBody>
      </p:sp>
      <p:sp>
        <p:nvSpPr>
          <p:cNvPr id="5" name="Footer Placeholder 4">
            <a:extLst>
              <a:ext uri="{FF2B5EF4-FFF2-40B4-BE49-F238E27FC236}">
                <a16:creationId xmlns:a16="http://schemas.microsoft.com/office/drawing/2014/main" id="{8E277702-0E8E-D04E-B52C-068046A40D95}"/>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a:t>Newburry Creative Sparks 2024</a:t>
            </a:r>
          </a:p>
        </p:txBody>
      </p:sp>
      <p:sp>
        <p:nvSpPr>
          <p:cNvPr id="6" name="Slide Number Placeholder 5">
            <a:extLst>
              <a:ext uri="{FF2B5EF4-FFF2-40B4-BE49-F238E27FC236}">
                <a16:creationId xmlns:a16="http://schemas.microsoft.com/office/drawing/2014/main" id="{3CA9647A-416E-A040-B69A-AFDA53EA0EA4}"/>
              </a:ext>
            </a:extLst>
          </p:cNvPr>
          <p:cNvSpPr>
            <a:spLocks noGrp="1"/>
          </p:cNvSpPr>
          <p:nvPr>
            <p:ph type="sldNum" sz="quarter" idx="12"/>
          </p:nvPr>
        </p:nvSpPr>
        <p:spPr/>
        <p:txBody>
          <a:bodyPr/>
          <a:lstStyle>
            <a:lvl1pPr>
              <a:defRPr>
                <a:solidFill>
                  <a:schemeClr val="tx1">
                    <a:lumMod val="65000"/>
                    <a:lumOff val="35000"/>
                  </a:schemeClr>
                </a:solidFill>
              </a:defRPr>
            </a:lvl1pPr>
          </a:lstStyle>
          <a:p>
            <a:fld id="{7EE6AFEC-37F4-1D48-80F4-D3D02F74536C}" type="slidenum">
              <a:rPr lang="en-US" smtClean="0"/>
              <a:pPr/>
              <a:t>‹#›</a:t>
            </a:fld>
            <a:endParaRPr lang="en-US"/>
          </a:p>
        </p:txBody>
      </p:sp>
    </p:spTree>
    <p:extLst>
      <p:ext uri="{BB962C8B-B14F-4D97-AF65-F5344CB8AC3E}">
        <p14:creationId xmlns:p14="http://schemas.microsoft.com/office/powerpoint/2010/main" val="6938642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Two Content">
    <p:spTree>
      <p:nvGrpSpPr>
        <p:cNvPr id="1" name=""/>
        <p:cNvGrpSpPr/>
        <p:nvPr/>
      </p:nvGrpSpPr>
      <p:grpSpPr>
        <a:xfrm>
          <a:off x="0" y="0"/>
          <a:ext cx="0" cy="0"/>
          <a:chOff x="0" y="0"/>
          <a:chExt cx="0" cy="0"/>
        </a:xfrm>
      </p:grpSpPr>
      <p:pic>
        <p:nvPicPr>
          <p:cNvPr id="4" name="Picture 3" descr="A picture containing computer, table, laptop&#10;&#10;Description automatically generated">
            <a:extLst>
              <a:ext uri="{FF2B5EF4-FFF2-40B4-BE49-F238E27FC236}">
                <a16:creationId xmlns:a16="http://schemas.microsoft.com/office/drawing/2014/main" id="{C89CEBF4-E2F2-6944-BFA1-97E75E10BF35}"/>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Content Placeholder 2">
            <a:extLst>
              <a:ext uri="{FF2B5EF4-FFF2-40B4-BE49-F238E27FC236}">
                <a16:creationId xmlns:a16="http://schemas.microsoft.com/office/drawing/2014/main" id="{BAD4CAFE-77C6-2B47-A011-297FF70AFF8E}"/>
              </a:ext>
            </a:extLst>
          </p:cNvPr>
          <p:cNvSpPr>
            <a:spLocks noGrp="1"/>
          </p:cNvSpPr>
          <p:nvPr>
            <p:ph sz="half" idx="1"/>
          </p:nvPr>
        </p:nvSpPr>
        <p:spPr>
          <a:xfrm>
            <a:off x="1920240" y="1825625"/>
            <a:ext cx="4582160" cy="3833495"/>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E78DEC-E24D-5E4F-929A-926B6CED4916}"/>
              </a:ext>
            </a:extLst>
          </p:cNvPr>
          <p:cNvSpPr>
            <a:spLocks noGrp="1"/>
          </p:cNvSpPr>
          <p:nvPr>
            <p:ph type="dt" sz="half" idx="10"/>
          </p:nvPr>
        </p:nvSpPr>
        <p:spPr>
          <a:xfrm>
            <a:off x="1920240" y="6356350"/>
            <a:ext cx="2611120" cy="365125"/>
          </a:xfrm>
        </p:spPr>
        <p:txBody>
          <a:bodyPr/>
          <a:lstStyle>
            <a:lvl1pPr>
              <a:defRPr>
                <a:solidFill>
                  <a:schemeClr val="tx1">
                    <a:lumMod val="65000"/>
                    <a:lumOff val="35000"/>
                  </a:schemeClr>
                </a:solidFill>
              </a:defRPr>
            </a:lvl1pPr>
          </a:lstStyle>
          <a:p>
            <a:fld id="{EAD69754-55A9-42B7-9294-A3D44830313C}" type="datetime1">
              <a:rPr lang="en-US" smtClean="0"/>
              <a:t>9/4/2026</a:t>
            </a:fld>
            <a:endParaRPr lang="en-US"/>
          </a:p>
        </p:txBody>
      </p:sp>
      <p:sp>
        <p:nvSpPr>
          <p:cNvPr id="6" name="Footer Placeholder 5">
            <a:extLst>
              <a:ext uri="{FF2B5EF4-FFF2-40B4-BE49-F238E27FC236}">
                <a16:creationId xmlns:a16="http://schemas.microsoft.com/office/drawing/2014/main" id="{D8E8C3D4-F607-1F4C-89FB-51FC6CDE4CCB}"/>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a:t>Newburry Creative Sparks 2024</a:t>
            </a:r>
          </a:p>
        </p:txBody>
      </p:sp>
      <p:sp>
        <p:nvSpPr>
          <p:cNvPr id="7" name="Slide Number Placeholder 6">
            <a:extLst>
              <a:ext uri="{FF2B5EF4-FFF2-40B4-BE49-F238E27FC236}">
                <a16:creationId xmlns:a16="http://schemas.microsoft.com/office/drawing/2014/main" id="{2C140EA9-9A4A-154E-835E-F0346154DF63}"/>
              </a:ext>
            </a:extLst>
          </p:cNvPr>
          <p:cNvSpPr>
            <a:spLocks noGrp="1"/>
          </p:cNvSpPr>
          <p:nvPr>
            <p:ph type="sldNum" sz="quarter" idx="12"/>
          </p:nvPr>
        </p:nvSpPr>
        <p:spPr/>
        <p:txBody>
          <a:bodyPr/>
          <a:lstStyle>
            <a:lvl1pPr>
              <a:defRPr>
                <a:solidFill>
                  <a:schemeClr val="tx1">
                    <a:lumMod val="65000"/>
                    <a:lumOff val="35000"/>
                  </a:schemeClr>
                </a:solidFill>
              </a:defRPr>
            </a:lvl1pPr>
          </a:lstStyle>
          <a:p>
            <a:fld id="{7EE6AFEC-37F4-1D48-80F4-D3D02F74536C}" type="slidenum">
              <a:rPr lang="en-US" smtClean="0"/>
              <a:pPr/>
              <a:t>‹#›</a:t>
            </a:fld>
            <a:endParaRPr lang="en-US"/>
          </a:p>
        </p:txBody>
      </p:sp>
      <p:sp>
        <p:nvSpPr>
          <p:cNvPr id="8" name="Title 1">
            <a:extLst>
              <a:ext uri="{FF2B5EF4-FFF2-40B4-BE49-F238E27FC236}">
                <a16:creationId xmlns:a16="http://schemas.microsoft.com/office/drawing/2014/main" id="{B6EE7176-8C0B-1F43-9A31-283CA5592829}"/>
              </a:ext>
            </a:extLst>
          </p:cNvPr>
          <p:cNvSpPr txBox="1">
            <a:spLocks/>
          </p:cNvSpPr>
          <p:nvPr userDrawn="1"/>
        </p:nvSpPr>
        <p:spPr>
          <a:xfrm>
            <a:off x="1920240" y="365125"/>
            <a:ext cx="943356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bg1"/>
                </a:solidFill>
                <a:latin typeface="+mj-lt"/>
                <a:ea typeface="+mj-ea"/>
                <a:cs typeface="+mj-cs"/>
              </a:defRPr>
            </a:lvl1pPr>
          </a:lstStyle>
          <a:p>
            <a:r>
              <a:rPr lang="en-US">
                <a:solidFill>
                  <a:schemeClr val="accent1"/>
                </a:solidFill>
              </a:rPr>
              <a:t>Click to edit Master title style</a:t>
            </a:r>
          </a:p>
        </p:txBody>
      </p:sp>
      <p:sp>
        <p:nvSpPr>
          <p:cNvPr id="10" name="Content Placeholder 2">
            <a:extLst>
              <a:ext uri="{FF2B5EF4-FFF2-40B4-BE49-F238E27FC236}">
                <a16:creationId xmlns:a16="http://schemas.microsoft.com/office/drawing/2014/main" id="{C4EF6F23-0457-734A-8122-E94EE569E45B}"/>
              </a:ext>
            </a:extLst>
          </p:cNvPr>
          <p:cNvSpPr>
            <a:spLocks noGrp="1"/>
          </p:cNvSpPr>
          <p:nvPr>
            <p:ph sz="half" idx="13"/>
          </p:nvPr>
        </p:nvSpPr>
        <p:spPr>
          <a:xfrm>
            <a:off x="6771640" y="1825625"/>
            <a:ext cx="4582160" cy="3833495"/>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0186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_Comparison">
    <p:spTree>
      <p:nvGrpSpPr>
        <p:cNvPr id="1" name=""/>
        <p:cNvGrpSpPr/>
        <p:nvPr/>
      </p:nvGrpSpPr>
      <p:grpSpPr>
        <a:xfrm>
          <a:off x="0" y="0"/>
          <a:ext cx="0" cy="0"/>
          <a:chOff x="0" y="0"/>
          <a:chExt cx="0" cy="0"/>
        </a:xfrm>
      </p:grpSpPr>
      <p:pic>
        <p:nvPicPr>
          <p:cNvPr id="4" name="Picture 3" descr="A picture containing computer, table, laptop&#10;&#10;Description automatically generated">
            <a:extLst>
              <a:ext uri="{FF2B5EF4-FFF2-40B4-BE49-F238E27FC236}">
                <a16:creationId xmlns:a16="http://schemas.microsoft.com/office/drawing/2014/main" id="{D00393CB-6325-B746-81EE-750D0B64381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6C56BB26-8D17-FF41-8233-095B59A9CDAE}"/>
              </a:ext>
            </a:extLst>
          </p:cNvPr>
          <p:cNvSpPr>
            <a:spLocks noGrp="1"/>
          </p:cNvSpPr>
          <p:nvPr>
            <p:ph type="body" idx="1"/>
          </p:nvPr>
        </p:nvSpPr>
        <p:spPr>
          <a:xfrm>
            <a:off x="1918652" y="1681163"/>
            <a:ext cx="4582160"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6FB5802E-8632-E64F-8945-8F160C08F39F}"/>
              </a:ext>
            </a:extLst>
          </p:cNvPr>
          <p:cNvSpPr>
            <a:spLocks noGrp="1"/>
          </p:cNvSpPr>
          <p:nvPr>
            <p:ph type="body" sz="quarter" idx="3"/>
          </p:nvPr>
        </p:nvSpPr>
        <p:spPr>
          <a:xfrm>
            <a:off x="6771640" y="1681163"/>
            <a:ext cx="4583748"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a:extLst>
              <a:ext uri="{FF2B5EF4-FFF2-40B4-BE49-F238E27FC236}">
                <a16:creationId xmlns:a16="http://schemas.microsoft.com/office/drawing/2014/main" id="{BCF88939-A5E5-534A-8777-76D8C439AFE1}"/>
              </a:ext>
            </a:extLst>
          </p:cNvPr>
          <p:cNvSpPr>
            <a:spLocks noGrp="1"/>
          </p:cNvSpPr>
          <p:nvPr>
            <p:ph type="dt" sz="half" idx="10"/>
          </p:nvPr>
        </p:nvSpPr>
        <p:spPr/>
        <p:txBody>
          <a:bodyPr/>
          <a:lstStyle>
            <a:lvl1pPr>
              <a:defRPr>
                <a:solidFill>
                  <a:schemeClr val="tx1">
                    <a:lumMod val="65000"/>
                    <a:lumOff val="35000"/>
                  </a:schemeClr>
                </a:solidFill>
              </a:defRPr>
            </a:lvl1pPr>
          </a:lstStyle>
          <a:p>
            <a:fld id="{A429376A-6B4F-46AA-9A60-82461DD4D8DF}" type="datetime1">
              <a:rPr lang="en-US" smtClean="0"/>
              <a:t>9/4/2026</a:t>
            </a:fld>
            <a:endParaRPr lang="en-US"/>
          </a:p>
        </p:txBody>
      </p:sp>
      <p:sp>
        <p:nvSpPr>
          <p:cNvPr id="8" name="Footer Placeholder 7">
            <a:extLst>
              <a:ext uri="{FF2B5EF4-FFF2-40B4-BE49-F238E27FC236}">
                <a16:creationId xmlns:a16="http://schemas.microsoft.com/office/drawing/2014/main" id="{014D3F7B-B0B5-EE48-ADBA-3DA485EF3553}"/>
              </a:ext>
            </a:extLst>
          </p:cNvPr>
          <p:cNvSpPr>
            <a:spLocks noGrp="1"/>
          </p:cNvSpPr>
          <p:nvPr>
            <p:ph type="ftr" sz="quarter" idx="11"/>
          </p:nvPr>
        </p:nvSpPr>
        <p:spPr/>
        <p:txBody>
          <a:bodyPr/>
          <a:lstStyle>
            <a:lvl1pPr>
              <a:defRPr>
                <a:solidFill>
                  <a:schemeClr val="tx1">
                    <a:lumMod val="65000"/>
                    <a:lumOff val="35000"/>
                  </a:schemeClr>
                </a:solidFill>
              </a:defRPr>
            </a:lvl1pPr>
          </a:lstStyle>
          <a:p>
            <a:r>
              <a:rPr lang="en-US"/>
              <a:t>Newburry Creative Sparks 2024</a:t>
            </a:r>
          </a:p>
        </p:txBody>
      </p:sp>
      <p:sp>
        <p:nvSpPr>
          <p:cNvPr id="9" name="Slide Number Placeholder 8">
            <a:extLst>
              <a:ext uri="{FF2B5EF4-FFF2-40B4-BE49-F238E27FC236}">
                <a16:creationId xmlns:a16="http://schemas.microsoft.com/office/drawing/2014/main" id="{CC0F55C2-337F-F94B-AA8D-2667A97CEF10}"/>
              </a:ext>
            </a:extLst>
          </p:cNvPr>
          <p:cNvSpPr>
            <a:spLocks noGrp="1"/>
          </p:cNvSpPr>
          <p:nvPr>
            <p:ph type="sldNum" sz="quarter" idx="12"/>
          </p:nvPr>
        </p:nvSpPr>
        <p:spPr/>
        <p:txBody>
          <a:bodyPr/>
          <a:lstStyle>
            <a:lvl1pPr>
              <a:defRPr>
                <a:solidFill>
                  <a:schemeClr val="tx1">
                    <a:lumMod val="65000"/>
                    <a:lumOff val="35000"/>
                  </a:schemeClr>
                </a:solidFill>
              </a:defRPr>
            </a:lvl1pPr>
          </a:lstStyle>
          <a:p>
            <a:fld id="{7EE6AFEC-37F4-1D48-80F4-D3D02F74536C}" type="slidenum">
              <a:rPr lang="en-US" smtClean="0"/>
              <a:pPr/>
              <a:t>‹#›</a:t>
            </a:fld>
            <a:endParaRPr lang="en-US"/>
          </a:p>
        </p:txBody>
      </p:sp>
      <p:sp>
        <p:nvSpPr>
          <p:cNvPr id="10" name="Content Placeholder 2">
            <a:extLst>
              <a:ext uri="{FF2B5EF4-FFF2-40B4-BE49-F238E27FC236}">
                <a16:creationId xmlns:a16="http://schemas.microsoft.com/office/drawing/2014/main" id="{8C8E4565-FC2C-B444-8F57-8F7547ABAC29}"/>
              </a:ext>
            </a:extLst>
          </p:cNvPr>
          <p:cNvSpPr>
            <a:spLocks noGrp="1"/>
          </p:cNvSpPr>
          <p:nvPr>
            <p:ph sz="half" idx="13"/>
          </p:nvPr>
        </p:nvSpPr>
        <p:spPr>
          <a:xfrm>
            <a:off x="1920240" y="2671762"/>
            <a:ext cx="4582160" cy="2987358"/>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6B9C816B-C660-9C4B-8BB9-ED115ACA4448}"/>
              </a:ext>
            </a:extLst>
          </p:cNvPr>
          <p:cNvSpPr txBox="1">
            <a:spLocks/>
          </p:cNvSpPr>
          <p:nvPr userDrawn="1"/>
        </p:nvSpPr>
        <p:spPr>
          <a:xfrm>
            <a:off x="1920240" y="365125"/>
            <a:ext cx="943356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bg1"/>
                </a:solidFill>
                <a:latin typeface="+mj-lt"/>
                <a:ea typeface="+mj-ea"/>
                <a:cs typeface="+mj-cs"/>
              </a:defRPr>
            </a:lvl1pPr>
          </a:lstStyle>
          <a:p>
            <a:r>
              <a:rPr lang="en-US">
                <a:solidFill>
                  <a:schemeClr val="accent1"/>
                </a:solidFill>
              </a:rPr>
              <a:t>Click to edit Master title style</a:t>
            </a:r>
          </a:p>
        </p:txBody>
      </p:sp>
      <p:sp>
        <p:nvSpPr>
          <p:cNvPr id="12" name="Content Placeholder 2">
            <a:extLst>
              <a:ext uri="{FF2B5EF4-FFF2-40B4-BE49-F238E27FC236}">
                <a16:creationId xmlns:a16="http://schemas.microsoft.com/office/drawing/2014/main" id="{01E401C8-8FFC-A04D-A35D-59169EAE3D32}"/>
              </a:ext>
            </a:extLst>
          </p:cNvPr>
          <p:cNvSpPr>
            <a:spLocks noGrp="1"/>
          </p:cNvSpPr>
          <p:nvPr>
            <p:ph sz="half" idx="14"/>
          </p:nvPr>
        </p:nvSpPr>
        <p:spPr>
          <a:xfrm>
            <a:off x="6771640" y="2671762"/>
            <a:ext cx="4582160" cy="2987358"/>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65222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itle &amp; Subtitle">
    <p:bg>
      <p:bgPr>
        <a:solidFill>
          <a:srgbClr val="FFFFFF"/>
        </a:solidFill>
        <a:effectLst/>
      </p:bgPr>
    </p:bg>
    <p:spTree>
      <p:nvGrpSpPr>
        <p:cNvPr id="1" name=""/>
        <p:cNvGrpSpPr/>
        <p:nvPr/>
      </p:nvGrpSpPr>
      <p:grpSpPr>
        <a:xfrm>
          <a:off x="0" y="0"/>
          <a:ext cx="0" cy="0"/>
          <a:chOff x="0" y="0"/>
          <a:chExt cx="0" cy="0"/>
        </a:xfrm>
      </p:grpSpPr>
      <p:sp>
        <p:nvSpPr>
          <p:cNvPr id="251" name="Title Text"/>
          <p:cNvSpPr txBox="1">
            <a:spLocks noGrp="1"/>
          </p:cNvSpPr>
          <p:nvPr>
            <p:ph type="title"/>
          </p:nvPr>
        </p:nvSpPr>
        <p:spPr>
          <a:xfrm>
            <a:off x="889000" y="1149350"/>
            <a:ext cx="10414000" cy="2324100"/>
          </a:xfrm>
          <a:prstGeom prst="rect">
            <a:avLst/>
          </a:prstGeom>
        </p:spPr>
        <p:txBody>
          <a:bodyPr anchor="b"/>
          <a:lstStyle>
            <a:lvl1pPr>
              <a:defRPr>
                <a:solidFill>
                  <a:srgbClr val="000000"/>
                </a:solidFill>
              </a:defRPr>
            </a:lvl1pPr>
          </a:lstStyle>
          <a:p>
            <a:r>
              <a:t>Title Text</a:t>
            </a:r>
          </a:p>
        </p:txBody>
      </p:sp>
      <p:sp>
        <p:nvSpPr>
          <p:cNvPr id="252" name="Body Level One…"/>
          <p:cNvSpPr txBox="1">
            <a:spLocks noGrp="1"/>
          </p:cNvSpPr>
          <p:nvPr>
            <p:ph type="body" sz="quarter" idx="1"/>
          </p:nvPr>
        </p:nvSpPr>
        <p:spPr>
          <a:xfrm>
            <a:off x="889000" y="3536950"/>
            <a:ext cx="10414000" cy="793750"/>
          </a:xfrm>
          <a:prstGeom prst="rect">
            <a:avLst/>
          </a:prstGeom>
        </p:spPr>
        <p:txBody>
          <a:bodyPr anchor="t"/>
          <a:lstStyle>
            <a:lvl1pPr marL="0" indent="0" algn="ctr">
              <a:spcBef>
                <a:spcPts val="0"/>
              </a:spcBef>
              <a:buClrTx/>
              <a:buSzTx/>
              <a:buNone/>
              <a:defRPr sz="2700">
                <a:solidFill>
                  <a:srgbClr val="000000"/>
                </a:solidFill>
              </a:defRPr>
            </a:lvl1pPr>
            <a:lvl2pPr marL="0" indent="0" algn="ctr">
              <a:spcBef>
                <a:spcPts val="0"/>
              </a:spcBef>
              <a:buClrTx/>
              <a:buSzTx/>
              <a:buNone/>
              <a:defRPr sz="2700">
                <a:solidFill>
                  <a:srgbClr val="000000"/>
                </a:solidFill>
              </a:defRPr>
            </a:lvl2pPr>
            <a:lvl3pPr marL="0" indent="0" algn="ctr">
              <a:spcBef>
                <a:spcPts val="0"/>
              </a:spcBef>
              <a:buClrTx/>
              <a:buSzTx/>
              <a:buNone/>
              <a:defRPr sz="2700">
                <a:solidFill>
                  <a:srgbClr val="000000"/>
                </a:solidFill>
              </a:defRPr>
            </a:lvl3pPr>
            <a:lvl4pPr marL="0" indent="0" algn="ctr">
              <a:spcBef>
                <a:spcPts val="0"/>
              </a:spcBef>
              <a:buClrTx/>
              <a:buSzTx/>
              <a:buNone/>
              <a:defRPr sz="2700">
                <a:solidFill>
                  <a:srgbClr val="000000"/>
                </a:solidFill>
              </a:defRPr>
            </a:lvl4pPr>
            <a:lvl5pPr marL="0" indent="0" algn="ctr">
              <a:spcBef>
                <a:spcPts val="0"/>
              </a:spcBef>
              <a:buClrTx/>
              <a:buSzTx/>
              <a:buNone/>
              <a:defRPr sz="27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253" name="Slide Number"/>
          <p:cNvSpPr txBox="1">
            <a:spLocks noGrp="1"/>
          </p:cNvSpPr>
          <p:nvPr>
            <p:ph type="sldNum" sz="quarter" idx="2"/>
          </p:nvPr>
        </p:nvSpPr>
        <p:spPr>
          <a:prstGeom prst="rect">
            <a:avLst/>
          </a:prstGeom>
        </p:spPr>
        <p:txBody>
          <a:bodyPr/>
          <a:lstStyle>
            <a:lvl1pPr>
              <a:defRPr>
                <a:solidFill>
                  <a:srgbClr val="000000"/>
                </a:solidFill>
              </a:defRPr>
            </a:lvl1pPr>
          </a:lstStyle>
          <a:p>
            <a:fld id="{86CB4B4D-7CA3-9044-876B-883B54F8677D}" type="slidenum">
              <a:t>‹#›</a:t>
            </a:fld>
            <a:endParaRPr/>
          </a:p>
        </p:txBody>
      </p:sp>
    </p:spTree>
    <p:extLst>
      <p:ext uri="{BB962C8B-B14F-4D97-AF65-F5344CB8AC3E}">
        <p14:creationId xmlns:p14="http://schemas.microsoft.com/office/powerpoint/2010/main" val="92314064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5_Two Content">
    <p:spTree>
      <p:nvGrpSpPr>
        <p:cNvPr id="1" name=""/>
        <p:cNvGrpSpPr/>
        <p:nvPr/>
      </p:nvGrpSpPr>
      <p:grpSpPr>
        <a:xfrm>
          <a:off x="0" y="0"/>
          <a:ext cx="0" cy="0"/>
          <a:chOff x="0" y="0"/>
          <a:chExt cx="0" cy="0"/>
        </a:xfrm>
      </p:grpSpPr>
      <p:pic>
        <p:nvPicPr>
          <p:cNvPr id="19" name="Picture 18" descr="A close up of a logo&#10;&#10;Description automatically generated">
            <a:extLst>
              <a:ext uri="{FF2B5EF4-FFF2-40B4-BE49-F238E27FC236}">
                <a16:creationId xmlns:a16="http://schemas.microsoft.com/office/drawing/2014/main" id="{6734AB26-CD54-854B-9A0A-FB9A44691B00}"/>
              </a:ext>
            </a:extLst>
          </p:cNvPr>
          <p:cNvPicPr>
            <a:picLocks noChangeAspect="1"/>
          </p:cNvPicPr>
          <p:nvPr userDrawn="1"/>
        </p:nvPicPr>
        <p:blipFill rotWithShape="1">
          <a:blip r:embed="rId2"/>
          <a:srcRect r="88418" b="15704"/>
          <a:stretch/>
        </p:blipFill>
        <p:spPr>
          <a:xfrm>
            <a:off x="-94129" y="-27432"/>
            <a:ext cx="1654711" cy="6901912"/>
          </a:xfrm>
          <a:prstGeom prst="rect">
            <a:avLst/>
          </a:prstGeom>
        </p:spPr>
      </p:pic>
      <p:sp>
        <p:nvSpPr>
          <p:cNvPr id="16" name="Content Placeholder 2">
            <a:extLst>
              <a:ext uri="{FF2B5EF4-FFF2-40B4-BE49-F238E27FC236}">
                <a16:creationId xmlns:a16="http://schemas.microsoft.com/office/drawing/2014/main" id="{FD1E6CC2-30A4-7C40-A920-089876E62E74}"/>
              </a:ext>
            </a:extLst>
          </p:cNvPr>
          <p:cNvSpPr>
            <a:spLocks noGrp="1"/>
          </p:cNvSpPr>
          <p:nvPr>
            <p:ph sz="half" idx="14"/>
          </p:nvPr>
        </p:nvSpPr>
        <p:spPr>
          <a:xfrm>
            <a:off x="1918000" y="1825626"/>
            <a:ext cx="4758352" cy="3955415"/>
          </a:xfrm>
        </p:spPr>
        <p:txBody>
          <a:bodyPr/>
          <a:lstStyle>
            <a:lvl1pPr>
              <a:defRPr>
                <a:solidFill>
                  <a:schemeClr val="tx1">
                    <a:lumMod val="75000"/>
                    <a:lumOff val="25000"/>
                  </a:schemeClr>
                </a:solidFill>
                <a:latin typeface="+mn-lt"/>
              </a:defRPr>
            </a:lvl1pPr>
            <a:lvl2pPr>
              <a:defRPr>
                <a:solidFill>
                  <a:schemeClr val="tx1">
                    <a:lumMod val="75000"/>
                    <a:lumOff val="25000"/>
                  </a:schemeClr>
                </a:solidFill>
                <a:latin typeface="+mn-lt"/>
              </a:defRPr>
            </a:lvl2pPr>
            <a:lvl3pPr>
              <a:defRPr>
                <a:solidFill>
                  <a:schemeClr val="tx1">
                    <a:lumMod val="75000"/>
                    <a:lumOff val="25000"/>
                  </a:schemeClr>
                </a:solidFill>
                <a:latin typeface="+mn-lt"/>
              </a:defRPr>
            </a:lvl3pPr>
            <a:lvl4pPr>
              <a:defRPr>
                <a:solidFill>
                  <a:schemeClr val="tx1">
                    <a:lumMod val="75000"/>
                    <a:lumOff val="25000"/>
                  </a:schemeClr>
                </a:solidFill>
                <a:latin typeface="+mn-lt"/>
              </a:defRPr>
            </a:lvl4pPr>
            <a:lvl5pPr>
              <a:defRPr>
                <a:solidFill>
                  <a:schemeClr val="tx1">
                    <a:lumMod val="75000"/>
                    <a:lumOff val="25000"/>
                  </a:schemeClr>
                </a:solidFill>
                <a:latin typeface="+mn-lt"/>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43D506A-3611-8240-96FE-B151FD695614}"/>
              </a:ext>
            </a:extLst>
          </p:cNvPr>
          <p:cNvSpPr>
            <a:spLocks noGrp="1"/>
          </p:cNvSpPr>
          <p:nvPr>
            <p:ph sz="half" idx="15"/>
          </p:nvPr>
        </p:nvSpPr>
        <p:spPr>
          <a:xfrm>
            <a:off x="6880539" y="1825626"/>
            <a:ext cx="4758353" cy="3955415"/>
          </a:xfrm>
        </p:spPr>
        <p:txBody>
          <a:bodyPr/>
          <a:lstStyle>
            <a:lvl1pPr>
              <a:defRPr>
                <a:solidFill>
                  <a:schemeClr val="tx1">
                    <a:lumMod val="75000"/>
                    <a:lumOff val="25000"/>
                  </a:schemeClr>
                </a:solidFill>
                <a:latin typeface="+mn-lt"/>
              </a:defRPr>
            </a:lvl1pPr>
            <a:lvl2pPr>
              <a:defRPr>
                <a:solidFill>
                  <a:schemeClr val="tx1">
                    <a:lumMod val="75000"/>
                    <a:lumOff val="25000"/>
                  </a:schemeClr>
                </a:solidFill>
                <a:latin typeface="+mn-lt"/>
              </a:defRPr>
            </a:lvl2pPr>
            <a:lvl3pPr>
              <a:defRPr>
                <a:solidFill>
                  <a:schemeClr val="tx1">
                    <a:lumMod val="75000"/>
                    <a:lumOff val="25000"/>
                  </a:schemeClr>
                </a:solidFill>
                <a:latin typeface="+mn-lt"/>
              </a:defRPr>
            </a:lvl3pPr>
            <a:lvl4pPr>
              <a:defRPr>
                <a:solidFill>
                  <a:schemeClr val="tx1">
                    <a:lumMod val="75000"/>
                    <a:lumOff val="25000"/>
                  </a:schemeClr>
                </a:solidFill>
                <a:latin typeface="+mn-lt"/>
              </a:defRPr>
            </a:lvl4pPr>
            <a:lvl5pPr>
              <a:defRPr>
                <a:solidFill>
                  <a:schemeClr val="tx1">
                    <a:lumMod val="75000"/>
                    <a:lumOff val="25000"/>
                  </a:schemeClr>
                </a:solidFill>
                <a:latin typeface="+mn-lt"/>
              </a:defRPr>
            </a:lvl5p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8" name="Title 1">
            <a:extLst>
              <a:ext uri="{FF2B5EF4-FFF2-40B4-BE49-F238E27FC236}">
                <a16:creationId xmlns:a16="http://schemas.microsoft.com/office/drawing/2014/main" id="{7427D702-6B89-0E40-BF8E-76E7259D7DCC}"/>
              </a:ext>
            </a:extLst>
          </p:cNvPr>
          <p:cNvSpPr txBox="1">
            <a:spLocks/>
          </p:cNvSpPr>
          <p:nvPr userDrawn="1"/>
        </p:nvSpPr>
        <p:spPr>
          <a:xfrm>
            <a:off x="1920240" y="532435"/>
            <a:ext cx="9718653" cy="118415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bg1"/>
                </a:solidFill>
                <a:latin typeface="+mj-lt"/>
                <a:ea typeface="+mj-ea"/>
                <a:cs typeface="+mj-cs"/>
              </a:defRPr>
            </a:lvl1pPr>
          </a:lstStyle>
          <a:p>
            <a:r>
              <a:rPr lang="en-US" sz="3600">
                <a:solidFill>
                  <a:schemeClr val="tx1">
                    <a:lumMod val="75000"/>
                    <a:lumOff val="25000"/>
                  </a:schemeClr>
                </a:solidFill>
              </a:rPr>
              <a:t>   </a:t>
            </a:r>
          </a:p>
        </p:txBody>
      </p:sp>
      <p:grpSp>
        <p:nvGrpSpPr>
          <p:cNvPr id="22" name="Group 21">
            <a:extLst>
              <a:ext uri="{FF2B5EF4-FFF2-40B4-BE49-F238E27FC236}">
                <a16:creationId xmlns:a16="http://schemas.microsoft.com/office/drawing/2014/main" id="{AE7E0A4A-5F73-CF40-9129-BA6EB31298BD}"/>
              </a:ext>
            </a:extLst>
          </p:cNvPr>
          <p:cNvGrpSpPr/>
          <p:nvPr userDrawn="1"/>
        </p:nvGrpSpPr>
        <p:grpSpPr>
          <a:xfrm flipH="1">
            <a:off x="11449544" y="206704"/>
            <a:ext cx="522582" cy="530386"/>
            <a:chOff x="2645664" y="2011680"/>
            <a:chExt cx="735606" cy="746592"/>
          </a:xfrm>
        </p:grpSpPr>
        <p:sp>
          <p:nvSpPr>
            <p:cNvPr id="23" name="Rectangle 22">
              <a:extLst>
                <a:ext uri="{FF2B5EF4-FFF2-40B4-BE49-F238E27FC236}">
                  <a16:creationId xmlns:a16="http://schemas.microsoft.com/office/drawing/2014/main" id="{91797617-3351-D84F-A2E8-6AB2D5F744EC}"/>
                </a:ext>
              </a:extLst>
            </p:cNvPr>
            <p:cNvSpPr/>
            <p:nvPr/>
          </p:nvSpPr>
          <p:spPr>
            <a:xfrm rot="16200000" flipH="1">
              <a:off x="2934219" y="1723125"/>
              <a:ext cx="158496" cy="735606"/>
            </a:xfrm>
            <a:prstGeom prst="rect">
              <a:avLst/>
            </a:prstGeom>
            <a:gradFill>
              <a:gsLst>
                <a:gs pos="30000">
                  <a:srgbClr val="D92D8A"/>
                </a:gs>
                <a:gs pos="91000">
                  <a:srgbClr val="F8C93E"/>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800"/>
            </a:p>
          </p:txBody>
        </p:sp>
        <p:sp>
          <p:nvSpPr>
            <p:cNvPr id="24" name="Rectangle 23">
              <a:extLst>
                <a:ext uri="{FF2B5EF4-FFF2-40B4-BE49-F238E27FC236}">
                  <a16:creationId xmlns:a16="http://schemas.microsoft.com/office/drawing/2014/main" id="{323528AD-51B4-D848-BC86-6ED834FBA9F6}"/>
                </a:ext>
              </a:extLst>
            </p:cNvPr>
            <p:cNvSpPr/>
            <p:nvPr/>
          </p:nvSpPr>
          <p:spPr>
            <a:xfrm flipH="1">
              <a:off x="2645664" y="2165151"/>
              <a:ext cx="158496" cy="593121"/>
            </a:xfrm>
            <a:prstGeom prst="rect">
              <a:avLst/>
            </a:prstGeom>
            <a:gradFill>
              <a:gsLst>
                <a:gs pos="29000">
                  <a:srgbClr val="D92D8A"/>
                </a:gs>
                <a:gs pos="86000">
                  <a:srgbClr val="F8C93E"/>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800"/>
            </a:p>
          </p:txBody>
        </p:sp>
      </p:grpSp>
      <p:pic>
        <p:nvPicPr>
          <p:cNvPr id="26" name="Picture 25" descr="A close up of a logo&#10;&#10;Description automatically generated">
            <a:extLst>
              <a:ext uri="{FF2B5EF4-FFF2-40B4-BE49-F238E27FC236}">
                <a16:creationId xmlns:a16="http://schemas.microsoft.com/office/drawing/2014/main" id="{EA2FE8D3-976C-0046-B16A-B8A1F48277E0}"/>
              </a:ext>
            </a:extLst>
          </p:cNvPr>
          <p:cNvPicPr>
            <a:picLocks noChangeAspect="1"/>
          </p:cNvPicPr>
          <p:nvPr userDrawn="1"/>
        </p:nvPicPr>
        <p:blipFill rotWithShape="1">
          <a:blip r:embed="rId3"/>
          <a:srcRect r="59822"/>
          <a:stretch/>
        </p:blipFill>
        <p:spPr>
          <a:xfrm>
            <a:off x="245827" y="6100472"/>
            <a:ext cx="1100213" cy="497884"/>
          </a:xfrm>
          <a:prstGeom prst="rect">
            <a:avLst/>
          </a:prstGeom>
        </p:spPr>
      </p:pic>
      <p:sp>
        <p:nvSpPr>
          <p:cNvPr id="27" name="Title 1">
            <a:extLst>
              <a:ext uri="{FF2B5EF4-FFF2-40B4-BE49-F238E27FC236}">
                <a16:creationId xmlns:a16="http://schemas.microsoft.com/office/drawing/2014/main" id="{D7F808DD-AF07-CE40-88F0-D11B0AC58601}"/>
              </a:ext>
            </a:extLst>
          </p:cNvPr>
          <p:cNvSpPr>
            <a:spLocks noGrp="1"/>
          </p:cNvSpPr>
          <p:nvPr>
            <p:ph type="title"/>
          </p:nvPr>
        </p:nvSpPr>
        <p:spPr>
          <a:xfrm>
            <a:off x="1935503" y="484882"/>
            <a:ext cx="9718653" cy="1184156"/>
          </a:xfrm>
        </p:spPr>
        <p:txBody>
          <a:bodyPr/>
          <a:lstStyle>
            <a:lvl1pPr>
              <a:defRPr>
                <a:solidFill>
                  <a:schemeClr val="tx1">
                    <a:lumMod val="75000"/>
                    <a:lumOff val="25000"/>
                  </a:schemeClr>
                </a:solidFill>
                <a:latin typeface="+mj-lt"/>
              </a:defRPr>
            </a:lvl1pPr>
          </a:lstStyle>
          <a:p>
            <a:endParaRPr lang="en-US"/>
          </a:p>
        </p:txBody>
      </p:sp>
      <p:sp>
        <p:nvSpPr>
          <p:cNvPr id="21" name="Rectangle 20">
            <a:extLst>
              <a:ext uri="{FF2B5EF4-FFF2-40B4-BE49-F238E27FC236}">
                <a16:creationId xmlns:a16="http://schemas.microsoft.com/office/drawing/2014/main" id="{04EB223C-C243-B54E-8CB7-D3917587B8FA}"/>
              </a:ext>
            </a:extLst>
          </p:cNvPr>
          <p:cNvSpPr/>
          <p:nvPr userDrawn="1"/>
        </p:nvSpPr>
        <p:spPr>
          <a:xfrm rot="16200000">
            <a:off x="-1836893" y="3383281"/>
            <a:ext cx="6894576" cy="109728"/>
          </a:xfrm>
          <a:prstGeom prst="rect">
            <a:avLst/>
          </a:prstGeom>
          <a:gradFill>
            <a:gsLst>
              <a:gs pos="0">
                <a:srgbClr val="D92D8A"/>
              </a:gs>
              <a:gs pos="64000">
                <a:srgbClr val="F8C93E"/>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800"/>
          </a:p>
        </p:txBody>
      </p:sp>
      <p:sp>
        <p:nvSpPr>
          <p:cNvPr id="25" name="TextBox 24">
            <a:extLst>
              <a:ext uri="{FF2B5EF4-FFF2-40B4-BE49-F238E27FC236}">
                <a16:creationId xmlns:a16="http://schemas.microsoft.com/office/drawing/2014/main" id="{9B771A3A-BD5B-2E41-8745-C3021C2450C0}"/>
              </a:ext>
            </a:extLst>
          </p:cNvPr>
          <p:cNvSpPr txBox="1"/>
          <p:nvPr userDrawn="1"/>
        </p:nvSpPr>
        <p:spPr>
          <a:xfrm>
            <a:off x="4641090" y="6423496"/>
            <a:ext cx="4492751" cy="230832"/>
          </a:xfrm>
          <a:prstGeom prst="rect">
            <a:avLst/>
          </a:prstGeom>
          <a:noFill/>
        </p:spPr>
        <p:txBody>
          <a:bodyPr wrap="square" rtlCol="0">
            <a:spAutoFit/>
          </a:bodyPr>
          <a:lstStyle/>
          <a:p>
            <a:pPr algn="ctr"/>
            <a:r>
              <a:rPr lang="en-US" sz="900" kern="1200" spc="300">
                <a:solidFill>
                  <a:schemeClr val="bg2">
                    <a:lumMod val="75000"/>
                  </a:schemeClr>
                </a:solidFill>
                <a:latin typeface="Arial" panose="020B0604020202020204" pitchFamily="34" charset="0"/>
                <a:ea typeface="+mn-ea"/>
                <a:cs typeface="Arial" panose="020B0604020202020204" pitchFamily="34" charset="0"/>
              </a:rPr>
              <a:t>FLORIDA INTERNATIONAL UNIVERSITY</a:t>
            </a:r>
          </a:p>
        </p:txBody>
      </p:sp>
      <p:sp>
        <p:nvSpPr>
          <p:cNvPr id="28" name="Slide Number Placeholder 5">
            <a:extLst>
              <a:ext uri="{FF2B5EF4-FFF2-40B4-BE49-F238E27FC236}">
                <a16:creationId xmlns:a16="http://schemas.microsoft.com/office/drawing/2014/main" id="{E6492EBC-481E-684C-9FFC-EF19EE3F7BC3}"/>
              </a:ext>
            </a:extLst>
          </p:cNvPr>
          <p:cNvSpPr>
            <a:spLocks noGrp="1"/>
          </p:cNvSpPr>
          <p:nvPr>
            <p:ph type="sldNum" sz="quarter" idx="12"/>
          </p:nvPr>
        </p:nvSpPr>
        <p:spPr>
          <a:xfrm>
            <a:off x="10519990" y="6364831"/>
            <a:ext cx="217207" cy="235962"/>
          </a:xfrm>
        </p:spPr>
        <p:txBody>
          <a:bodyPr/>
          <a:lstStyle/>
          <a:p>
            <a:fld id="{7EE6AFEC-37F4-1D48-80F4-D3D02F74536C}" type="slidenum">
              <a:rPr lang="en-US" smtClean="0"/>
              <a:t>‹#›</a:t>
            </a:fld>
            <a:endParaRPr lang="en-US"/>
          </a:p>
        </p:txBody>
      </p:sp>
    </p:spTree>
    <p:extLst>
      <p:ext uri="{BB962C8B-B14F-4D97-AF65-F5344CB8AC3E}">
        <p14:creationId xmlns:p14="http://schemas.microsoft.com/office/powerpoint/2010/main" val="34368586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24"/>
          <p:cNvSpPr>
            <a:spLocks noGrp="1" noChangeArrowheads="1"/>
          </p:cNvSpPr>
          <p:nvPr>
            <p:ph type="dt" sz="half" idx="10"/>
          </p:nvPr>
        </p:nvSpPr>
        <p:spPr>
          <a:ln/>
        </p:spPr>
        <p:txBody>
          <a:bodyPr/>
          <a:lstStyle>
            <a:lvl1pPr>
              <a:defRPr/>
            </a:lvl1pPr>
          </a:lstStyle>
          <a:p>
            <a:pPr>
              <a:defRPr/>
            </a:pPr>
            <a:fld id="{17690B2B-48A0-48F7-9F8D-9C18F884B514}" type="datetime1">
              <a:rPr lang="en-US" altLang="en-US" smtClean="0"/>
              <a:t>9/4/2026</a:t>
            </a:fld>
            <a:endParaRPr lang="en-US" altLang="en-US"/>
          </a:p>
        </p:txBody>
      </p:sp>
      <p:sp>
        <p:nvSpPr>
          <p:cNvPr id="3" name="Rectangle 25"/>
          <p:cNvSpPr>
            <a:spLocks noGrp="1" noChangeArrowheads="1"/>
          </p:cNvSpPr>
          <p:nvPr>
            <p:ph type="ftr" sz="quarter" idx="11"/>
          </p:nvPr>
        </p:nvSpPr>
        <p:spPr>
          <a:xfrm>
            <a:off x="3860800" y="6248400"/>
            <a:ext cx="4470400" cy="457200"/>
          </a:xfrm>
          <a:ln/>
        </p:spPr>
        <p:txBody>
          <a:bodyPr/>
          <a:lstStyle>
            <a:lvl1pPr>
              <a:defRPr/>
            </a:lvl1pPr>
          </a:lstStyle>
          <a:p>
            <a:pPr>
              <a:defRPr/>
            </a:pPr>
            <a:r>
              <a:rPr lang="en-US" altLang="en-US"/>
              <a:t>Newburry Creative Sparks 2024</a:t>
            </a:r>
            <a:endParaRPr lang="en-US" altLang="en-US" dirty="0"/>
          </a:p>
        </p:txBody>
      </p:sp>
      <p:sp>
        <p:nvSpPr>
          <p:cNvPr id="4" name="Rectangle 26"/>
          <p:cNvSpPr>
            <a:spLocks noGrp="1" noChangeArrowheads="1"/>
          </p:cNvSpPr>
          <p:nvPr>
            <p:ph type="sldNum" sz="quarter" idx="12"/>
          </p:nvPr>
        </p:nvSpPr>
        <p:spPr>
          <a:ln/>
        </p:spPr>
        <p:txBody>
          <a:bodyPr/>
          <a:lstStyle>
            <a:lvl1pPr>
              <a:defRPr/>
            </a:lvl1pPr>
          </a:lstStyle>
          <a:p>
            <a:fld id="{EB5BF7DF-D62B-4A03-B86B-3359B87BABF7}" type="slidenum">
              <a:rPr lang="en-US" altLang="en-US"/>
              <a:pPr/>
              <a:t>‹#›</a:t>
            </a:fld>
            <a:endParaRPr lang="en-US" altLang="en-US"/>
          </a:p>
        </p:txBody>
      </p:sp>
    </p:spTree>
    <p:extLst>
      <p:ext uri="{BB962C8B-B14F-4D97-AF65-F5344CB8AC3E}">
        <p14:creationId xmlns:p14="http://schemas.microsoft.com/office/powerpoint/2010/main" val="22920406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1143000"/>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495800"/>
          </a:xfrm>
        </p:spPr>
        <p:txBody>
          <a:bodyPr/>
          <a:lstStyle/>
          <a:p>
            <a:pPr lvl="0"/>
            <a:endParaRPr lang="en-US" noProof="0"/>
          </a:p>
        </p:txBody>
      </p:sp>
      <p:sp>
        <p:nvSpPr>
          <p:cNvPr id="4" name="Rectangle 24"/>
          <p:cNvSpPr>
            <a:spLocks noGrp="1" noChangeArrowheads="1"/>
          </p:cNvSpPr>
          <p:nvPr>
            <p:ph type="dt" sz="half" idx="10"/>
          </p:nvPr>
        </p:nvSpPr>
        <p:spPr>
          <a:ln/>
        </p:spPr>
        <p:txBody>
          <a:bodyPr/>
          <a:lstStyle>
            <a:lvl1pPr>
              <a:defRPr/>
            </a:lvl1pPr>
          </a:lstStyle>
          <a:p>
            <a:pPr>
              <a:defRPr/>
            </a:pPr>
            <a:fld id="{F8863A6B-73DA-406B-A726-ED70FF8FEF4F}" type="datetime1">
              <a:rPr lang="en-US" altLang="en-US"/>
              <a:pPr>
                <a:defRPr/>
              </a:pPr>
              <a:t>9/4/2026</a:t>
            </a:fld>
            <a:endParaRPr lang="en-US" altLang="en-US"/>
          </a:p>
        </p:txBody>
      </p:sp>
      <p:sp>
        <p:nvSpPr>
          <p:cNvPr id="5" name="Rectangle 25"/>
          <p:cNvSpPr>
            <a:spLocks noGrp="1" noChangeArrowheads="1"/>
          </p:cNvSpPr>
          <p:nvPr>
            <p:ph type="ftr" sz="quarter" idx="11"/>
          </p:nvPr>
        </p:nvSpPr>
        <p:spPr>
          <a:ln/>
        </p:spPr>
        <p:txBody>
          <a:bodyPr/>
          <a:lstStyle>
            <a:lvl1pPr>
              <a:defRPr/>
            </a:lvl1pPr>
          </a:lstStyle>
          <a:p>
            <a:pPr>
              <a:defRPr/>
            </a:pPr>
            <a:r>
              <a:rPr lang="en-US" altLang="en-US" dirty="0"/>
              <a:t>Newburry 2026 DBA International Business</a:t>
            </a:r>
          </a:p>
        </p:txBody>
      </p:sp>
      <p:sp>
        <p:nvSpPr>
          <p:cNvPr id="6" name="Rectangle 26"/>
          <p:cNvSpPr>
            <a:spLocks noGrp="1" noChangeArrowheads="1"/>
          </p:cNvSpPr>
          <p:nvPr>
            <p:ph type="sldNum" sz="quarter" idx="12"/>
          </p:nvPr>
        </p:nvSpPr>
        <p:spPr>
          <a:ln/>
        </p:spPr>
        <p:txBody>
          <a:bodyPr/>
          <a:lstStyle>
            <a:lvl1pPr>
              <a:defRPr/>
            </a:lvl1pPr>
          </a:lstStyle>
          <a:p>
            <a:fld id="{9CCB276A-0350-4D44-B3A9-7C362C44C2A2}" type="slidenum">
              <a:rPr lang="en-US" altLang="en-US"/>
              <a:pPr/>
              <a:t>‹#›</a:t>
            </a:fld>
            <a:endParaRPr lang="en-US" altLang="en-US"/>
          </a:p>
        </p:txBody>
      </p:sp>
    </p:spTree>
    <p:extLst>
      <p:ext uri="{BB962C8B-B14F-4D97-AF65-F5344CB8AC3E}">
        <p14:creationId xmlns:p14="http://schemas.microsoft.com/office/powerpoint/2010/main" val="1361097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descr="A picture containing bird&#10;&#10;Description automatically generated">
            <a:extLst>
              <a:ext uri="{FF2B5EF4-FFF2-40B4-BE49-F238E27FC236}">
                <a16:creationId xmlns:a16="http://schemas.microsoft.com/office/drawing/2014/main" id="{8020C92E-C985-D34F-9868-C8F180676184}"/>
              </a:ext>
            </a:extLst>
          </p:cNvPr>
          <p:cNvPicPr>
            <a:picLocks noChangeAspect="1"/>
          </p:cNvPicPr>
          <p:nvPr userDrawn="1"/>
        </p:nvPicPr>
        <p:blipFill>
          <a:blip r:embed="rId22"/>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81D973CB-EE63-BD43-B7FE-EDAD0D6AA558}"/>
              </a:ext>
            </a:extLst>
          </p:cNvPr>
          <p:cNvSpPr>
            <a:spLocks noGrp="1"/>
          </p:cNvSpPr>
          <p:nvPr>
            <p:ph type="title"/>
          </p:nvPr>
        </p:nvSpPr>
        <p:spPr>
          <a:xfrm>
            <a:off x="1788160" y="365125"/>
            <a:ext cx="956564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6714FBC-539F-4F48-BDAA-9479CFFC152C}"/>
              </a:ext>
            </a:extLst>
          </p:cNvPr>
          <p:cNvSpPr>
            <a:spLocks noGrp="1"/>
          </p:cNvSpPr>
          <p:nvPr>
            <p:ph type="body" idx="1"/>
          </p:nvPr>
        </p:nvSpPr>
        <p:spPr>
          <a:xfrm>
            <a:off x="1788160" y="1825625"/>
            <a:ext cx="9565640" cy="39554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F7E73E-CAC3-5141-B961-FA2946339106}"/>
              </a:ext>
            </a:extLst>
          </p:cNvPr>
          <p:cNvSpPr>
            <a:spLocks noGrp="1"/>
          </p:cNvSpPr>
          <p:nvPr>
            <p:ph type="dt" sz="half" idx="2"/>
          </p:nvPr>
        </p:nvSpPr>
        <p:spPr>
          <a:xfrm>
            <a:off x="178816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A8E010-D166-4718-927C-0458B8E442A2}" type="datetime1">
              <a:rPr lang="en-US" smtClean="0"/>
              <a:t>9/4/2026</a:t>
            </a:fld>
            <a:endParaRPr lang="en-US"/>
          </a:p>
        </p:txBody>
      </p:sp>
      <p:sp>
        <p:nvSpPr>
          <p:cNvPr id="5" name="Footer Placeholder 4">
            <a:extLst>
              <a:ext uri="{FF2B5EF4-FFF2-40B4-BE49-F238E27FC236}">
                <a16:creationId xmlns:a16="http://schemas.microsoft.com/office/drawing/2014/main" id="{AA9E9F37-99D7-6345-A7DB-AAE499C25A25}"/>
              </a:ext>
            </a:extLst>
          </p:cNvPr>
          <p:cNvSpPr>
            <a:spLocks noGrp="1"/>
          </p:cNvSpPr>
          <p:nvPr>
            <p:ph type="ftr" sz="quarter" idx="3"/>
          </p:nvPr>
        </p:nvSpPr>
        <p:spPr>
          <a:xfrm>
            <a:off x="485394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Newburry Creative Sparks 2024</a:t>
            </a:r>
          </a:p>
        </p:txBody>
      </p:sp>
      <p:sp>
        <p:nvSpPr>
          <p:cNvPr id="6" name="Slide Number Placeholder 5">
            <a:extLst>
              <a:ext uri="{FF2B5EF4-FFF2-40B4-BE49-F238E27FC236}">
                <a16:creationId xmlns:a16="http://schemas.microsoft.com/office/drawing/2014/main" id="{31FB9828-C94F-9347-8523-91B4636C6D49}"/>
              </a:ext>
            </a:extLst>
          </p:cNvPr>
          <p:cNvSpPr>
            <a:spLocks noGrp="1"/>
          </p:cNvSpPr>
          <p:nvPr>
            <p:ph type="sldNum" sz="quarter" idx="4"/>
          </p:nvPr>
        </p:nvSpPr>
        <p:spPr>
          <a:xfrm>
            <a:off x="929132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E6AFEC-37F4-1D48-80F4-D3D02F74536C}" type="slidenum">
              <a:rPr lang="en-US" smtClean="0"/>
              <a:t>‹#›</a:t>
            </a:fld>
            <a:endParaRPr lang="en-US"/>
          </a:p>
        </p:txBody>
      </p:sp>
    </p:spTree>
    <p:extLst>
      <p:ext uri="{BB962C8B-B14F-4D97-AF65-F5344CB8AC3E}">
        <p14:creationId xmlns:p14="http://schemas.microsoft.com/office/powerpoint/2010/main" val="13288801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Lst>
  <p:hf sldNum="0" hdr="0" dt="0"/>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mailto:newburry@fiu.edu" TargetMode="Externa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lac.aib.world/2027-call-for-papers/"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aib.world/events/2026/"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bin"/><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audio" Target="../media/audio1.wav"/><Relationship Id="rId1" Type="http://schemas.openxmlformats.org/officeDocument/2006/relationships/slideLayout" Target="../slideLayouts/slideLayout19.xml"/><Relationship Id="rId4" Type="http://schemas.openxmlformats.org/officeDocument/2006/relationships/image" Target="../media/image16.wmf"/></Relationships>
</file>

<file path=ppt/slides/_rels/slide41.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3.bin"/><Relationship Id="rId1" Type="http://schemas.openxmlformats.org/officeDocument/2006/relationships/slideLayout" Target="../slideLayouts/slideLayout19.xml"/><Relationship Id="rId4" Type="http://schemas.openxmlformats.org/officeDocument/2006/relationships/image" Target="../media/image18.gi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4.bin"/><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oleObject" Target="../embeddings/oleObject5.bin"/><Relationship Id="rId7" Type="http://schemas.openxmlformats.org/officeDocument/2006/relationships/image" Target="../media/image24.png"/><Relationship Id="rId2" Type="http://schemas.openxmlformats.org/officeDocument/2006/relationships/image" Target="../media/image20.png"/><Relationship Id="rId1" Type="http://schemas.openxmlformats.org/officeDocument/2006/relationships/slideLayout" Target="../slideLayouts/slideLayout1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6.bin"/><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7.bin"/><Relationship Id="rId1" Type="http://schemas.openxmlformats.org/officeDocument/2006/relationships/slideLayout" Target="../slideLayouts/slideLayout19.xml"/><Relationship Id="rId5" Type="http://schemas.openxmlformats.org/officeDocument/2006/relationships/image" Target="../media/image29.png"/><Relationship Id="rId4" Type="http://schemas.openxmlformats.org/officeDocument/2006/relationships/hyperlink" Target="http://www.hardrock.com/commerce/product.asp?pfid=177" TargetMode="Externa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image" Target="../media/image30.jpeg"/><Relationship Id="rId1" Type="http://schemas.openxmlformats.org/officeDocument/2006/relationships/slideLayout" Target="../slideLayouts/slideLayout19.xml"/><Relationship Id="rId4" Type="http://schemas.openxmlformats.org/officeDocument/2006/relationships/image" Target="../media/image31.wmf"/></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7.xml"/><Relationship Id="rId1" Type="http://schemas.openxmlformats.org/officeDocument/2006/relationships/slideLayout" Target="../slideLayouts/slideLayout19.xml"/><Relationship Id="rId4" Type="http://schemas.openxmlformats.org/officeDocument/2006/relationships/image" Target="../media/image32.wmf"/></Relationships>
</file>

<file path=ppt/slides/_rels/slide5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19.xml"/><Relationship Id="rId4" Type="http://schemas.openxmlformats.org/officeDocument/2006/relationships/image" Target="../media/image35.jpe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0.xml"/></Relationships>
</file>

<file path=ppt/slides/_rels/slide6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9.xml"/></Relationships>
</file>

<file path=ppt/slides/_rels/slide6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0.xml"/></Relationships>
</file>

<file path=ppt/slides/_rels/slide6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0.xml"/></Relationships>
</file>

<file path=ppt/slides/_rels/slide6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0.xml"/></Relationships>
</file>

<file path=ppt/slides/_rels/slide6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0.xml"/></Relationships>
</file>

<file path=ppt/slides/_rels/slide6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0.xml"/></Relationships>
</file>

<file path=ppt/slides/_rels/slide6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0.xml"/></Relationships>
</file>

<file path=ppt/slides/_rels/slide6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0.xml"/></Relationships>
</file>

<file path=ppt/slides/_rels/slide7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0.xml"/></Relationships>
</file>

<file path=ppt/slides/_rels/slide7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0.xml"/></Relationships>
</file>

<file path=ppt/slides/_rels/slide7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0.xml"/></Relationships>
</file>

<file path=ppt/slides/_rels/slide7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0.xml"/></Relationships>
</file>

<file path=ppt/slides/_rels/slide7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0.xml"/></Relationships>
</file>

<file path=ppt/slides/_rels/slide7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ctrTitle" idx="4294967295"/>
          </p:nvPr>
        </p:nvSpPr>
        <p:spPr>
          <a:xfrm>
            <a:off x="3027381" y="1949190"/>
            <a:ext cx="7772400" cy="1470025"/>
          </a:xfrm>
        </p:spPr>
        <p:txBody>
          <a:bodyPr>
            <a:normAutofit fontScale="90000"/>
          </a:bodyPr>
          <a:lstStyle/>
          <a:p>
            <a:pPr algn="ctr" eaLnBrk="1" hangingPunct="1">
              <a:defRPr/>
            </a:pPr>
            <a:r>
              <a:rPr lang="en-US" altLang="en-US" b="1" dirty="0">
                <a:ea typeface="MS PGothic" panose="020B0600070205080204" pitchFamily="34" charset="-128"/>
              </a:rPr>
              <a:t>Welcome to </a:t>
            </a:r>
            <a:br>
              <a:rPr lang="en-US" altLang="en-US" b="1" dirty="0">
                <a:ea typeface="MS PGothic" panose="020B0600070205080204" pitchFamily="34" charset="-128"/>
              </a:rPr>
            </a:br>
            <a:r>
              <a:rPr lang="en-US" altLang="en-US" b="1" dirty="0">
                <a:ea typeface="MS PGothic" panose="020B0600070205080204" pitchFamily="34" charset="-128"/>
              </a:rPr>
              <a:t>International Business Theory and Practice</a:t>
            </a:r>
            <a:br>
              <a:rPr lang="en-US" altLang="en-US" b="1" dirty="0">
                <a:ea typeface="MS PGothic" panose="020B0600070205080204" pitchFamily="34" charset="-128"/>
              </a:rPr>
            </a:br>
            <a:r>
              <a:rPr lang="en-US" altLang="en-US" b="1" dirty="0">
                <a:ea typeface="MS PGothic" panose="020B0600070205080204" pitchFamily="34" charset="-128"/>
              </a:rPr>
              <a:t>(GEB 7365)</a:t>
            </a:r>
          </a:p>
        </p:txBody>
      </p:sp>
      <p:sp>
        <p:nvSpPr>
          <p:cNvPr id="17410" name="Rectangle 3"/>
          <p:cNvSpPr>
            <a:spLocks noGrp="1" noChangeArrowheads="1"/>
          </p:cNvSpPr>
          <p:nvPr>
            <p:ph type="subTitle" idx="4294967295"/>
          </p:nvPr>
        </p:nvSpPr>
        <p:spPr>
          <a:xfrm>
            <a:off x="2034988" y="3963063"/>
            <a:ext cx="9757186" cy="1741488"/>
          </a:xfrm>
        </p:spPr>
        <p:txBody>
          <a:bodyPr>
            <a:normAutofit fontScale="92500" lnSpcReduction="10000"/>
          </a:bodyPr>
          <a:lstStyle/>
          <a:p>
            <a:pPr marL="0" indent="0" algn="ctr">
              <a:buNone/>
              <a:defRPr/>
            </a:pPr>
            <a:endParaRPr lang="en-US" altLang="en-US" sz="2800" dirty="0">
              <a:effectLst>
                <a:outerShdw blurRad="38100" dist="38100" dir="2700000" algn="tl">
                  <a:srgbClr val="000000"/>
                </a:outerShdw>
              </a:effectLst>
            </a:endParaRPr>
          </a:p>
          <a:p>
            <a:pPr marL="0" indent="0" algn="ctr">
              <a:buNone/>
              <a:defRPr/>
            </a:pPr>
            <a:r>
              <a:rPr lang="en-US" altLang="en-US" sz="2800" dirty="0">
                <a:effectLst>
                  <a:outerShdw blurRad="38100" dist="38100" dir="2700000" algn="tl">
                    <a:srgbClr val="000000"/>
                  </a:outerShdw>
                </a:effectLst>
              </a:rPr>
              <a:t>Dr. William </a:t>
            </a:r>
            <a:r>
              <a:rPr lang="en-US" altLang="en-US" sz="2800" dirty="0" err="1">
                <a:effectLst>
                  <a:outerShdw blurRad="38100" dist="38100" dir="2700000" algn="tl">
                    <a:srgbClr val="000000"/>
                  </a:outerShdw>
                </a:effectLst>
              </a:rPr>
              <a:t>Newburry</a:t>
            </a:r>
            <a:endParaRPr lang="en-US" altLang="en-US" sz="2800" dirty="0">
              <a:effectLst>
                <a:outerShdw blurRad="38100" dist="38100" dir="2700000" algn="tl">
                  <a:srgbClr val="000000"/>
                </a:outerShdw>
              </a:effectLst>
            </a:endParaRPr>
          </a:p>
          <a:p>
            <a:pPr marL="0" indent="0" algn="ctr">
              <a:buNone/>
              <a:defRPr/>
            </a:pPr>
            <a:r>
              <a:rPr lang="en-US" altLang="en-US" sz="2800" dirty="0">
                <a:effectLst>
                  <a:outerShdw blurRad="38100" dist="38100" dir="2700000" algn="tl">
                    <a:srgbClr val="000000"/>
                  </a:outerShdw>
                </a:effectLst>
              </a:rPr>
              <a:t>DBA Program</a:t>
            </a:r>
          </a:p>
          <a:p>
            <a:pPr marL="0" indent="0" algn="ctr">
              <a:buNone/>
              <a:defRPr/>
            </a:pPr>
            <a:r>
              <a:rPr lang="en-US" altLang="en-US" sz="2800" dirty="0">
                <a:effectLst>
                  <a:outerShdw blurRad="38100" dist="38100" dir="2700000" algn="tl">
                    <a:srgbClr val="000000"/>
                  </a:outerShdw>
                </a:effectLst>
              </a:rPr>
              <a:t>September 8/10, 2026</a:t>
            </a:r>
          </a:p>
        </p:txBody>
      </p:sp>
      <p:pic>
        <p:nvPicPr>
          <p:cNvPr id="6149" name="Picture 2" descr="FIUB Business Banner"/>
          <p:cNvPicPr>
            <a:picLocks noChangeAspect="1"/>
          </p:cNvPicPr>
          <p:nvPr/>
        </p:nvPicPr>
        <p:blipFill>
          <a:blip r:embed="rId3" cstate="print"/>
          <a:srcRect/>
          <a:stretch>
            <a:fillRect/>
          </a:stretch>
        </p:blipFill>
        <p:spPr bwMode="auto">
          <a:xfrm>
            <a:off x="2413000" y="152401"/>
            <a:ext cx="7366000" cy="1463675"/>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05E22-268A-A00C-DCD6-5648333681D9}"/>
            </a:ext>
          </a:extLst>
        </p:cNvPr>
        <p:cNvGrpSpPr/>
        <p:nvPr/>
      </p:nvGrpSpPr>
      <p:grpSpPr>
        <a:xfrm>
          <a:off x="0" y="0"/>
          <a:ext cx="0" cy="0"/>
          <a:chOff x="0" y="0"/>
          <a:chExt cx="0" cy="0"/>
        </a:xfrm>
      </p:grpSpPr>
      <p:sp>
        <p:nvSpPr>
          <p:cNvPr id="19459" name="Rectangle 2">
            <a:extLst>
              <a:ext uri="{FF2B5EF4-FFF2-40B4-BE49-F238E27FC236}">
                <a16:creationId xmlns:a16="http://schemas.microsoft.com/office/drawing/2014/main" id="{8B11C90F-74BA-9595-5A59-4A9187EDEACA}"/>
              </a:ext>
            </a:extLst>
          </p:cNvPr>
          <p:cNvSpPr>
            <a:spLocks noGrp="1" noChangeArrowheads="1"/>
          </p:cNvSpPr>
          <p:nvPr>
            <p:ph type="title" idx="4294967295"/>
          </p:nvPr>
        </p:nvSpPr>
        <p:spPr>
          <a:xfrm>
            <a:off x="2260878" y="365125"/>
            <a:ext cx="9092922" cy="1325563"/>
          </a:xfrm>
        </p:spPr>
        <p:txBody>
          <a:bodyPr/>
          <a:lstStyle/>
          <a:p>
            <a:pPr eaLnBrk="1" hangingPunct="1">
              <a:defRPr/>
            </a:pPr>
            <a:r>
              <a:rPr lang="en-US" altLang="en-US" dirty="0"/>
              <a:t>Today’</a:t>
            </a:r>
            <a:r>
              <a:rPr lang="en-US" altLang="ja-JP" dirty="0"/>
              <a:t>s Plan of Action</a:t>
            </a:r>
            <a:endParaRPr lang="en-US" altLang="en-US" dirty="0"/>
          </a:p>
        </p:txBody>
      </p:sp>
      <p:sp>
        <p:nvSpPr>
          <p:cNvPr id="32771" name="Rectangle 3">
            <a:extLst>
              <a:ext uri="{FF2B5EF4-FFF2-40B4-BE49-F238E27FC236}">
                <a16:creationId xmlns:a16="http://schemas.microsoft.com/office/drawing/2014/main" id="{4D28F44A-A11E-47DD-360D-8EB4B3705577}"/>
              </a:ext>
            </a:extLst>
          </p:cNvPr>
          <p:cNvSpPr>
            <a:spLocks noGrp="1" noChangeArrowheads="1"/>
          </p:cNvSpPr>
          <p:nvPr>
            <p:ph type="body" idx="4294967295"/>
          </p:nvPr>
        </p:nvSpPr>
        <p:spPr>
          <a:xfrm>
            <a:off x="2260878" y="1676400"/>
            <a:ext cx="9285961" cy="4495800"/>
          </a:xfrm>
        </p:spPr>
        <p:txBody>
          <a:bodyPr>
            <a:normAutofit/>
          </a:bodyPr>
          <a:lstStyle/>
          <a:p>
            <a:pPr eaLnBrk="1" hangingPunct="1"/>
            <a:r>
              <a:rPr lang="en-US" altLang="en-US" sz="2800" dirty="0"/>
              <a:t>Tips on Writing for Journals</a:t>
            </a:r>
          </a:p>
          <a:p>
            <a:pPr eaLnBrk="1" hangingPunct="1"/>
            <a:r>
              <a:rPr lang="en-US" altLang="en-US" sz="2800" dirty="0"/>
              <a:t>Background on Common MNC Structures</a:t>
            </a:r>
          </a:p>
          <a:p>
            <a:pPr eaLnBrk="1" hangingPunct="1"/>
            <a:r>
              <a:rPr lang="en-US" altLang="en-US" sz="2800" dirty="0"/>
              <a:t>Articles on how multinational corporations structure their international operations?</a:t>
            </a:r>
          </a:p>
        </p:txBody>
      </p:sp>
      <p:sp>
        <p:nvSpPr>
          <p:cNvPr id="8194" name="Rectangle 5">
            <a:extLst>
              <a:ext uri="{FF2B5EF4-FFF2-40B4-BE49-F238E27FC236}">
                <a16:creationId xmlns:a16="http://schemas.microsoft.com/office/drawing/2014/main" id="{0510E26E-12BF-2C86-8866-D47A9417ECA1}"/>
              </a:ext>
            </a:extLst>
          </p:cNvPr>
          <p:cNvSpPr>
            <a:spLocks noGrp="1" noChangeArrowheads="1"/>
          </p:cNvSpPr>
          <p:nvPr>
            <p:ph type="ftr" sz="quarter" idx="11"/>
          </p:nvPr>
        </p:nvSpPr>
        <p:spPr>
          <a:xfrm>
            <a:off x="4419600" y="6400800"/>
            <a:ext cx="3352800" cy="323850"/>
          </a:xfrm>
          <a:extLst>
            <a:ext uri="{909E8E84-426E-40dd-AFC4-6F175D3DCCD1}"/>
            <a:ext uri="{91240B29-F687-4f45-9708-019B960494DF}"/>
          </a:extLst>
        </p:spPr>
        <p:txBody>
          <a:bodyPr anchor="t"/>
          <a:lstStyle/>
          <a:p>
            <a:r>
              <a:rPr lang="en-US" altLang="en-US" dirty="0">
                <a:solidFill>
                  <a:schemeClr val="bg1"/>
                </a:solidFill>
              </a:rPr>
              <a:t>Newburry 2026 DBA International Business</a:t>
            </a:r>
          </a:p>
        </p:txBody>
      </p:sp>
    </p:spTree>
    <p:extLst>
      <p:ext uri="{BB962C8B-B14F-4D97-AF65-F5344CB8AC3E}">
        <p14:creationId xmlns:p14="http://schemas.microsoft.com/office/powerpoint/2010/main" val="2272624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3264" y="228600"/>
            <a:ext cx="9767454" cy="1143000"/>
          </a:xfrm>
        </p:spPr>
        <p:txBody>
          <a:bodyPr/>
          <a:lstStyle/>
          <a:p>
            <a:pPr>
              <a:defRPr/>
            </a:pPr>
            <a:r>
              <a:rPr lang="en-US" altLang="en-US" dirty="0"/>
              <a:t>September 8 – 10 – Structuring the MNC</a:t>
            </a:r>
          </a:p>
        </p:txBody>
      </p:sp>
      <p:sp>
        <p:nvSpPr>
          <p:cNvPr id="32772" name="Rectangle 4"/>
          <p:cNvSpPr>
            <a:spLocks noChangeArrowheads="1"/>
          </p:cNvSpPr>
          <p:nvPr/>
        </p:nvSpPr>
        <p:spPr bwMode="auto">
          <a:xfrm>
            <a:off x="1956607" y="1617206"/>
            <a:ext cx="9909465" cy="4493538"/>
          </a:xfrm>
          <a:prstGeom prst="rect">
            <a:avLst/>
          </a:prstGeom>
          <a:noFill/>
          <a:ln w="9525">
            <a:noFill/>
            <a:miter lim="800000"/>
            <a:headEnd/>
            <a:tailEnd/>
          </a:ln>
        </p:spPr>
        <p:txBody>
          <a:bodyPr wrap="square">
            <a:spAutoFit/>
          </a:bodyPr>
          <a:lstStyle/>
          <a:p>
            <a:pPr marL="342900" indent="-342900">
              <a:buFontTx/>
              <a:buChar char="•"/>
            </a:pPr>
            <a:r>
              <a:rPr lang="en-US" altLang="en-US" sz="2200" dirty="0" err="1">
                <a:solidFill>
                  <a:schemeClr val="bg1"/>
                </a:solidFill>
              </a:rPr>
              <a:t>Rugman</a:t>
            </a:r>
            <a:r>
              <a:rPr lang="en-US" altLang="en-US" sz="2200" dirty="0">
                <a:solidFill>
                  <a:schemeClr val="bg1"/>
                </a:solidFill>
              </a:rPr>
              <a:t>, A. M., &amp; </a:t>
            </a:r>
            <a:r>
              <a:rPr lang="en-US" altLang="en-US" sz="2200" dirty="0" err="1">
                <a:solidFill>
                  <a:schemeClr val="bg1"/>
                </a:solidFill>
              </a:rPr>
              <a:t>Verbeke</a:t>
            </a:r>
            <a:r>
              <a:rPr lang="en-US" altLang="en-US" sz="2200" dirty="0">
                <a:solidFill>
                  <a:schemeClr val="bg1"/>
                </a:solidFill>
              </a:rPr>
              <a:t>, A. (2004). A perspective on regional and global strategies of multinational enterprises. </a:t>
            </a:r>
            <a:r>
              <a:rPr lang="en-US" altLang="en-US" sz="2200" i="1" dirty="0">
                <a:solidFill>
                  <a:schemeClr val="bg1"/>
                </a:solidFill>
              </a:rPr>
              <a:t>Journal of International Business Studies</a:t>
            </a:r>
            <a:r>
              <a:rPr lang="en-US" altLang="en-US" sz="2200" dirty="0">
                <a:solidFill>
                  <a:schemeClr val="bg1"/>
                </a:solidFill>
              </a:rPr>
              <a:t>, 35: 3–18. </a:t>
            </a:r>
            <a:endParaRPr lang="en-US" altLang="en-US" sz="2200" b="1" dirty="0">
              <a:solidFill>
                <a:schemeClr val="bg1"/>
              </a:solidFill>
            </a:endParaRPr>
          </a:p>
          <a:p>
            <a:pPr marL="342900" indent="-342900">
              <a:buFontTx/>
              <a:buChar char="•"/>
            </a:pPr>
            <a:r>
              <a:rPr lang="en-US" altLang="en-US" sz="2200" dirty="0">
                <a:solidFill>
                  <a:schemeClr val="bg1"/>
                </a:solidFill>
              </a:rPr>
              <a:t>Lopez, L. E., Kundu, S. K., &amp; </a:t>
            </a:r>
            <a:r>
              <a:rPr lang="en-US" altLang="en-US" sz="2200" dirty="0" err="1">
                <a:solidFill>
                  <a:schemeClr val="bg1"/>
                </a:solidFill>
              </a:rPr>
              <a:t>Ciravegna</a:t>
            </a:r>
            <a:r>
              <a:rPr lang="en-US" altLang="en-US" sz="2200" dirty="0">
                <a:solidFill>
                  <a:schemeClr val="bg1"/>
                </a:solidFill>
              </a:rPr>
              <a:t>, L. (2009). Born global or born regional? Evidence from an exploratory study in the Costa Rican software industry. </a:t>
            </a:r>
            <a:r>
              <a:rPr lang="en-US" altLang="en-US" sz="2200" i="1" dirty="0">
                <a:solidFill>
                  <a:schemeClr val="bg1"/>
                </a:solidFill>
              </a:rPr>
              <a:t>Journal of International Business Studies</a:t>
            </a:r>
            <a:r>
              <a:rPr lang="en-US" altLang="en-US" sz="2200" dirty="0">
                <a:solidFill>
                  <a:schemeClr val="bg1"/>
                </a:solidFill>
              </a:rPr>
              <a:t>, 40: 1228–1238. </a:t>
            </a:r>
            <a:endParaRPr lang="en-US" altLang="en-US" sz="2200" b="1" dirty="0">
              <a:solidFill>
                <a:schemeClr val="bg1"/>
              </a:solidFill>
            </a:endParaRPr>
          </a:p>
          <a:p>
            <a:pPr marL="342900" indent="-342900">
              <a:buFontTx/>
              <a:buChar char="•"/>
            </a:pPr>
            <a:r>
              <a:rPr lang="en-US" sz="2200" dirty="0">
                <a:solidFill>
                  <a:schemeClr val="bg1"/>
                </a:solidFill>
              </a:rPr>
              <a:t>Meyer, K.E., Li, C. &amp; </a:t>
            </a:r>
            <a:r>
              <a:rPr lang="en-US" sz="2200" dirty="0" err="1">
                <a:solidFill>
                  <a:schemeClr val="bg1"/>
                </a:solidFill>
              </a:rPr>
              <a:t>Schotter</a:t>
            </a:r>
            <a:r>
              <a:rPr lang="en-US" sz="2200" dirty="0">
                <a:solidFill>
                  <a:schemeClr val="bg1"/>
                </a:solidFill>
              </a:rPr>
              <a:t>, A.P.J. (2020). Managing the MNE subsidiary: Advancing a multi-level and dynamic research agenda. </a:t>
            </a:r>
            <a:r>
              <a:rPr lang="en-US" sz="2200" i="1" dirty="0">
                <a:solidFill>
                  <a:schemeClr val="bg1"/>
                </a:solidFill>
              </a:rPr>
              <a:t>Journal of International Business Studies,</a:t>
            </a:r>
            <a:r>
              <a:rPr lang="en-US" sz="2200" dirty="0">
                <a:solidFill>
                  <a:schemeClr val="bg1"/>
                </a:solidFill>
              </a:rPr>
              <a:t> 51:</a:t>
            </a:r>
            <a:r>
              <a:rPr lang="en-US" sz="2200" b="1" dirty="0">
                <a:solidFill>
                  <a:schemeClr val="bg1"/>
                </a:solidFill>
              </a:rPr>
              <a:t> </a:t>
            </a:r>
            <a:r>
              <a:rPr lang="en-US" sz="2200" dirty="0">
                <a:solidFill>
                  <a:schemeClr val="bg1"/>
                </a:solidFill>
              </a:rPr>
              <a:t>538–576.</a:t>
            </a:r>
          </a:p>
          <a:p>
            <a:pPr marL="342900" indent="-342900">
              <a:buFontTx/>
              <a:buChar char="•"/>
            </a:pPr>
            <a:r>
              <a:rPr lang="en-US" sz="2200" dirty="0">
                <a:solidFill>
                  <a:schemeClr val="bg1"/>
                </a:solidFill>
                <a:ea typeface="Calibri" panose="020F0502020204030204" pitchFamily="34" charset="0"/>
              </a:rPr>
              <a:t>Zeng et al. (2023). Navigating MNE control and coordination: A critical review and directions for future research. </a:t>
            </a:r>
            <a:r>
              <a:rPr lang="en-US" sz="2200" i="1" dirty="0">
                <a:solidFill>
                  <a:schemeClr val="bg1"/>
                </a:solidFill>
                <a:ea typeface="Calibri" panose="020F0502020204030204" pitchFamily="34" charset="0"/>
              </a:rPr>
              <a:t>Journal of International Business Studies,</a:t>
            </a:r>
            <a:r>
              <a:rPr lang="en-US" sz="2200" dirty="0">
                <a:solidFill>
                  <a:schemeClr val="bg1"/>
                </a:solidFill>
                <a:ea typeface="Calibri" panose="020F0502020204030204" pitchFamily="34" charset="0"/>
              </a:rPr>
              <a:t> 54: 1599–1622.</a:t>
            </a:r>
          </a:p>
          <a:p>
            <a:pPr marL="342900" indent="-342900">
              <a:buFontTx/>
              <a:buChar char="•"/>
            </a:pPr>
            <a:endParaRPr lang="en-US" sz="2200" dirty="0">
              <a:solidFill>
                <a:schemeClr val="bg1"/>
              </a:solidFill>
            </a:endParaRPr>
          </a:p>
        </p:txBody>
      </p:sp>
      <p:sp>
        <p:nvSpPr>
          <p:cNvPr id="3" name="Footer Placeholder 3">
            <a:extLst>
              <a:ext uri="{FF2B5EF4-FFF2-40B4-BE49-F238E27FC236}">
                <a16:creationId xmlns:a16="http://schemas.microsoft.com/office/drawing/2014/main" id="{79D292E8-EB92-4070-BE7B-F31BB1ED4B3C}"/>
              </a:ext>
            </a:extLst>
          </p:cNvPr>
          <p:cNvSpPr>
            <a:spLocks noGrp="1"/>
          </p:cNvSpPr>
          <p:nvPr>
            <p:ph type="ftr" sz="quarter" idx="11"/>
          </p:nvPr>
        </p:nvSpPr>
        <p:spPr>
          <a:xfrm>
            <a:off x="4853940" y="6356350"/>
            <a:ext cx="4114800" cy="365125"/>
          </a:xfrm>
        </p:spPr>
        <p:txBody>
          <a:bodyPr/>
          <a:lstStyle>
            <a:lvl1pPr>
              <a:defRPr sz="4400">
                <a:solidFill>
                  <a:schemeClr val="accent2"/>
                </a:solidFill>
                <a:latin typeface="Arial" panose="020B0604020202020204" pitchFamily="34" charset="0"/>
                <a:ea typeface="ＭＳ Ｐゴシック" panose="020B0600070205080204" pitchFamily="34" charset="-128"/>
              </a:defRPr>
            </a:lvl1pPr>
            <a:lvl2pPr marL="742950" indent="-285750">
              <a:defRPr sz="4400">
                <a:solidFill>
                  <a:schemeClr val="accent2"/>
                </a:solidFill>
                <a:latin typeface="Arial" panose="020B0604020202020204" pitchFamily="34" charset="0"/>
                <a:ea typeface="ＭＳ Ｐゴシック" panose="020B0600070205080204" pitchFamily="34" charset="-128"/>
              </a:defRPr>
            </a:lvl2pPr>
            <a:lvl3pPr marL="1143000" indent="-228600">
              <a:defRPr sz="4400">
                <a:solidFill>
                  <a:schemeClr val="accent2"/>
                </a:solidFill>
                <a:latin typeface="Arial" panose="020B0604020202020204" pitchFamily="34" charset="0"/>
                <a:ea typeface="ＭＳ Ｐゴシック" panose="020B0600070205080204" pitchFamily="34" charset="-128"/>
              </a:defRPr>
            </a:lvl3pPr>
            <a:lvl4pPr marL="1600200" indent="-228600">
              <a:defRPr sz="4400">
                <a:solidFill>
                  <a:schemeClr val="accent2"/>
                </a:solidFill>
                <a:latin typeface="Arial" panose="020B0604020202020204" pitchFamily="34" charset="0"/>
                <a:ea typeface="ＭＳ Ｐゴシック" panose="020B0600070205080204" pitchFamily="34" charset="-128"/>
              </a:defRPr>
            </a:lvl4pPr>
            <a:lvl5pPr marL="2057400" indent="-228600">
              <a:defRPr sz="4400">
                <a:solidFill>
                  <a:schemeClr val="accent2"/>
                </a:solidFill>
                <a:latin typeface="Arial" panose="020B0604020202020204" pitchFamily="34" charset="0"/>
                <a:ea typeface="ＭＳ Ｐゴシック" panose="020B0600070205080204" pitchFamily="34" charset="-128"/>
              </a:defRPr>
            </a:lvl5pPr>
            <a:lvl6pPr marL="25146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defRPr/>
            </a:pPr>
            <a:r>
              <a:rPr lang="en-US" altLang="en-US" sz="1200" dirty="0">
                <a:solidFill>
                  <a:schemeClr val="bg1"/>
                </a:solidFill>
              </a:rPr>
              <a:t>Newburry 2026 DBA International Business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023" y="451139"/>
            <a:ext cx="9535968" cy="1143000"/>
          </a:xfrm>
        </p:spPr>
        <p:txBody>
          <a:bodyPr/>
          <a:lstStyle/>
          <a:p>
            <a:pPr>
              <a:defRPr/>
            </a:pPr>
            <a:r>
              <a:rPr lang="en-US" altLang="en-US" dirty="0"/>
              <a:t>September 18/19 (Residency) – Institutions and Culture</a:t>
            </a:r>
          </a:p>
        </p:txBody>
      </p:sp>
      <p:sp>
        <p:nvSpPr>
          <p:cNvPr id="33796" name="Rectangle 4"/>
          <p:cNvSpPr>
            <a:spLocks noChangeArrowheads="1"/>
          </p:cNvSpPr>
          <p:nvPr/>
        </p:nvSpPr>
        <p:spPr bwMode="auto">
          <a:xfrm>
            <a:off x="1873250" y="1447801"/>
            <a:ext cx="10045123" cy="5940088"/>
          </a:xfrm>
          <a:prstGeom prst="rect">
            <a:avLst/>
          </a:prstGeom>
          <a:noFill/>
          <a:ln w="9525">
            <a:noFill/>
            <a:miter lim="800000"/>
            <a:headEnd/>
            <a:tailEnd/>
          </a:ln>
        </p:spPr>
        <p:txBody>
          <a:bodyPr wrap="square">
            <a:spAutoFit/>
          </a:bodyPr>
          <a:lstStyle/>
          <a:p>
            <a:pPr marL="342900" indent="-342900">
              <a:buFontTx/>
              <a:buChar char="•"/>
            </a:pPr>
            <a:r>
              <a:rPr lang="en-US" altLang="en-US" sz="2000" dirty="0" err="1">
                <a:solidFill>
                  <a:schemeClr val="bg1"/>
                </a:solidFill>
              </a:rPr>
              <a:t>Deephouse</a:t>
            </a:r>
            <a:r>
              <a:rPr lang="en-US" altLang="en-US" sz="2000" dirty="0">
                <a:solidFill>
                  <a:schemeClr val="bg1"/>
                </a:solidFill>
              </a:rPr>
              <a:t>, D., </a:t>
            </a:r>
            <a:r>
              <a:rPr lang="en-US" altLang="en-US" sz="2000" dirty="0" err="1">
                <a:solidFill>
                  <a:schemeClr val="bg1"/>
                </a:solidFill>
              </a:rPr>
              <a:t>Newburry</a:t>
            </a:r>
            <a:r>
              <a:rPr lang="en-US" altLang="en-US" sz="2000" dirty="0">
                <a:solidFill>
                  <a:schemeClr val="bg1"/>
                </a:solidFill>
              </a:rPr>
              <a:t>, W., &amp; </a:t>
            </a:r>
            <a:r>
              <a:rPr lang="en-US" altLang="en-US" sz="2000" dirty="0" err="1">
                <a:solidFill>
                  <a:schemeClr val="bg1"/>
                </a:solidFill>
              </a:rPr>
              <a:t>Soleimani</a:t>
            </a:r>
            <a:r>
              <a:rPr lang="en-US" altLang="en-US" sz="2000" dirty="0">
                <a:solidFill>
                  <a:schemeClr val="bg1"/>
                </a:solidFill>
              </a:rPr>
              <a:t>, A. (2016). The importance of national contexts and institutions for cross-national differences in corporate reputation. </a:t>
            </a:r>
            <a:r>
              <a:rPr lang="en-US" altLang="en-US" sz="2000" i="1" dirty="0">
                <a:solidFill>
                  <a:schemeClr val="bg1"/>
                </a:solidFill>
              </a:rPr>
              <a:t>Journal of World Business</a:t>
            </a:r>
            <a:r>
              <a:rPr lang="en-US" altLang="en-US" sz="2000" dirty="0">
                <a:solidFill>
                  <a:schemeClr val="bg1"/>
                </a:solidFill>
              </a:rPr>
              <a:t>, 51: 463–473.</a:t>
            </a:r>
          </a:p>
          <a:p>
            <a:pPr marL="342900" indent="-342900">
              <a:buFontTx/>
              <a:buChar char="•"/>
            </a:pPr>
            <a:r>
              <a:rPr lang="en-US" altLang="en-US" sz="2000" dirty="0">
                <a:solidFill>
                  <a:schemeClr val="bg1"/>
                </a:solidFill>
              </a:rPr>
              <a:t>House, R., Javidan, M., Hanges, P., &amp; Dorfman, P. (2002). Understanding cultures and </a:t>
            </a:r>
            <a:r>
              <a:rPr lang="en-US" altLang="en-US" sz="2000" dirty="0" err="1">
                <a:solidFill>
                  <a:schemeClr val="bg1"/>
                </a:solidFill>
              </a:rPr>
              <a:t>implicity</a:t>
            </a:r>
            <a:r>
              <a:rPr lang="en-US" altLang="en-US" sz="2000" dirty="0">
                <a:solidFill>
                  <a:schemeClr val="bg1"/>
                </a:solidFill>
              </a:rPr>
              <a:t> leadership theories across the globe: An introduction to project GLOBE. </a:t>
            </a:r>
            <a:r>
              <a:rPr lang="en-US" altLang="en-US" sz="2000" i="1" dirty="0">
                <a:solidFill>
                  <a:schemeClr val="bg1"/>
                </a:solidFill>
              </a:rPr>
              <a:t>Journal of World Business</a:t>
            </a:r>
            <a:r>
              <a:rPr lang="en-US" altLang="en-US" sz="2000" dirty="0">
                <a:solidFill>
                  <a:schemeClr val="bg1"/>
                </a:solidFill>
              </a:rPr>
              <a:t>, 37: 3-10.</a:t>
            </a:r>
          </a:p>
          <a:p>
            <a:pPr marL="342900" indent="-342900">
              <a:buFontTx/>
              <a:buChar char="•"/>
            </a:pPr>
            <a:r>
              <a:rPr lang="en-US" sz="2000" dirty="0">
                <a:solidFill>
                  <a:schemeClr val="bg1"/>
                </a:solidFill>
              </a:rPr>
              <a:t>Cuervo-</a:t>
            </a:r>
            <a:r>
              <a:rPr lang="en-US" sz="2000" dirty="0" err="1">
                <a:solidFill>
                  <a:schemeClr val="bg1"/>
                </a:solidFill>
              </a:rPr>
              <a:t>Cazurra</a:t>
            </a:r>
            <a:r>
              <a:rPr lang="en-US" sz="2000" dirty="0">
                <a:solidFill>
                  <a:schemeClr val="bg1"/>
                </a:solidFill>
              </a:rPr>
              <a:t>, A., Gaur, A. &amp; Singh, D. (2019). Pro-market institutions and global strategy: The pendulum of pro-market reforms and reversals. </a:t>
            </a:r>
            <a:r>
              <a:rPr lang="en-US" sz="2000" i="1" dirty="0">
                <a:solidFill>
                  <a:schemeClr val="bg1"/>
                </a:solidFill>
              </a:rPr>
              <a:t>Journal of International Business Studies,</a:t>
            </a:r>
            <a:r>
              <a:rPr lang="en-US" sz="2000" dirty="0">
                <a:solidFill>
                  <a:schemeClr val="bg1"/>
                </a:solidFill>
              </a:rPr>
              <a:t> 50: 598–632.</a:t>
            </a:r>
          </a:p>
          <a:p>
            <a:pPr marL="342900" indent="-342900">
              <a:buFontTx/>
              <a:buChar char="•"/>
            </a:pPr>
            <a:r>
              <a:rPr lang="en-US" sz="2000" dirty="0" err="1">
                <a:solidFill>
                  <a:schemeClr val="bg1"/>
                </a:solidFill>
                <a:ea typeface="Calibri" panose="020F0502020204030204" pitchFamily="34" charset="0"/>
              </a:rPr>
              <a:t>Samiee</a:t>
            </a:r>
            <a:r>
              <a:rPr lang="en-US" sz="2000" dirty="0">
                <a:solidFill>
                  <a:schemeClr val="bg1"/>
                </a:solidFill>
                <a:ea typeface="Calibri" panose="020F0502020204030204" pitchFamily="34" charset="0"/>
              </a:rPr>
              <a:t> et al. (2024). Research on country-of-origin perceptions: review, critical assessment, and the path forward. </a:t>
            </a:r>
            <a:r>
              <a:rPr lang="en-US" sz="2000" i="1" dirty="0">
                <a:solidFill>
                  <a:schemeClr val="bg1"/>
                </a:solidFill>
                <a:ea typeface="Calibri" panose="020F0502020204030204" pitchFamily="34" charset="0"/>
              </a:rPr>
              <a:t>Journal of International Business Studies</a:t>
            </a:r>
            <a:r>
              <a:rPr lang="en-US" sz="2000" dirty="0">
                <a:solidFill>
                  <a:schemeClr val="bg1"/>
                </a:solidFill>
                <a:ea typeface="Calibri" panose="020F0502020204030204" pitchFamily="34" charset="0"/>
              </a:rPr>
              <a:t>, 55: 285–302. </a:t>
            </a:r>
          </a:p>
          <a:p>
            <a:pPr marL="342900" indent="-342900">
              <a:buFontTx/>
              <a:buChar char="•"/>
            </a:pPr>
            <a:r>
              <a:rPr lang="en-US" sz="2000" dirty="0" err="1">
                <a:solidFill>
                  <a:schemeClr val="bg1"/>
                </a:solidFill>
                <a:ea typeface="Calibri" panose="020F0502020204030204" pitchFamily="34" charset="0"/>
              </a:rPr>
              <a:t>Fainshmidt</a:t>
            </a:r>
            <a:r>
              <a:rPr lang="en-US" sz="2000" dirty="0">
                <a:solidFill>
                  <a:schemeClr val="bg1"/>
                </a:solidFill>
                <a:ea typeface="Calibri" panose="020F0502020204030204" pitchFamily="34" charset="0"/>
              </a:rPr>
              <a:t>, S., Judge, W.Q., Aguilera, R.V., &amp; Smith, A. (2018). Varieties of institutional systems: A contextual taxonomy of understudied countries. Journal of World Business, 53: 307-322.</a:t>
            </a:r>
          </a:p>
          <a:p>
            <a:pPr marL="342900" indent="-342900">
              <a:buFontTx/>
              <a:buChar char="•"/>
            </a:pPr>
            <a:endParaRPr lang="en-US" sz="2000" dirty="0">
              <a:solidFill>
                <a:schemeClr val="bg1"/>
              </a:solidFill>
              <a:ea typeface="Calibri" panose="020F0502020204030204" pitchFamily="34" charset="0"/>
            </a:endParaRPr>
          </a:p>
          <a:p>
            <a:pPr marL="342900" indent="-342900">
              <a:buFontTx/>
              <a:buChar char="•"/>
            </a:pPr>
            <a:endParaRPr lang="en-US" sz="2000" dirty="0">
              <a:solidFill>
                <a:schemeClr val="bg1"/>
              </a:solidFill>
              <a:ea typeface="Calibri" panose="020F0502020204030204" pitchFamily="34" charset="0"/>
            </a:endParaRPr>
          </a:p>
          <a:p>
            <a:pPr marL="342900" indent="-342900">
              <a:buFontTx/>
              <a:buChar char="•"/>
            </a:pPr>
            <a:endParaRPr lang="en-US" sz="2000" dirty="0">
              <a:solidFill>
                <a:schemeClr val="bg1"/>
              </a:solidFill>
            </a:endParaRPr>
          </a:p>
          <a:p>
            <a:pPr marL="342900" indent="-342900">
              <a:buFontTx/>
              <a:buChar char="•"/>
            </a:pPr>
            <a:endParaRPr lang="en-US" altLang="en-US" sz="2000" b="1" dirty="0">
              <a:solidFill>
                <a:schemeClr val="bg1"/>
              </a:solidFill>
            </a:endParaRPr>
          </a:p>
        </p:txBody>
      </p:sp>
      <p:sp>
        <p:nvSpPr>
          <p:cNvPr id="3" name="Footer Placeholder 3">
            <a:extLst>
              <a:ext uri="{FF2B5EF4-FFF2-40B4-BE49-F238E27FC236}">
                <a16:creationId xmlns:a16="http://schemas.microsoft.com/office/drawing/2014/main" id="{17D02CDD-D79F-6998-92E3-5C93ECAA7A7A}"/>
              </a:ext>
            </a:extLst>
          </p:cNvPr>
          <p:cNvSpPr>
            <a:spLocks noGrp="1"/>
          </p:cNvSpPr>
          <p:nvPr>
            <p:ph type="ftr" sz="quarter" idx="11"/>
          </p:nvPr>
        </p:nvSpPr>
        <p:spPr>
          <a:xfrm>
            <a:off x="4853940" y="6356350"/>
            <a:ext cx="4114800" cy="365125"/>
          </a:xfrm>
        </p:spPr>
        <p:txBody>
          <a:bodyPr/>
          <a:lstStyle>
            <a:lvl1pPr>
              <a:defRPr sz="4400">
                <a:solidFill>
                  <a:schemeClr val="accent2"/>
                </a:solidFill>
                <a:latin typeface="Arial" panose="020B0604020202020204" pitchFamily="34" charset="0"/>
                <a:ea typeface="ＭＳ Ｐゴシック" panose="020B0600070205080204" pitchFamily="34" charset="-128"/>
              </a:defRPr>
            </a:lvl1pPr>
            <a:lvl2pPr marL="742950" indent="-285750">
              <a:defRPr sz="4400">
                <a:solidFill>
                  <a:schemeClr val="accent2"/>
                </a:solidFill>
                <a:latin typeface="Arial" panose="020B0604020202020204" pitchFamily="34" charset="0"/>
                <a:ea typeface="ＭＳ Ｐゴシック" panose="020B0600070205080204" pitchFamily="34" charset="-128"/>
              </a:defRPr>
            </a:lvl2pPr>
            <a:lvl3pPr marL="1143000" indent="-228600">
              <a:defRPr sz="4400">
                <a:solidFill>
                  <a:schemeClr val="accent2"/>
                </a:solidFill>
                <a:latin typeface="Arial" panose="020B0604020202020204" pitchFamily="34" charset="0"/>
                <a:ea typeface="ＭＳ Ｐゴシック" panose="020B0600070205080204" pitchFamily="34" charset="-128"/>
              </a:defRPr>
            </a:lvl3pPr>
            <a:lvl4pPr marL="1600200" indent="-228600">
              <a:defRPr sz="4400">
                <a:solidFill>
                  <a:schemeClr val="accent2"/>
                </a:solidFill>
                <a:latin typeface="Arial" panose="020B0604020202020204" pitchFamily="34" charset="0"/>
                <a:ea typeface="ＭＳ Ｐゴシック" panose="020B0600070205080204" pitchFamily="34" charset="-128"/>
              </a:defRPr>
            </a:lvl4pPr>
            <a:lvl5pPr marL="2057400" indent="-228600">
              <a:defRPr sz="4400">
                <a:solidFill>
                  <a:schemeClr val="accent2"/>
                </a:solidFill>
                <a:latin typeface="Arial" panose="020B0604020202020204" pitchFamily="34" charset="0"/>
                <a:ea typeface="ＭＳ Ｐゴシック" panose="020B0600070205080204" pitchFamily="34" charset="-128"/>
              </a:defRPr>
            </a:lvl5pPr>
            <a:lvl6pPr marL="25146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defRPr/>
            </a:pPr>
            <a:r>
              <a:rPr lang="en-US" altLang="en-US" sz="1200" dirty="0">
                <a:solidFill>
                  <a:schemeClr val="bg1"/>
                </a:solidFill>
              </a:rPr>
              <a:t>Newburry 2026 DBA International Business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9745" y="376815"/>
            <a:ext cx="9860973" cy="1143000"/>
          </a:xfrm>
        </p:spPr>
        <p:txBody>
          <a:bodyPr>
            <a:noAutofit/>
          </a:bodyPr>
          <a:lstStyle/>
          <a:p>
            <a:pPr>
              <a:defRPr/>
            </a:pPr>
            <a:r>
              <a:rPr lang="en-US" altLang="en-US" dirty="0"/>
              <a:t>September 22/24 – Emerging Markets: What are They and Why are They Important?</a:t>
            </a:r>
          </a:p>
        </p:txBody>
      </p:sp>
      <p:sp>
        <p:nvSpPr>
          <p:cNvPr id="34820" name="Rectangle 4"/>
          <p:cNvSpPr>
            <a:spLocks noChangeArrowheads="1"/>
          </p:cNvSpPr>
          <p:nvPr/>
        </p:nvSpPr>
        <p:spPr bwMode="auto">
          <a:xfrm>
            <a:off x="1918853" y="1912896"/>
            <a:ext cx="9625445" cy="3785652"/>
          </a:xfrm>
          <a:prstGeom prst="rect">
            <a:avLst/>
          </a:prstGeom>
          <a:noFill/>
          <a:ln w="9525">
            <a:noFill/>
            <a:miter lim="800000"/>
            <a:headEnd/>
            <a:tailEnd/>
          </a:ln>
        </p:spPr>
        <p:txBody>
          <a:bodyPr wrap="square">
            <a:spAutoFit/>
          </a:bodyPr>
          <a:lstStyle/>
          <a:p>
            <a:pPr marL="342900" indent="-342900">
              <a:buFontTx/>
              <a:buChar char="•"/>
            </a:pPr>
            <a:r>
              <a:rPr lang="en-US" altLang="en-US" sz="2000" dirty="0">
                <a:solidFill>
                  <a:schemeClr val="bg1"/>
                </a:solidFill>
              </a:rPr>
              <a:t>Ramamurti, R. (2012). What is really different about emerging market multinationals? </a:t>
            </a:r>
            <a:r>
              <a:rPr lang="en-US" altLang="en-US" sz="2000" i="1" dirty="0">
                <a:solidFill>
                  <a:schemeClr val="bg1"/>
                </a:solidFill>
              </a:rPr>
              <a:t>Global Strategy Journal</a:t>
            </a:r>
            <a:r>
              <a:rPr lang="en-US" altLang="en-US" sz="2000" dirty="0">
                <a:solidFill>
                  <a:schemeClr val="bg1"/>
                </a:solidFill>
              </a:rPr>
              <a:t>, 2: 41-47. </a:t>
            </a:r>
          </a:p>
          <a:p>
            <a:pPr marL="342900" indent="-342900">
              <a:buFontTx/>
              <a:buChar char="•"/>
            </a:pPr>
            <a:r>
              <a:rPr lang="en-US" altLang="en-US" sz="2000" dirty="0">
                <a:solidFill>
                  <a:schemeClr val="bg1"/>
                </a:solidFill>
              </a:rPr>
              <a:t>Luo, Y., &amp; Tung, R. L. (2007). International expansion of emerging market enterprises: A springboard perspective. </a:t>
            </a:r>
            <a:r>
              <a:rPr lang="en-US" altLang="en-US" sz="2000" i="1" dirty="0">
                <a:solidFill>
                  <a:schemeClr val="bg1"/>
                </a:solidFill>
              </a:rPr>
              <a:t>Journal of International Business Studies</a:t>
            </a:r>
            <a:r>
              <a:rPr lang="en-US" altLang="en-US" sz="2000" dirty="0">
                <a:solidFill>
                  <a:schemeClr val="bg1"/>
                </a:solidFill>
              </a:rPr>
              <a:t>, 38: 481–498. </a:t>
            </a:r>
          </a:p>
          <a:p>
            <a:pPr marL="342900" indent="-342900">
              <a:buFontTx/>
              <a:buChar char="•"/>
            </a:pPr>
            <a:r>
              <a:rPr lang="en-US" altLang="en-US" sz="2000" dirty="0">
                <a:solidFill>
                  <a:schemeClr val="bg1"/>
                </a:solidFill>
              </a:rPr>
              <a:t>Cuervo-</a:t>
            </a:r>
            <a:r>
              <a:rPr lang="en-US" altLang="en-US" sz="2000" dirty="0" err="1">
                <a:solidFill>
                  <a:schemeClr val="bg1"/>
                </a:solidFill>
              </a:rPr>
              <a:t>Cazurra</a:t>
            </a:r>
            <a:r>
              <a:rPr lang="en-US" altLang="en-US" sz="2000" dirty="0">
                <a:solidFill>
                  <a:schemeClr val="bg1"/>
                </a:solidFill>
              </a:rPr>
              <a:t>, A., &amp; </a:t>
            </a:r>
            <a:r>
              <a:rPr lang="en-US" altLang="en-US" sz="2000" dirty="0" err="1">
                <a:solidFill>
                  <a:schemeClr val="bg1"/>
                </a:solidFill>
              </a:rPr>
              <a:t>Genc</a:t>
            </a:r>
            <a:r>
              <a:rPr lang="en-US" altLang="en-US" sz="2000" dirty="0">
                <a:solidFill>
                  <a:schemeClr val="bg1"/>
                </a:solidFill>
              </a:rPr>
              <a:t>, M. (2008). Transforming disadvantages into advantages: developing-country MNEs in the least developed countries. </a:t>
            </a:r>
            <a:r>
              <a:rPr lang="en-US" altLang="en-US" sz="2000" i="1" dirty="0">
                <a:solidFill>
                  <a:schemeClr val="bg1"/>
                </a:solidFill>
              </a:rPr>
              <a:t>Journal of International Business Studies</a:t>
            </a:r>
            <a:r>
              <a:rPr lang="en-US" altLang="en-US" sz="2000" dirty="0">
                <a:solidFill>
                  <a:schemeClr val="bg1"/>
                </a:solidFill>
              </a:rPr>
              <a:t>, 39: 957–979. </a:t>
            </a:r>
            <a:r>
              <a:rPr lang="en-US" altLang="en-US" sz="2000" b="1" dirty="0">
                <a:solidFill>
                  <a:schemeClr val="bg1"/>
                </a:solidFill>
              </a:rPr>
              <a:t>- </a:t>
            </a:r>
          </a:p>
          <a:p>
            <a:pPr marL="342900" indent="-342900">
              <a:buFontTx/>
              <a:buChar char="•"/>
            </a:pPr>
            <a:r>
              <a:rPr lang="en-US" sz="2000" dirty="0" err="1">
                <a:solidFill>
                  <a:schemeClr val="bg1"/>
                </a:solidFill>
              </a:rPr>
              <a:t>Luo</a:t>
            </a:r>
            <a:r>
              <a:rPr lang="en-US" sz="2000" dirty="0">
                <a:solidFill>
                  <a:schemeClr val="bg1"/>
                </a:solidFill>
              </a:rPr>
              <a:t>, Y., Zhang, H. &amp; Bu, J. (2019). Developed country MNEs investing in developing economies: Progress and prospect. </a:t>
            </a:r>
            <a:r>
              <a:rPr lang="en-US" sz="2000" i="1" dirty="0">
                <a:solidFill>
                  <a:schemeClr val="bg1"/>
                </a:solidFill>
              </a:rPr>
              <a:t>Journal of International Business Studies,</a:t>
            </a:r>
            <a:r>
              <a:rPr lang="en-US" sz="2000" dirty="0">
                <a:solidFill>
                  <a:schemeClr val="bg1"/>
                </a:solidFill>
              </a:rPr>
              <a:t> 50:</a:t>
            </a:r>
            <a:r>
              <a:rPr lang="en-US" sz="2000" b="1" dirty="0">
                <a:solidFill>
                  <a:schemeClr val="bg1"/>
                </a:solidFill>
              </a:rPr>
              <a:t> </a:t>
            </a:r>
            <a:r>
              <a:rPr lang="en-US" sz="2000" dirty="0">
                <a:solidFill>
                  <a:schemeClr val="bg1"/>
                </a:solidFill>
              </a:rPr>
              <a:t>633–667. </a:t>
            </a:r>
          </a:p>
          <a:p>
            <a:pPr marL="342900" indent="-342900">
              <a:buFontTx/>
              <a:buChar char="•"/>
            </a:pPr>
            <a:endParaRPr lang="en-US" sz="2000" dirty="0">
              <a:solidFill>
                <a:schemeClr val="bg1"/>
              </a:solidFill>
            </a:endParaRPr>
          </a:p>
        </p:txBody>
      </p:sp>
      <p:sp>
        <p:nvSpPr>
          <p:cNvPr id="3" name="Footer Placeholder 3">
            <a:extLst>
              <a:ext uri="{FF2B5EF4-FFF2-40B4-BE49-F238E27FC236}">
                <a16:creationId xmlns:a16="http://schemas.microsoft.com/office/drawing/2014/main" id="{48B40FBA-EA5E-0628-8486-B5AE0ACCA2CE}"/>
              </a:ext>
            </a:extLst>
          </p:cNvPr>
          <p:cNvSpPr>
            <a:spLocks noGrp="1"/>
          </p:cNvSpPr>
          <p:nvPr>
            <p:ph type="ftr" sz="quarter" idx="11"/>
          </p:nvPr>
        </p:nvSpPr>
        <p:spPr>
          <a:xfrm>
            <a:off x="4853940" y="6356350"/>
            <a:ext cx="4114800" cy="365125"/>
          </a:xfrm>
        </p:spPr>
        <p:txBody>
          <a:bodyPr/>
          <a:lstStyle>
            <a:lvl1pPr>
              <a:defRPr sz="4400">
                <a:solidFill>
                  <a:schemeClr val="accent2"/>
                </a:solidFill>
                <a:latin typeface="Arial" panose="020B0604020202020204" pitchFamily="34" charset="0"/>
                <a:ea typeface="ＭＳ Ｐゴシック" panose="020B0600070205080204" pitchFamily="34" charset="-128"/>
              </a:defRPr>
            </a:lvl1pPr>
            <a:lvl2pPr marL="742950" indent="-285750">
              <a:defRPr sz="4400">
                <a:solidFill>
                  <a:schemeClr val="accent2"/>
                </a:solidFill>
                <a:latin typeface="Arial" panose="020B0604020202020204" pitchFamily="34" charset="0"/>
                <a:ea typeface="ＭＳ Ｐゴシック" panose="020B0600070205080204" pitchFamily="34" charset="-128"/>
              </a:defRPr>
            </a:lvl2pPr>
            <a:lvl3pPr marL="1143000" indent="-228600">
              <a:defRPr sz="4400">
                <a:solidFill>
                  <a:schemeClr val="accent2"/>
                </a:solidFill>
                <a:latin typeface="Arial" panose="020B0604020202020204" pitchFamily="34" charset="0"/>
                <a:ea typeface="ＭＳ Ｐゴシック" panose="020B0600070205080204" pitchFamily="34" charset="-128"/>
              </a:defRPr>
            </a:lvl3pPr>
            <a:lvl4pPr marL="1600200" indent="-228600">
              <a:defRPr sz="4400">
                <a:solidFill>
                  <a:schemeClr val="accent2"/>
                </a:solidFill>
                <a:latin typeface="Arial" panose="020B0604020202020204" pitchFamily="34" charset="0"/>
                <a:ea typeface="ＭＳ Ｐゴシック" panose="020B0600070205080204" pitchFamily="34" charset="-128"/>
              </a:defRPr>
            </a:lvl4pPr>
            <a:lvl5pPr marL="2057400" indent="-228600">
              <a:defRPr sz="4400">
                <a:solidFill>
                  <a:schemeClr val="accent2"/>
                </a:solidFill>
                <a:latin typeface="Arial" panose="020B0604020202020204" pitchFamily="34" charset="0"/>
                <a:ea typeface="ＭＳ Ｐゴシック" panose="020B0600070205080204" pitchFamily="34" charset="-128"/>
              </a:defRPr>
            </a:lvl5pPr>
            <a:lvl6pPr marL="25146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defRPr/>
            </a:pPr>
            <a:r>
              <a:rPr lang="en-US" altLang="en-US" sz="1200" dirty="0">
                <a:solidFill>
                  <a:schemeClr val="bg1"/>
                </a:solidFill>
              </a:rPr>
              <a:t>Newburry 2026 DBA International Business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399" y="401782"/>
            <a:ext cx="10058401" cy="1143000"/>
          </a:xfrm>
        </p:spPr>
        <p:txBody>
          <a:bodyPr>
            <a:noAutofit/>
          </a:bodyPr>
          <a:lstStyle/>
          <a:p>
            <a:pPr>
              <a:defRPr/>
            </a:pPr>
            <a:r>
              <a:rPr lang="en-US" altLang="en-US" dirty="0"/>
              <a:t>September 29/October 1 – Emerging Markets and their Impact on International Business Theories</a:t>
            </a:r>
          </a:p>
        </p:txBody>
      </p:sp>
      <p:sp>
        <p:nvSpPr>
          <p:cNvPr id="35844" name="Rectangle 4"/>
          <p:cNvSpPr>
            <a:spLocks noChangeArrowheads="1"/>
          </p:cNvSpPr>
          <p:nvPr/>
        </p:nvSpPr>
        <p:spPr bwMode="auto">
          <a:xfrm>
            <a:off x="1942551" y="1757628"/>
            <a:ext cx="9861521" cy="5509200"/>
          </a:xfrm>
          <a:prstGeom prst="rect">
            <a:avLst/>
          </a:prstGeom>
          <a:noFill/>
          <a:ln w="9525">
            <a:noFill/>
            <a:miter lim="800000"/>
            <a:headEnd/>
            <a:tailEnd/>
          </a:ln>
        </p:spPr>
        <p:txBody>
          <a:bodyPr wrap="square">
            <a:spAutoFit/>
          </a:bodyPr>
          <a:lstStyle/>
          <a:p>
            <a:pPr marL="342900" indent="-342900">
              <a:buFontTx/>
              <a:buChar char="•"/>
            </a:pPr>
            <a:r>
              <a:rPr lang="en-US" altLang="en-US" sz="2200" dirty="0" err="1">
                <a:solidFill>
                  <a:schemeClr val="bg1"/>
                </a:solidFill>
              </a:rPr>
              <a:t>Geleilate</a:t>
            </a:r>
            <a:r>
              <a:rPr lang="en-US" altLang="en-US" sz="2200" dirty="0">
                <a:solidFill>
                  <a:schemeClr val="bg1"/>
                </a:solidFill>
              </a:rPr>
              <a:t>, J.-M. G., Magnusson, P., </a:t>
            </a:r>
            <a:r>
              <a:rPr lang="en-US" altLang="en-US" sz="2200" dirty="0" err="1">
                <a:solidFill>
                  <a:schemeClr val="bg1"/>
                </a:solidFill>
              </a:rPr>
              <a:t>Parente</a:t>
            </a:r>
            <a:r>
              <a:rPr lang="en-US" altLang="en-US" sz="2200" dirty="0">
                <a:solidFill>
                  <a:schemeClr val="bg1"/>
                </a:solidFill>
              </a:rPr>
              <a:t>, R. C. &amp; Alvarado-Vargas, M.J. (2016). Home country institutional effects on the </a:t>
            </a:r>
            <a:r>
              <a:rPr lang="en-US" altLang="en-US" sz="2200" dirty="0" err="1">
                <a:solidFill>
                  <a:schemeClr val="bg1"/>
                </a:solidFill>
              </a:rPr>
              <a:t>multinationality</a:t>
            </a:r>
            <a:r>
              <a:rPr lang="en-US" altLang="en-US" sz="2200" dirty="0">
                <a:solidFill>
                  <a:schemeClr val="bg1"/>
                </a:solidFill>
              </a:rPr>
              <a:t>-performance relationship: A comparison between emerging and developed country multinationals. </a:t>
            </a:r>
            <a:r>
              <a:rPr lang="en-US" altLang="en-US" sz="2200" i="1" dirty="0">
                <a:solidFill>
                  <a:schemeClr val="bg1"/>
                </a:solidFill>
              </a:rPr>
              <a:t>Journal of International Management</a:t>
            </a:r>
            <a:r>
              <a:rPr lang="en-US" altLang="en-US" sz="2200" dirty="0">
                <a:solidFill>
                  <a:schemeClr val="bg1"/>
                </a:solidFill>
              </a:rPr>
              <a:t>, 22: 380-402. </a:t>
            </a:r>
            <a:endParaRPr lang="en-US" altLang="en-US" sz="2200" b="1" dirty="0">
              <a:solidFill>
                <a:schemeClr val="bg1"/>
              </a:solidFill>
            </a:endParaRPr>
          </a:p>
          <a:p>
            <a:pPr marL="342900" indent="-342900">
              <a:buFontTx/>
              <a:buChar char="•"/>
            </a:pPr>
            <a:r>
              <a:rPr lang="en-US" altLang="en-US" sz="2200" dirty="0" err="1">
                <a:solidFill>
                  <a:schemeClr val="bg1"/>
                </a:solidFill>
              </a:rPr>
              <a:t>Cuervo-Cazurra</a:t>
            </a:r>
            <a:r>
              <a:rPr lang="en-US" altLang="en-US" sz="2200" dirty="0">
                <a:solidFill>
                  <a:schemeClr val="bg1"/>
                </a:solidFill>
              </a:rPr>
              <a:t>, A. (2012). How the analysis of developing country multinational companies helps advance theory: Solving the Goldilocks debate. </a:t>
            </a:r>
            <a:r>
              <a:rPr lang="en-US" altLang="en-US" sz="2200" i="1" dirty="0">
                <a:solidFill>
                  <a:schemeClr val="bg1"/>
                </a:solidFill>
              </a:rPr>
              <a:t>Global Strategy Journal</a:t>
            </a:r>
            <a:r>
              <a:rPr lang="en-US" altLang="en-US" sz="2200" dirty="0">
                <a:solidFill>
                  <a:schemeClr val="bg1"/>
                </a:solidFill>
              </a:rPr>
              <a:t>, 2: 153–167. </a:t>
            </a:r>
            <a:endParaRPr lang="en-US" altLang="en-US" sz="2200" b="1" dirty="0">
              <a:solidFill>
                <a:schemeClr val="bg1"/>
              </a:solidFill>
            </a:endParaRPr>
          </a:p>
          <a:p>
            <a:pPr marL="342900" indent="-342900">
              <a:buFontTx/>
              <a:buChar char="•"/>
            </a:pPr>
            <a:r>
              <a:rPr lang="en-US" altLang="en-US" sz="2200" dirty="0" err="1">
                <a:solidFill>
                  <a:schemeClr val="bg1"/>
                </a:solidFill>
              </a:rPr>
              <a:t>Newburry</a:t>
            </a:r>
            <a:r>
              <a:rPr lang="en-US" altLang="en-US" sz="2200" dirty="0">
                <a:solidFill>
                  <a:schemeClr val="bg1"/>
                </a:solidFill>
              </a:rPr>
              <a:t>, N., </a:t>
            </a:r>
            <a:r>
              <a:rPr lang="en-US" altLang="en-US" sz="2200" dirty="0" err="1">
                <a:solidFill>
                  <a:schemeClr val="bg1"/>
                </a:solidFill>
              </a:rPr>
              <a:t>Gardberg</a:t>
            </a:r>
            <a:r>
              <a:rPr lang="en-US" altLang="en-US" sz="2200" dirty="0">
                <a:solidFill>
                  <a:schemeClr val="bg1"/>
                </a:solidFill>
              </a:rPr>
              <a:t>, N.A., &amp; Sanchez, J.I. (2014). Employer attractiveness in Latin America: The association among foreignness, internationalization and talent recruitment. </a:t>
            </a:r>
            <a:r>
              <a:rPr lang="en-US" altLang="en-US" sz="2200" i="1" dirty="0">
                <a:solidFill>
                  <a:schemeClr val="bg1"/>
                </a:solidFill>
              </a:rPr>
              <a:t>Journal of International Management</a:t>
            </a:r>
            <a:r>
              <a:rPr lang="en-US" altLang="en-US" sz="2200" dirty="0">
                <a:solidFill>
                  <a:schemeClr val="bg1"/>
                </a:solidFill>
              </a:rPr>
              <a:t>, 20(3): 327–344. </a:t>
            </a:r>
          </a:p>
          <a:p>
            <a:pPr marL="342900" indent="-342900">
              <a:buFontTx/>
              <a:buChar char="•"/>
            </a:pPr>
            <a:r>
              <a:rPr lang="en-US" sz="2200" dirty="0">
                <a:solidFill>
                  <a:schemeClr val="bg1"/>
                </a:solidFill>
                <a:ea typeface="Calibri" panose="020F0502020204030204" pitchFamily="34" charset="0"/>
              </a:rPr>
              <a:t>Buckley et al. (2023). Following their predecessors’ journey? A review of EMNE studies and avenues for interdisciplinary inquiry. </a:t>
            </a:r>
            <a:r>
              <a:rPr lang="en-US" sz="2200" i="1" dirty="0">
                <a:solidFill>
                  <a:schemeClr val="bg1"/>
                </a:solidFill>
                <a:ea typeface="Calibri" panose="020F0502020204030204" pitchFamily="34" charset="0"/>
              </a:rPr>
              <a:t>Journal of World Business</a:t>
            </a:r>
            <a:r>
              <a:rPr lang="en-US" sz="2200" dirty="0">
                <a:solidFill>
                  <a:schemeClr val="bg1"/>
                </a:solidFill>
                <a:ea typeface="Calibri" panose="020F0502020204030204" pitchFamily="34" charset="0"/>
              </a:rPr>
              <a:t>, 58: 1-18.</a:t>
            </a:r>
          </a:p>
          <a:p>
            <a:pPr marL="342900" indent="-342900">
              <a:buFontTx/>
              <a:buChar char="•"/>
            </a:pPr>
            <a:endParaRPr lang="en-US" altLang="en-US" sz="2200" b="1" dirty="0">
              <a:solidFill>
                <a:schemeClr val="bg1"/>
              </a:solidFill>
            </a:endParaRPr>
          </a:p>
          <a:p>
            <a:pPr marL="342900" indent="-342900">
              <a:buFontTx/>
              <a:buChar char="•"/>
            </a:pPr>
            <a:endParaRPr lang="en-US" altLang="en-US" sz="2200" b="1" dirty="0">
              <a:solidFill>
                <a:schemeClr val="bg1"/>
              </a:solidFill>
            </a:endParaRPr>
          </a:p>
        </p:txBody>
      </p:sp>
      <p:sp>
        <p:nvSpPr>
          <p:cNvPr id="3" name="Footer Placeholder 3">
            <a:extLst>
              <a:ext uri="{FF2B5EF4-FFF2-40B4-BE49-F238E27FC236}">
                <a16:creationId xmlns:a16="http://schemas.microsoft.com/office/drawing/2014/main" id="{638E8A46-113B-0B95-2DD1-B7EEE0D17998}"/>
              </a:ext>
            </a:extLst>
          </p:cNvPr>
          <p:cNvSpPr>
            <a:spLocks noGrp="1"/>
          </p:cNvSpPr>
          <p:nvPr>
            <p:ph type="ftr" sz="quarter" idx="11"/>
          </p:nvPr>
        </p:nvSpPr>
        <p:spPr>
          <a:xfrm>
            <a:off x="4853940" y="6356350"/>
            <a:ext cx="4114800" cy="365125"/>
          </a:xfrm>
        </p:spPr>
        <p:txBody>
          <a:bodyPr/>
          <a:lstStyle>
            <a:lvl1pPr>
              <a:defRPr sz="4400">
                <a:solidFill>
                  <a:schemeClr val="accent2"/>
                </a:solidFill>
                <a:latin typeface="Arial" panose="020B0604020202020204" pitchFamily="34" charset="0"/>
                <a:ea typeface="ＭＳ Ｐゴシック" panose="020B0600070205080204" pitchFamily="34" charset="-128"/>
              </a:defRPr>
            </a:lvl1pPr>
            <a:lvl2pPr marL="742950" indent="-285750">
              <a:defRPr sz="4400">
                <a:solidFill>
                  <a:schemeClr val="accent2"/>
                </a:solidFill>
                <a:latin typeface="Arial" panose="020B0604020202020204" pitchFamily="34" charset="0"/>
                <a:ea typeface="ＭＳ Ｐゴシック" panose="020B0600070205080204" pitchFamily="34" charset="-128"/>
              </a:defRPr>
            </a:lvl2pPr>
            <a:lvl3pPr marL="1143000" indent="-228600">
              <a:defRPr sz="4400">
                <a:solidFill>
                  <a:schemeClr val="accent2"/>
                </a:solidFill>
                <a:latin typeface="Arial" panose="020B0604020202020204" pitchFamily="34" charset="0"/>
                <a:ea typeface="ＭＳ Ｐゴシック" panose="020B0600070205080204" pitchFamily="34" charset="-128"/>
              </a:defRPr>
            </a:lvl3pPr>
            <a:lvl4pPr marL="1600200" indent="-228600">
              <a:defRPr sz="4400">
                <a:solidFill>
                  <a:schemeClr val="accent2"/>
                </a:solidFill>
                <a:latin typeface="Arial" panose="020B0604020202020204" pitchFamily="34" charset="0"/>
                <a:ea typeface="ＭＳ Ｐゴシック" panose="020B0600070205080204" pitchFamily="34" charset="-128"/>
              </a:defRPr>
            </a:lvl4pPr>
            <a:lvl5pPr marL="2057400" indent="-228600">
              <a:defRPr sz="4400">
                <a:solidFill>
                  <a:schemeClr val="accent2"/>
                </a:solidFill>
                <a:latin typeface="Arial" panose="020B0604020202020204" pitchFamily="34" charset="0"/>
                <a:ea typeface="ＭＳ Ｐゴシック" panose="020B0600070205080204" pitchFamily="34" charset="-128"/>
              </a:defRPr>
            </a:lvl5pPr>
            <a:lvl6pPr marL="25146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defRPr/>
            </a:pPr>
            <a:r>
              <a:rPr lang="en-US" altLang="en-US" sz="1200" dirty="0">
                <a:solidFill>
                  <a:schemeClr val="bg1"/>
                </a:solidFill>
              </a:rPr>
              <a:t>Newburry 2026 DBA International Business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D5BFF-428D-D88F-5394-45FF23BCF7DA}"/>
              </a:ext>
            </a:extLst>
          </p:cNvPr>
          <p:cNvSpPr>
            <a:spLocks noGrp="1"/>
          </p:cNvSpPr>
          <p:nvPr>
            <p:ph type="title"/>
          </p:nvPr>
        </p:nvSpPr>
        <p:spPr>
          <a:xfrm>
            <a:off x="2078182" y="387927"/>
            <a:ext cx="9871364" cy="1143000"/>
          </a:xfrm>
        </p:spPr>
        <p:txBody>
          <a:bodyPr>
            <a:normAutofit fontScale="90000"/>
          </a:bodyPr>
          <a:lstStyle/>
          <a:p>
            <a:br>
              <a:rPr lang="en-US" dirty="0"/>
            </a:br>
            <a:r>
              <a:rPr lang="en-US" dirty="0"/>
              <a:t>October 6/8 – Nonmarket Strategies in International Business</a:t>
            </a:r>
          </a:p>
        </p:txBody>
      </p:sp>
      <p:sp>
        <p:nvSpPr>
          <p:cNvPr id="3" name="Table Placeholder 2">
            <a:extLst>
              <a:ext uri="{FF2B5EF4-FFF2-40B4-BE49-F238E27FC236}">
                <a16:creationId xmlns:a16="http://schemas.microsoft.com/office/drawing/2014/main" id="{0C085BBB-2B9E-8246-88F7-36CDF6A7834E}"/>
              </a:ext>
            </a:extLst>
          </p:cNvPr>
          <p:cNvSpPr>
            <a:spLocks noGrp="1"/>
          </p:cNvSpPr>
          <p:nvPr>
            <p:ph type="tbl" idx="1"/>
          </p:nvPr>
        </p:nvSpPr>
        <p:spPr>
          <a:xfrm>
            <a:off x="1974273" y="1974273"/>
            <a:ext cx="9673935" cy="4495800"/>
          </a:xfrm>
        </p:spPr>
        <p:txBody>
          <a:bodyPr/>
          <a:lstStyle/>
          <a:p>
            <a:pPr marL="342900" indent="-342900">
              <a:spcBef>
                <a:spcPts val="0"/>
              </a:spcBef>
              <a:buFont typeface="Symbol" panose="05050102010706020507" pitchFamily="18" charset="2"/>
              <a:buChar char=""/>
            </a:pPr>
            <a:r>
              <a:rPr lang="en-US" sz="2400" dirty="0">
                <a:latin typeface="Arial" panose="020B0604020202020204" pitchFamily="34" charset="0"/>
                <a:ea typeface="Calibri" panose="020F0502020204030204" pitchFamily="34" charset="0"/>
              </a:rPr>
              <a:t>Sun et al. (2021). Navigating cross-border institutional complexity: A review and assessment of multinational nonmarket strategy research. </a:t>
            </a:r>
            <a:r>
              <a:rPr lang="en-US" sz="2400" i="1" dirty="0">
                <a:latin typeface="Arial" panose="020B0604020202020204" pitchFamily="34" charset="0"/>
                <a:ea typeface="Calibri" panose="020F0502020204030204" pitchFamily="34" charset="0"/>
              </a:rPr>
              <a:t>Journal of International Business Studies</a:t>
            </a:r>
            <a:r>
              <a:rPr lang="en-US" sz="2400" dirty="0">
                <a:latin typeface="Arial" panose="020B0604020202020204" pitchFamily="34" charset="0"/>
                <a:ea typeface="Calibri" panose="020F0502020204030204" pitchFamily="34" charset="0"/>
              </a:rPr>
              <a:t>, 52: 1818-1853.</a:t>
            </a:r>
            <a:endParaRPr lang="en-US" sz="2400" dirty="0">
              <a:latin typeface="Times New Roman" panose="02020603050405020304" pitchFamily="18" charset="0"/>
              <a:ea typeface="Calibri" panose="020F0502020204030204" pitchFamily="34" charset="0"/>
            </a:endParaRPr>
          </a:p>
          <a:p>
            <a:pPr marL="342900" indent="-342900">
              <a:spcBef>
                <a:spcPts val="0"/>
              </a:spcBef>
              <a:buFont typeface="Symbol" panose="05050102010706020507" pitchFamily="18" charset="2"/>
              <a:buChar char=""/>
            </a:pPr>
            <a:r>
              <a:rPr lang="en-US" sz="2400" dirty="0" err="1">
                <a:latin typeface="Arial" panose="020B0604020202020204" pitchFamily="34" charset="0"/>
                <a:ea typeface="Calibri" panose="020F0502020204030204" pitchFamily="34" charset="0"/>
              </a:rPr>
              <a:t>Caprar</a:t>
            </a:r>
            <a:r>
              <a:rPr lang="en-US" sz="2400" dirty="0">
                <a:latin typeface="Arial" panose="020B0604020202020204" pitchFamily="34" charset="0"/>
                <a:ea typeface="Calibri" panose="020F0502020204030204" pitchFamily="34" charset="0"/>
              </a:rPr>
              <a:t> et al. (2022). Beyond “Doing as the Romans Do”: A review of research on countercultural business practices. </a:t>
            </a:r>
            <a:r>
              <a:rPr lang="en-US" sz="2400" i="1" dirty="0">
                <a:latin typeface="Arial" panose="020B0604020202020204" pitchFamily="34" charset="0"/>
                <a:ea typeface="Calibri" panose="020F0502020204030204" pitchFamily="34" charset="0"/>
              </a:rPr>
              <a:t>Journal of International Business Studies</a:t>
            </a:r>
            <a:r>
              <a:rPr lang="en-US" sz="2400" dirty="0">
                <a:latin typeface="Arial" panose="020B0604020202020204" pitchFamily="34" charset="0"/>
                <a:ea typeface="Calibri" panose="020F0502020204030204" pitchFamily="34" charset="0"/>
              </a:rPr>
              <a:t>, 53: 1449-1483.</a:t>
            </a:r>
            <a:endParaRPr lang="en-US" sz="2400" dirty="0">
              <a:latin typeface="Times New Roman" panose="02020603050405020304" pitchFamily="18" charset="0"/>
              <a:ea typeface="Calibri" panose="020F0502020204030204" pitchFamily="34" charset="0"/>
            </a:endParaRPr>
          </a:p>
          <a:p>
            <a:pPr marL="342900" indent="-342900">
              <a:spcBef>
                <a:spcPts val="0"/>
              </a:spcBef>
              <a:buFont typeface="Symbol" panose="05050102010706020507" pitchFamily="18" charset="2"/>
              <a:buChar char=""/>
            </a:pPr>
            <a:r>
              <a:rPr lang="en-US" sz="2400" dirty="0">
                <a:latin typeface="Arial" panose="020B0604020202020204" pitchFamily="34" charset="0"/>
                <a:ea typeface="Calibri" panose="020F0502020204030204" pitchFamily="34" charset="0"/>
              </a:rPr>
              <a:t>Bruijn, K. (2024). MNE-civil society interactions: A systematic review and research agenda. </a:t>
            </a:r>
            <a:r>
              <a:rPr lang="en-US" sz="2400" i="1" dirty="0">
                <a:latin typeface="Arial" panose="020B0604020202020204" pitchFamily="34" charset="0"/>
                <a:ea typeface="Calibri" panose="020F0502020204030204" pitchFamily="34" charset="0"/>
              </a:rPr>
              <a:t>Journal of International Business Studies</a:t>
            </a:r>
            <a:r>
              <a:rPr lang="en-US" sz="2400" dirty="0">
                <a:latin typeface="Arial" panose="020B0604020202020204" pitchFamily="34" charset="0"/>
                <a:ea typeface="Calibri" panose="020F0502020204030204" pitchFamily="34" charset="0"/>
              </a:rPr>
              <a:t>, 55: 136-156.</a:t>
            </a:r>
          </a:p>
          <a:p>
            <a:pPr marL="342900" indent="-342900">
              <a:spcBef>
                <a:spcPts val="0"/>
              </a:spcBef>
              <a:buFont typeface="Symbol" panose="05050102010706020507" pitchFamily="18" charset="2"/>
              <a:buChar char=""/>
            </a:pPr>
            <a:r>
              <a:rPr lang="en-US" sz="2400" dirty="0">
                <a:latin typeface="Arial" panose="020B0604020202020204" pitchFamily="34" charset="0"/>
                <a:ea typeface="Calibri" panose="020F0502020204030204" pitchFamily="34" charset="0"/>
              </a:rPr>
              <a:t>Thams et al. (2025). Political ideology and the multinational enterprise: Broadening the epistemological lens. Journal of World Business, 60: 1-11. </a:t>
            </a:r>
          </a:p>
          <a:p>
            <a:endParaRPr lang="en-US" sz="4000" dirty="0"/>
          </a:p>
        </p:txBody>
      </p:sp>
      <p:sp>
        <p:nvSpPr>
          <p:cNvPr id="4" name="Footer Placeholder 3">
            <a:extLst>
              <a:ext uri="{FF2B5EF4-FFF2-40B4-BE49-F238E27FC236}">
                <a16:creationId xmlns:a16="http://schemas.microsoft.com/office/drawing/2014/main" id="{19B28E61-F6A7-0F62-CEEF-AEF324430B61}"/>
              </a:ext>
            </a:extLst>
          </p:cNvPr>
          <p:cNvSpPr>
            <a:spLocks noGrp="1"/>
          </p:cNvSpPr>
          <p:nvPr>
            <p:ph type="ftr" sz="quarter" idx="11"/>
          </p:nvPr>
        </p:nvSpPr>
        <p:spPr>
          <a:xfrm>
            <a:off x="4853940" y="6356350"/>
            <a:ext cx="4114800" cy="365125"/>
          </a:xfrm>
        </p:spPr>
        <p:txBody>
          <a:bodyPr/>
          <a:lstStyle>
            <a:lvl1pPr>
              <a:defRPr sz="4400">
                <a:solidFill>
                  <a:schemeClr val="accent2"/>
                </a:solidFill>
                <a:latin typeface="Arial" panose="020B0604020202020204" pitchFamily="34" charset="0"/>
                <a:ea typeface="ＭＳ Ｐゴシック" panose="020B0600070205080204" pitchFamily="34" charset="-128"/>
              </a:defRPr>
            </a:lvl1pPr>
            <a:lvl2pPr marL="742950" indent="-285750">
              <a:defRPr sz="4400">
                <a:solidFill>
                  <a:schemeClr val="accent2"/>
                </a:solidFill>
                <a:latin typeface="Arial" panose="020B0604020202020204" pitchFamily="34" charset="0"/>
                <a:ea typeface="ＭＳ Ｐゴシック" panose="020B0600070205080204" pitchFamily="34" charset="-128"/>
              </a:defRPr>
            </a:lvl2pPr>
            <a:lvl3pPr marL="1143000" indent="-228600">
              <a:defRPr sz="4400">
                <a:solidFill>
                  <a:schemeClr val="accent2"/>
                </a:solidFill>
                <a:latin typeface="Arial" panose="020B0604020202020204" pitchFamily="34" charset="0"/>
                <a:ea typeface="ＭＳ Ｐゴシック" panose="020B0600070205080204" pitchFamily="34" charset="-128"/>
              </a:defRPr>
            </a:lvl3pPr>
            <a:lvl4pPr marL="1600200" indent="-228600">
              <a:defRPr sz="4400">
                <a:solidFill>
                  <a:schemeClr val="accent2"/>
                </a:solidFill>
                <a:latin typeface="Arial" panose="020B0604020202020204" pitchFamily="34" charset="0"/>
                <a:ea typeface="ＭＳ Ｐゴシック" panose="020B0600070205080204" pitchFamily="34" charset="-128"/>
              </a:defRPr>
            </a:lvl4pPr>
            <a:lvl5pPr marL="2057400" indent="-228600">
              <a:defRPr sz="4400">
                <a:solidFill>
                  <a:schemeClr val="accent2"/>
                </a:solidFill>
                <a:latin typeface="Arial" panose="020B0604020202020204" pitchFamily="34" charset="0"/>
                <a:ea typeface="ＭＳ Ｐゴシック" panose="020B0600070205080204" pitchFamily="34" charset="-128"/>
              </a:defRPr>
            </a:lvl5pPr>
            <a:lvl6pPr marL="25146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defRPr/>
            </a:pPr>
            <a:r>
              <a:rPr lang="en-US" altLang="en-US" sz="1200" dirty="0">
                <a:solidFill>
                  <a:schemeClr val="bg1"/>
                </a:solidFill>
              </a:rPr>
              <a:t>Newburry 2026 DBA International Business</a:t>
            </a:r>
          </a:p>
        </p:txBody>
      </p:sp>
    </p:spTree>
    <p:extLst>
      <p:ext uri="{BB962C8B-B14F-4D97-AF65-F5344CB8AC3E}">
        <p14:creationId xmlns:p14="http://schemas.microsoft.com/office/powerpoint/2010/main" val="34272945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a:xfrm>
            <a:off x="2438400" y="304800"/>
            <a:ext cx="7543800" cy="838200"/>
          </a:xfrm>
        </p:spPr>
        <p:txBody>
          <a:bodyPr/>
          <a:lstStyle/>
          <a:p>
            <a:pPr eaLnBrk="1" hangingPunct="1">
              <a:defRPr/>
            </a:pPr>
            <a:r>
              <a:rPr lang="en-US" sz="4000" b="1" dirty="0"/>
              <a:t>Course Focus and Evaluation</a:t>
            </a:r>
            <a:endParaRPr lang="en-US" dirty="0">
              <a:ea typeface="+mj-ea"/>
            </a:endParaRPr>
          </a:p>
        </p:txBody>
      </p:sp>
      <p:sp>
        <p:nvSpPr>
          <p:cNvPr id="24579" name="Rectangle 3"/>
          <p:cNvSpPr>
            <a:spLocks noGrp="1" noChangeArrowheads="1"/>
          </p:cNvSpPr>
          <p:nvPr>
            <p:ph type="body" idx="1"/>
          </p:nvPr>
        </p:nvSpPr>
        <p:spPr>
          <a:xfrm>
            <a:off x="1986844" y="1676400"/>
            <a:ext cx="9956800" cy="4114800"/>
          </a:xfrm>
        </p:spPr>
        <p:txBody>
          <a:bodyPr>
            <a:normAutofit/>
          </a:bodyPr>
          <a:lstStyle/>
          <a:p>
            <a:pPr eaLnBrk="1" hangingPunct="1">
              <a:lnSpc>
                <a:spcPct val="90000"/>
              </a:lnSpc>
            </a:pPr>
            <a:r>
              <a:rPr lang="en-US" altLang="en-US" sz="3200" b="1" dirty="0"/>
              <a:t>Class Participation – 20%</a:t>
            </a:r>
          </a:p>
          <a:p>
            <a:pPr eaLnBrk="1" hangingPunct="1">
              <a:lnSpc>
                <a:spcPct val="90000"/>
              </a:lnSpc>
            </a:pPr>
            <a:r>
              <a:rPr lang="en-US" altLang="en-US" sz="3200" b="1" dirty="0"/>
              <a:t>Module-based Topic Area Summary and Presentation – 20%</a:t>
            </a:r>
          </a:p>
          <a:p>
            <a:pPr eaLnBrk="1" hangingPunct="1">
              <a:lnSpc>
                <a:spcPct val="90000"/>
              </a:lnSpc>
            </a:pPr>
            <a:r>
              <a:rPr lang="en-US" altLang="en-US" sz="3200" b="1" dirty="0"/>
              <a:t>Project:</a:t>
            </a:r>
          </a:p>
          <a:p>
            <a:pPr lvl="1" eaLnBrk="1" hangingPunct="1">
              <a:lnSpc>
                <a:spcPct val="90000"/>
              </a:lnSpc>
            </a:pPr>
            <a:r>
              <a:rPr lang="en-US" altLang="en-US" sz="2800" b="1" dirty="0"/>
              <a:t>Initial Project Idea (August 25/27) – 5%</a:t>
            </a:r>
          </a:p>
          <a:p>
            <a:pPr lvl="1" eaLnBrk="1" hangingPunct="1">
              <a:lnSpc>
                <a:spcPct val="90000"/>
              </a:lnSpc>
            </a:pPr>
            <a:r>
              <a:rPr lang="en-US" altLang="en-US" sz="2800" b="1" dirty="0"/>
              <a:t>Project Presentation (September 18/19) – 20%</a:t>
            </a:r>
          </a:p>
          <a:p>
            <a:pPr lvl="1" eaLnBrk="1" hangingPunct="1">
              <a:lnSpc>
                <a:spcPct val="90000"/>
              </a:lnSpc>
            </a:pPr>
            <a:r>
              <a:rPr lang="en-US" altLang="en-US" sz="2800" b="1" dirty="0"/>
              <a:t>Formal Project Report (October 7/9) – 30%</a:t>
            </a:r>
          </a:p>
          <a:p>
            <a:pPr eaLnBrk="1" hangingPunct="1">
              <a:lnSpc>
                <a:spcPct val="90000"/>
              </a:lnSpc>
            </a:pPr>
            <a:r>
              <a:rPr lang="en-US" altLang="en-US" sz="3200" b="1" dirty="0"/>
              <a:t>Peer Evaluation of Group </a:t>
            </a:r>
            <a:r>
              <a:rPr lang="en-US" altLang="en-US" sz="2800" b="1" dirty="0"/>
              <a:t>(October 7/9) </a:t>
            </a:r>
            <a:r>
              <a:rPr lang="en-US" altLang="en-US" sz="3200" b="1" dirty="0"/>
              <a:t>– 5%. </a:t>
            </a:r>
          </a:p>
        </p:txBody>
      </p:sp>
      <p:sp>
        <p:nvSpPr>
          <p:cNvPr id="2" name="Footer Placeholder 1"/>
          <p:cNvSpPr>
            <a:spLocks noGrp="1"/>
          </p:cNvSpPr>
          <p:nvPr>
            <p:ph type="ftr" sz="quarter" idx="11"/>
          </p:nvPr>
        </p:nvSpPr>
        <p:spPr/>
        <p:txBody>
          <a:bodyPr/>
          <a:lstStyle>
            <a:lvl1pPr>
              <a:defRPr sz="4400">
                <a:solidFill>
                  <a:schemeClr val="accent2"/>
                </a:solidFill>
                <a:latin typeface="Arial" panose="020B0604020202020204" pitchFamily="34" charset="0"/>
                <a:ea typeface="ＭＳ Ｐゴシック" panose="020B0600070205080204" pitchFamily="34" charset="-128"/>
              </a:defRPr>
            </a:lvl1pPr>
            <a:lvl2pPr marL="742950" indent="-285750">
              <a:defRPr sz="4400">
                <a:solidFill>
                  <a:schemeClr val="accent2"/>
                </a:solidFill>
                <a:latin typeface="Arial" panose="020B0604020202020204" pitchFamily="34" charset="0"/>
                <a:ea typeface="ＭＳ Ｐゴシック" panose="020B0600070205080204" pitchFamily="34" charset="-128"/>
              </a:defRPr>
            </a:lvl2pPr>
            <a:lvl3pPr marL="1143000" indent="-228600">
              <a:defRPr sz="4400">
                <a:solidFill>
                  <a:schemeClr val="accent2"/>
                </a:solidFill>
                <a:latin typeface="Arial" panose="020B0604020202020204" pitchFamily="34" charset="0"/>
                <a:ea typeface="ＭＳ Ｐゴシック" panose="020B0600070205080204" pitchFamily="34" charset="-128"/>
              </a:defRPr>
            </a:lvl3pPr>
            <a:lvl4pPr marL="1600200" indent="-228600">
              <a:defRPr sz="4400">
                <a:solidFill>
                  <a:schemeClr val="accent2"/>
                </a:solidFill>
                <a:latin typeface="Arial" panose="020B0604020202020204" pitchFamily="34" charset="0"/>
                <a:ea typeface="ＭＳ Ｐゴシック" panose="020B0600070205080204" pitchFamily="34" charset="-128"/>
              </a:defRPr>
            </a:lvl4pPr>
            <a:lvl5pPr marL="2057400" indent="-228600">
              <a:defRPr sz="4400">
                <a:solidFill>
                  <a:schemeClr val="accent2"/>
                </a:solidFill>
                <a:latin typeface="Arial" panose="020B0604020202020204" pitchFamily="34" charset="0"/>
                <a:ea typeface="ＭＳ Ｐゴシック" panose="020B0600070205080204" pitchFamily="34" charset="-128"/>
              </a:defRPr>
            </a:lvl5pPr>
            <a:lvl6pPr marL="25146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defRPr/>
            </a:pPr>
            <a:r>
              <a:rPr lang="en-US" altLang="en-US" sz="1200" dirty="0">
                <a:solidFill>
                  <a:schemeClr val="bg1"/>
                </a:solidFill>
              </a:rPr>
              <a:t>Newburry 2026 DBA International Business</a:t>
            </a:r>
          </a:p>
        </p:txBody>
      </p:sp>
    </p:spTree>
    <p:extLst>
      <p:ext uri="{BB962C8B-B14F-4D97-AF65-F5344CB8AC3E}">
        <p14:creationId xmlns:p14="http://schemas.microsoft.com/office/powerpoint/2010/main" val="4085348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7110" y="283546"/>
            <a:ext cx="8003690" cy="838200"/>
          </a:xfrm>
        </p:spPr>
        <p:txBody>
          <a:bodyPr/>
          <a:lstStyle/>
          <a:p>
            <a:pPr>
              <a:defRPr/>
            </a:pPr>
            <a:r>
              <a:rPr lang="en-US" sz="4000" b="1" dirty="0">
                <a:ea typeface="MS PGothic" panose="020B0600070205080204" pitchFamily="34" charset="-128"/>
              </a:rPr>
              <a:t>Class Participation</a:t>
            </a:r>
          </a:p>
        </p:txBody>
      </p:sp>
      <p:sp>
        <p:nvSpPr>
          <p:cNvPr id="26627" name="Content Placeholder 2"/>
          <p:cNvSpPr>
            <a:spLocks noGrp="1"/>
          </p:cNvSpPr>
          <p:nvPr>
            <p:ph idx="1"/>
          </p:nvPr>
        </p:nvSpPr>
        <p:spPr>
          <a:xfrm>
            <a:off x="2060354" y="1356726"/>
            <a:ext cx="9713957" cy="4874742"/>
          </a:xfrm>
        </p:spPr>
        <p:txBody>
          <a:bodyPr>
            <a:normAutofit lnSpcReduction="10000"/>
          </a:bodyPr>
          <a:lstStyle/>
          <a:p>
            <a:r>
              <a:rPr lang="en-US" altLang="en-US" sz="2800" b="1" dirty="0"/>
              <a:t>Quality Important</a:t>
            </a:r>
          </a:p>
          <a:p>
            <a:pPr lvl="1"/>
            <a:r>
              <a:rPr lang="en-US" altLang="en-US" sz="2400" dirty="0"/>
              <a:t>Attendance is not enough</a:t>
            </a:r>
          </a:p>
          <a:p>
            <a:pPr lvl="1"/>
            <a:r>
              <a:rPr lang="en-US" altLang="en-US" sz="2400" dirty="0"/>
              <a:t>Stronger discussion points are thoughtful, reference course/text constructs, directly address the focal issue, etc.</a:t>
            </a:r>
          </a:p>
          <a:p>
            <a:pPr lvl="1"/>
            <a:r>
              <a:rPr lang="en-US" altLang="en-US" sz="2400" dirty="0"/>
              <a:t>See evaluation rubric</a:t>
            </a:r>
          </a:p>
          <a:p>
            <a:r>
              <a:rPr lang="en-US" altLang="en-US" sz="2800" b="1" dirty="0"/>
              <a:t>Online Zoom Meetings</a:t>
            </a:r>
          </a:p>
          <a:p>
            <a:pPr lvl="1"/>
            <a:r>
              <a:rPr lang="en-US" altLang="en-US" sz="2400" dirty="0"/>
              <a:t>7:00 PM to 9:30 PM on the assigned date in course schedule, unless otherwise notified</a:t>
            </a:r>
          </a:p>
          <a:p>
            <a:r>
              <a:rPr lang="en-US" altLang="en-US" sz="2800" b="1" dirty="0">
                <a:solidFill>
                  <a:srgbClr val="FFFF00"/>
                </a:solidFill>
              </a:rPr>
              <a:t>If you know you will be missing, are shy, or just want to assure a higher participation grade, you can summarize articles and submit them (preferably </a:t>
            </a:r>
            <a:r>
              <a:rPr lang="en-US" altLang="en-US" sz="2800" b="1" u="sng" dirty="0">
                <a:solidFill>
                  <a:srgbClr val="FFFF00"/>
                </a:solidFill>
              </a:rPr>
              <a:t>in advance</a:t>
            </a:r>
            <a:r>
              <a:rPr lang="en-US" altLang="en-US" sz="2800" b="1" dirty="0">
                <a:solidFill>
                  <a:srgbClr val="FFFF00"/>
                </a:solidFill>
              </a:rPr>
              <a:t>) to gain some credit.</a:t>
            </a:r>
            <a:r>
              <a:rPr lang="en-US" altLang="en-US" sz="2800" b="1" dirty="0"/>
              <a:t> </a:t>
            </a:r>
          </a:p>
          <a:p>
            <a:pPr lvl="1"/>
            <a:endParaRPr lang="en-US" altLang="en-US" sz="2400" dirty="0"/>
          </a:p>
        </p:txBody>
      </p:sp>
      <p:sp>
        <p:nvSpPr>
          <p:cNvPr id="4" name="Footer Placeholder 3"/>
          <p:cNvSpPr>
            <a:spLocks noGrp="1"/>
          </p:cNvSpPr>
          <p:nvPr>
            <p:ph type="ftr" sz="quarter" idx="11"/>
          </p:nvPr>
        </p:nvSpPr>
        <p:spPr/>
        <p:txBody>
          <a:bodyPr/>
          <a:lstStyle>
            <a:lvl1pPr>
              <a:defRPr sz="4400">
                <a:solidFill>
                  <a:schemeClr val="accent2"/>
                </a:solidFill>
                <a:latin typeface="Arial" panose="020B0604020202020204" pitchFamily="34" charset="0"/>
                <a:ea typeface="ＭＳ Ｐゴシック" panose="020B0600070205080204" pitchFamily="34" charset="-128"/>
              </a:defRPr>
            </a:lvl1pPr>
            <a:lvl2pPr marL="742950" indent="-285750">
              <a:defRPr sz="4400">
                <a:solidFill>
                  <a:schemeClr val="accent2"/>
                </a:solidFill>
                <a:latin typeface="Arial" panose="020B0604020202020204" pitchFamily="34" charset="0"/>
                <a:ea typeface="ＭＳ Ｐゴシック" panose="020B0600070205080204" pitchFamily="34" charset="-128"/>
              </a:defRPr>
            </a:lvl2pPr>
            <a:lvl3pPr marL="1143000" indent="-228600">
              <a:defRPr sz="4400">
                <a:solidFill>
                  <a:schemeClr val="accent2"/>
                </a:solidFill>
                <a:latin typeface="Arial" panose="020B0604020202020204" pitchFamily="34" charset="0"/>
                <a:ea typeface="ＭＳ Ｐゴシック" panose="020B0600070205080204" pitchFamily="34" charset="-128"/>
              </a:defRPr>
            </a:lvl3pPr>
            <a:lvl4pPr marL="1600200" indent="-228600">
              <a:defRPr sz="4400">
                <a:solidFill>
                  <a:schemeClr val="accent2"/>
                </a:solidFill>
                <a:latin typeface="Arial" panose="020B0604020202020204" pitchFamily="34" charset="0"/>
                <a:ea typeface="ＭＳ Ｐゴシック" panose="020B0600070205080204" pitchFamily="34" charset="-128"/>
              </a:defRPr>
            </a:lvl4pPr>
            <a:lvl5pPr marL="2057400" indent="-228600">
              <a:defRPr sz="4400">
                <a:solidFill>
                  <a:schemeClr val="accent2"/>
                </a:solidFill>
                <a:latin typeface="Arial" panose="020B0604020202020204" pitchFamily="34" charset="0"/>
                <a:ea typeface="ＭＳ Ｐゴシック" panose="020B0600070205080204" pitchFamily="34" charset="-128"/>
              </a:defRPr>
            </a:lvl5pPr>
            <a:lvl6pPr marL="25146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defRPr/>
            </a:pPr>
            <a:r>
              <a:rPr lang="en-US" altLang="en-US" sz="1200" dirty="0">
                <a:solidFill>
                  <a:schemeClr val="bg1"/>
                </a:solidFill>
              </a:rPr>
              <a:t>Newburry 2026 DBA International Business</a:t>
            </a:r>
          </a:p>
        </p:txBody>
      </p:sp>
    </p:spTree>
    <p:extLst>
      <p:ext uri="{BB962C8B-B14F-4D97-AF65-F5344CB8AC3E}">
        <p14:creationId xmlns:p14="http://schemas.microsoft.com/office/powerpoint/2010/main" val="2995274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0" y="136525"/>
            <a:ext cx="8769699" cy="1325563"/>
          </a:xfrm>
        </p:spPr>
        <p:txBody>
          <a:bodyPr/>
          <a:lstStyle/>
          <a:p>
            <a:pPr algn="ctr">
              <a:defRPr/>
            </a:pPr>
            <a:r>
              <a:rPr lang="en-US" dirty="0"/>
              <a:t>Class Participation Rubric</a:t>
            </a:r>
          </a:p>
        </p:txBody>
      </p:sp>
      <p:sp>
        <p:nvSpPr>
          <p:cNvPr id="4" name="Footer Placeholder 3"/>
          <p:cNvSpPr>
            <a:spLocks noGrp="1"/>
          </p:cNvSpPr>
          <p:nvPr>
            <p:ph type="ftr" sz="quarter" idx="11"/>
          </p:nvPr>
        </p:nvSpPr>
        <p:spPr/>
        <p:txBody>
          <a:bodyPr/>
          <a:lstStyle/>
          <a:p>
            <a:pPr>
              <a:defRPr/>
            </a:pPr>
            <a:r>
              <a:rPr lang="en-US" altLang="en-US" dirty="0">
                <a:solidFill>
                  <a:schemeClr val="bg1"/>
                </a:solidFill>
              </a:rPr>
              <a:t>Newburry 2026 DBA International Business</a:t>
            </a:r>
          </a:p>
        </p:txBody>
      </p:sp>
      <p:pic>
        <p:nvPicPr>
          <p:cNvPr id="27652" name="Picture 4" descr="Class Participation Rubric"/>
          <p:cNvPicPr>
            <a:picLocks noChangeAspect="1"/>
          </p:cNvPicPr>
          <p:nvPr/>
        </p:nvPicPr>
        <p:blipFill>
          <a:blip r:embed="rId2" cstate="print"/>
          <a:srcRect/>
          <a:stretch>
            <a:fillRect/>
          </a:stretch>
        </p:blipFill>
        <p:spPr bwMode="auto">
          <a:xfrm>
            <a:off x="3406140" y="1325546"/>
            <a:ext cx="7010400" cy="4638675"/>
          </a:xfrm>
          <a:prstGeom prst="rect">
            <a:avLst/>
          </a:prstGeom>
          <a:noFill/>
          <a:ln w="9525">
            <a:noFill/>
            <a:miter lim="800000"/>
            <a:headEnd/>
            <a:tailEnd/>
          </a:ln>
        </p:spPr>
      </p:pic>
    </p:spTree>
    <p:extLst>
      <p:ext uri="{BB962C8B-B14F-4D97-AF65-F5344CB8AC3E}">
        <p14:creationId xmlns:p14="http://schemas.microsoft.com/office/powerpoint/2010/main" val="3446309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idx="4294967295"/>
          </p:nvPr>
        </p:nvSpPr>
        <p:spPr bwMode="auto">
          <a:xfrm>
            <a:off x="1905000" y="381001"/>
            <a:ext cx="8382000" cy="944563"/>
          </a:xfrm>
          <a:prstGeom prst="rect">
            <a:avLst/>
          </a:prstGeom>
          <a:solidFill>
            <a:schemeClr val="accent1"/>
          </a:solidFill>
          <a:ln w="9525">
            <a:noFill/>
            <a:prstDash/>
            <a:miter lim="800000"/>
            <a:headEnd/>
            <a:tailE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600" b="0" i="0" u="none" strike="noStrike" kern="1200" cap="none" spc="0" normalizeH="0" baseline="0" noProof="0" dirty="0">
                <a:ln>
                  <a:noFill/>
                </a:ln>
                <a:solidFill>
                  <a:schemeClr val="bg1"/>
                </a:solidFill>
                <a:effectLst/>
                <a:uLnTx/>
                <a:uFillTx/>
                <a:latin typeface="Times New Roman" pitchFamily="18" charset="0"/>
                <a:ea typeface="+mn-ea"/>
                <a:cs typeface="+mn-cs"/>
              </a:rPr>
              <a:t>Missed Class or Extra Participation Credit</a:t>
            </a:r>
          </a:p>
        </p:txBody>
      </p:sp>
      <p:sp>
        <p:nvSpPr>
          <p:cNvPr id="44037" name="Rectangle 3"/>
          <p:cNvSpPr>
            <a:spLocks noChangeArrowheads="1"/>
          </p:cNvSpPr>
          <p:nvPr/>
        </p:nvSpPr>
        <p:spPr bwMode="auto">
          <a:xfrm>
            <a:off x="1905000" y="1325564"/>
            <a:ext cx="9915939" cy="4533900"/>
          </a:xfrm>
          <a:prstGeom prst="rect">
            <a:avLst/>
          </a:prstGeom>
          <a:noFill/>
          <a:ln>
            <a:noFill/>
          </a:ln>
          <a:extLst>
            <a:ext uri="{909E8E84-426E-40dd-AFC4-6F175D3DCCD1}"/>
            <a:ext uri="{91240B29-F687-4f45-9708-019B960494DF}"/>
          </a:extLst>
        </p:spPr>
        <p:txBody>
          <a:bodyPr>
            <a:scene3d>
              <a:camera prst="orthographicFront"/>
              <a:lightRig rig="soft" dir="t">
                <a:rot lat="0" lon="0" rev="10800000"/>
              </a:lightRig>
            </a:scene3d>
            <a:sp3d>
              <a:bevelT w="27940" h="12700"/>
              <a:contourClr>
                <a:srgbClr val="DDDDDD"/>
              </a:contourClr>
            </a:sp3d>
          </a:bodyPr>
          <a:lstStyle/>
          <a:p>
            <a:pPr marL="342900" indent="-342900">
              <a:spcBef>
                <a:spcPct val="20000"/>
              </a:spcBef>
              <a:buFontTx/>
              <a:buChar char="•"/>
              <a:defRPr/>
            </a:pPr>
            <a:r>
              <a:rPr lang="en-US" sz="2400" b="1" spc="150" dirty="0">
                <a:ln w="11430"/>
                <a:solidFill>
                  <a:srgbClr val="F8F8F8"/>
                </a:solidFill>
                <a:ea typeface="ＭＳ Ｐゴシック" charset="0"/>
              </a:rPr>
              <a:t>If you need to miss a class, you can </a:t>
            </a:r>
            <a:r>
              <a:rPr lang="en-US" sz="2400" b="1" i="1" u="sng" spc="150" dirty="0">
                <a:ln w="11430"/>
                <a:solidFill>
                  <a:srgbClr val="FFFF00"/>
                </a:solidFill>
                <a:ea typeface="ＭＳ Ｐゴシック" charset="0"/>
              </a:rPr>
              <a:t>partially</a:t>
            </a:r>
            <a:r>
              <a:rPr lang="en-US" sz="2400" b="1" spc="150" dirty="0">
                <a:ln w="11430"/>
                <a:solidFill>
                  <a:srgbClr val="FFFF00"/>
                </a:solidFill>
                <a:ea typeface="ＭＳ Ｐゴシック" charset="0"/>
              </a:rPr>
              <a:t> </a:t>
            </a:r>
            <a:r>
              <a:rPr lang="en-US" sz="2400" b="1" spc="150" dirty="0">
                <a:ln w="11430"/>
                <a:solidFill>
                  <a:srgbClr val="F8F8F8"/>
                </a:solidFill>
                <a:ea typeface="ＭＳ Ｐゴシック" charset="0"/>
              </a:rPr>
              <a:t>make up attendance by writing up summaries of the articles we discussed that day.</a:t>
            </a:r>
          </a:p>
          <a:p>
            <a:pPr marL="342900" indent="-342900">
              <a:spcBef>
                <a:spcPct val="20000"/>
              </a:spcBef>
              <a:buFontTx/>
              <a:buChar char="•"/>
              <a:defRPr/>
            </a:pPr>
            <a:r>
              <a:rPr lang="en-US" sz="2400" b="1" spc="150" dirty="0">
                <a:ln w="11430"/>
                <a:solidFill>
                  <a:srgbClr val="F8F8F8"/>
                </a:solidFill>
                <a:ea typeface="ＭＳ Ｐゴシック" charset="0"/>
              </a:rPr>
              <a:t>Please try to keep these write-ups to no more than 2 pages (single spaced) each.</a:t>
            </a:r>
          </a:p>
          <a:p>
            <a:pPr marL="342900" indent="-342900">
              <a:spcBef>
                <a:spcPct val="20000"/>
              </a:spcBef>
              <a:buFontTx/>
              <a:buChar char="•"/>
              <a:defRPr/>
            </a:pPr>
            <a:r>
              <a:rPr lang="en-US" sz="2400" b="1" spc="150" dirty="0">
                <a:ln w="11430"/>
                <a:solidFill>
                  <a:srgbClr val="F8F8F8"/>
                </a:solidFill>
                <a:ea typeface="ＭＳ Ｐゴシック" charset="0"/>
              </a:rPr>
              <a:t>Focus the write-ups on the same content as the individual article summaries</a:t>
            </a:r>
          </a:p>
          <a:p>
            <a:pPr marL="342900" indent="-342900">
              <a:spcBef>
                <a:spcPct val="20000"/>
              </a:spcBef>
              <a:buFontTx/>
              <a:buChar char="•"/>
              <a:defRPr/>
            </a:pPr>
            <a:r>
              <a:rPr lang="en-US" sz="2400" b="1" spc="150" dirty="0">
                <a:ln w="11430"/>
                <a:solidFill>
                  <a:srgbClr val="F8F8F8"/>
                </a:solidFill>
                <a:ea typeface="ＭＳ Ｐゴシック" charset="0"/>
              </a:rPr>
              <a:t>Write-ups are due </a:t>
            </a:r>
            <a:r>
              <a:rPr lang="en-US" sz="2400" b="1" i="1" u="sng" spc="150" dirty="0">
                <a:ln w="11430"/>
                <a:solidFill>
                  <a:srgbClr val="FFFF00"/>
                </a:solidFill>
                <a:ea typeface="ＭＳ Ｐゴシック" charset="0"/>
              </a:rPr>
              <a:t>no later than</a:t>
            </a:r>
            <a:r>
              <a:rPr lang="en-US" sz="2400" b="1" spc="150" dirty="0">
                <a:ln w="11430"/>
                <a:solidFill>
                  <a:srgbClr val="F8F8F8"/>
                </a:solidFill>
                <a:ea typeface="ＭＳ Ｐゴシック" charset="0"/>
              </a:rPr>
              <a:t> the class period following the missed class. Please send via e-mail to: </a:t>
            </a:r>
            <a:r>
              <a:rPr lang="en-US" sz="2400" b="1" spc="150" dirty="0">
                <a:ln w="11430"/>
                <a:solidFill>
                  <a:srgbClr val="F8F8F8"/>
                </a:solidFill>
                <a:ea typeface="ＭＳ Ｐゴシック" charset="0"/>
                <a:hlinkClick r:id="rId2"/>
              </a:rPr>
              <a:t>newburry@fiu.edu</a:t>
            </a:r>
            <a:r>
              <a:rPr lang="en-US" sz="2400" b="1" spc="150" dirty="0">
                <a:ln w="11430"/>
                <a:solidFill>
                  <a:srgbClr val="F8F8F8"/>
                </a:solidFill>
                <a:ea typeface="ＭＳ Ｐゴシック" charset="0"/>
              </a:rPr>
              <a:t>.</a:t>
            </a:r>
          </a:p>
          <a:p>
            <a:pPr marL="342900" indent="-342900">
              <a:spcBef>
                <a:spcPct val="20000"/>
              </a:spcBef>
              <a:buFontTx/>
              <a:buChar char="•"/>
              <a:defRPr/>
            </a:pPr>
            <a:r>
              <a:rPr lang="en-US" sz="2400" b="1" spc="150" dirty="0">
                <a:ln w="11430"/>
                <a:solidFill>
                  <a:srgbClr val="F8F8F8"/>
                </a:solidFill>
                <a:ea typeface="ＭＳ Ｐゴシック" charset="0"/>
              </a:rPr>
              <a:t>Missing more than one or two classes in the course will have a highly detrimental effect on your grade.</a:t>
            </a:r>
          </a:p>
        </p:txBody>
      </p:sp>
      <p:sp>
        <p:nvSpPr>
          <p:cNvPr id="44034" name="Rectangle 5"/>
          <p:cNvSpPr txBox="1">
            <a:spLocks noGrp="1" noChangeArrowheads="1"/>
          </p:cNvSpPr>
          <p:nvPr/>
        </p:nvSpPr>
        <p:spPr bwMode="auto">
          <a:xfrm>
            <a:off x="5004917" y="6381750"/>
            <a:ext cx="3810000" cy="476250"/>
          </a:xfrm>
          <a:prstGeom prst="rect">
            <a:avLst/>
          </a:prstGeom>
          <a:noFill/>
          <a:ln>
            <a:miter lim="800000"/>
            <a:headEnd/>
            <a:tailEnd/>
          </a:ln>
          <a:extLst>
            <a:ext uri="{909E8E84-426E-40dd-AFC4-6F175D3DCCD1}"/>
            <a:ext uri="{91240B29-F687-4f45-9708-019B960494DF}"/>
          </a:extLst>
        </p:spPr>
        <p:txBody>
          <a:bodyPr/>
          <a:lstStyle>
            <a:lvl1pPr>
              <a:defRPr sz="4400">
                <a:solidFill>
                  <a:schemeClr val="accent2"/>
                </a:solidFill>
                <a:latin typeface="Arial" panose="020B0604020202020204" pitchFamily="34" charset="0"/>
                <a:ea typeface="ＭＳ Ｐゴシック" panose="020B0600070205080204" pitchFamily="34" charset="-128"/>
              </a:defRPr>
            </a:lvl1pPr>
            <a:lvl2pPr marL="742950" indent="-285750">
              <a:defRPr sz="4400">
                <a:solidFill>
                  <a:schemeClr val="accent2"/>
                </a:solidFill>
                <a:latin typeface="Arial" panose="020B0604020202020204" pitchFamily="34" charset="0"/>
                <a:ea typeface="ＭＳ Ｐゴシック" panose="020B0600070205080204" pitchFamily="34" charset="-128"/>
              </a:defRPr>
            </a:lvl2pPr>
            <a:lvl3pPr marL="1143000" indent="-228600">
              <a:defRPr sz="4400">
                <a:solidFill>
                  <a:schemeClr val="accent2"/>
                </a:solidFill>
                <a:latin typeface="Arial" panose="020B0604020202020204" pitchFamily="34" charset="0"/>
                <a:ea typeface="ＭＳ Ｐゴシック" panose="020B0600070205080204" pitchFamily="34" charset="-128"/>
              </a:defRPr>
            </a:lvl3pPr>
            <a:lvl4pPr marL="1600200" indent="-228600">
              <a:defRPr sz="4400">
                <a:solidFill>
                  <a:schemeClr val="accent2"/>
                </a:solidFill>
                <a:latin typeface="Arial" panose="020B0604020202020204" pitchFamily="34" charset="0"/>
                <a:ea typeface="ＭＳ Ｐゴシック" panose="020B0600070205080204" pitchFamily="34" charset="-128"/>
              </a:defRPr>
            </a:lvl4pPr>
            <a:lvl5pPr marL="2057400" indent="-228600">
              <a:defRPr sz="4400">
                <a:solidFill>
                  <a:schemeClr val="accent2"/>
                </a:solidFill>
                <a:latin typeface="Arial" panose="020B0604020202020204" pitchFamily="34" charset="0"/>
                <a:ea typeface="ＭＳ Ｐゴシック" panose="020B0600070205080204" pitchFamily="34" charset="-128"/>
              </a:defRPr>
            </a:lvl5pPr>
            <a:lvl6pPr marL="25146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lgn="ctr" eaLnBrk="1" hangingPunct="1">
              <a:defRPr/>
            </a:pPr>
            <a:r>
              <a:rPr lang="en-US" altLang="en-US" sz="1400" dirty="0">
                <a:solidFill>
                  <a:schemeClr val="bg1"/>
                </a:solidFill>
                <a:effectLst>
                  <a:outerShdw blurRad="38100" dist="38100" dir="2700000" algn="tl">
                    <a:srgbClr val="000000"/>
                  </a:outerShdw>
                </a:effectLst>
                <a:cs typeface="Arial" panose="020B0604020202020204" pitchFamily="34" charset="0"/>
              </a:rPr>
              <a:t>Newburry 2026 DBA International Business</a:t>
            </a:r>
          </a:p>
        </p:txBody>
      </p:sp>
    </p:spTree>
    <p:extLst>
      <p:ext uri="{BB962C8B-B14F-4D97-AF65-F5344CB8AC3E}">
        <p14:creationId xmlns:p14="http://schemas.microsoft.com/office/powerpoint/2010/main" val="3175801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idx="4294967295"/>
          </p:nvPr>
        </p:nvSpPr>
        <p:spPr>
          <a:xfrm>
            <a:off x="2214137" y="334521"/>
            <a:ext cx="8229600" cy="1143000"/>
          </a:xfrm>
          <a:noFill/>
        </p:spPr>
        <p:txBody>
          <a:bodyPr/>
          <a:lstStyle/>
          <a:p>
            <a:r>
              <a:rPr lang="en-US" altLang="en-US" dirty="0"/>
              <a:t>Topic Area Written Analysis and Presentation</a:t>
            </a:r>
            <a:endParaRPr lang="en-US" altLang="en-US" sz="3200" dirty="0"/>
          </a:p>
        </p:txBody>
      </p:sp>
      <p:sp>
        <p:nvSpPr>
          <p:cNvPr id="36867" name="Content Placeholder 2"/>
          <p:cNvSpPr>
            <a:spLocks noGrp="1"/>
          </p:cNvSpPr>
          <p:nvPr>
            <p:ph idx="4294967295"/>
          </p:nvPr>
        </p:nvSpPr>
        <p:spPr>
          <a:xfrm>
            <a:off x="1953081" y="1477521"/>
            <a:ext cx="9877675" cy="4410245"/>
          </a:xfrm>
        </p:spPr>
        <p:txBody>
          <a:bodyPr>
            <a:noAutofit/>
          </a:bodyPr>
          <a:lstStyle/>
          <a:p>
            <a:r>
              <a:rPr lang="en-US" sz="2200" dirty="0"/>
              <a:t>Everyone must summarize at least one research topic from the course. </a:t>
            </a:r>
          </a:p>
          <a:p>
            <a:r>
              <a:rPr lang="en-US" sz="2200" dirty="0"/>
              <a:t>This assignment will be submitted as </a:t>
            </a:r>
            <a:r>
              <a:rPr lang="en-US" sz="2200" b="1" dirty="0"/>
              <a:t>both </a:t>
            </a:r>
            <a:r>
              <a:rPr lang="en-US" sz="2200" dirty="0"/>
              <a:t>a written document (10 double-spaced pages maximum) combined with a short summary </a:t>
            </a:r>
            <a:r>
              <a:rPr lang="en-US" sz="2200" dirty="0" err="1"/>
              <a:t>powerpoint</a:t>
            </a:r>
            <a:r>
              <a:rPr lang="en-US" sz="2200" dirty="0"/>
              <a:t> presentation (up to </a:t>
            </a:r>
            <a:r>
              <a:rPr lang="en-US" sz="2200" b="1" dirty="0"/>
              <a:t>10 minutes maximum</a:t>
            </a:r>
            <a:r>
              <a:rPr lang="en-US" sz="2200" dirty="0"/>
              <a:t>) to the class. Students will also be required to submit their </a:t>
            </a:r>
            <a:r>
              <a:rPr lang="en-US" sz="2200" dirty="0" err="1"/>
              <a:t>powerpoint</a:t>
            </a:r>
            <a:r>
              <a:rPr lang="en-US" sz="2200" dirty="0"/>
              <a:t> slides afterwards. </a:t>
            </a:r>
          </a:p>
          <a:p>
            <a:r>
              <a:rPr lang="en-US" sz="2200" dirty="0"/>
              <a:t>The topic analysis should focus on three components: 1) A summary of the major topic area findings, including but not limited to those within assigned course articles 2) A critical assessment of the topic area, including contributions, limitations and future extensions, and 3) Relation of the topic area to others examined in this course and prior courses in your DBA program.</a:t>
            </a:r>
          </a:p>
          <a:p>
            <a:r>
              <a:rPr lang="en-US" altLang="en-US" sz="2200" dirty="0"/>
              <a:t>I will let people request topic areas and inform everyone which ones they are assigned as soon as possible.</a:t>
            </a:r>
          </a:p>
          <a:p>
            <a:r>
              <a:rPr lang="en-US" altLang="en-US" sz="2200" dirty="0"/>
              <a:t>This assignment will be due the day before the topic area is discussed within class.</a:t>
            </a:r>
          </a:p>
          <a:p>
            <a:pPr>
              <a:buFontTx/>
              <a:buNone/>
            </a:pPr>
            <a:endParaRPr lang="en-US" altLang="en-US" sz="2200" dirty="0"/>
          </a:p>
        </p:txBody>
      </p:sp>
      <p:sp>
        <p:nvSpPr>
          <p:cNvPr id="2" name="Footer Placeholder 1"/>
          <p:cNvSpPr>
            <a:spLocks noGrp="1"/>
          </p:cNvSpPr>
          <p:nvPr>
            <p:ph type="ftr" sz="quarter" idx="11"/>
          </p:nvPr>
        </p:nvSpPr>
        <p:spPr>
          <a:xfrm>
            <a:off x="5366423" y="6294879"/>
            <a:ext cx="3200400" cy="457200"/>
          </a:xfrm>
        </p:spPr>
        <p:txBody>
          <a:bodyPr/>
          <a:lstStyle>
            <a:lvl1pPr>
              <a:defRPr sz="4400">
                <a:solidFill>
                  <a:schemeClr val="accent2"/>
                </a:solidFill>
                <a:latin typeface="Arial" panose="020B0604020202020204" pitchFamily="34" charset="0"/>
                <a:ea typeface="ＭＳ Ｐゴシック" panose="020B0600070205080204" pitchFamily="34" charset="-128"/>
              </a:defRPr>
            </a:lvl1pPr>
            <a:lvl2pPr marL="742950" indent="-285750">
              <a:defRPr sz="4400">
                <a:solidFill>
                  <a:schemeClr val="accent2"/>
                </a:solidFill>
                <a:latin typeface="Arial" panose="020B0604020202020204" pitchFamily="34" charset="0"/>
                <a:ea typeface="ＭＳ Ｐゴシック" panose="020B0600070205080204" pitchFamily="34" charset="-128"/>
              </a:defRPr>
            </a:lvl2pPr>
            <a:lvl3pPr marL="1143000" indent="-228600">
              <a:defRPr sz="4400">
                <a:solidFill>
                  <a:schemeClr val="accent2"/>
                </a:solidFill>
                <a:latin typeface="Arial" panose="020B0604020202020204" pitchFamily="34" charset="0"/>
                <a:ea typeface="ＭＳ Ｐゴシック" panose="020B0600070205080204" pitchFamily="34" charset="-128"/>
              </a:defRPr>
            </a:lvl3pPr>
            <a:lvl4pPr marL="1600200" indent="-228600">
              <a:defRPr sz="4400">
                <a:solidFill>
                  <a:schemeClr val="accent2"/>
                </a:solidFill>
                <a:latin typeface="Arial" panose="020B0604020202020204" pitchFamily="34" charset="0"/>
                <a:ea typeface="ＭＳ Ｐゴシック" panose="020B0600070205080204" pitchFamily="34" charset="-128"/>
              </a:defRPr>
            </a:lvl4pPr>
            <a:lvl5pPr marL="2057400" indent="-228600">
              <a:defRPr sz="4400">
                <a:solidFill>
                  <a:schemeClr val="accent2"/>
                </a:solidFill>
                <a:latin typeface="Arial" panose="020B0604020202020204" pitchFamily="34" charset="0"/>
                <a:ea typeface="ＭＳ Ｐゴシック" panose="020B0600070205080204" pitchFamily="34" charset="-128"/>
              </a:defRPr>
            </a:lvl5pPr>
            <a:lvl6pPr marL="25146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defRPr/>
            </a:pPr>
            <a:r>
              <a:rPr lang="en-US" altLang="en-US" sz="1200" dirty="0">
                <a:solidFill>
                  <a:schemeClr val="bg1"/>
                </a:solidFill>
              </a:rPr>
              <a:t>Newburry 2026 DBA International Business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2"/>
          <p:cNvSpPr>
            <a:spLocks noGrp="1" noChangeArrowheads="1"/>
          </p:cNvSpPr>
          <p:nvPr>
            <p:ph type="title" idx="4294967295"/>
          </p:nvPr>
        </p:nvSpPr>
        <p:spPr>
          <a:xfrm>
            <a:off x="2286000" y="228600"/>
            <a:ext cx="8153400" cy="914400"/>
          </a:xfrm>
        </p:spPr>
        <p:txBody>
          <a:bodyPr/>
          <a:lstStyle/>
          <a:p>
            <a:pPr eaLnBrk="1" hangingPunct="1">
              <a:defRPr/>
            </a:pPr>
            <a:r>
              <a:rPr lang="en-US" altLang="en-US" sz="4000" b="1" dirty="0">
                <a:ea typeface="MS PGothic" panose="020B0600070205080204" pitchFamily="34" charset="-128"/>
              </a:rPr>
              <a:t>Research Project</a:t>
            </a:r>
          </a:p>
        </p:txBody>
      </p:sp>
      <p:sp>
        <p:nvSpPr>
          <p:cNvPr id="38916" name="Rectangle 3"/>
          <p:cNvSpPr>
            <a:spLocks noGrp="1" noChangeArrowheads="1"/>
          </p:cNvSpPr>
          <p:nvPr>
            <p:ph type="body" idx="4294967295"/>
          </p:nvPr>
        </p:nvSpPr>
        <p:spPr>
          <a:xfrm>
            <a:off x="2122841" y="1283745"/>
            <a:ext cx="9355567" cy="4495800"/>
          </a:xfrm>
        </p:spPr>
        <p:txBody>
          <a:bodyPr>
            <a:normAutofit lnSpcReduction="10000"/>
          </a:bodyPr>
          <a:lstStyle/>
          <a:p>
            <a:pPr eaLnBrk="1" hangingPunct="1">
              <a:lnSpc>
                <a:spcPct val="80000"/>
              </a:lnSpc>
            </a:pPr>
            <a:r>
              <a:rPr lang="en-US" altLang="en-US" sz="2400" dirty="0"/>
              <a:t>Each student will be involved in a research project within the broadly-defined domain of international business during this course. </a:t>
            </a:r>
          </a:p>
          <a:p>
            <a:pPr eaLnBrk="1" hangingPunct="1">
              <a:lnSpc>
                <a:spcPct val="80000"/>
              </a:lnSpc>
            </a:pPr>
            <a:r>
              <a:rPr lang="en-US" altLang="en-US" sz="2400" dirty="0"/>
              <a:t>Topics can relate to any of the topics explicitly discussed during the course, along with many others.</a:t>
            </a:r>
          </a:p>
          <a:p>
            <a:pPr eaLnBrk="1" hangingPunct="1">
              <a:lnSpc>
                <a:spcPct val="80000"/>
              </a:lnSpc>
            </a:pPr>
            <a:r>
              <a:rPr lang="en-US" altLang="en-US" sz="2400" dirty="0"/>
              <a:t>Students may work on the project individually or in groups of up to four people.</a:t>
            </a:r>
          </a:p>
          <a:p>
            <a:pPr eaLnBrk="1" hangingPunct="1">
              <a:lnSpc>
                <a:spcPct val="80000"/>
              </a:lnSpc>
            </a:pPr>
            <a:r>
              <a:rPr lang="en-US" altLang="en-US" sz="2400" dirty="0"/>
              <a:t>Some important considerations:</a:t>
            </a:r>
          </a:p>
          <a:p>
            <a:pPr lvl="1" eaLnBrk="1" hangingPunct="1">
              <a:lnSpc>
                <a:spcPct val="80000"/>
              </a:lnSpc>
            </a:pPr>
            <a:r>
              <a:rPr lang="en-US" altLang="en-US" sz="2000" dirty="0"/>
              <a:t>Topic of interest to the group</a:t>
            </a:r>
          </a:p>
          <a:p>
            <a:pPr lvl="1" eaLnBrk="1" hangingPunct="1">
              <a:lnSpc>
                <a:spcPct val="80000"/>
              </a:lnSpc>
            </a:pPr>
            <a:r>
              <a:rPr lang="en-US" altLang="en-US" sz="2000" dirty="0"/>
              <a:t>Topic where you can make a theoretical contribution</a:t>
            </a:r>
          </a:p>
          <a:p>
            <a:pPr lvl="1" eaLnBrk="1" hangingPunct="1">
              <a:lnSpc>
                <a:spcPct val="80000"/>
              </a:lnSpc>
            </a:pPr>
            <a:r>
              <a:rPr lang="en-US" altLang="en-US" sz="2000" dirty="0"/>
              <a:t>Topic where you can potentially collect data (although actual data is note required for the project)</a:t>
            </a:r>
          </a:p>
          <a:p>
            <a:pPr eaLnBrk="1" hangingPunct="1">
              <a:lnSpc>
                <a:spcPct val="80000"/>
              </a:lnSpc>
            </a:pPr>
            <a:r>
              <a:rPr lang="en-US" altLang="en-US" sz="2400" dirty="0"/>
              <a:t>Please e-mail me your group selections (or choice to do the project individually) and topic area for approval prior to doing extensive work (newburry@fiu.edu).</a:t>
            </a:r>
          </a:p>
          <a:p>
            <a:pPr eaLnBrk="1" hangingPunct="1">
              <a:lnSpc>
                <a:spcPct val="80000"/>
              </a:lnSpc>
            </a:pPr>
            <a:endParaRPr lang="en-US" altLang="en-US" dirty="0"/>
          </a:p>
          <a:p>
            <a:pPr eaLnBrk="1" hangingPunct="1">
              <a:lnSpc>
                <a:spcPct val="80000"/>
              </a:lnSpc>
            </a:pPr>
            <a:endParaRPr lang="en-US" altLang="en-US" dirty="0"/>
          </a:p>
        </p:txBody>
      </p:sp>
      <p:sp>
        <p:nvSpPr>
          <p:cNvPr id="2" name="Footer Placeholder 1"/>
          <p:cNvSpPr>
            <a:spLocks noGrp="1"/>
          </p:cNvSpPr>
          <p:nvPr>
            <p:ph type="ftr" sz="quarter" idx="11"/>
          </p:nvPr>
        </p:nvSpPr>
        <p:spPr>
          <a:xfrm>
            <a:off x="4565424" y="6254750"/>
            <a:ext cx="4470400" cy="457200"/>
          </a:xfrm>
        </p:spPr>
        <p:txBody>
          <a:bodyPr/>
          <a:lstStyle>
            <a:lvl1pPr>
              <a:defRPr sz="4400">
                <a:solidFill>
                  <a:schemeClr val="accent2"/>
                </a:solidFill>
                <a:latin typeface="Arial" panose="020B0604020202020204" pitchFamily="34" charset="0"/>
                <a:ea typeface="ＭＳ Ｐゴシック" panose="020B0600070205080204" pitchFamily="34" charset="-128"/>
              </a:defRPr>
            </a:lvl1pPr>
            <a:lvl2pPr marL="742950" indent="-285750">
              <a:defRPr sz="4400">
                <a:solidFill>
                  <a:schemeClr val="accent2"/>
                </a:solidFill>
                <a:latin typeface="Arial" panose="020B0604020202020204" pitchFamily="34" charset="0"/>
                <a:ea typeface="ＭＳ Ｐゴシック" panose="020B0600070205080204" pitchFamily="34" charset="-128"/>
              </a:defRPr>
            </a:lvl2pPr>
            <a:lvl3pPr marL="1143000" indent="-228600">
              <a:defRPr sz="4400">
                <a:solidFill>
                  <a:schemeClr val="accent2"/>
                </a:solidFill>
                <a:latin typeface="Arial" panose="020B0604020202020204" pitchFamily="34" charset="0"/>
                <a:ea typeface="ＭＳ Ｐゴシック" panose="020B0600070205080204" pitchFamily="34" charset="-128"/>
              </a:defRPr>
            </a:lvl3pPr>
            <a:lvl4pPr marL="1600200" indent="-228600">
              <a:defRPr sz="4400">
                <a:solidFill>
                  <a:schemeClr val="accent2"/>
                </a:solidFill>
                <a:latin typeface="Arial" panose="020B0604020202020204" pitchFamily="34" charset="0"/>
                <a:ea typeface="ＭＳ Ｐゴシック" panose="020B0600070205080204" pitchFamily="34" charset="-128"/>
              </a:defRPr>
            </a:lvl4pPr>
            <a:lvl5pPr marL="2057400" indent="-228600">
              <a:defRPr sz="4400">
                <a:solidFill>
                  <a:schemeClr val="accent2"/>
                </a:solidFill>
                <a:latin typeface="Arial" panose="020B0604020202020204" pitchFamily="34" charset="0"/>
                <a:ea typeface="ＭＳ Ｐゴシック" panose="020B0600070205080204" pitchFamily="34" charset="-128"/>
              </a:defRPr>
            </a:lvl5pPr>
            <a:lvl6pPr marL="25146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defRPr/>
            </a:pPr>
            <a:r>
              <a:rPr lang="en-US" altLang="en-US" sz="1200" dirty="0">
                <a:solidFill>
                  <a:schemeClr val="bg1"/>
                </a:solidFill>
              </a:rPr>
              <a:t>Newburry 2026 DBA International Business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4"/>
          <p:cNvSpPr>
            <a:spLocks noGrp="1"/>
          </p:cNvSpPr>
          <p:nvPr>
            <p:ph type="title"/>
          </p:nvPr>
        </p:nvSpPr>
        <p:spPr>
          <a:xfrm>
            <a:off x="2262135" y="266700"/>
            <a:ext cx="9363808" cy="1143000"/>
          </a:xfrm>
        </p:spPr>
        <p:txBody>
          <a:bodyPr/>
          <a:lstStyle/>
          <a:p>
            <a:r>
              <a:rPr lang="en-US" altLang="en-US" b="1" dirty="0"/>
              <a:t>Project Presentation (September 18/19)</a:t>
            </a:r>
            <a:endParaRPr lang="en-US" altLang="en-US" dirty="0"/>
          </a:p>
        </p:txBody>
      </p:sp>
      <p:sp>
        <p:nvSpPr>
          <p:cNvPr id="2" name="Footer Placeholder 1"/>
          <p:cNvSpPr>
            <a:spLocks noGrp="1"/>
          </p:cNvSpPr>
          <p:nvPr>
            <p:ph type="ftr" sz="quarter" idx="11"/>
          </p:nvPr>
        </p:nvSpPr>
        <p:spPr>
          <a:xfrm>
            <a:off x="4946301" y="6362700"/>
            <a:ext cx="3352800" cy="457200"/>
          </a:xfrm>
        </p:spPr>
        <p:txBody>
          <a:bodyPr/>
          <a:lstStyle>
            <a:lvl1pPr>
              <a:defRPr sz="4400">
                <a:solidFill>
                  <a:schemeClr val="accent2"/>
                </a:solidFill>
                <a:latin typeface="Arial" panose="020B0604020202020204" pitchFamily="34" charset="0"/>
                <a:ea typeface="ＭＳ Ｐゴシック" panose="020B0600070205080204" pitchFamily="34" charset="-128"/>
              </a:defRPr>
            </a:lvl1pPr>
            <a:lvl2pPr marL="742950" indent="-285750">
              <a:defRPr sz="4400">
                <a:solidFill>
                  <a:schemeClr val="accent2"/>
                </a:solidFill>
                <a:latin typeface="Arial" panose="020B0604020202020204" pitchFamily="34" charset="0"/>
                <a:ea typeface="ＭＳ Ｐゴシック" panose="020B0600070205080204" pitchFamily="34" charset="-128"/>
              </a:defRPr>
            </a:lvl2pPr>
            <a:lvl3pPr marL="1143000" indent="-228600">
              <a:defRPr sz="4400">
                <a:solidFill>
                  <a:schemeClr val="accent2"/>
                </a:solidFill>
                <a:latin typeface="Arial" panose="020B0604020202020204" pitchFamily="34" charset="0"/>
                <a:ea typeface="ＭＳ Ｐゴシック" panose="020B0600070205080204" pitchFamily="34" charset="-128"/>
              </a:defRPr>
            </a:lvl3pPr>
            <a:lvl4pPr marL="1600200" indent="-228600">
              <a:defRPr sz="4400">
                <a:solidFill>
                  <a:schemeClr val="accent2"/>
                </a:solidFill>
                <a:latin typeface="Arial" panose="020B0604020202020204" pitchFamily="34" charset="0"/>
                <a:ea typeface="ＭＳ Ｐゴシック" panose="020B0600070205080204" pitchFamily="34" charset="-128"/>
              </a:defRPr>
            </a:lvl4pPr>
            <a:lvl5pPr marL="2057400" indent="-228600">
              <a:defRPr sz="4400">
                <a:solidFill>
                  <a:schemeClr val="accent2"/>
                </a:solidFill>
                <a:latin typeface="Arial" panose="020B0604020202020204" pitchFamily="34" charset="0"/>
                <a:ea typeface="ＭＳ Ｐゴシック" panose="020B0600070205080204" pitchFamily="34" charset="-128"/>
              </a:defRPr>
            </a:lvl5pPr>
            <a:lvl6pPr marL="25146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defRPr/>
            </a:pPr>
            <a:r>
              <a:rPr lang="en-US" altLang="en-US" sz="1200" dirty="0">
                <a:solidFill>
                  <a:schemeClr val="bg1"/>
                </a:solidFill>
              </a:rPr>
              <a:t>Newburry 2026 DBA International Business</a:t>
            </a:r>
          </a:p>
        </p:txBody>
      </p:sp>
      <p:sp>
        <p:nvSpPr>
          <p:cNvPr id="45060" name="Rectangle 3"/>
          <p:cNvSpPr>
            <a:spLocks noGrp="1" noChangeArrowheads="1"/>
          </p:cNvSpPr>
          <p:nvPr>
            <p:ph idx="1"/>
          </p:nvPr>
        </p:nvSpPr>
        <p:spPr>
          <a:xfrm>
            <a:off x="2271811" y="1395589"/>
            <a:ext cx="9363807" cy="4967111"/>
          </a:xfrm>
        </p:spPr>
        <p:txBody>
          <a:bodyPr>
            <a:normAutofit/>
          </a:bodyPr>
          <a:lstStyle/>
          <a:p>
            <a:pPr>
              <a:lnSpc>
                <a:spcPct val="90000"/>
              </a:lnSpc>
            </a:pPr>
            <a:r>
              <a:rPr lang="en-US" altLang="en-US" sz="2800" dirty="0"/>
              <a:t>10-15 Minutes Per Individual/Group</a:t>
            </a:r>
          </a:p>
          <a:p>
            <a:pPr>
              <a:lnSpc>
                <a:spcPct val="90000"/>
              </a:lnSpc>
            </a:pPr>
            <a:r>
              <a:rPr lang="en-US" altLang="en-US" sz="2800" dirty="0"/>
              <a:t>Content Emphasized Over Presentation Style</a:t>
            </a:r>
          </a:p>
          <a:p>
            <a:pPr>
              <a:lnSpc>
                <a:spcPct val="90000"/>
              </a:lnSpc>
            </a:pPr>
            <a:r>
              <a:rPr lang="en-US" altLang="en-US" sz="2800" dirty="0"/>
              <a:t>Cover the Following Elements:</a:t>
            </a:r>
            <a:endParaRPr lang="en-US" altLang="en-US" sz="2800" b="1" dirty="0">
              <a:solidFill>
                <a:srgbClr val="FF6600"/>
              </a:solidFill>
            </a:endParaRPr>
          </a:p>
          <a:p>
            <a:pPr lvl="1"/>
            <a:r>
              <a:rPr lang="en-US" altLang="en-US" sz="2000" dirty="0"/>
              <a:t>1) Research Topic and Importance</a:t>
            </a:r>
          </a:p>
          <a:p>
            <a:pPr lvl="1"/>
            <a:r>
              <a:rPr lang="en-US" altLang="en-US" sz="2000" dirty="0"/>
              <a:t>2) Study Model and Hypotheses</a:t>
            </a:r>
          </a:p>
          <a:p>
            <a:pPr lvl="1"/>
            <a:r>
              <a:rPr lang="en-US" altLang="en-US" sz="2000" dirty="0"/>
              <a:t>3) Justification of Hypotheses</a:t>
            </a:r>
          </a:p>
          <a:p>
            <a:pPr lvl="1"/>
            <a:r>
              <a:rPr lang="en-US" altLang="en-US" sz="2000" dirty="0"/>
              <a:t>4) Data Collection Plan</a:t>
            </a:r>
          </a:p>
          <a:p>
            <a:pPr lvl="1"/>
            <a:r>
              <a:rPr lang="en-US" altLang="en-US" sz="2000" dirty="0"/>
              <a:t>5) Empirical Analysis Plan</a:t>
            </a:r>
          </a:p>
          <a:p>
            <a:pPr lvl="1"/>
            <a:r>
              <a:rPr lang="en-US" altLang="en-US" sz="2000" dirty="0"/>
              <a:t>6) </a:t>
            </a:r>
            <a:r>
              <a:rPr lang="en-US" altLang="en-US" b="1" i="1" u="sng" dirty="0">
                <a:solidFill>
                  <a:srgbClr val="FFFF00"/>
                </a:solidFill>
              </a:rPr>
              <a:t>E-mail presentation to William Newburry by midnight the day before you present (Sept. 17/18). No changes to the slides will be permitted after this time.</a:t>
            </a:r>
          </a:p>
          <a:p>
            <a:pPr lvl="1">
              <a:lnSpc>
                <a:spcPct val="90000"/>
              </a:lnSpc>
            </a:pPr>
            <a:endParaRPr lang="en-US" altLang="en-US" sz="2400" b="1" i="1" u="sng" dirty="0">
              <a:solidFill>
                <a:srgbClr val="FFFF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74620" y="250115"/>
            <a:ext cx="8229600" cy="762000"/>
          </a:xfrm>
        </p:spPr>
        <p:txBody>
          <a:bodyPr>
            <a:normAutofit fontScale="90000"/>
          </a:bodyPr>
          <a:lstStyle/>
          <a:p>
            <a:pPr>
              <a:defRPr/>
            </a:pPr>
            <a:r>
              <a:rPr lang="en-US" dirty="0"/>
              <a:t>Project Presentation – Grading Expectations</a:t>
            </a:r>
          </a:p>
        </p:txBody>
      </p:sp>
      <p:sp>
        <p:nvSpPr>
          <p:cNvPr id="4" name="Footer Placeholder 3"/>
          <p:cNvSpPr>
            <a:spLocks noGrp="1"/>
          </p:cNvSpPr>
          <p:nvPr>
            <p:ph type="ftr" sz="quarter" idx="11"/>
          </p:nvPr>
        </p:nvSpPr>
        <p:spPr/>
        <p:txBody>
          <a:bodyPr/>
          <a:lstStyle>
            <a:lvl1pPr>
              <a:defRPr sz="4400">
                <a:solidFill>
                  <a:schemeClr val="accent2"/>
                </a:solidFill>
                <a:latin typeface="Arial" panose="020B0604020202020204" pitchFamily="34" charset="0"/>
                <a:ea typeface="ＭＳ Ｐゴシック" panose="020B0600070205080204" pitchFamily="34" charset="-128"/>
              </a:defRPr>
            </a:lvl1pPr>
            <a:lvl2pPr marL="742950" indent="-285750">
              <a:defRPr sz="4400">
                <a:solidFill>
                  <a:schemeClr val="accent2"/>
                </a:solidFill>
                <a:latin typeface="Arial" panose="020B0604020202020204" pitchFamily="34" charset="0"/>
                <a:ea typeface="ＭＳ Ｐゴシック" panose="020B0600070205080204" pitchFamily="34" charset="-128"/>
              </a:defRPr>
            </a:lvl2pPr>
            <a:lvl3pPr marL="1143000" indent="-228600">
              <a:defRPr sz="4400">
                <a:solidFill>
                  <a:schemeClr val="accent2"/>
                </a:solidFill>
                <a:latin typeface="Arial" panose="020B0604020202020204" pitchFamily="34" charset="0"/>
                <a:ea typeface="ＭＳ Ｐゴシック" panose="020B0600070205080204" pitchFamily="34" charset="-128"/>
              </a:defRPr>
            </a:lvl3pPr>
            <a:lvl4pPr marL="1600200" indent="-228600">
              <a:defRPr sz="4400">
                <a:solidFill>
                  <a:schemeClr val="accent2"/>
                </a:solidFill>
                <a:latin typeface="Arial" panose="020B0604020202020204" pitchFamily="34" charset="0"/>
                <a:ea typeface="ＭＳ Ｐゴシック" panose="020B0600070205080204" pitchFamily="34" charset="-128"/>
              </a:defRPr>
            </a:lvl4pPr>
            <a:lvl5pPr marL="2057400" indent="-228600">
              <a:defRPr sz="4400">
                <a:solidFill>
                  <a:schemeClr val="accent2"/>
                </a:solidFill>
                <a:latin typeface="Arial" panose="020B0604020202020204" pitchFamily="34" charset="0"/>
                <a:ea typeface="ＭＳ Ｐゴシック" panose="020B0600070205080204" pitchFamily="34" charset="-128"/>
              </a:defRPr>
            </a:lvl5pPr>
            <a:lvl6pPr marL="25146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defRPr/>
            </a:pPr>
            <a:r>
              <a:rPr lang="en-US" altLang="en-US" sz="1200" dirty="0">
                <a:solidFill>
                  <a:schemeClr val="bg1"/>
                </a:solidFill>
              </a:rPr>
              <a:t>Newburry 2026 DBA International Business</a:t>
            </a:r>
          </a:p>
        </p:txBody>
      </p:sp>
      <p:pic>
        <p:nvPicPr>
          <p:cNvPr id="46084" name="Picture 5" descr="Presentation Grading Rubric"/>
          <p:cNvPicPr>
            <a:picLocks noChangeAspect="1"/>
          </p:cNvPicPr>
          <p:nvPr/>
        </p:nvPicPr>
        <p:blipFill>
          <a:blip r:embed="rId2" cstate="print"/>
          <a:srcRect/>
          <a:stretch>
            <a:fillRect/>
          </a:stretch>
        </p:blipFill>
        <p:spPr bwMode="auto">
          <a:xfrm>
            <a:off x="3246120" y="1055332"/>
            <a:ext cx="7086600" cy="52578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4"/>
          <p:cNvSpPr>
            <a:spLocks noGrp="1"/>
          </p:cNvSpPr>
          <p:nvPr>
            <p:ph type="title"/>
          </p:nvPr>
        </p:nvSpPr>
        <p:spPr>
          <a:xfrm>
            <a:off x="2453473" y="330912"/>
            <a:ext cx="8610600" cy="1143000"/>
          </a:xfrm>
        </p:spPr>
        <p:txBody>
          <a:bodyPr/>
          <a:lstStyle/>
          <a:p>
            <a:r>
              <a:rPr lang="en-US" altLang="en-US" sz="3200" b="1" dirty="0"/>
              <a:t>Written Project Report (October 7/9)</a:t>
            </a:r>
            <a:endParaRPr lang="en-US" altLang="en-US" sz="3200" dirty="0"/>
          </a:p>
        </p:txBody>
      </p:sp>
      <p:sp>
        <p:nvSpPr>
          <p:cNvPr id="2" name="Footer Placeholder 1"/>
          <p:cNvSpPr>
            <a:spLocks noGrp="1"/>
          </p:cNvSpPr>
          <p:nvPr>
            <p:ph type="ftr" sz="quarter" idx="11"/>
          </p:nvPr>
        </p:nvSpPr>
        <p:spPr/>
        <p:txBody>
          <a:bodyPr/>
          <a:lstStyle>
            <a:lvl1pPr>
              <a:defRPr sz="4400">
                <a:solidFill>
                  <a:schemeClr val="accent2"/>
                </a:solidFill>
                <a:latin typeface="Arial" panose="020B0604020202020204" pitchFamily="34" charset="0"/>
                <a:ea typeface="ＭＳ Ｐゴシック" panose="020B0600070205080204" pitchFamily="34" charset="-128"/>
              </a:defRPr>
            </a:lvl1pPr>
            <a:lvl2pPr marL="742950" indent="-285750">
              <a:defRPr sz="4400">
                <a:solidFill>
                  <a:schemeClr val="accent2"/>
                </a:solidFill>
                <a:latin typeface="Arial" panose="020B0604020202020204" pitchFamily="34" charset="0"/>
                <a:ea typeface="ＭＳ Ｐゴシック" panose="020B0600070205080204" pitchFamily="34" charset="-128"/>
              </a:defRPr>
            </a:lvl2pPr>
            <a:lvl3pPr marL="1143000" indent="-228600">
              <a:defRPr sz="4400">
                <a:solidFill>
                  <a:schemeClr val="accent2"/>
                </a:solidFill>
                <a:latin typeface="Arial" panose="020B0604020202020204" pitchFamily="34" charset="0"/>
                <a:ea typeface="ＭＳ Ｐゴシック" panose="020B0600070205080204" pitchFamily="34" charset="-128"/>
              </a:defRPr>
            </a:lvl3pPr>
            <a:lvl4pPr marL="1600200" indent="-228600">
              <a:defRPr sz="4400">
                <a:solidFill>
                  <a:schemeClr val="accent2"/>
                </a:solidFill>
                <a:latin typeface="Arial" panose="020B0604020202020204" pitchFamily="34" charset="0"/>
                <a:ea typeface="ＭＳ Ｐゴシック" panose="020B0600070205080204" pitchFamily="34" charset="-128"/>
              </a:defRPr>
            </a:lvl4pPr>
            <a:lvl5pPr marL="2057400" indent="-228600">
              <a:defRPr sz="4400">
                <a:solidFill>
                  <a:schemeClr val="accent2"/>
                </a:solidFill>
                <a:latin typeface="Arial" panose="020B0604020202020204" pitchFamily="34" charset="0"/>
                <a:ea typeface="ＭＳ Ｐゴシック" panose="020B0600070205080204" pitchFamily="34" charset="-128"/>
              </a:defRPr>
            </a:lvl5pPr>
            <a:lvl6pPr marL="25146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defRPr/>
            </a:pPr>
            <a:r>
              <a:rPr lang="en-US" altLang="en-US" sz="1200" dirty="0">
                <a:solidFill>
                  <a:schemeClr val="bg1"/>
                </a:solidFill>
              </a:rPr>
              <a:t>Newburry 2026 DBA International Business</a:t>
            </a:r>
          </a:p>
        </p:txBody>
      </p:sp>
      <p:sp>
        <p:nvSpPr>
          <p:cNvPr id="47108" name="Rectangle 3"/>
          <p:cNvSpPr>
            <a:spLocks noGrp="1" noChangeArrowheads="1"/>
          </p:cNvSpPr>
          <p:nvPr>
            <p:ph idx="1"/>
          </p:nvPr>
        </p:nvSpPr>
        <p:spPr>
          <a:xfrm>
            <a:off x="2453473" y="1473912"/>
            <a:ext cx="8959594" cy="5053176"/>
          </a:xfrm>
        </p:spPr>
        <p:txBody>
          <a:bodyPr>
            <a:normAutofit lnSpcReduction="10000"/>
          </a:bodyPr>
          <a:lstStyle/>
          <a:p>
            <a:pPr>
              <a:lnSpc>
                <a:spcPct val="90000"/>
              </a:lnSpc>
            </a:pPr>
            <a:r>
              <a:rPr lang="en-US" altLang="en-US" sz="3200" dirty="0"/>
              <a:t>30 pages maximum (inclusive)</a:t>
            </a:r>
          </a:p>
          <a:p>
            <a:pPr>
              <a:lnSpc>
                <a:spcPct val="90000"/>
              </a:lnSpc>
            </a:pPr>
            <a:r>
              <a:rPr lang="en-US" altLang="en-US" sz="3200" dirty="0"/>
              <a:t>Cover the Following Elements:</a:t>
            </a:r>
            <a:endParaRPr lang="en-US" altLang="en-US" sz="3200" b="1" dirty="0">
              <a:solidFill>
                <a:srgbClr val="FF6600"/>
              </a:solidFill>
            </a:endParaRPr>
          </a:p>
          <a:p>
            <a:pPr lvl="1"/>
            <a:r>
              <a:rPr lang="en-US" altLang="en-US" sz="2400" dirty="0"/>
              <a:t>1) Research Topic and Importance</a:t>
            </a:r>
          </a:p>
          <a:p>
            <a:pPr lvl="1"/>
            <a:r>
              <a:rPr lang="en-US" altLang="en-US" sz="2400" dirty="0"/>
              <a:t>2) Study Model and Hypotheses</a:t>
            </a:r>
          </a:p>
          <a:p>
            <a:pPr lvl="1"/>
            <a:r>
              <a:rPr lang="en-US" altLang="en-US" sz="2400" dirty="0"/>
              <a:t>3) Justification of Hypotheses</a:t>
            </a:r>
          </a:p>
          <a:p>
            <a:pPr lvl="1"/>
            <a:r>
              <a:rPr lang="en-US" altLang="en-US" sz="2400" dirty="0"/>
              <a:t>4) Data Collection Plan</a:t>
            </a:r>
          </a:p>
          <a:p>
            <a:pPr lvl="1"/>
            <a:r>
              <a:rPr lang="en-US" altLang="en-US" sz="2400" dirty="0"/>
              <a:t>5) Empirical Analysis Plan</a:t>
            </a:r>
          </a:p>
          <a:p>
            <a:pPr lvl="1"/>
            <a:r>
              <a:rPr lang="en-US" altLang="en-US" sz="2400" dirty="0"/>
              <a:t>6) If you are able to gather some initial data to test your study hypotheses, what preliminary evidence can you provide regarding your hypothesized relationships?</a:t>
            </a:r>
          </a:p>
          <a:p>
            <a:r>
              <a:rPr lang="en-US" altLang="en-US" sz="3200" dirty="0"/>
              <a:t>Grading will follow the same rubric as Presentation 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6234" y="216692"/>
            <a:ext cx="9052727" cy="1325563"/>
          </a:xfrm>
        </p:spPr>
        <p:txBody>
          <a:bodyPr>
            <a:normAutofit/>
          </a:bodyPr>
          <a:lstStyle/>
          <a:p>
            <a:r>
              <a:rPr lang="en-US" sz="4000" dirty="0"/>
              <a:t>Example Paper Format</a:t>
            </a:r>
          </a:p>
        </p:txBody>
      </p:sp>
      <p:sp>
        <p:nvSpPr>
          <p:cNvPr id="3" name="Content Placeholder 2"/>
          <p:cNvSpPr>
            <a:spLocks noGrp="1"/>
          </p:cNvSpPr>
          <p:nvPr>
            <p:ph idx="1"/>
          </p:nvPr>
        </p:nvSpPr>
        <p:spPr>
          <a:xfrm>
            <a:off x="1999286" y="1655365"/>
            <a:ext cx="9789440" cy="4495800"/>
          </a:xfrm>
        </p:spPr>
        <p:txBody>
          <a:bodyPr>
            <a:normAutofit/>
          </a:bodyPr>
          <a:lstStyle/>
          <a:p>
            <a:r>
              <a:rPr lang="en-US" sz="3200" dirty="0"/>
              <a:t>Introduction: 3 pages maximum</a:t>
            </a:r>
          </a:p>
          <a:p>
            <a:r>
              <a:rPr lang="en-US" sz="3200" dirty="0"/>
              <a:t>Literature Review: 5 pages</a:t>
            </a:r>
          </a:p>
          <a:p>
            <a:r>
              <a:rPr lang="en-US" sz="3200" dirty="0"/>
              <a:t>Hypotheses Development: 1+ page per hypothesis</a:t>
            </a:r>
          </a:p>
          <a:p>
            <a:r>
              <a:rPr lang="en-US" sz="3200" dirty="0"/>
              <a:t>Methodology: Length varies</a:t>
            </a:r>
          </a:p>
          <a:p>
            <a:r>
              <a:rPr lang="en-US" sz="3200" dirty="0"/>
              <a:t>Results: </a:t>
            </a:r>
            <a:r>
              <a:rPr lang="en-US" sz="3200" dirty="0">
                <a:solidFill>
                  <a:srgbClr val="FFFF00"/>
                </a:solidFill>
              </a:rPr>
              <a:t>Not Needed for this paper</a:t>
            </a:r>
          </a:p>
          <a:p>
            <a:r>
              <a:rPr lang="en-US" sz="3200" dirty="0"/>
              <a:t>Discussion and Conclusions:</a:t>
            </a:r>
          </a:p>
          <a:p>
            <a:r>
              <a:rPr lang="en-US" sz="3200" dirty="0"/>
              <a:t>References, Tables and Figures</a:t>
            </a:r>
          </a:p>
        </p:txBody>
      </p:sp>
      <p:sp>
        <p:nvSpPr>
          <p:cNvPr id="4" name="Footer Placeholder 3"/>
          <p:cNvSpPr>
            <a:spLocks noGrp="1"/>
          </p:cNvSpPr>
          <p:nvPr>
            <p:ph type="ftr" sz="quarter" idx="11"/>
          </p:nvPr>
        </p:nvSpPr>
        <p:spPr>
          <a:xfrm>
            <a:off x="5444532" y="6264275"/>
            <a:ext cx="3124200" cy="457200"/>
          </a:xfrm>
        </p:spPr>
        <p:txBody>
          <a:bodyPr/>
          <a:lstStyle/>
          <a:p>
            <a:r>
              <a:rPr lang="en-US" altLang="en-US" dirty="0">
                <a:solidFill>
                  <a:schemeClr val="bg1"/>
                </a:solidFill>
              </a:rPr>
              <a:t>Newburry 2026 DBA International Business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Section</a:t>
            </a:r>
          </a:p>
        </p:txBody>
      </p:sp>
      <p:sp>
        <p:nvSpPr>
          <p:cNvPr id="3" name="Content Placeholder 2"/>
          <p:cNvSpPr>
            <a:spLocks noGrp="1"/>
          </p:cNvSpPr>
          <p:nvPr>
            <p:ph idx="1"/>
          </p:nvPr>
        </p:nvSpPr>
        <p:spPr>
          <a:xfrm>
            <a:off x="1974082" y="1540412"/>
            <a:ext cx="9835662" cy="4495800"/>
          </a:xfrm>
        </p:spPr>
        <p:txBody>
          <a:bodyPr>
            <a:normAutofit lnSpcReduction="10000"/>
          </a:bodyPr>
          <a:lstStyle/>
          <a:p>
            <a:pPr eaLnBrk="1" hangingPunct="1"/>
            <a:r>
              <a:rPr lang="en-US" sz="3200" dirty="0"/>
              <a:t>Two pages maximum </a:t>
            </a:r>
          </a:p>
          <a:p>
            <a:pPr eaLnBrk="1" hangingPunct="1"/>
            <a:r>
              <a:rPr lang="en-US" sz="3200" dirty="0"/>
              <a:t>Will Mitchell’s Four Sentence Conversation Starters:</a:t>
            </a:r>
          </a:p>
          <a:p>
            <a:pPr lvl="1" eaLnBrk="1" hangingPunct="1"/>
            <a:r>
              <a:rPr lang="en-US" sz="2800" dirty="0"/>
              <a:t>The topic</a:t>
            </a:r>
          </a:p>
          <a:p>
            <a:pPr lvl="1" eaLnBrk="1" hangingPunct="1"/>
            <a:r>
              <a:rPr lang="en-US" sz="2800" dirty="0"/>
              <a:t>The received wisdom about the topic</a:t>
            </a:r>
          </a:p>
          <a:p>
            <a:pPr lvl="1" eaLnBrk="1" hangingPunct="1"/>
            <a:r>
              <a:rPr lang="en-US" sz="2800" dirty="0"/>
              <a:t>The gap between R/W and what we need to understand about the topic</a:t>
            </a:r>
          </a:p>
          <a:p>
            <a:pPr lvl="1" eaLnBrk="1" hangingPunct="1"/>
            <a:r>
              <a:rPr lang="en-US" sz="2800" dirty="0"/>
              <a:t>The research question: How I propose to (at least start to) fill this gap</a:t>
            </a:r>
          </a:p>
          <a:p>
            <a:pPr eaLnBrk="1" hangingPunct="1"/>
            <a:r>
              <a:rPr lang="en-US" sz="3200" dirty="0"/>
              <a:t>Establish your intended contribution and why it is interesting (see following slide)</a:t>
            </a:r>
          </a:p>
        </p:txBody>
      </p:sp>
      <p:sp>
        <p:nvSpPr>
          <p:cNvPr id="4" name="Footer Placeholder 3"/>
          <p:cNvSpPr>
            <a:spLocks noGrp="1"/>
          </p:cNvSpPr>
          <p:nvPr>
            <p:ph type="ftr" sz="quarter" idx="11"/>
          </p:nvPr>
        </p:nvSpPr>
        <p:spPr>
          <a:xfrm>
            <a:off x="5177413" y="6264275"/>
            <a:ext cx="3429000" cy="457200"/>
          </a:xfrm>
        </p:spPr>
        <p:txBody>
          <a:bodyPr/>
          <a:lstStyle/>
          <a:p>
            <a:r>
              <a:rPr lang="en-US" altLang="en-US" dirty="0">
                <a:solidFill>
                  <a:schemeClr val="bg1"/>
                </a:solidFill>
              </a:rPr>
              <a:t>Newburry 2026 DBA International Business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81000"/>
            <a:ext cx="8229600" cy="1143000"/>
          </a:xfrm>
        </p:spPr>
        <p:txBody>
          <a:bodyPr/>
          <a:lstStyle/>
          <a:p>
            <a:r>
              <a:rPr lang="en-US" sz="4000" dirty="0"/>
              <a:t>Establish a Relevant Contribution</a:t>
            </a:r>
            <a:br>
              <a:rPr lang="en-US" sz="4000" dirty="0"/>
            </a:br>
            <a:r>
              <a:rPr lang="en-US" sz="3200" dirty="0"/>
              <a:t>(Adapted from Steve Tallman)</a:t>
            </a:r>
            <a:endParaRPr lang="en-US" sz="4000" dirty="0"/>
          </a:p>
        </p:txBody>
      </p:sp>
      <p:sp>
        <p:nvSpPr>
          <p:cNvPr id="3" name="Content Placeholder 2"/>
          <p:cNvSpPr>
            <a:spLocks noGrp="1"/>
          </p:cNvSpPr>
          <p:nvPr>
            <p:ph idx="1"/>
          </p:nvPr>
        </p:nvSpPr>
        <p:spPr>
          <a:xfrm>
            <a:off x="1981200" y="1752600"/>
            <a:ext cx="9793458" cy="4495800"/>
          </a:xfrm>
        </p:spPr>
        <p:txBody>
          <a:bodyPr>
            <a:normAutofit/>
          </a:bodyPr>
          <a:lstStyle/>
          <a:p>
            <a:pPr eaLnBrk="1" hangingPunct="1"/>
            <a:r>
              <a:rPr lang="en-US" sz="3200" dirty="0"/>
              <a:t>Being part of the conversation</a:t>
            </a:r>
          </a:p>
          <a:p>
            <a:pPr lvl="1" eaLnBrk="1" hangingPunct="1"/>
            <a:r>
              <a:rPr lang="en-US" sz="2800" dirty="0"/>
              <a:t>Understanding the literature - the history of the conversation</a:t>
            </a:r>
          </a:p>
          <a:p>
            <a:pPr lvl="1" eaLnBrk="1" hangingPunct="1"/>
            <a:r>
              <a:rPr lang="en-US" sz="2800" dirty="0"/>
              <a:t>Grounding in theory</a:t>
            </a:r>
          </a:p>
          <a:p>
            <a:pPr lvl="1" eaLnBrk="1" hangingPunct="1"/>
            <a:r>
              <a:rPr lang="en-US" sz="2800" dirty="0"/>
              <a:t>Grounding in reality</a:t>
            </a:r>
          </a:p>
          <a:p>
            <a:pPr eaLnBrk="1" hangingPunct="1"/>
            <a:r>
              <a:rPr lang="en-US" sz="3200" dirty="0"/>
              <a:t>Adding to the conversation</a:t>
            </a:r>
          </a:p>
          <a:p>
            <a:pPr lvl="1"/>
            <a:r>
              <a:rPr lang="en-US" sz="2800" dirty="0"/>
              <a:t>Innovation, new ideas for the conversation</a:t>
            </a:r>
          </a:p>
          <a:p>
            <a:pPr lvl="1" eaLnBrk="1" hangingPunct="1"/>
            <a:r>
              <a:rPr lang="en-US" sz="2800" dirty="0"/>
              <a:t>Using existing theory to look at new phenomena</a:t>
            </a:r>
          </a:p>
          <a:p>
            <a:pPr lvl="1" eaLnBrk="1" hangingPunct="1"/>
            <a:r>
              <a:rPr lang="en-US" sz="2800" dirty="0"/>
              <a:t>Looking at new theoretical ideas with familiar data</a:t>
            </a:r>
          </a:p>
          <a:p>
            <a:endParaRPr lang="en-US" sz="3200" dirty="0"/>
          </a:p>
        </p:txBody>
      </p:sp>
      <p:sp>
        <p:nvSpPr>
          <p:cNvPr id="4" name="Footer Placeholder 3"/>
          <p:cNvSpPr>
            <a:spLocks noGrp="1"/>
          </p:cNvSpPr>
          <p:nvPr>
            <p:ph type="ftr" sz="quarter" idx="11"/>
          </p:nvPr>
        </p:nvSpPr>
        <p:spPr>
          <a:xfrm>
            <a:off x="5253613" y="6248400"/>
            <a:ext cx="3276600" cy="457200"/>
          </a:xfrm>
        </p:spPr>
        <p:txBody>
          <a:bodyPr/>
          <a:lstStyle/>
          <a:p>
            <a:r>
              <a:rPr lang="en-US" altLang="en-US" dirty="0">
                <a:solidFill>
                  <a:schemeClr val="bg1"/>
                </a:solidFill>
              </a:rPr>
              <a:t>Newburry 2026 DBA International Business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03374" y="381000"/>
            <a:ext cx="7907426" cy="1143000"/>
          </a:xfrm>
        </p:spPr>
        <p:txBody>
          <a:bodyPr/>
          <a:lstStyle/>
          <a:p>
            <a:r>
              <a:rPr lang="en-US" dirty="0"/>
              <a:t>Example Approach from Jay Barney</a:t>
            </a:r>
          </a:p>
        </p:txBody>
      </p:sp>
      <p:sp>
        <p:nvSpPr>
          <p:cNvPr id="4" name="Footer Placeholder 3"/>
          <p:cNvSpPr>
            <a:spLocks noGrp="1"/>
          </p:cNvSpPr>
          <p:nvPr>
            <p:ph type="ftr" sz="quarter" idx="11"/>
          </p:nvPr>
        </p:nvSpPr>
        <p:spPr>
          <a:xfrm>
            <a:off x="5102888" y="6248400"/>
            <a:ext cx="3124200" cy="457200"/>
          </a:xfrm>
        </p:spPr>
        <p:txBody>
          <a:bodyPr/>
          <a:lstStyle/>
          <a:p>
            <a:r>
              <a:rPr lang="en-US" altLang="en-US" dirty="0">
                <a:solidFill>
                  <a:schemeClr val="bg1"/>
                </a:solidFill>
              </a:rPr>
              <a:t>Newburry 2026 DBA International Business</a:t>
            </a:r>
          </a:p>
        </p:txBody>
      </p:sp>
      <p:pic>
        <p:nvPicPr>
          <p:cNvPr id="13314" name="Picture 2" descr="Jay Barney Text on Introductions"/>
          <p:cNvPicPr>
            <a:picLocks noChangeAspect="1" noChangeArrowheads="1"/>
          </p:cNvPicPr>
          <p:nvPr/>
        </p:nvPicPr>
        <p:blipFill>
          <a:blip r:embed="rId2" cstate="print"/>
          <a:srcRect/>
          <a:stretch>
            <a:fillRect/>
          </a:stretch>
        </p:blipFill>
        <p:spPr bwMode="auto">
          <a:xfrm>
            <a:off x="2090444" y="1629501"/>
            <a:ext cx="9149087" cy="4214448"/>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3182" y="350855"/>
            <a:ext cx="8229600" cy="1143000"/>
          </a:xfrm>
        </p:spPr>
        <p:txBody>
          <a:bodyPr/>
          <a:lstStyle/>
          <a:p>
            <a:r>
              <a:rPr lang="en-US" dirty="0"/>
              <a:t>Common Errors in Introduction</a:t>
            </a:r>
            <a:br>
              <a:rPr lang="en-US" dirty="0"/>
            </a:br>
            <a:r>
              <a:rPr lang="en-US" dirty="0"/>
              <a:t>(From Jay Barney)</a:t>
            </a:r>
          </a:p>
        </p:txBody>
      </p:sp>
      <p:pic>
        <p:nvPicPr>
          <p:cNvPr id="14338" name="Picture 2" descr="Jay Barney Text on Common Errors in Introductions"/>
          <p:cNvPicPr>
            <a:picLocks noChangeAspect="1" noChangeArrowheads="1"/>
          </p:cNvPicPr>
          <p:nvPr/>
        </p:nvPicPr>
        <p:blipFill>
          <a:blip r:embed="rId2" cstate="print"/>
          <a:srcRect/>
          <a:stretch>
            <a:fillRect/>
          </a:stretch>
        </p:blipFill>
        <p:spPr bwMode="auto">
          <a:xfrm>
            <a:off x="2238903" y="1826391"/>
            <a:ext cx="9349140" cy="3480921"/>
          </a:xfrm>
          <a:prstGeom prst="rect">
            <a:avLst/>
          </a:prstGeom>
          <a:noFill/>
          <a:ln w="9525">
            <a:noFill/>
            <a:miter lim="800000"/>
            <a:headEnd/>
            <a:tailEnd/>
          </a:ln>
          <a:effectLst/>
        </p:spPr>
      </p:pic>
      <p:sp>
        <p:nvSpPr>
          <p:cNvPr id="3" name="TextBox 2"/>
          <p:cNvSpPr txBox="1"/>
          <p:nvPr/>
        </p:nvSpPr>
        <p:spPr>
          <a:xfrm>
            <a:off x="2238903" y="5617994"/>
            <a:ext cx="8629478" cy="400110"/>
          </a:xfrm>
          <a:prstGeom prst="rect">
            <a:avLst/>
          </a:prstGeom>
          <a:noFill/>
        </p:spPr>
        <p:txBody>
          <a:bodyPr wrap="none" rtlCol="0">
            <a:spAutoFit/>
          </a:bodyPr>
          <a:lstStyle/>
          <a:p>
            <a:r>
              <a:rPr lang="en-US" sz="2000" dirty="0">
                <a:solidFill>
                  <a:schemeClr val="bg1"/>
                </a:solidFill>
              </a:rPr>
              <a:t>* Bill’s take/clarification: Should discuss contributions, just not only as a list.</a:t>
            </a:r>
          </a:p>
        </p:txBody>
      </p:sp>
      <p:sp>
        <p:nvSpPr>
          <p:cNvPr id="4" name="Footer Placeholder 3"/>
          <p:cNvSpPr>
            <a:spLocks noGrp="1"/>
          </p:cNvSpPr>
          <p:nvPr>
            <p:ph type="ftr" sz="quarter" idx="11"/>
          </p:nvPr>
        </p:nvSpPr>
        <p:spPr>
          <a:xfrm>
            <a:off x="5018314" y="6328786"/>
            <a:ext cx="3200400" cy="457200"/>
          </a:xfrm>
        </p:spPr>
        <p:txBody>
          <a:bodyPr/>
          <a:lstStyle/>
          <a:p>
            <a:r>
              <a:rPr lang="en-US" altLang="en-US" dirty="0">
                <a:solidFill>
                  <a:schemeClr val="bg1"/>
                </a:solidFill>
              </a:rPr>
              <a:t>Newburry 2026 DBA International Business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0686" y="322922"/>
            <a:ext cx="9133114" cy="1325563"/>
          </a:xfrm>
        </p:spPr>
        <p:txBody>
          <a:bodyPr/>
          <a:lstStyle/>
          <a:p>
            <a:r>
              <a:rPr lang="en-US" dirty="0"/>
              <a:t>Literature Review</a:t>
            </a:r>
          </a:p>
        </p:txBody>
      </p:sp>
      <p:sp>
        <p:nvSpPr>
          <p:cNvPr id="3" name="Content Placeholder 2"/>
          <p:cNvSpPr>
            <a:spLocks noGrp="1"/>
          </p:cNvSpPr>
          <p:nvPr>
            <p:ph idx="1"/>
          </p:nvPr>
        </p:nvSpPr>
        <p:spPr>
          <a:xfrm>
            <a:off x="2292699" y="1498042"/>
            <a:ext cx="9256876" cy="4495800"/>
          </a:xfrm>
        </p:spPr>
        <p:txBody>
          <a:bodyPr>
            <a:normAutofit/>
          </a:bodyPr>
          <a:lstStyle/>
          <a:p>
            <a:r>
              <a:rPr lang="en-US" sz="3600" dirty="0"/>
              <a:t>Five pages </a:t>
            </a:r>
          </a:p>
          <a:p>
            <a:r>
              <a:rPr lang="en-US" sz="3600" dirty="0"/>
              <a:t>Cover main theories relevant to your contribution</a:t>
            </a:r>
          </a:p>
          <a:p>
            <a:pPr lvl="1"/>
            <a:r>
              <a:rPr lang="en-US" sz="3200" dirty="0"/>
              <a:t>Should relate to the conversation you identify in the introduction</a:t>
            </a:r>
          </a:p>
          <a:p>
            <a:r>
              <a:rPr lang="en-US" sz="3600" dirty="0"/>
              <a:t>Use this to establish a basic understanding of the background theories needed to develop your hypotheses</a:t>
            </a:r>
          </a:p>
        </p:txBody>
      </p:sp>
      <p:sp>
        <p:nvSpPr>
          <p:cNvPr id="4" name="Footer Placeholder 3"/>
          <p:cNvSpPr>
            <a:spLocks noGrp="1"/>
          </p:cNvSpPr>
          <p:nvPr>
            <p:ph type="ftr" sz="quarter" idx="11"/>
          </p:nvPr>
        </p:nvSpPr>
        <p:spPr>
          <a:xfrm>
            <a:off x="4958443" y="6264275"/>
            <a:ext cx="3657600" cy="457200"/>
          </a:xfrm>
        </p:spPr>
        <p:txBody>
          <a:bodyPr/>
          <a:lstStyle/>
          <a:p>
            <a:r>
              <a:rPr lang="en-US" altLang="en-US" dirty="0">
                <a:solidFill>
                  <a:schemeClr val="bg1"/>
                </a:solidFill>
              </a:rPr>
              <a:t>Newburry 2026 DBA International Business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022" y="365125"/>
            <a:ext cx="9201778" cy="1325563"/>
          </a:xfrm>
        </p:spPr>
        <p:txBody>
          <a:bodyPr/>
          <a:lstStyle/>
          <a:p>
            <a:r>
              <a:rPr lang="en-US" dirty="0"/>
              <a:t>Hypotheses Section</a:t>
            </a:r>
          </a:p>
        </p:txBody>
      </p:sp>
      <p:sp>
        <p:nvSpPr>
          <p:cNvPr id="3" name="Content Placeholder 2"/>
          <p:cNvSpPr>
            <a:spLocks noGrp="1"/>
          </p:cNvSpPr>
          <p:nvPr>
            <p:ph idx="1"/>
          </p:nvPr>
        </p:nvSpPr>
        <p:spPr>
          <a:xfrm>
            <a:off x="2053548" y="1521876"/>
            <a:ext cx="9721110" cy="4495800"/>
          </a:xfrm>
        </p:spPr>
        <p:txBody>
          <a:bodyPr>
            <a:normAutofit/>
          </a:bodyPr>
          <a:lstStyle/>
          <a:p>
            <a:r>
              <a:rPr lang="en-US" sz="3600" dirty="0"/>
              <a:t>About one page per hypothesis</a:t>
            </a:r>
          </a:p>
          <a:p>
            <a:r>
              <a:rPr lang="en-US" sz="3600" dirty="0"/>
              <a:t>Cover the </a:t>
            </a:r>
            <a:r>
              <a:rPr lang="en-US" sz="3600" dirty="0">
                <a:solidFill>
                  <a:srgbClr val="FFFF00"/>
                </a:solidFill>
              </a:rPr>
              <a:t>theoretical logic </a:t>
            </a:r>
            <a:r>
              <a:rPr lang="en-US" sz="3600" dirty="0"/>
              <a:t>justifying the hypothesis</a:t>
            </a:r>
          </a:p>
          <a:p>
            <a:pPr lvl="1"/>
            <a:r>
              <a:rPr lang="en-US" sz="3200" b="1" dirty="0">
                <a:solidFill>
                  <a:srgbClr val="FFFF00"/>
                </a:solidFill>
              </a:rPr>
              <a:t>“Why”</a:t>
            </a:r>
            <a:r>
              <a:rPr lang="en-US" sz="3200" dirty="0"/>
              <a:t> A predicts B</a:t>
            </a:r>
          </a:p>
          <a:p>
            <a:pPr lvl="1"/>
            <a:r>
              <a:rPr lang="en-US" sz="3200" dirty="0"/>
              <a:t>Logic should be clear even without the citations</a:t>
            </a:r>
          </a:p>
          <a:p>
            <a:r>
              <a:rPr lang="en-US" sz="3600" dirty="0"/>
              <a:t>When using past research to justify, don’t just use findings to justify – need to discuss why the relationship should occur</a:t>
            </a:r>
          </a:p>
        </p:txBody>
      </p:sp>
      <p:sp>
        <p:nvSpPr>
          <p:cNvPr id="4" name="Footer Placeholder 3"/>
          <p:cNvSpPr>
            <a:spLocks noGrp="1"/>
          </p:cNvSpPr>
          <p:nvPr>
            <p:ph type="ftr" sz="quarter" idx="11"/>
          </p:nvPr>
        </p:nvSpPr>
        <p:spPr>
          <a:xfrm>
            <a:off x="5152711" y="6264275"/>
            <a:ext cx="3200400" cy="457200"/>
          </a:xfrm>
        </p:spPr>
        <p:txBody>
          <a:bodyPr/>
          <a:lstStyle/>
          <a:p>
            <a:r>
              <a:rPr lang="en-US" altLang="en-US" dirty="0">
                <a:solidFill>
                  <a:schemeClr val="bg1"/>
                </a:solidFill>
              </a:rPr>
              <a:t>Newburry 2026 DBA International Business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3130" y="365125"/>
            <a:ext cx="9170670" cy="1325563"/>
          </a:xfrm>
        </p:spPr>
        <p:txBody>
          <a:bodyPr/>
          <a:lstStyle/>
          <a:p>
            <a:r>
              <a:rPr lang="en-US" dirty="0"/>
              <a:t>Methodology Section</a:t>
            </a:r>
          </a:p>
        </p:txBody>
      </p:sp>
      <p:sp>
        <p:nvSpPr>
          <p:cNvPr id="3" name="Content Placeholder 2"/>
          <p:cNvSpPr>
            <a:spLocks noGrp="1"/>
          </p:cNvSpPr>
          <p:nvPr>
            <p:ph idx="1"/>
          </p:nvPr>
        </p:nvSpPr>
        <p:spPr>
          <a:xfrm>
            <a:off x="2183130" y="1532373"/>
            <a:ext cx="9718138" cy="4495800"/>
          </a:xfrm>
        </p:spPr>
        <p:txBody>
          <a:bodyPr>
            <a:normAutofit/>
          </a:bodyPr>
          <a:lstStyle/>
          <a:p>
            <a:r>
              <a:rPr lang="en-US" sz="2800" dirty="0"/>
              <a:t>~ Five Pages (but depends on the methodology)</a:t>
            </a:r>
          </a:p>
          <a:p>
            <a:r>
              <a:rPr lang="en-US" sz="2800" dirty="0"/>
              <a:t>Study Context</a:t>
            </a:r>
          </a:p>
          <a:p>
            <a:r>
              <a:rPr lang="en-US" sz="2800" dirty="0"/>
              <a:t>Variable Measures</a:t>
            </a:r>
          </a:p>
          <a:p>
            <a:pPr lvl="1"/>
            <a:r>
              <a:rPr lang="en-US" sz="2400" dirty="0"/>
              <a:t>Dependent Variable</a:t>
            </a:r>
          </a:p>
          <a:p>
            <a:pPr lvl="1"/>
            <a:r>
              <a:rPr lang="en-US" sz="2400" dirty="0"/>
              <a:t>Independent Variables</a:t>
            </a:r>
          </a:p>
          <a:p>
            <a:pPr lvl="1"/>
            <a:r>
              <a:rPr lang="en-US" sz="2400" dirty="0"/>
              <a:t>Control Variables</a:t>
            </a:r>
          </a:p>
          <a:p>
            <a:r>
              <a:rPr lang="en-US" sz="2800" dirty="0"/>
              <a:t>If you are conducting a survey, the methodology should include results of tests to establish scale reliability, etc.</a:t>
            </a:r>
          </a:p>
          <a:p>
            <a:r>
              <a:rPr lang="en-US" sz="2800" dirty="0"/>
              <a:t>Statistical Method</a:t>
            </a:r>
          </a:p>
          <a:p>
            <a:pPr lvl="1"/>
            <a:r>
              <a:rPr lang="en-US" sz="2400" dirty="0"/>
              <a:t>What analyses you will conduct and </a:t>
            </a:r>
            <a:r>
              <a:rPr lang="en-US" sz="2400" dirty="0">
                <a:solidFill>
                  <a:srgbClr val="FFFF00"/>
                </a:solidFill>
              </a:rPr>
              <a:t>why </a:t>
            </a:r>
            <a:r>
              <a:rPr lang="en-US" sz="2400" dirty="0"/>
              <a:t>this is appropriate.</a:t>
            </a:r>
          </a:p>
        </p:txBody>
      </p:sp>
      <p:sp>
        <p:nvSpPr>
          <p:cNvPr id="4" name="Footer Placeholder 3"/>
          <p:cNvSpPr>
            <a:spLocks noGrp="1"/>
          </p:cNvSpPr>
          <p:nvPr>
            <p:ph type="ftr" sz="quarter" idx="11"/>
          </p:nvPr>
        </p:nvSpPr>
        <p:spPr>
          <a:xfrm>
            <a:off x="5168265" y="6264275"/>
            <a:ext cx="3200400" cy="457200"/>
          </a:xfrm>
        </p:spPr>
        <p:txBody>
          <a:bodyPr/>
          <a:lstStyle/>
          <a:p>
            <a:r>
              <a:rPr lang="en-US" altLang="en-US" dirty="0">
                <a:solidFill>
                  <a:schemeClr val="bg1"/>
                </a:solidFill>
              </a:rPr>
              <a:t>Newburry 2026 DBA International Business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1592" y="365125"/>
            <a:ext cx="9152207" cy="1325563"/>
          </a:xfrm>
        </p:spPr>
        <p:txBody>
          <a:bodyPr/>
          <a:lstStyle/>
          <a:p>
            <a:r>
              <a:rPr lang="en-US" dirty="0"/>
              <a:t>Results Section</a:t>
            </a:r>
            <a:br>
              <a:rPr lang="en-US" dirty="0"/>
            </a:br>
            <a:r>
              <a:rPr lang="en-US" dirty="0">
                <a:solidFill>
                  <a:srgbClr val="FFFF00"/>
                </a:solidFill>
              </a:rPr>
              <a:t>(not for this project)</a:t>
            </a:r>
          </a:p>
        </p:txBody>
      </p:sp>
      <p:sp>
        <p:nvSpPr>
          <p:cNvPr id="3" name="Content Placeholder 2"/>
          <p:cNvSpPr>
            <a:spLocks noGrp="1"/>
          </p:cNvSpPr>
          <p:nvPr>
            <p:ph idx="1"/>
          </p:nvPr>
        </p:nvSpPr>
        <p:spPr>
          <a:xfrm>
            <a:off x="2201592" y="1999774"/>
            <a:ext cx="9433560" cy="3955415"/>
          </a:xfrm>
        </p:spPr>
        <p:txBody>
          <a:bodyPr>
            <a:normAutofit/>
          </a:bodyPr>
          <a:lstStyle/>
          <a:p>
            <a:r>
              <a:rPr lang="en-US" sz="3600" dirty="0"/>
              <a:t>Length will vary based on methodology</a:t>
            </a:r>
          </a:p>
          <a:p>
            <a:r>
              <a:rPr lang="en-US" sz="3600" dirty="0"/>
              <a:t>Start with a brief discussion of the correlation analysis and overall model fit.</a:t>
            </a:r>
          </a:p>
          <a:p>
            <a:r>
              <a:rPr lang="en-US" sz="3600" dirty="0"/>
              <a:t>Discuss each hypothesis result individually</a:t>
            </a:r>
          </a:p>
          <a:p>
            <a:pPr lvl="1"/>
            <a:r>
              <a:rPr lang="en-US" sz="3200" dirty="0"/>
              <a:t>Do NOT comment on results, only present them (commentary will occur in discussion)</a:t>
            </a:r>
          </a:p>
        </p:txBody>
      </p:sp>
      <p:sp>
        <p:nvSpPr>
          <p:cNvPr id="4" name="Footer Placeholder 3"/>
          <p:cNvSpPr>
            <a:spLocks noGrp="1"/>
          </p:cNvSpPr>
          <p:nvPr>
            <p:ph type="ftr" sz="quarter" idx="11"/>
          </p:nvPr>
        </p:nvSpPr>
        <p:spPr>
          <a:xfrm>
            <a:off x="5098701" y="6264275"/>
            <a:ext cx="3200400" cy="457200"/>
          </a:xfrm>
        </p:spPr>
        <p:txBody>
          <a:bodyPr/>
          <a:lstStyle/>
          <a:p>
            <a:r>
              <a:rPr lang="en-US" altLang="en-US" dirty="0">
                <a:solidFill>
                  <a:schemeClr val="bg1"/>
                </a:solidFill>
              </a:rPr>
              <a:t>Newburry 2026 DBA International Business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0974" y="304800"/>
            <a:ext cx="9093760" cy="1143000"/>
          </a:xfrm>
        </p:spPr>
        <p:txBody>
          <a:bodyPr>
            <a:normAutofit fontScale="90000"/>
          </a:bodyPr>
          <a:lstStyle/>
          <a:p>
            <a:r>
              <a:rPr lang="en-US" dirty="0"/>
              <a:t>Discussion and Conclusion</a:t>
            </a:r>
            <a:br>
              <a:rPr lang="en-US" dirty="0"/>
            </a:br>
            <a:r>
              <a:rPr lang="en-US" sz="2800" dirty="0">
                <a:solidFill>
                  <a:srgbClr val="FFFF00"/>
                </a:solidFill>
              </a:rPr>
              <a:t>(Discuss in terms of expected contributions for this project)</a:t>
            </a:r>
            <a:endParaRPr lang="en-US" dirty="0">
              <a:solidFill>
                <a:srgbClr val="FFFF00"/>
              </a:solidFill>
            </a:endParaRPr>
          </a:p>
        </p:txBody>
      </p:sp>
      <p:sp>
        <p:nvSpPr>
          <p:cNvPr id="3" name="Content Placeholder 2"/>
          <p:cNvSpPr>
            <a:spLocks noGrp="1"/>
          </p:cNvSpPr>
          <p:nvPr>
            <p:ph idx="1"/>
          </p:nvPr>
        </p:nvSpPr>
        <p:spPr>
          <a:xfrm>
            <a:off x="2280975" y="1728281"/>
            <a:ext cx="9465548" cy="4495800"/>
          </a:xfrm>
        </p:spPr>
        <p:txBody>
          <a:bodyPr>
            <a:normAutofit lnSpcReduction="10000"/>
          </a:bodyPr>
          <a:lstStyle/>
          <a:p>
            <a:r>
              <a:rPr lang="en-US" sz="2400" dirty="0"/>
              <a:t>About five pages.</a:t>
            </a:r>
          </a:p>
          <a:p>
            <a:r>
              <a:rPr lang="en-US" sz="2400" dirty="0"/>
              <a:t>Open with a paragraph discussing the overall results.</a:t>
            </a:r>
          </a:p>
          <a:p>
            <a:r>
              <a:rPr lang="en-US" sz="2400" dirty="0"/>
              <a:t>Follow this with a paragraph each for each single hypothesis result</a:t>
            </a:r>
          </a:p>
          <a:p>
            <a:pPr lvl="1"/>
            <a:r>
              <a:rPr lang="en-US" sz="2000" dirty="0"/>
              <a:t>Discuss how the results add to the existing literature, being specific regarding studies that are built upon</a:t>
            </a:r>
          </a:p>
          <a:p>
            <a:pPr lvl="1"/>
            <a:r>
              <a:rPr lang="en-US" sz="2000" dirty="0"/>
              <a:t>Offer explanations for hypotheses that were not supported.</a:t>
            </a:r>
          </a:p>
          <a:p>
            <a:r>
              <a:rPr lang="en-US" sz="2400" dirty="0"/>
              <a:t>Next, include a subsection discussing your major contributions – both in terms of theory and empirical results.</a:t>
            </a:r>
          </a:p>
          <a:p>
            <a:r>
              <a:rPr lang="en-US" sz="2400" dirty="0"/>
              <a:t>Follow this with a subsection on managerial contributions and insights</a:t>
            </a:r>
          </a:p>
          <a:p>
            <a:r>
              <a:rPr lang="en-US" sz="2400" dirty="0"/>
              <a:t>Add a subsection on study limitations next.</a:t>
            </a:r>
          </a:p>
          <a:p>
            <a:r>
              <a:rPr lang="en-US" sz="2400" dirty="0"/>
              <a:t>End with a general concluding paragraph.</a:t>
            </a:r>
          </a:p>
          <a:p>
            <a:endParaRPr lang="en-US" sz="2800" dirty="0"/>
          </a:p>
          <a:p>
            <a:endParaRPr lang="en-US" sz="2800" dirty="0"/>
          </a:p>
          <a:p>
            <a:pPr lvl="1"/>
            <a:endParaRPr lang="en-US" sz="2000" dirty="0"/>
          </a:p>
        </p:txBody>
      </p:sp>
      <p:sp>
        <p:nvSpPr>
          <p:cNvPr id="4" name="Footer Placeholder 3"/>
          <p:cNvSpPr>
            <a:spLocks noGrp="1"/>
          </p:cNvSpPr>
          <p:nvPr>
            <p:ph type="ftr" sz="quarter" idx="11"/>
          </p:nvPr>
        </p:nvSpPr>
        <p:spPr>
          <a:xfrm>
            <a:off x="5190811" y="6275962"/>
            <a:ext cx="3124200" cy="457200"/>
          </a:xfrm>
        </p:spPr>
        <p:txBody>
          <a:bodyPr/>
          <a:lstStyle/>
          <a:p>
            <a:r>
              <a:rPr lang="en-US" altLang="en-US" dirty="0">
                <a:solidFill>
                  <a:schemeClr val="bg1"/>
                </a:solidFill>
              </a:rPr>
              <a:t>Newburry 2026 DBA International Business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0346" y="234779"/>
            <a:ext cx="9203454" cy="1325563"/>
          </a:xfrm>
        </p:spPr>
        <p:txBody>
          <a:bodyPr/>
          <a:lstStyle/>
          <a:p>
            <a:r>
              <a:rPr lang="en-US" dirty="0"/>
              <a:t>Additional Paper Elements</a:t>
            </a:r>
          </a:p>
        </p:txBody>
      </p:sp>
      <p:sp>
        <p:nvSpPr>
          <p:cNvPr id="3" name="Content Placeholder 2"/>
          <p:cNvSpPr>
            <a:spLocks noGrp="1"/>
          </p:cNvSpPr>
          <p:nvPr>
            <p:ph idx="1"/>
          </p:nvPr>
        </p:nvSpPr>
        <p:spPr>
          <a:xfrm>
            <a:off x="2150346" y="1560342"/>
            <a:ext cx="9638380" cy="4495800"/>
          </a:xfrm>
        </p:spPr>
        <p:txBody>
          <a:bodyPr>
            <a:normAutofit fontScale="92500"/>
          </a:bodyPr>
          <a:lstStyle/>
          <a:p>
            <a:r>
              <a:rPr lang="en-US" sz="2800" dirty="0"/>
              <a:t>References</a:t>
            </a:r>
          </a:p>
          <a:p>
            <a:pPr lvl="1"/>
            <a:r>
              <a:rPr lang="en-US" sz="3200" dirty="0"/>
              <a:t>These should generally occur immediately after the main text</a:t>
            </a:r>
          </a:p>
          <a:p>
            <a:pPr lvl="1"/>
            <a:r>
              <a:rPr lang="en-US" sz="3200" dirty="0"/>
              <a:t>Everything cited in the text should be included here (and everything here should be cited in the text) </a:t>
            </a:r>
          </a:p>
          <a:p>
            <a:r>
              <a:rPr lang="en-US" sz="2800" dirty="0"/>
              <a:t>Tables and Figures</a:t>
            </a:r>
          </a:p>
          <a:p>
            <a:pPr lvl="1"/>
            <a:r>
              <a:rPr lang="en-US" sz="3200" dirty="0"/>
              <a:t>These are generally placed at the end of the manuscript with a note “Insert Figure X/Table X About Here” in the appropriate place in the main text.</a:t>
            </a:r>
          </a:p>
          <a:p>
            <a:pPr lvl="1"/>
            <a:endParaRPr lang="en-US" sz="2400" dirty="0"/>
          </a:p>
        </p:txBody>
      </p:sp>
      <p:sp>
        <p:nvSpPr>
          <p:cNvPr id="4" name="Footer Placeholder 3"/>
          <p:cNvSpPr>
            <a:spLocks noGrp="1"/>
          </p:cNvSpPr>
          <p:nvPr>
            <p:ph type="ftr" sz="quarter" idx="11"/>
          </p:nvPr>
        </p:nvSpPr>
        <p:spPr>
          <a:xfrm>
            <a:off x="4919506" y="6264275"/>
            <a:ext cx="3200400" cy="457200"/>
          </a:xfrm>
        </p:spPr>
        <p:txBody>
          <a:bodyPr/>
          <a:lstStyle/>
          <a:p>
            <a:r>
              <a:rPr lang="en-US" altLang="en-US" dirty="0">
                <a:solidFill>
                  <a:schemeClr val="bg1"/>
                </a:solidFill>
              </a:rPr>
              <a:t>Newburry 2026 DBA International Business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779FB-95D2-7AF2-2B46-EDA8D29E9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AE3CF7-0519-9626-988A-EDD4012D5776}"/>
              </a:ext>
            </a:extLst>
          </p:cNvPr>
          <p:cNvSpPr>
            <a:spLocks noGrp="1"/>
          </p:cNvSpPr>
          <p:nvPr>
            <p:ph type="title"/>
          </p:nvPr>
        </p:nvSpPr>
        <p:spPr>
          <a:xfrm>
            <a:off x="1909188" y="254593"/>
            <a:ext cx="10053374" cy="1325563"/>
          </a:xfrm>
        </p:spPr>
        <p:txBody>
          <a:bodyPr/>
          <a:lstStyle/>
          <a:p>
            <a:pPr algn="ctr"/>
            <a:r>
              <a:rPr lang="en-US" sz="4000" b="1" dirty="0">
                <a:solidFill>
                  <a:srgbClr val="FFFF00"/>
                </a:solidFill>
              </a:rPr>
              <a:t>Academy of International Business (AIB) 2027 Conferences</a:t>
            </a:r>
          </a:p>
        </p:txBody>
      </p:sp>
      <p:sp>
        <p:nvSpPr>
          <p:cNvPr id="3" name="Content Placeholder 2">
            <a:extLst>
              <a:ext uri="{FF2B5EF4-FFF2-40B4-BE49-F238E27FC236}">
                <a16:creationId xmlns:a16="http://schemas.microsoft.com/office/drawing/2014/main" id="{E39EC638-9511-0DC1-6773-7707C209088C}"/>
              </a:ext>
            </a:extLst>
          </p:cNvPr>
          <p:cNvSpPr>
            <a:spLocks noGrp="1"/>
          </p:cNvSpPr>
          <p:nvPr>
            <p:ph idx="1"/>
          </p:nvPr>
        </p:nvSpPr>
        <p:spPr>
          <a:xfrm>
            <a:off x="2028092" y="1860550"/>
            <a:ext cx="9934470" cy="4495800"/>
          </a:xfrm>
        </p:spPr>
        <p:txBody>
          <a:bodyPr>
            <a:normAutofit/>
          </a:bodyPr>
          <a:lstStyle/>
          <a:p>
            <a:r>
              <a:rPr lang="en-US" sz="3600" b="1" dirty="0">
                <a:solidFill>
                  <a:srgbClr val="FFFF00"/>
                </a:solidFill>
              </a:rPr>
              <a:t>AIB-LAC – San Juan, Puerto Rico</a:t>
            </a:r>
          </a:p>
          <a:p>
            <a:pPr lvl="1"/>
            <a:r>
              <a:rPr lang="en-US" sz="3200" b="1" dirty="0">
                <a:solidFill>
                  <a:srgbClr val="FFFF00"/>
                </a:solidFill>
              </a:rPr>
              <a:t>Universidad Ana G. Méndez</a:t>
            </a:r>
          </a:p>
          <a:p>
            <a:pPr lvl="1"/>
            <a:r>
              <a:rPr lang="en-US" sz="3200" dirty="0"/>
              <a:t>March 3 – 5, 2027</a:t>
            </a:r>
          </a:p>
          <a:p>
            <a:pPr lvl="1"/>
            <a:r>
              <a:rPr lang="en-US" sz="3200" dirty="0">
                <a:solidFill>
                  <a:srgbClr val="FFFF00"/>
                </a:solidFill>
                <a:hlinkClick r:id="rId2">
                  <a:extLst>
                    <a:ext uri="{A12FA001-AC4F-418D-AE19-62706E023703}">
                      <ahyp:hlinkClr xmlns:ahyp="http://schemas.microsoft.com/office/drawing/2018/hyperlinkcolor" val="tx"/>
                    </a:ext>
                  </a:extLst>
                </a:hlinkClick>
              </a:rPr>
              <a:t>https://lac.aib.world/2027-call-for-papers/</a:t>
            </a:r>
            <a:endParaRPr lang="en-US" sz="3200" dirty="0">
              <a:solidFill>
                <a:srgbClr val="FFFF00"/>
              </a:solidFill>
            </a:endParaRPr>
          </a:p>
          <a:p>
            <a:pPr lvl="1"/>
            <a:r>
              <a:rPr lang="en-US" sz="3200" dirty="0"/>
              <a:t>Paper Submission Deadline: </a:t>
            </a:r>
            <a:r>
              <a:rPr lang="en-US" sz="3200" b="1" u="sng" dirty="0">
                <a:solidFill>
                  <a:srgbClr val="FFFF00"/>
                </a:solidFill>
              </a:rPr>
              <a:t>September 30, 2026</a:t>
            </a:r>
          </a:p>
          <a:p>
            <a:pPr lvl="1"/>
            <a:r>
              <a:rPr lang="en-US" sz="3200" dirty="0"/>
              <a:t>Posters, Doctoral Consortium and Paper Development Workshops (PDWs) – Deadline: </a:t>
            </a:r>
            <a:r>
              <a:rPr lang="en-US" sz="3200" b="1" u="sng" dirty="0">
                <a:solidFill>
                  <a:srgbClr val="FFFF00"/>
                </a:solidFill>
              </a:rPr>
              <a:t>November 20, 2026</a:t>
            </a:r>
          </a:p>
        </p:txBody>
      </p:sp>
      <p:sp>
        <p:nvSpPr>
          <p:cNvPr id="4" name="Footer Placeholder 3">
            <a:extLst>
              <a:ext uri="{FF2B5EF4-FFF2-40B4-BE49-F238E27FC236}">
                <a16:creationId xmlns:a16="http://schemas.microsoft.com/office/drawing/2014/main" id="{829AE066-E397-A153-4F66-9176341E7886}"/>
              </a:ext>
            </a:extLst>
          </p:cNvPr>
          <p:cNvSpPr>
            <a:spLocks noGrp="1"/>
          </p:cNvSpPr>
          <p:nvPr>
            <p:ph type="ftr" sz="quarter" idx="11"/>
          </p:nvPr>
        </p:nvSpPr>
        <p:spPr/>
        <p:txBody>
          <a:bodyPr/>
          <a:lstStyle/>
          <a:p>
            <a:pPr fontAlgn="base">
              <a:spcBef>
                <a:spcPct val="0"/>
              </a:spcBef>
              <a:spcAft>
                <a:spcPct val="0"/>
              </a:spcAft>
              <a:defRPr/>
            </a:pPr>
            <a:r>
              <a:rPr lang="en-US" altLang="en-US" dirty="0">
                <a:solidFill>
                  <a:srgbClr val="FFFFFF"/>
                </a:solidFill>
                <a:effectLst>
                  <a:outerShdw blurRad="38100" dist="38100" dir="2700000" algn="tl">
                    <a:srgbClr val="000000"/>
                  </a:outerShdw>
                </a:effectLst>
                <a:latin typeface="Arial" charset="0"/>
                <a:ea typeface="MS PGothic" pitchFamily="34" charset="-128"/>
                <a:cs typeface="Arial" charset="0"/>
              </a:rPr>
              <a:t>Newburry 2026 DBA International Business</a:t>
            </a:r>
          </a:p>
        </p:txBody>
      </p:sp>
    </p:spTree>
    <p:extLst>
      <p:ext uri="{BB962C8B-B14F-4D97-AF65-F5344CB8AC3E}">
        <p14:creationId xmlns:p14="http://schemas.microsoft.com/office/powerpoint/2010/main" val="27837356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E3510-7861-53FA-8C55-D070AE0FA644}"/>
              </a:ext>
            </a:extLst>
          </p:cNvPr>
          <p:cNvSpPr>
            <a:spLocks noGrp="1"/>
          </p:cNvSpPr>
          <p:nvPr>
            <p:ph type="title"/>
          </p:nvPr>
        </p:nvSpPr>
        <p:spPr>
          <a:xfrm>
            <a:off x="1920239" y="254593"/>
            <a:ext cx="9826283" cy="1325563"/>
          </a:xfrm>
        </p:spPr>
        <p:txBody>
          <a:bodyPr/>
          <a:lstStyle/>
          <a:p>
            <a:pPr algn="ctr"/>
            <a:r>
              <a:rPr lang="en-US" sz="4000" b="1" dirty="0">
                <a:solidFill>
                  <a:srgbClr val="FFFF00"/>
                </a:solidFill>
              </a:rPr>
              <a:t>AIB 2027 Conferences</a:t>
            </a:r>
          </a:p>
        </p:txBody>
      </p:sp>
      <p:sp>
        <p:nvSpPr>
          <p:cNvPr id="3" name="Content Placeholder 2">
            <a:extLst>
              <a:ext uri="{FF2B5EF4-FFF2-40B4-BE49-F238E27FC236}">
                <a16:creationId xmlns:a16="http://schemas.microsoft.com/office/drawing/2014/main" id="{A97336E1-D813-B2EB-DEC4-55C3ABF51D1F}"/>
              </a:ext>
            </a:extLst>
          </p:cNvPr>
          <p:cNvSpPr>
            <a:spLocks noGrp="1"/>
          </p:cNvSpPr>
          <p:nvPr>
            <p:ph idx="1"/>
          </p:nvPr>
        </p:nvSpPr>
        <p:spPr>
          <a:xfrm>
            <a:off x="2149258" y="1580156"/>
            <a:ext cx="9524164" cy="4495800"/>
          </a:xfrm>
        </p:spPr>
        <p:txBody>
          <a:bodyPr>
            <a:normAutofit/>
          </a:bodyPr>
          <a:lstStyle/>
          <a:p>
            <a:r>
              <a:rPr lang="en-US" sz="3600" b="1" dirty="0">
                <a:solidFill>
                  <a:srgbClr val="FFFF00"/>
                </a:solidFill>
              </a:rPr>
              <a:t>AIB – Kuala Lumpur, Malaysia</a:t>
            </a:r>
          </a:p>
          <a:p>
            <a:pPr lvl="1"/>
            <a:r>
              <a:rPr lang="en-US" sz="2800" dirty="0"/>
              <a:t>June 26 – 30, 2027</a:t>
            </a:r>
          </a:p>
          <a:p>
            <a:pPr lvl="1"/>
            <a:r>
              <a:rPr lang="en-US" sz="2800" dirty="0">
                <a:hlinkClick r:id="rId2">
                  <a:extLst>
                    <a:ext uri="{A12FA001-AC4F-418D-AE19-62706E023703}">
                      <ahyp:hlinkClr xmlns:ahyp="http://schemas.microsoft.com/office/drawing/2018/hyperlinkcolor" val="tx"/>
                    </a:ext>
                  </a:extLst>
                </a:hlinkClick>
              </a:rPr>
              <a:t>https://www.aib.world/events/2026/</a:t>
            </a:r>
            <a:endParaRPr lang="en-US" sz="2800" dirty="0"/>
          </a:p>
          <a:p>
            <a:pPr lvl="1"/>
            <a:r>
              <a:rPr lang="en-US" sz="2800" dirty="0"/>
              <a:t>Paper Submission Deadline: January TBD, 2027</a:t>
            </a:r>
          </a:p>
          <a:p>
            <a:pPr lvl="1"/>
            <a:r>
              <a:rPr lang="en-US" sz="2800" dirty="0"/>
              <a:t>Doctoral Consortium Deadline: TBD</a:t>
            </a:r>
          </a:p>
          <a:p>
            <a:pPr lvl="1"/>
            <a:r>
              <a:rPr lang="en-US" sz="2800" dirty="0"/>
              <a:t>Paper Development Workshop (PDW): TBD</a:t>
            </a:r>
          </a:p>
          <a:p>
            <a:pPr lvl="1"/>
            <a:r>
              <a:rPr lang="en-US" sz="2800" dirty="0"/>
              <a:t>Other Preconference Workshops will also be available.</a:t>
            </a:r>
          </a:p>
          <a:p>
            <a:pPr lvl="1"/>
            <a:endParaRPr lang="en-US" sz="3200" dirty="0"/>
          </a:p>
        </p:txBody>
      </p:sp>
      <p:sp>
        <p:nvSpPr>
          <p:cNvPr id="4" name="Footer Placeholder 3">
            <a:extLst>
              <a:ext uri="{FF2B5EF4-FFF2-40B4-BE49-F238E27FC236}">
                <a16:creationId xmlns:a16="http://schemas.microsoft.com/office/drawing/2014/main" id="{F29517DA-BC52-46FA-7548-A32100BB3200}"/>
              </a:ext>
            </a:extLst>
          </p:cNvPr>
          <p:cNvSpPr>
            <a:spLocks noGrp="1"/>
          </p:cNvSpPr>
          <p:nvPr>
            <p:ph type="ftr" sz="quarter" idx="11"/>
          </p:nvPr>
        </p:nvSpPr>
        <p:spPr/>
        <p:txBody>
          <a:bodyPr/>
          <a:lstStyle/>
          <a:p>
            <a:pPr fontAlgn="base">
              <a:spcBef>
                <a:spcPct val="0"/>
              </a:spcBef>
              <a:spcAft>
                <a:spcPct val="0"/>
              </a:spcAft>
              <a:defRPr/>
            </a:pPr>
            <a:r>
              <a:rPr lang="en-US" altLang="en-US" dirty="0">
                <a:solidFill>
                  <a:srgbClr val="FFFFFF"/>
                </a:solidFill>
                <a:effectLst>
                  <a:outerShdw blurRad="38100" dist="38100" dir="2700000" algn="tl">
                    <a:srgbClr val="000000"/>
                  </a:outerShdw>
                </a:effectLst>
                <a:latin typeface="Arial" charset="0"/>
                <a:ea typeface="MS PGothic" pitchFamily="34" charset="-128"/>
                <a:cs typeface="Arial" charset="0"/>
              </a:rPr>
              <a:t>Newburry 2026 DBA International Business</a:t>
            </a:r>
          </a:p>
        </p:txBody>
      </p:sp>
    </p:spTree>
    <p:extLst>
      <p:ext uri="{BB962C8B-B14F-4D97-AF65-F5344CB8AC3E}">
        <p14:creationId xmlns:p14="http://schemas.microsoft.com/office/powerpoint/2010/main" val="34662336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3" name="Rectangle 2"/>
          <p:cNvSpPr>
            <a:spLocks noGrp="1" noChangeArrowheads="1"/>
          </p:cNvSpPr>
          <p:nvPr>
            <p:ph type="title" idx="4294967295"/>
          </p:nvPr>
        </p:nvSpPr>
        <p:spPr>
          <a:xfrm>
            <a:off x="2584101" y="215900"/>
            <a:ext cx="8229600" cy="1231900"/>
          </a:xfrm>
        </p:spPr>
        <p:txBody>
          <a:bodyPr/>
          <a:lstStyle/>
          <a:p>
            <a:pPr eaLnBrk="1" hangingPunct="1">
              <a:defRPr/>
            </a:pPr>
            <a:r>
              <a:rPr lang="en-US" dirty="0"/>
              <a:t>Organizational Structure</a:t>
            </a:r>
          </a:p>
        </p:txBody>
      </p:sp>
      <p:sp>
        <p:nvSpPr>
          <p:cNvPr id="281604" name="Rectangle 3"/>
          <p:cNvSpPr>
            <a:spLocks noGrp="1" noChangeArrowheads="1"/>
          </p:cNvSpPr>
          <p:nvPr>
            <p:ph type="body" idx="4294967295"/>
          </p:nvPr>
        </p:nvSpPr>
        <p:spPr>
          <a:xfrm>
            <a:off x="2584101" y="1557338"/>
            <a:ext cx="8229600" cy="4572000"/>
          </a:xfrm>
        </p:spPr>
        <p:txBody>
          <a:bodyPr>
            <a:normAutofit/>
          </a:bodyPr>
          <a:lstStyle/>
          <a:p>
            <a:pPr eaLnBrk="1" hangingPunct="1">
              <a:buFontTx/>
              <a:buNone/>
              <a:defRPr/>
            </a:pPr>
            <a:r>
              <a:rPr lang="en-US" sz="3200" i="1" dirty="0">
                <a:effectLst>
                  <a:outerShdw blurRad="38100" dist="38100" dir="2700000" algn="tl">
                    <a:srgbClr val="000000"/>
                  </a:outerShdw>
                </a:effectLst>
              </a:rPr>
              <a:t>Organizational structure:</a:t>
            </a:r>
            <a:r>
              <a:rPr lang="en-US" sz="3200" dirty="0">
                <a:effectLst>
                  <a:outerShdw blurRad="38100" dist="38100" dir="2700000" algn="tl">
                    <a:srgbClr val="000000"/>
                  </a:outerShdw>
                </a:effectLst>
              </a:rPr>
              <a:t>  the formal arrangement of roles, responsibilities, and relationships within an organization</a:t>
            </a:r>
          </a:p>
          <a:p>
            <a:pPr eaLnBrk="1" hangingPunct="1">
              <a:buFontTx/>
              <a:buNone/>
              <a:defRPr/>
            </a:pPr>
            <a:r>
              <a:rPr lang="en-US" sz="3200" i="1" dirty="0">
                <a:effectLst>
                  <a:outerShdw blurRad="38100" dist="38100" dir="2700000" algn="tl">
                    <a:srgbClr val="000000"/>
                  </a:outerShdw>
                </a:effectLst>
              </a:rPr>
              <a:t>Organizational differentiation:</a:t>
            </a:r>
            <a:r>
              <a:rPr lang="en-US" sz="3200" dirty="0">
                <a:effectLst>
                  <a:outerShdw blurRad="38100" dist="38100" dir="2700000" algn="tl">
                    <a:srgbClr val="000000"/>
                  </a:outerShdw>
                </a:effectLst>
              </a:rPr>
              <a:t>  the way in which different units and subunits within a firm are organized and assigned to work on different levels and kinds of tasks</a:t>
            </a:r>
          </a:p>
          <a:p>
            <a:pPr eaLnBrk="1" hangingPunct="1">
              <a:buFontTx/>
              <a:buNone/>
              <a:defRPr/>
            </a:pPr>
            <a:r>
              <a:rPr lang="en-US" sz="1100" dirty="0">
                <a:effectLst>
                  <a:outerShdw blurRad="38100" dist="38100" dir="2700000" algn="tl">
                    <a:srgbClr val="000000"/>
                  </a:outerShdw>
                </a:effectLst>
              </a:rPr>
              <a:t>        </a:t>
            </a:r>
          </a:p>
        </p:txBody>
      </p:sp>
      <p:pic>
        <p:nvPicPr>
          <p:cNvPr id="62470" name="Picture 4" descr="j029324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87614" y="271462"/>
            <a:ext cx="1219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11"/>
          </p:nvPr>
        </p:nvSpPr>
        <p:spPr>
          <a:xfrm>
            <a:off x="4785248" y="6272633"/>
            <a:ext cx="44704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Newburry 2026 DBA International Business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7" name="Rectangle 2"/>
          <p:cNvSpPr>
            <a:spLocks noGrp="1" noChangeArrowheads="1"/>
          </p:cNvSpPr>
          <p:nvPr>
            <p:ph type="title" idx="4294967295"/>
          </p:nvPr>
        </p:nvSpPr>
        <p:spPr>
          <a:xfrm>
            <a:off x="2180045" y="234462"/>
            <a:ext cx="9565640" cy="1325563"/>
          </a:xfrm>
        </p:spPr>
        <p:txBody>
          <a:bodyPr/>
          <a:lstStyle/>
          <a:p>
            <a:pPr eaLnBrk="1" hangingPunct="1">
              <a:defRPr/>
            </a:pPr>
            <a:r>
              <a:rPr lang="en-US" dirty="0"/>
              <a:t>Vertical Differentiation</a:t>
            </a:r>
          </a:p>
        </p:txBody>
      </p:sp>
      <p:sp>
        <p:nvSpPr>
          <p:cNvPr id="282628" name="Rectangle 3"/>
          <p:cNvSpPr>
            <a:spLocks noGrp="1" noChangeArrowheads="1"/>
          </p:cNvSpPr>
          <p:nvPr>
            <p:ph type="body" idx="4294967295"/>
          </p:nvPr>
        </p:nvSpPr>
        <p:spPr>
          <a:xfrm>
            <a:off x="2133600" y="1524000"/>
            <a:ext cx="8229600" cy="4800600"/>
          </a:xfrm>
        </p:spPr>
        <p:txBody>
          <a:bodyPr/>
          <a:lstStyle/>
          <a:p>
            <a:pPr eaLnBrk="1" hangingPunct="1">
              <a:lnSpc>
                <a:spcPct val="80000"/>
              </a:lnSpc>
              <a:buFontTx/>
              <a:buNone/>
              <a:defRPr/>
            </a:pPr>
            <a:r>
              <a:rPr lang="en-US" sz="2600" i="1" dirty="0">
                <a:effectLst>
                  <a:outerShdw blurRad="38100" dist="38100" dir="2700000" algn="tl">
                    <a:srgbClr val="000000"/>
                  </a:outerShdw>
                </a:effectLst>
              </a:rPr>
              <a:t>Vertical differentiation:</a:t>
            </a:r>
            <a:r>
              <a:rPr lang="en-US" sz="2600" dirty="0">
                <a:effectLst>
                  <a:outerShdw blurRad="38100" dist="38100" dir="2700000" algn="tl">
                    <a:srgbClr val="000000"/>
                  </a:outerShdw>
                </a:effectLst>
              </a:rPr>
              <a:t>  the way in which an organization balances centralized vs. decentralized decision-making alternatives [the locus of power]</a:t>
            </a:r>
          </a:p>
          <a:p>
            <a:pPr eaLnBrk="1" hangingPunct="1">
              <a:lnSpc>
                <a:spcPct val="80000"/>
              </a:lnSpc>
              <a:buFontTx/>
              <a:buNone/>
              <a:defRPr/>
            </a:pPr>
            <a:r>
              <a:rPr lang="en-US" sz="2400" i="1" dirty="0">
                <a:effectLst>
                  <a:outerShdw blurRad="38100" dist="38100" dir="2700000" algn="tl">
                    <a:srgbClr val="000000"/>
                  </a:outerShdw>
                </a:effectLst>
              </a:rPr>
              <a:t>Centralization:</a:t>
            </a:r>
            <a:r>
              <a:rPr lang="en-US" sz="2400" dirty="0">
                <a:effectLst>
                  <a:outerShdw blurRad="38100" dist="38100" dir="2700000" algn="tl">
                    <a:srgbClr val="000000"/>
                  </a:outerShdw>
                </a:effectLst>
              </a:rPr>
              <a:t>  the degree to which high-level managers (usually above the country level) make decisions and then pass them down to lower levels for implementation</a:t>
            </a:r>
          </a:p>
          <a:p>
            <a:pPr eaLnBrk="1" hangingPunct="1">
              <a:lnSpc>
                <a:spcPct val="80000"/>
              </a:lnSpc>
              <a:buFontTx/>
              <a:buNone/>
              <a:defRPr/>
            </a:pPr>
            <a:r>
              <a:rPr lang="en-US" sz="2400" i="1" dirty="0">
                <a:effectLst>
                  <a:outerShdw blurRad="38100" dist="38100" dir="2700000" algn="tl">
                    <a:srgbClr val="000000"/>
                  </a:outerShdw>
                </a:effectLst>
              </a:rPr>
              <a:t>Decentralization:</a:t>
            </a:r>
            <a:r>
              <a:rPr lang="en-US" sz="2400" dirty="0">
                <a:effectLst>
                  <a:outerShdw blurRad="38100" dist="38100" dir="2700000" algn="tl">
                    <a:srgbClr val="000000"/>
                  </a:outerShdw>
                </a:effectLst>
              </a:rPr>
              <a:t>  the degree to which lower-level managers (at or below the country level) make and implement important decisions</a:t>
            </a:r>
          </a:p>
          <a:p>
            <a:pPr eaLnBrk="1" hangingPunct="1">
              <a:lnSpc>
                <a:spcPct val="80000"/>
              </a:lnSpc>
              <a:buFontTx/>
              <a:buNone/>
              <a:defRPr/>
            </a:pPr>
            <a:endParaRPr lang="en-US" sz="2400" dirty="0">
              <a:effectLst>
                <a:outerShdw blurRad="38100" dist="38100" dir="2700000" algn="tl">
                  <a:srgbClr val="000000"/>
                </a:outerShdw>
              </a:effectLst>
            </a:endParaRPr>
          </a:p>
          <a:p>
            <a:pPr eaLnBrk="1" hangingPunct="1">
              <a:lnSpc>
                <a:spcPct val="80000"/>
              </a:lnSpc>
              <a:defRPr/>
            </a:pPr>
            <a:r>
              <a:rPr lang="en-US" sz="2200" dirty="0">
                <a:effectLst>
                  <a:outerShdw blurRad="38100" dist="38100" dir="2700000" algn="tl">
                    <a:srgbClr val="000000"/>
                  </a:outerShdw>
                </a:effectLst>
              </a:rPr>
              <a:t>Usually, </a:t>
            </a:r>
            <a:r>
              <a:rPr lang="en-US" sz="2200" i="1" dirty="0">
                <a:effectLst>
                  <a:outerShdw blurRad="38100" dist="38100" dir="2700000" algn="tl">
                    <a:srgbClr val="000000"/>
                  </a:outerShdw>
                </a:effectLst>
              </a:rPr>
              <a:t>centralized decision-making</a:t>
            </a:r>
            <a:r>
              <a:rPr lang="en-US" sz="2200" dirty="0">
                <a:effectLst>
                  <a:outerShdw blurRad="38100" dist="38100" dir="2700000" algn="tl">
                    <a:srgbClr val="000000"/>
                  </a:outerShdw>
                </a:effectLst>
              </a:rPr>
              <a:t> is associated with an </a:t>
            </a:r>
            <a:r>
              <a:rPr lang="en-US" sz="2200" i="1" dirty="0">
                <a:effectLst>
                  <a:outerShdw blurRad="38100" dist="38100" dir="2700000" algn="tl">
                    <a:srgbClr val="000000"/>
                  </a:outerShdw>
                </a:effectLst>
              </a:rPr>
              <a:t>international </a:t>
            </a:r>
            <a:r>
              <a:rPr lang="en-US" sz="2200" dirty="0">
                <a:effectLst>
                  <a:outerShdw blurRad="38100" dist="38100" dir="2700000" algn="tl">
                    <a:srgbClr val="000000"/>
                  </a:outerShdw>
                </a:effectLst>
              </a:rPr>
              <a:t>or</a:t>
            </a:r>
            <a:r>
              <a:rPr lang="en-US" sz="2200" i="1" dirty="0">
                <a:effectLst>
                  <a:outerShdw blurRad="38100" dist="38100" dir="2700000" algn="tl">
                    <a:srgbClr val="000000"/>
                  </a:outerShdw>
                </a:effectLst>
              </a:rPr>
              <a:t> global strategy</a:t>
            </a:r>
            <a:r>
              <a:rPr lang="en-US" sz="2200" dirty="0">
                <a:effectLst>
                  <a:outerShdw blurRad="38100" dist="38100" dir="2700000" algn="tl">
                    <a:srgbClr val="000000"/>
                  </a:outerShdw>
                </a:effectLst>
              </a:rPr>
              <a:t>, </a:t>
            </a:r>
            <a:r>
              <a:rPr lang="en-US" sz="2200" i="1" dirty="0">
                <a:effectLst>
                  <a:outerShdw blurRad="38100" dist="38100" dir="2700000" algn="tl">
                    <a:srgbClr val="000000"/>
                  </a:outerShdw>
                </a:effectLst>
              </a:rPr>
              <a:t>decentralized decision-making</a:t>
            </a:r>
            <a:r>
              <a:rPr lang="en-US" sz="2200" dirty="0">
                <a:effectLst>
                  <a:outerShdw blurRad="38100" dist="38100" dir="2700000" algn="tl">
                    <a:srgbClr val="000000"/>
                  </a:outerShdw>
                </a:effectLst>
              </a:rPr>
              <a:t> with a </a:t>
            </a:r>
            <a:r>
              <a:rPr lang="en-US" sz="2200" i="1" dirty="0">
                <a:effectLst>
                  <a:outerShdw blurRad="38100" dist="38100" dir="2700000" algn="tl">
                    <a:srgbClr val="000000"/>
                  </a:outerShdw>
                </a:effectLst>
              </a:rPr>
              <a:t>multidomestic strategy</a:t>
            </a:r>
            <a:r>
              <a:rPr lang="en-US" sz="2200" dirty="0">
                <a:effectLst>
                  <a:outerShdw blurRad="38100" dist="38100" dir="2700000" algn="tl">
                    <a:srgbClr val="000000"/>
                  </a:outerShdw>
                </a:effectLst>
              </a:rPr>
              <a:t>, and a combination of the two with a </a:t>
            </a:r>
            <a:r>
              <a:rPr lang="en-US" sz="2200" i="1" dirty="0">
                <a:effectLst>
                  <a:outerShdw blurRad="38100" dist="38100" dir="2700000" algn="tl">
                    <a:srgbClr val="000000"/>
                  </a:outerShdw>
                </a:effectLst>
              </a:rPr>
              <a:t>transnational strategy</a:t>
            </a:r>
            <a:r>
              <a:rPr lang="en-US" sz="2200" dirty="0">
                <a:effectLst>
                  <a:outerShdw blurRad="38100" dist="38100" dir="2700000" algn="tl">
                    <a:srgbClr val="000000"/>
                  </a:outerShdw>
                </a:effectLst>
              </a:rPr>
              <a:t>.  </a:t>
            </a:r>
          </a:p>
        </p:txBody>
      </p:sp>
      <p:sp>
        <p:nvSpPr>
          <p:cNvPr id="8" name="Rectangle 25"/>
          <p:cNvSpPr>
            <a:spLocks noGrp="1" noChangeArrowheads="1"/>
          </p:cNvSpPr>
          <p:nvPr>
            <p:ph type="ftr" sz="quarter" idx="11"/>
          </p:nvPr>
        </p:nvSpPr>
        <p:spPr>
          <a:xfrm>
            <a:off x="4453653" y="6248400"/>
            <a:ext cx="4470400" cy="457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srgbClr val="FFFFFF"/>
                </a:solidFill>
                <a:effectLst/>
                <a:uLnTx/>
                <a:uFillTx/>
                <a:latin typeface="Arial" panose="020B0604020202020204"/>
                <a:ea typeface="+mn-ea"/>
                <a:cs typeface="+mn-cs"/>
              </a:rPr>
              <a:t>Newburry 2026 DBA International Business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1" name="Rectangle 2"/>
          <p:cNvSpPr>
            <a:spLocks noGrp="1" noChangeArrowheads="1"/>
          </p:cNvSpPr>
          <p:nvPr>
            <p:ph type="body" idx="4294967295"/>
          </p:nvPr>
        </p:nvSpPr>
        <p:spPr>
          <a:xfrm>
            <a:off x="2412440" y="1477467"/>
            <a:ext cx="9404421" cy="5029200"/>
          </a:xfrm>
        </p:spPr>
        <p:txBody>
          <a:bodyPr/>
          <a:lstStyle/>
          <a:p>
            <a:pPr eaLnBrk="1" hangingPunct="1">
              <a:lnSpc>
                <a:spcPct val="90000"/>
              </a:lnSpc>
              <a:defRPr/>
            </a:pPr>
            <a:r>
              <a:rPr lang="en-US" sz="2400" dirty="0">
                <a:effectLst>
                  <a:outerShdw blurRad="38100" dist="38100" dir="2700000" algn="tl">
                    <a:srgbClr val="000000"/>
                  </a:outerShdw>
                </a:effectLst>
              </a:rPr>
              <a:t>The reason for choosing one type of decision-making authority over another is partly a function of attitude.</a:t>
            </a:r>
          </a:p>
          <a:p>
            <a:pPr lvl="1" eaLnBrk="1" hangingPunct="1">
              <a:lnSpc>
                <a:spcPct val="90000"/>
              </a:lnSpc>
              <a:defRPr/>
            </a:pPr>
            <a:r>
              <a:rPr lang="en-US" sz="2200" i="1" dirty="0">
                <a:effectLst>
                  <a:outerShdw blurRad="38100" dist="38100" dir="2700000" algn="tl">
                    <a:srgbClr val="000000"/>
                  </a:outerShdw>
                </a:effectLst>
              </a:rPr>
              <a:t>ethnocentric attitude:</a:t>
            </a:r>
            <a:r>
              <a:rPr lang="en-US" sz="2200" dirty="0">
                <a:effectLst>
                  <a:outerShdw blurRad="38100" dist="38100" dir="2700000" algn="tl">
                    <a:srgbClr val="000000"/>
                  </a:outerShdw>
                </a:effectLst>
              </a:rPr>
              <a:t>  encourages an </a:t>
            </a:r>
            <a:r>
              <a:rPr lang="en-US" sz="2200" i="1" dirty="0">
                <a:effectLst>
                  <a:outerShdw blurRad="38100" dist="38100" dir="2700000" algn="tl">
                    <a:srgbClr val="000000"/>
                  </a:outerShdw>
                </a:effectLst>
              </a:rPr>
              <a:t>international</a:t>
            </a:r>
            <a:r>
              <a:rPr lang="en-US" sz="2200" dirty="0">
                <a:effectLst>
                  <a:outerShdw blurRad="38100" dist="38100" dir="2700000" algn="tl">
                    <a:srgbClr val="000000"/>
                  </a:outerShdw>
                </a:effectLst>
              </a:rPr>
              <a:t> or </a:t>
            </a:r>
            <a:r>
              <a:rPr lang="en-US" sz="2200" i="1" dirty="0">
                <a:effectLst>
                  <a:outerShdw blurRad="38100" dist="38100" dir="2700000" algn="tl">
                    <a:srgbClr val="000000"/>
                  </a:outerShdw>
                </a:effectLst>
              </a:rPr>
              <a:t>global firm</a:t>
            </a:r>
            <a:r>
              <a:rPr lang="en-US" sz="2200" dirty="0">
                <a:effectLst>
                  <a:outerShdw blurRad="38100" dist="38100" dir="2700000" algn="tl">
                    <a:srgbClr val="000000"/>
                  </a:outerShdw>
                </a:effectLst>
              </a:rPr>
              <a:t> to develop core competencies in its home country and then closely supervise their transfer and use abroad i.e., </a:t>
            </a:r>
            <a:r>
              <a:rPr lang="en-US" sz="2200" i="1" dirty="0">
                <a:effectLst>
                  <a:outerShdw blurRad="38100" dist="38100" dir="2700000" algn="tl">
                    <a:srgbClr val="000000"/>
                  </a:outerShdw>
                </a:effectLst>
              </a:rPr>
              <a:t>centralized decision-making</a:t>
            </a:r>
          </a:p>
          <a:p>
            <a:pPr lvl="1" eaLnBrk="1" hangingPunct="1">
              <a:lnSpc>
                <a:spcPct val="90000"/>
              </a:lnSpc>
              <a:defRPr/>
            </a:pPr>
            <a:r>
              <a:rPr lang="en-US" sz="2200" i="1" dirty="0">
                <a:effectLst>
                  <a:outerShdw blurRad="38100" dist="38100" dir="2700000" algn="tl">
                    <a:srgbClr val="000000"/>
                  </a:outerShdw>
                </a:effectLst>
              </a:rPr>
              <a:t>polycentric attitude:</a:t>
            </a:r>
            <a:r>
              <a:rPr lang="en-US" sz="2200" dirty="0">
                <a:effectLst>
                  <a:outerShdw blurRad="38100" dist="38100" dir="2700000" algn="tl">
                    <a:srgbClr val="000000"/>
                  </a:outerShdw>
                </a:effectLst>
              </a:rPr>
              <a:t>  encourages a </a:t>
            </a:r>
            <a:r>
              <a:rPr lang="en-US" sz="2200" i="1" dirty="0">
                <a:effectLst>
                  <a:outerShdw blurRad="38100" dist="38100" dir="2700000" algn="tl">
                    <a:srgbClr val="000000"/>
                  </a:outerShdw>
                </a:effectLst>
              </a:rPr>
              <a:t>multidomestic firm</a:t>
            </a:r>
            <a:r>
              <a:rPr lang="en-US" sz="2200" dirty="0">
                <a:effectLst>
                  <a:outerShdw blurRad="38100" dist="38100" dir="2700000" algn="tl">
                    <a:srgbClr val="000000"/>
                  </a:outerShdw>
                </a:effectLst>
              </a:rPr>
              <a:t> to grant decision-making authority to foreign subsidiaries, i.e., </a:t>
            </a:r>
            <a:r>
              <a:rPr lang="en-US" sz="2200" i="1" dirty="0">
                <a:effectLst>
                  <a:outerShdw blurRad="38100" dist="38100" dir="2700000" algn="tl">
                    <a:srgbClr val="000000"/>
                  </a:outerShdw>
                </a:effectLst>
              </a:rPr>
              <a:t>decentralized decision-making</a:t>
            </a:r>
          </a:p>
          <a:p>
            <a:pPr lvl="1" eaLnBrk="1" hangingPunct="1">
              <a:lnSpc>
                <a:spcPct val="90000"/>
              </a:lnSpc>
              <a:defRPr/>
            </a:pPr>
            <a:r>
              <a:rPr lang="en-US" sz="2200" i="1" dirty="0">
                <a:effectLst>
                  <a:outerShdw blurRad="38100" dist="38100" dir="2700000" algn="tl">
                    <a:srgbClr val="000000"/>
                  </a:outerShdw>
                </a:effectLst>
              </a:rPr>
              <a:t>geocentric attitude:</a:t>
            </a:r>
            <a:r>
              <a:rPr lang="en-US" sz="2200" dirty="0">
                <a:effectLst>
                  <a:outerShdw blurRad="38100" dist="38100" dir="2700000" algn="tl">
                    <a:srgbClr val="000000"/>
                  </a:outerShdw>
                </a:effectLst>
              </a:rPr>
              <a:t>  encourages a </a:t>
            </a:r>
            <a:r>
              <a:rPr lang="en-US" sz="2200" i="1" dirty="0">
                <a:effectLst>
                  <a:outerShdw blurRad="38100" dist="38100" dir="2700000" algn="tl">
                    <a:srgbClr val="000000"/>
                  </a:outerShdw>
                </a:effectLst>
              </a:rPr>
              <a:t>transnational firm</a:t>
            </a:r>
            <a:r>
              <a:rPr lang="en-US" sz="2200" dirty="0">
                <a:effectLst>
                  <a:outerShdw blurRad="38100" dist="38100" dir="2700000" algn="tl">
                    <a:srgbClr val="000000"/>
                  </a:outerShdw>
                </a:effectLst>
              </a:rPr>
              <a:t> to creatively balance the competing needs for </a:t>
            </a:r>
            <a:r>
              <a:rPr lang="en-US" sz="2200" i="1" dirty="0">
                <a:effectLst>
                  <a:outerShdw blurRad="38100" dist="38100" dir="2700000" algn="tl">
                    <a:srgbClr val="000000"/>
                  </a:outerShdw>
                </a:effectLst>
              </a:rPr>
              <a:t>centralized  and decentralized decision-making</a:t>
            </a:r>
            <a:r>
              <a:rPr lang="en-US" sz="2200" dirty="0">
                <a:effectLst>
                  <a:outerShdw blurRad="38100" dist="38100" dir="2700000" algn="tl">
                    <a:srgbClr val="000000"/>
                  </a:outerShdw>
                </a:effectLst>
              </a:rPr>
              <a:t> in order to respond     to both global and local pressures</a:t>
            </a:r>
          </a:p>
        </p:txBody>
      </p:sp>
      <p:sp>
        <p:nvSpPr>
          <p:cNvPr id="283652" name="Rectangle 3"/>
          <p:cNvSpPr>
            <a:spLocks noGrp="1" noChangeArrowheads="1"/>
          </p:cNvSpPr>
          <p:nvPr>
            <p:ph type="title" idx="4294967295"/>
          </p:nvPr>
        </p:nvSpPr>
        <p:spPr>
          <a:xfrm>
            <a:off x="2412440" y="224448"/>
            <a:ext cx="9283003" cy="1325563"/>
          </a:xfrm>
        </p:spPr>
        <p:txBody>
          <a:bodyPr/>
          <a:lstStyle/>
          <a:p>
            <a:pPr eaLnBrk="1" hangingPunct="1">
              <a:defRPr/>
            </a:pPr>
            <a:r>
              <a:rPr lang="en-US" dirty="0"/>
              <a:t>Vertical Differentiation (Cont.)</a:t>
            </a:r>
          </a:p>
        </p:txBody>
      </p:sp>
      <p:sp>
        <p:nvSpPr>
          <p:cNvPr id="7" name="Rectangle 25"/>
          <p:cNvSpPr>
            <a:spLocks noGrp="1" noChangeArrowheads="1"/>
          </p:cNvSpPr>
          <p:nvPr>
            <p:ph type="ftr" sz="quarter" idx="11"/>
          </p:nvPr>
        </p:nvSpPr>
        <p:spPr>
          <a:xfrm>
            <a:off x="4879450" y="6278067"/>
            <a:ext cx="4470400" cy="457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srgbClr val="FFFFFF"/>
                </a:solidFill>
                <a:effectLst/>
                <a:uLnTx/>
                <a:uFillTx/>
                <a:latin typeface="Arial" panose="020B0604020202020204"/>
                <a:ea typeface="+mn-ea"/>
                <a:cs typeface="+mn-cs"/>
              </a:rPr>
              <a:t>Newburry 2026 DBA International Business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5" name="Rectangle 2"/>
          <p:cNvSpPr>
            <a:spLocks noGrp="1" noChangeArrowheads="1"/>
          </p:cNvSpPr>
          <p:nvPr>
            <p:ph type="title" idx="4294967295"/>
          </p:nvPr>
        </p:nvSpPr>
        <p:spPr>
          <a:xfrm>
            <a:off x="2292699" y="304800"/>
            <a:ext cx="8153400" cy="1143000"/>
          </a:xfrm>
        </p:spPr>
        <p:txBody>
          <a:bodyPr/>
          <a:lstStyle/>
          <a:p>
            <a:pPr eaLnBrk="1" hangingPunct="1">
              <a:defRPr/>
            </a:pPr>
            <a:r>
              <a:rPr lang="en-US" dirty="0"/>
              <a:t>Horizontal </a:t>
            </a:r>
            <a:r>
              <a:rPr lang="en-US" sz="4000" dirty="0"/>
              <a:t>Differentiation</a:t>
            </a:r>
          </a:p>
        </p:txBody>
      </p:sp>
      <p:sp>
        <p:nvSpPr>
          <p:cNvPr id="284676" name="Rectangle 3"/>
          <p:cNvSpPr>
            <a:spLocks noGrp="1" noChangeArrowheads="1"/>
          </p:cNvSpPr>
          <p:nvPr>
            <p:ph type="body" idx="4294967295"/>
          </p:nvPr>
        </p:nvSpPr>
        <p:spPr>
          <a:xfrm>
            <a:off x="2254599" y="1844675"/>
            <a:ext cx="8229600" cy="4230687"/>
          </a:xfrm>
        </p:spPr>
        <p:txBody>
          <a:bodyPr>
            <a:normAutofit lnSpcReduction="10000"/>
          </a:bodyPr>
          <a:lstStyle/>
          <a:p>
            <a:pPr eaLnBrk="1" hangingPunct="1">
              <a:lnSpc>
                <a:spcPct val="80000"/>
              </a:lnSpc>
              <a:buFontTx/>
              <a:buNone/>
              <a:defRPr/>
            </a:pPr>
            <a:r>
              <a:rPr lang="en-US" sz="2600" i="1" dirty="0">
                <a:effectLst>
                  <a:outerShdw blurRad="38100" dist="38100" dir="2700000" algn="tl">
                    <a:srgbClr val="000000"/>
                  </a:outerShdw>
                </a:effectLst>
              </a:rPr>
              <a:t>Horizontal differentiation:</a:t>
            </a:r>
            <a:r>
              <a:rPr lang="en-US" sz="2600" dirty="0">
                <a:effectLst>
                  <a:outerShdw blurRad="38100" dist="38100" dir="2700000" algn="tl">
                    <a:srgbClr val="000000"/>
                  </a:outerShdw>
                </a:effectLst>
              </a:rPr>
              <a:t>  the way in which a firm is divided into discrete units and sub-units that are assigned responsibility for specialized tasks</a:t>
            </a:r>
            <a:r>
              <a:rPr lang="en-US" sz="2400" dirty="0">
                <a:effectLst>
                  <a:outerShdw blurRad="38100" dist="38100" dir="2700000" algn="tl">
                    <a:srgbClr val="000000"/>
                  </a:outerShdw>
                </a:effectLst>
              </a:rPr>
              <a:t> </a:t>
            </a:r>
          </a:p>
          <a:p>
            <a:pPr eaLnBrk="1" hangingPunct="1">
              <a:lnSpc>
                <a:spcPct val="80000"/>
              </a:lnSpc>
              <a:buFontTx/>
              <a:buNone/>
              <a:defRPr/>
            </a:pPr>
            <a:r>
              <a:rPr lang="en-US" dirty="0">
                <a:effectLst>
                  <a:outerShdw blurRad="38100" dist="38100" dir="2700000" algn="tl">
                    <a:srgbClr val="000000"/>
                  </a:outerShdw>
                </a:effectLst>
                <a:cs typeface="Tahoma" pitchFamily="34" charset="0"/>
              </a:rPr>
              <a:t>•	</a:t>
            </a:r>
            <a:r>
              <a:rPr lang="en-US" sz="2400" dirty="0">
                <a:effectLst>
                  <a:outerShdw blurRad="38100" dist="38100" dir="2700000" algn="tl">
                    <a:srgbClr val="000000"/>
                  </a:outerShdw>
                </a:effectLst>
                <a:cs typeface="Tahoma" pitchFamily="34" charset="0"/>
              </a:rPr>
              <a:t>Horizontal differentiation describes the way in which a firm designs its formal structure in order to:</a:t>
            </a:r>
          </a:p>
          <a:p>
            <a:pPr lvl="1" eaLnBrk="1" hangingPunct="1">
              <a:lnSpc>
                <a:spcPct val="80000"/>
              </a:lnSpc>
              <a:defRPr/>
            </a:pPr>
            <a:r>
              <a:rPr lang="en-US" sz="2200" dirty="0">
                <a:effectLst>
                  <a:outerShdw blurRad="38100" dist="38100" dir="2700000" algn="tl">
                    <a:srgbClr val="000000"/>
                  </a:outerShdw>
                </a:effectLst>
              </a:rPr>
              <a:t>specify the total set of organizational tasks</a:t>
            </a:r>
          </a:p>
          <a:p>
            <a:pPr lvl="1" eaLnBrk="1" hangingPunct="1">
              <a:lnSpc>
                <a:spcPct val="80000"/>
              </a:lnSpc>
              <a:defRPr/>
            </a:pPr>
            <a:r>
              <a:rPr lang="en-US" sz="2200" dirty="0">
                <a:effectLst>
                  <a:outerShdw blurRad="38100" dist="38100" dir="2700000" algn="tl">
                    <a:srgbClr val="000000"/>
                  </a:outerShdw>
                </a:effectLst>
              </a:rPr>
              <a:t>logically divide those tasks into jobs, departments, subsidiaries, and/or divisions</a:t>
            </a:r>
          </a:p>
          <a:p>
            <a:pPr lvl="1" eaLnBrk="1" hangingPunct="1">
              <a:lnSpc>
                <a:spcPct val="80000"/>
              </a:lnSpc>
              <a:defRPr/>
            </a:pPr>
            <a:r>
              <a:rPr lang="en-US" sz="2200" dirty="0">
                <a:effectLst>
                  <a:outerShdw blurRad="38100" dist="38100" dir="2700000" algn="tl">
                    <a:srgbClr val="000000"/>
                  </a:outerShdw>
                </a:effectLst>
              </a:rPr>
              <a:t>assign authority and reporting relationships in ways that are designed to support the firm’s strategies</a:t>
            </a:r>
          </a:p>
          <a:p>
            <a:pPr lvl="1" eaLnBrk="1" hangingPunct="1">
              <a:lnSpc>
                <a:spcPct val="80000"/>
              </a:lnSpc>
              <a:buFontTx/>
              <a:buNone/>
              <a:defRPr/>
            </a:pPr>
            <a:r>
              <a:rPr lang="en-US" sz="800" dirty="0">
                <a:effectLst>
                  <a:outerShdw blurRad="38100" dist="38100" dir="2700000" algn="tl">
                    <a:srgbClr val="000000"/>
                  </a:outerShdw>
                </a:effectLst>
              </a:rPr>
              <a:t>            </a:t>
            </a:r>
          </a:p>
          <a:p>
            <a:pPr algn="ctr" eaLnBrk="1" hangingPunct="1">
              <a:lnSpc>
                <a:spcPct val="80000"/>
              </a:lnSpc>
              <a:buFontTx/>
              <a:buNone/>
              <a:defRPr/>
            </a:pPr>
            <a:r>
              <a:rPr lang="en-US" i="1" dirty="0">
                <a:effectLst>
                  <a:outerShdw blurRad="38100" dist="38100" dir="2700000" algn="tl">
                    <a:srgbClr val="000000"/>
                  </a:outerShdw>
                </a:effectLst>
              </a:rPr>
              <a:t>	Traditionally MNEs have resolved these issues on the basis of function, type of business/product, geographic region, or some combination of the three.</a:t>
            </a:r>
          </a:p>
        </p:txBody>
      </p:sp>
      <p:pic>
        <p:nvPicPr>
          <p:cNvPr id="52231" name="Picture 4" descr="MCDD01768_0000[1]"/>
          <p:cNvPicPr>
            <a:picLocks noChangeAspect="1" noChangeArrowheads="1"/>
          </p:cNvPicPr>
          <p:nvPr/>
        </p:nvPicPr>
        <p:blipFill>
          <a:blip r:embed="rId2"/>
          <a:srcRect/>
          <a:stretch>
            <a:fillRect/>
          </a:stretch>
        </p:blipFill>
        <p:spPr bwMode="auto">
          <a:xfrm rot="5400000" flipV="1">
            <a:off x="10248900" y="76200"/>
            <a:ext cx="1371600" cy="1600200"/>
          </a:xfrm>
          <a:prstGeom prst="rect">
            <a:avLst/>
          </a:prstGeom>
          <a:noFill/>
          <a:ln w="9525">
            <a:noFill/>
            <a:miter lim="800000"/>
            <a:headEnd/>
            <a:tailEnd/>
          </a:ln>
        </p:spPr>
      </p:pic>
      <p:sp>
        <p:nvSpPr>
          <p:cNvPr id="8" name="Rectangle 25"/>
          <p:cNvSpPr>
            <a:spLocks noGrp="1" noChangeArrowheads="1"/>
          </p:cNvSpPr>
          <p:nvPr>
            <p:ph type="ftr" sz="quarter" idx="11"/>
          </p:nvPr>
        </p:nvSpPr>
        <p:spPr>
          <a:xfrm>
            <a:off x="4574233" y="6243637"/>
            <a:ext cx="4470400" cy="457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srgbClr val="FFFFFF"/>
                </a:solidFill>
                <a:effectLst/>
                <a:uLnTx/>
                <a:uFillTx/>
                <a:latin typeface="Arial" panose="020B0604020202020204"/>
                <a:ea typeface="+mn-ea"/>
                <a:cs typeface="+mn-cs"/>
              </a:rPr>
              <a:t>Newburry 2026 DBA International Business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9" name="Rectangle 2"/>
          <p:cNvSpPr>
            <a:spLocks noGrp="1" noChangeArrowheads="1"/>
          </p:cNvSpPr>
          <p:nvPr>
            <p:ph type="title" idx="4294967295"/>
          </p:nvPr>
        </p:nvSpPr>
        <p:spPr>
          <a:xfrm>
            <a:off x="2955890" y="2286000"/>
            <a:ext cx="8229600" cy="1143000"/>
          </a:xfrm>
        </p:spPr>
        <p:txBody>
          <a:bodyPr/>
          <a:lstStyle/>
          <a:p>
            <a:pPr eaLnBrk="1" hangingPunct="1">
              <a:defRPr/>
            </a:pPr>
            <a:r>
              <a:rPr lang="en-US" sz="4000" dirty="0"/>
              <a:t>Formal Organizational Structures</a:t>
            </a:r>
          </a:p>
        </p:txBody>
      </p:sp>
      <p:sp>
        <p:nvSpPr>
          <p:cNvPr id="6" name="Rectangle 25"/>
          <p:cNvSpPr>
            <a:spLocks noGrp="1" noChangeArrowheads="1"/>
          </p:cNvSpPr>
          <p:nvPr>
            <p:ph type="ftr" sz="quarter" idx="11"/>
          </p:nvPr>
        </p:nvSpPr>
        <p:spPr>
          <a:xfrm>
            <a:off x="4835490" y="6248400"/>
            <a:ext cx="4470400" cy="457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srgbClr val="FFFFFF"/>
                </a:solidFill>
                <a:effectLst/>
                <a:uLnTx/>
                <a:uFillTx/>
                <a:latin typeface="Arial" panose="020B0604020202020204"/>
                <a:ea typeface="+mn-ea"/>
                <a:cs typeface="+mn-cs"/>
              </a:rPr>
              <a:t>Newburry 2026 DBA International Business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3" name="Rectangle 2"/>
          <p:cNvSpPr>
            <a:spLocks noGrp="1" noChangeArrowheads="1"/>
          </p:cNvSpPr>
          <p:nvPr>
            <p:ph type="title" idx="4294967295"/>
          </p:nvPr>
        </p:nvSpPr>
        <p:spPr>
          <a:xfrm>
            <a:off x="3491803" y="611189"/>
            <a:ext cx="7772400" cy="1143000"/>
          </a:xfrm>
        </p:spPr>
        <p:txBody>
          <a:bodyPr vert="horz" lIns="90488" tIns="44450" rIns="90488" bIns="44450" rtlCol="0" anchor="ctr">
            <a:normAutofit/>
          </a:bodyPr>
          <a:lstStyle/>
          <a:p>
            <a:pPr eaLnBrk="1" hangingPunct="1">
              <a:defRPr/>
            </a:pPr>
            <a:r>
              <a:rPr lang="en-US" dirty="0"/>
              <a:t>Domestic Functional + Export</a:t>
            </a:r>
          </a:p>
        </p:txBody>
      </p:sp>
      <p:graphicFrame>
        <p:nvGraphicFramePr>
          <p:cNvPr id="54278" name="Object 3" descr="Domestic Functional Strategy Diagram">
            <a:hlinkClick r:id="" action="ppaction://ole?verb=0"/>
          </p:cNvPr>
          <p:cNvGraphicFramePr>
            <a:graphicFrameLocks noGrp="1"/>
          </p:cNvGraphicFramePr>
          <p:nvPr>
            <p:ph type="dgm" idx="4294967295"/>
          </p:nvPr>
        </p:nvGraphicFramePr>
        <p:xfrm>
          <a:off x="3223847" y="2327276"/>
          <a:ext cx="7313613" cy="2609850"/>
        </p:xfrm>
        <a:graphic>
          <a:graphicData uri="http://schemas.openxmlformats.org/presentationml/2006/ole">
            <mc:AlternateContent xmlns:mc="http://schemas.openxmlformats.org/markup-compatibility/2006">
              <mc:Choice xmlns:v="urn:schemas-microsoft-com:vml" Requires="v">
                <p:oleObj name="MS Org Chart" r:id="rId2" imgW="7746840" imgH="2679480" progId="">
                  <p:embed followColorScheme="full"/>
                </p:oleObj>
              </mc:Choice>
              <mc:Fallback>
                <p:oleObj name="MS Org Chart" r:id="rId2" imgW="7746840" imgH="2679480" progId="">
                  <p:embed followColorScheme="full"/>
                  <p:pic>
                    <p:nvPicPr>
                      <p:cNvPr id="54278" name="Object 3" descr="Domestic Functional Strategy Diagram">
                        <a:hlinkClick r:id="" action="ppaction://ole?verb=0"/>
                      </p:cNvPr>
                      <p:cNvPicPr>
                        <a:picLocks noChangeArrowheads="1"/>
                      </p:cNvPicPr>
                      <p:nvPr/>
                    </p:nvPicPr>
                    <p:blipFill>
                      <a:blip r:embed="rId3"/>
                      <a:srcRect/>
                      <a:stretch>
                        <a:fillRect/>
                      </a:stretch>
                    </p:blipFill>
                    <p:spPr bwMode="auto">
                      <a:xfrm>
                        <a:off x="3223847" y="2327276"/>
                        <a:ext cx="7313613" cy="2609850"/>
                      </a:xfrm>
                      <a:prstGeom prst="rect">
                        <a:avLst/>
                      </a:prstGeom>
                      <a:solidFill>
                        <a:srgbClr val="0070C0"/>
                      </a:solidFill>
                      <a:ln>
                        <a:noFill/>
                      </a:ln>
                      <a:effectLst/>
                    </p:spPr>
                  </p:pic>
                </p:oleObj>
              </mc:Fallback>
            </mc:AlternateContent>
          </a:graphicData>
        </a:graphic>
      </p:graphicFrame>
      <p:sp>
        <p:nvSpPr>
          <p:cNvPr id="7" name="Rectangle 25"/>
          <p:cNvSpPr>
            <a:spLocks noGrp="1" noChangeArrowheads="1"/>
          </p:cNvSpPr>
          <p:nvPr>
            <p:ph type="ftr" sz="quarter" idx="11"/>
          </p:nvPr>
        </p:nvSpPr>
        <p:spPr>
          <a:xfrm>
            <a:off x="4915877" y="6246811"/>
            <a:ext cx="4470400" cy="457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srgbClr val="FFFFFF"/>
                </a:solidFill>
                <a:effectLst/>
                <a:uLnTx/>
                <a:uFillTx/>
                <a:latin typeface="Arial" panose="020B0604020202020204"/>
                <a:ea typeface="+mn-ea"/>
                <a:cs typeface="+mn-cs"/>
              </a:rPr>
              <a:t>Newburry 2026 DBA International Business</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7" name="Rectangle 2"/>
          <p:cNvSpPr>
            <a:spLocks noGrp="1" noChangeArrowheads="1"/>
          </p:cNvSpPr>
          <p:nvPr>
            <p:ph type="title" idx="4294967295"/>
          </p:nvPr>
        </p:nvSpPr>
        <p:spPr>
          <a:xfrm>
            <a:off x="2362199" y="609600"/>
            <a:ext cx="9052727" cy="1143000"/>
          </a:xfrm>
        </p:spPr>
        <p:txBody>
          <a:bodyPr vert="horz" lIns="90488" tIns="44450" rIns="90488" bIns="44450" rtlCol="0" anchor="ctr">
            <a:normAutofit/>
          </a:bodyPr>
          <a:lstStyle/>
          <a:p>
            <a:pPr algn="ctr" eaLnBrk="1" hangingPunct="1">
              <a:defRPr/>
            </a:pPr>
            <a:r>
              <a:rPr lang="en-US" dirty="0"/>
              <a:t>Domestic Divisional + Export</a:t>
            </a:r>
          </a:p>
        </p:txBody>
      </p:sp>
      <p:grpSp>
        <p:nvGrpSpPr>
          <p:cNvPr id="5" name="Group 4" descr="Domestic Divisional + Export">
            <a:extLst>
              <a:ext uri="{FF2B5EF4-FFF2-40B4-BE49-F238E27FC236}">
                <a16:creationId xmlns:a16="http://schemas.microsoft.com/office/drawing/2014/main" id="{4B377419-6B75-3CBF-79BE-54F797C34971}"/>
              </a:ext>
            </a:extLst>
          </p:cNvPr>
          <p:cNvGrpSpPr/>
          <p:nvPr/>
        </p:nvGrpSpPr>
        <p:grpSpPr>
          <a:xfrm>
            <a:off x="2451799" y="1752600"/>
            <a:ext cx="8963128" cy="4336701"/>
            <a:chOff x="2451799" y="1752600"/>
            <a:chExt cx="8963128" cy="4336701"/>
          </a:xfrm>
        </p:grpSpPr>
        <p:sp>
          <p:nvSpPr>
            <p:cNvPr id="4" name="Rectangle 3" descr="Domestic Divisional + Export">
              <a:extLst>
                <a:ext uri="{FF2B5EF4-FFF2-40B4-BE49-F238E27FC236}">
                  <a16:creationId xmlns:a16="http://schemas.microsoft.com/office/drawing/2014/main" id="{B8388692-093B-4C78-9580-05FDB1EBF1AC}"/>
                </a:ext>
              </a:extLst>
            </p:cNvPr>
            <p:cNvSpPr/>
            <p:nvPr/>
          </p:nvSpPr>
          <p:spPr>
            <a:xfrm>
              <a:off x="2451799" y="1752600"/>
              <a:ext cx="8963128" cy="4336701"/>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3" name="Group 3"/>
            <p:cNvGrpSpPr>
              <a:grpSpLocks/>
            </p:cNvGrpSpPr>
            <p:nvPr/>
          </p:nvGrpSpPr>
          <p:grpSpPr bwMode="auto">
            <a:xfrm>
              <a:off x="2790031" y="2432538"/>
              <a:ext cx="8186738" cy="3117850"/>
              <a:chOff x="227" y="1523"/>
              <a:chExt cx="5157" cy="1964"/>
            </a:xfrm>
          </p:grpSpPr>
          <p:sp>
            <p:nvSpPr>
              <p:cNvPr id="64519" name="Rectangle 4"/>
              <p:cNvSpPr>
                <a:spLocks noChangeArrowheads="1"/>
              </p:cNvSpPr>
              <p:nvPr/>
            </p:nvSpPr>
            <p:spPr bwMode="auto">
              <a:xfrm>
                <a:off x="227" y="2315"/>
                <a:ext cx="981" cy="294"/>
              </a:xfrm>
              <a:prstGeom prst="rect">
                <a:avLst/>
              </a:prstGeom>
              <a:solidFill>
                <a:srgbClr val="C0FEF9"/>
              </a:solidFill>
              <a:ln w="12700">
                <a:solidFill>
                  <a:schemeClr val="tx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Division A</a:t>
                </a:r>
              </a:p>
            </p:txBody>
          </p:sp>
          <p:sp>
            <p:nvSpPr>
              <p:cNvPr id="64520" name="Rectangle 5"/>
              <p:cNvSpPr>
                <a:spLocks noChangeArrowheads="1"/>
              </p:cNvSpPr>
              <p:nvPr/>
            </p:nvSpPr>
            <p:spPr bwMode="auto">
              <a:xfrm>
                <a:off x="1571" y="2315"/>
                <a:ext cx="970" cy="294"/>
              </a:xfrm>
              <a:prstGeom prst="rect">
                <a:avLst/>
              </a:prstGeom>
              <a:solidFill>
                <a:srgbClr val="C0FEF9"/>
              </a:solidFill>
              <a:ln w="12700">
                <a:solidFill>
                  <a:schemeClr val="tx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Division B</a:t>
                </a:r>
              </a:p>
            </p:txBody>
          </p:sp>
          <p:sp>
            <p:nvSpPr>
              <p:cNvPr id="64521" name="Rectangle 6"/>
              <p:cNvSpPr>
                <a:spLocks noChangeArrowheads="1"/>
              </p:cNvSpPr>
              <p:nvPr/>
            </p:nvSpPr>
            <p:spPr bwMode="auto">
              <a:xfrm>
                <a:off x="3155" y="2315"/>
                <a:ext cx="981" cy="294"/>
              </a:xfrm>
              <a:prstGeom prst="rect">
                <a:avLst/>
              </a:prstGeom>
              <a:solidFill>
                <a:srgbClr val="C0FEF9"/>
              </a:solidFill>
              <a:ln w="12700">
                <a:solidFill>
                  <a:schemeClr val="tx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Division C</a:t>
                </a:r>
              </a:p>
            </p:txBody>
          </p:sp>
          <p:sp>
            <p:nvSpPr>
              <p:cNvPr id="64522" name="Rectangle 7"/>
              <p:cNvSpPr>
                <a:spLocks noChangeArrowheads="1"/>
              </p:cNvSpPr>
              <p:nvPr/>
            </p:nvSpPr>
            <p:spPr bwMode="auto">
              <a:xfrm>
                <a:off x="4403" y="2315"/>
                <a:ext cx="981" cy="294"/>
              </a:xfrm>
              <a:prstGeom prst="rect">
                <a:avLst/>
              </a:prstGeom>
              <a:solidFill>
                <a:srgbClr val="C0FEF9"/>
              </a:solidFill>
              <a:ln w="12700">
                <a:solidFill>
                  <a:schemeClr val="tx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Division D</a:t>
                </a:r>
              </a:p>
            </p:txBody>
          </p:sp>
          <p:sp>
            <p:nvSpPr>
              <p:cNvPr id="64523" name="Rectangle 8"/>
              <p:cNvSpPr>
                <a:spLocks noChangeArrowheads="1"/>
              </p:cNvSpPr>
              <p:nvPr/>
            </p:nvSpPr>
            <p:spPr bwMode="auto">
              <a:xfrm>
                <a:off x="2435" y="1523"/>
                <a:ext cx="826" cy="294"/>
              </a:xfrm>
              <a:prstGeom prst="rect">
                <a:avLst/>
              </a:prstGeom>
              <a:solidFill>
                <a:srgbClr val="00B7A5"/>
              </a:solidFill>
              <a:ln w="12700">
                <a:solidFill>
                  <a:schemeClr val="tx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   CEO   </a:t>
                </a:r>
              </a:p>
            </p:txBody>
          </p:sp>
          <p:sp>
            <p:nvSpPr>
              <p:cNvPr id="64524" name="Rectangle 9"/>
              <p:cNvSpPr>
                <a:spLocks noChangeArrowheads="1"/>
              </p:cNvSpPr>
              <p:nvPr/>
            </p:nvSpPr>
            <p:spPr bwMode="auto">
              <a:xfrm>
                <a:off x="2296" y="2963"/>
                <a:ext cx="1114" cy="524"/>
              </a:xfrm>
              <a:prstGeom prst="rect">
                <a:avLst/>
              </a:prstGeom>
              <a:solidFill>
                <a:srgbClr val="FFCC99"/>
              </a:solidFill>
              <a:ln w="12700">
                <a:solidFill>
                  <a:schemeClr val="tx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Export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Department</a:t>
                </a:r>
              </a:p>
            </p:txBody>
          </p:sp>
          <p:sp>
            <p:nvSpPr>
              <p:cNvPr id="64525" name="Line 10"/>
              <p:cNvSpPr>
                <a:spLocks noChangeShapeType="1"/>
              </p:cNvSpPr>
              <p:nvPr/>
            </p:nvSpPr>
            <p:spPr bwMode="auto">
              <a:xfrm>
                <a:off x="724" y="2016"/>
                <a:ext cx="426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4526" name="Line 11"/>
              <p:cNvSpPr>
                <a:spLocks noChangeShapeType="1"/>
              </p:cNvSpPr>
              <p:nvPr/>
            </p:nvSpPr>
            <p:spPr bwMode="auto">
              <a:xfrm>
                <a:off x="2784" y="1828"/>
                <a:ext cx="0" cy="1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4527" name="Line 12"/>
              <p:cNvSpPr>
                <a:spLocks noChangeShapeType="1"/>
              </p:cNvSpPr>
              <p:nvPr/>
            </p:nvSpPr>
            <p:spPr bwMode="auto">
              <a:xfrm>
                <a:off x="720" y="2020"/>
                <a:ext cx="0" cy="28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4528" name="Line 13"/>
              <p:cNvSpPr>
                <a:spLocks noChangeShapeType="1"/>
              </p:cNvSpPr>
              <p:nvPr/>
            </p:nvSpPr>
            <p:spPr bwMode="auto">
              <a:xfrm>
                <a:off x="2064" y="2020"/>
                <a:ext cx="0" cy="28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4529" name="Line 14"/>
              <p:cNvSpPr>
                <a:spLocks noChangeShapeType="1"/>
              </p:cNvSpPr>
              <p:nvPr/>
            </p:nvSpPr>
            <p:spPr bwMode="auto">
              <a:xfrm>
                <a:off x="3600" y="2020"/>
                <a:ext cx="0" cy="28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4530" name="Line 15"/>
              <p:cNvSpPr>
                <a:spLocks noChangeShapeType="1"/>
              </p:cNvSpPr>
              <p:nvPr/>
            </p:nvSpPr>
            <p:spPr bwMode="auto">
              <a:xfrm>
                <a:off x="4992" y="2020"/>
                <a:ext cx="0" cy="28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sp>
        <p:nvSpPr>
          <p:cNvPr id="2" name="Footer Placeholder 1"/>
          <p:cNvSpPr>
            <a:spLocks noGrp="1"/>
          </p:cNvSpPr>
          <p:nvPr>
            <p:ph type="ftr" sz="quarter" idx="11"/>
          </p:nvPr>
        </p:nvSpPr>
        <p:spPr>
          <a:xfrm>
            <a:off x="4648200" y="6230326"/>
            <a:ext cx="44704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Newburry 2026 DBA International Business</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noChangeArrowheads="1"/>
          </p:cNvSpPr>
          <p:nvPr>
            <p:ph type="title" idx="4294967295"/>
          </p:nvPr>
        </p:nvSpPr>
        <p:spPr bwMode="auto">
          <a:xfrm>
            <a:off x="2599800" y="108062"/>
            <a:ext cx="8610600" cy="1066800"/>
          </a:xfrm>
          <a:prstGeom prst="rect">
            <a:avLst/>
          </a:prstGeom>
          <a:noFill/>
          <a:ln w="12700">
            <a:noFill/>
            <a:prstDash/>
            <a:miter lim="800000"/>
            <a:headEnd/>
            <a:tailEnd/>
          </a:ln>
          <a:effectLst/>
        </p:spPr>
        <p:txBody>
          <a:bodyPr rot="0" spcFirstLastPara="0" vertOverflow="overflow" horzOverflow="overflow" vert="horz" wrap="square" lIns="90488" tIns="44450" rIns="90488" bIns="4445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Arial" charset="0"/>
                <a:ea typeface="MS PGothic" panose="020B0600070205080204" pitchFamily="34" charset="-128"/>
                <a:cs typeface="Arial" charset="0"/>
              </a:rPr>
              <a:t>Integration-Responsiveness Framework - International</a:t>
            </a:r>
            <a:endParaRPr kumimoji="0" lang="en-US" sz="18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Arial" charset="0"/>
              <a:ea typeface="MS PGothic" panose="020B0600070205080204" pitchFamily="34" charset="-128"/>
              <a:cs typeface="Arial" charset="0"/>
            </a:endParaRPr>
          </a:p>
        </p:txBody>
      </p:sp>
      <p:sp>
        <p:nvSpPr>
          <p:cNvPr id="159753" name="Line 10">
            <a:extLst>
              <a:ext uri="{C183D7F6-B498-43B3-948B-1728B52AA6E4}">
                <adec:decorative xmlns:adec="http://schemas.microsoft.com/office/drawing/2017/decorative" val="1"/>
              </a:ext>
            </a:extLst>
          </p:cNvPr>
          <p:cNvSpPr>
            <a:spLocks noChangeShapeType="1"/>
          </p:cNvSpPr>
          <p:nvPr/>
        </p:nvSpPr>
        <p:spPr bwMode="auto">
          <a:xfrm>
            <a:off x="7557128" y="1562099"/>
            <a:ext cx="0" cy="41910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chemeClr val="bg1"/>
              </a:solidFill>
            </a:endParaRPr>
          </a:p>
        </p:txBody>
      </p:sp>
      <p:grpSp>
        <p:nvGrpSpPr>
          <p:cNvPr id="3" name="Group 2" descr="International Strategy">
            <a:extLst>
              <a:ext uri="{FF2B5EF4-FFF2-40B4-BE49-F238E27FC236}">
                <a16:creationId xmlns:a16="http://schemas.microsoft.com/office/drawing/2014/main" id="{949D0167-5BE1-388F-F104-0ACD30EE7438}"/>
              </a:ext>
            </a:extLst>
          </p:cNvPr>
          <p:cNvGrpSpPr/>
          <p:nvPr/>
        </p:nvGrpSpPr>
        <p:grpSpPr>
          <a:xfrm>
            <a:off x="2936580" y="1251061"/>
            <a:ext cx="7668548" cy="5265938"/>
            <a:chOff x="2936580" y="1251061"/>
            <a:chExt cx="7668548" cy="5265938"/>
          </a:xfrm>
        </p:grpSpPr>
        <p:sp>
          <p:nvSpPr>
            <p:cNvPr id="159746" name="Rectangle 3"/>
            <p:cNvSpPr>
              <a:spLocks noChangeArrowheads="1"/>
            </p:cNvSpPr>
            <p:nvPr/>
          </p:nvSpPr>
          <p:spPr bwMode="auto">
            <a:xfrm>
              <a:off x="4966329" y="6057899"/>
              <a:ext cx="5200143"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a:solidFill>
                    <a:schemeClr val="bg1"/>
                  </a:solidFill>
                  <a:latin typeface="Times New Roman" panose="02020603050405020304" pitchFamily="18" charset="0"/>
                </a:rPr>
                <a:t>Pressures towards Local Responsiveness</a:t>
              </a:r>
            </a:p>
          </p:txBody>
        </p:sp>
        <p:sp>
          <p:nvSpPr>
            <p:cNvPr id="159747" name="Rectangle 4"/>
            <p:cNvSpPr>
              <a:spLocks noChangeArrowheads="1"/>
            </p:cNvSpPr>
            <p:nvPr/>
          </p:nvSpPr>
          <p:spPr bwMode="auto">
            <a:xfrm rot="-5400000">
              <a:off x="797692" y="3389949"/>
              <a:ext cx="473687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dirty="0">
                  <a:solidFill>
                    <a:schemeClr val="bg1"/>
                  </a:solidFill>
                  <a:latin typeface="Times New Roman" panose="02020603050405020304" pitchFamily="18" charset="0"/>
                </a:rPr>
                <a:t>Pressures towards Global Integration</a:t>
              </a:r>
            </a:p>
          </p:txBody>
        </p:sp>
        <p:sp>
          <p:nvSpPr>
            <p:cNvPr id="159748" name="Rectangle 5">
              <a:extLst>
                <a:ext uri="{C183D7F6-B498-43B3-948B-1728B52AA6E4}">
                  <adec:decorative xmlns:adec="http://schemas.microsoft.com/office/drawing/2017/decorative" val="1"/>
                </a:ext>
              </a:extLst>
            </p:cNvPr>
            <p:cNvSpPr>
              <a:spLocks noChangeArrowheads="1"/>
            </p:cNvSpPr>
            <p:nvPr/>
          </p:nvSpPr>
          <p:spPr bwMode="auto">
            <a:xfrm>
              <a:off x="4515478" y="1492249"/>
              <a:ext cx="6089650" cy="4254500"/>
            </a:xfrm>
            <a:prstGeom prst="rect">
              <a:avLst/>
            </a:prstGeom>
            <a:noFill/>
            <a:ln w="127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eaLnBrk="1" hangingPunct="1"/>
              <a:endParaRPr lang="en-US" altLang="en-US">
                <a:solidFill>
                  <a:schemeClr val="bg1"/>
                </a:solidFill>
              </a:endParaRPr>
            </a:p>
          </p:txBody>
        </p:sp>
        <p:sp>
          <p:nvSpPr>
            <p:cNvPr id="159749" name="Rectangle 6"/>
            <p:cNvSpPr>
              <a:spLocks noChangeArrowheads="1"/>
            </p:cNvSpPr>
            <p:nvPr/>
          </p:nvSpPr>
          <p:spPr bwMode="auto">
            <a:xfrm>
              <a:off x="3518528" y="1409699"/>
              <a:ext cx="953788"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a:solidFill>
                    <a:schemeClr val="bg1"/>
                  </a:solidFill>
                  <a:latin typeface="Times New Roman" panose="02020603050405020304" pitchFamily="18" charset="0"/>
                </a:rPr>
                <a:t>HIGH</a:t>
              </a:r>
            </a:p>
          </p:txBody>
        </p:sp>
        <p:sp>
          <p:nvSpPr>
            <p:cNvPr id="159750" name="Rectangle 7"/>
            <p:cNvSpPr>
              <a:spLocks noChangeArrowheads="1"/>
            </p:cNvSpPr>
            <p:nvPr/>
          </p:nvSpPr>
          <p:spPr bwMode="auto">
            <a:xfrm>
              <a:off x="3580441" y="5357812"/>
              <a:ext cx="88325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a:solidFill>
                    <a:schemeClr val="bg1"/>
                  </a:solidFill>
                  <a:latin typeface="Times New Roman" panose="02020603050405020304" pitchFamily="18" charset="0"/>
                </a:rPr>
                <a:t>LOW</a:t>
              </a:r>
            </a:p>
          </p:txBody>
        </p:sp>
        <p:sp>
          <p:nvSpPr>
            <p:cNvPr id="159751" name="Rectangle 8"/>
            <p:cNvSpPr>
              <a:spLocks noChangeArrowheads="1"/>
            </p:cNvSpPr>
            <p:nvPr/>
          </p:nvSpPr>
          <p:spPr bwMode="auto">
            <a:xfrm>
              <a:off x="4418641" y="5815012"/>
              <a:ext cx="88325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a:solidFill>
                    <a:schemeClr val="bg1"/>
                  </a:solidFill>
                  <a:latin typeface="Times New Roman" panose="02020603050405020304" pitchFamily="18" charset="0"/>
                </a:rPr>
                <a:t>LOW</a:t>
              </a:r>
            </a:p>
          </p:txBody>
        </p:sp>
        <p:sp>
          <p:nvSpPr>
            <p:cNvPr id="159752" name="Rectangle 9"/>
            <p:cNvSpPr>
              <a:spLocks noChangeArrowheads="1"/>
            </p:cNvSpPr>
            <p:nvPr/>
          </p:nvSpPr>
          <p:spPr bwMode="auto">
            <a:xfrm>
              <a:off x="9614528" y="5829299"/>
              <a:ext cx="953788"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a:solidFill>
                    <a:schemeClr val="bg1"/>
                  </a:solidFill>
                  <a:latin typeface="Times New Roman" panose="02020603050405020304" pitchFamily="18" charset="0"/>
                </a:rPr>
                <a:t>HIGH</a:t>
              </a:r>
            </a:p>
          </p:txBody>
        </p:sp>
        <p:sp>
          <p:nvSpPr>
            <p:cNvPr id="159754" name="Line 11">
              <a:extLst>
                <a:ext uri="{C183D7F6-B498-43B3-948B-1728B52AA6E4}">
                  <adec:decorative xmlns:adec="http://schemas.microsoft.com/office/drawing/2017/decorative" val="1"/>
                </a:ext>
              </a:extLst>
            </p:cNvPr>
            <p:cNvSpPr>
              <a:spLocks noChangeShapeType="1"/>
            </p:cNvSpPr>
            <p:nvPr/>
          </p:nvSpPr>
          <p:spPr bwMode="auto">
            <a:xfrm>
              <a:off x="4515478" y="3619499"/>
              <a:ext cx="608965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chemeClr val="bg1"/>
                </a:solidFill>
              </a:endParaRPr>
            </a:p>
          </p:txBody>
        </p:sp>
        <p:sp>
          <p:nvSpPr>
            <p:cNvPr id="159755" name="Rectangle 12"/>
            <p:cNvSpPr>
              <a:spLocks noChangeArrowheads="1"/>
            </p:cNvSpPr>
            <p:nvPr/>
          </p:nvSpPr>
          <p:spPr bwMode="auto">
            <a:xfrm>
              <a:off x="5118728" y="2247899"/>
              <a:ext cx="2104744"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b="1" i="1" dirty="0">
                  <a:solidFill>
                    <a:schemeClr val="bg1"/>
                  </a:solidFill>
                  <a:latin typeface="Times New Roman" panose="02020603050405020304" pitchFamily="18" charset="0"/>
                </a:rPr>
                <a:t>Global strategy</a:t>
              </a:r>
            </a:p>
          </p:txBody>
        </p:sp>
        <p:sp>
          <p:nvSpPr>
            <p:cNvPr id="159756" name="Rectangle 13"/>
            <p:cNvSpPr>
              <a:spLocks noChangeArrowheads="1"/>
            </p:cNvSpPr>
            <p:nvPr/>
          </p:nvSpPr>
          <p:spPr bwMode="auto">
            <a:xfrm>
              <a:off x="7785728" y="4229099"/>
              <a:ext cx="2667000"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lgn="ctr"/>
              <a:r>
                <a:rPr lang="en-US" altLang="en-US" sz="2400" b="1" i="1">
                  <a:solidFill>
                    <a:schemeClr val="bg1"/>
                  </a:solidFill>
                  <a:latin typeface="Times New Roman" panose="02020603050405020304" pitchFamily="18" charset="0"/>
                </a:rPr>
                <a:t>Multi-domestic strategy</a:t>
              </a:r>
            </a:p>
          </p:txBody>
        </p:sp>
        <p:sp>
          <p:nvSpPr>
            <p:cNvPr id="159757" name="Rectangle 14"/>
            <p:cNvSpPr>
              <a:spLocks noChangeArrowheads="1"/>
            </p:cNvSpPr>
            <p:nvPr/>
          </p:nvSpPr>
          <p:spPr bwMode="auto">
            <a:xfrm>
              <a:off x="8094522" y="2019299"/>
              <a:ext cx="1984327"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lgn="ctr"/>
              <a:r>
                <a:rPr lang="en-US" altLang="en-US" sz="2400" b="1" i="1">
                  <a:solidFill>
                    <a:schemeClr val="bg1"/>
                  </a:solidFill>
                  <a:latin typeface="Times New Roman" panose="02020603050405020304" pitchFamily="18" charset="0"/>
                </a:rPr>
                <a:t>Transnational</a:t>
              </a:r>
            </a:p>
            <a:p>
              <a:pPr algn="ctr"/>
              <a:r>
                <a:rPr lang="en-US" altLang="en-US" sz="2400" b="1" i="1">
                  <a:solidFill>
                    <a:schemeClr val="bg1"/>
                  </a:solidFill>
                  <a:latin typeface="Times New Roman" panose="02020603050405020304" pitchFamily="18" charset="0"/>
                </a:rPr>
                <a:t> strategy</a:t>
              </a:r>
            </a:p>
          </p:txBody>
        </p:sp>
        <p:sp>
          <p:nvSpPr>
            <p:cNvPr id="159758" name="Rectangle 15"/>
            <p:cNvSpPr>
              <a:spLocks noChangeArrowheads="1"/>
            </p:cNvSpPr>
            <p:nvPr/>
          </p:nvSpPr>
          <p:spPr bwMode="auto">
            <a:xfrm>
              <a:off x="5050922" y="4229099"/>
              <a:ext cx="1875514"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lgn="ctr"/>
              <a:r>
                <a:rPr lang="en-US" altLang="en-US" sz="2400" b="1" i="1" dirty="0">
                  <a:solidFill>
                    <a:srgbClr val="FFFF00"/>
                  </a:solidFill>
                  <a:latin typeface="Times New Roman" panose="02020603050405020304" pitchFamily="18" charset="0"/>
                </a:rPr>
                <a:t>International</a:t>
              </a:r>
            </a:p>
            <a:p>
              <a:pPr algn="ctr"/>
              <a:r>
                <a:rPr lang="en-US" altLang="en-US" sz="2400" b="1" i="1" dirty="0">
                  <a:solidFill>
                    <a:srgbClr val="FFFF00"/>
                  </a:solidFill>
                  <a:latin typeface="Times New Roman" panose="02020603050405020304" pitchFamily="18" charset="0"/>
                </a:rPr>
                <a:t>strategy</a:t>
              </a:r>
            </a:p>
          </p:txBody>
        </p:sp>
      </p:grpSp>
      <p:sp>
        <p:nvSpPr>
          <p:cNvPr id="2" name="Footer Placeholder 1"/>
          <p:cNvSpPr>
            <a:spLocks noGrp="1"/>
          </p:cNvSpPr>
          <p:nvPr>
            <p:ph type="ftr" sz="quarter" idx="11"/>
          </p:nvPr>
        </p:nvSpPr>
        <p:spPr>
          <a:xfrm>
            <a:off x="4686299" y="6327775"/>
            <a:ext cx="4437603" cy="457200"/>
          </a:xfrm>
        </p:spPr>
        <p:txBody>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eaLnBrk="1" hangingPunct="1"/>
            <a:r>
              <a:rPr lang="en-US" altLang="en-US" sz="1200" dirty="0">
                <a:solidFill>
                  <a:schemeClr val="bg1"/>
                </a:solidFill>
              </a:rPr>
              <a:t>Newburry 2026 DBA International Business</a:t>
            </a:r>
          </a:p>
        </p:txBody>
      </p:sp>
    </p:spTree>
    <p:extLst>
      <p:ext uri="{BB962C8B-B14F-4D97-AF65-F5344CB8AC3E}">
        <p14:creationId xmlns:p14="http://schemas.microsoft.com/office/powerpoint/2010/main" val="35762112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Grp="1" noChangeArrowheads="1"/>
          </p:cNvSpPr>
          <p:nvPr>
            <p:ph type="title"/>
          </p:nvPr>
        </p:nvSpPr>
        <p:spPr>
          <a:xfrm>
            <a:off x="2260879" y="270450"/>
            <a:ext cx="9220870" cy="1325563"/>
          </a:xfrm>
        </p:spPr>
        <p:txBody>
          <a:bodyPr/>
          <a:lstStyle/>
          <a:p>
            <a:pPr eaLnBrk="1" hangingPunct="1">
              <a:defRPr/>
            </a:pPr>
            <a:r>
              <a:rPr lang="en-US" sz="4000" b="1" dirty="0">
                <a:ea typeface="MS PGothic" panose="020B0600070205080204" pitchFamily="34" charset="-128"/>
              </a:rPr>
              <a:t>International Strategy</a:t>
            </a:r>
          </a:p>
        </p:txBody>
      </p:sp>
      <p:sp>
        <p:nvSpPr>
          <p:cNvPr id="161794" name="Rectangle 3"/>
          <p:cNvSpPr>
            <a:spLocks noGrp="1" noChangeArrowheads="1"/>
          </p:cNvSpPr>
          <p:nvPr>
            <p:ph type="body" idx="1"/>
          </p:nvPr>
        </p:nvSpPr>
        <p:spPr>
          <a:xfrm>
            <a:off x="2512088" y="1828800"/>
            <a:ext cx="9337012" cy="4533900"/>
          </a:xfrm>
        </p:spPr>
        <p:txBody>
          <a:bodyPr/>
          <a:lstStyle/>
          <a:p>
            <a:pPr eaLnBrk="1" hangingPunct="1">
              <a:lnSpc>
                <a:spcPct val="90000"/>
              </a:lnSpc>
            </a:pPr>
            <a:r>
              <a:rPr lang="en-US" altLang="en-US" sz="3600" dirty="0"/>
              <a:t>Low pressures for integration and low pressures for responsiveness </a:t>
            </a:r>
          </a:p>
          <a:p>
            <a:pPr eaLnBrk="1" hangingPunct="1">
              <a:lnSpc>
                <a:spcPct val="90000"/>
              </a:lnSpc>
            </a:pPr>
            <a:r>
              <a:rPr lang="en-US" altLang="en-US" sz="3600" dirty="0"/>
              <a:t>Use core competency or firm-specific advantage developed at home to enter foreign markets.</a:t>
            </a:r>
          </a:p>
          <a:p>
            <a:pPr eaLnBrk="1" hangingPunct="1">
              <a:lnSpc>
                <a:spcPct val="90000"/>
              </a:lnSpc>
              <a:buFontTx/>
              <a:buNone/>
            </a:pPr>
            <a:endParaRPr lang="en-US" altLang="en-US" sz="3600" b="1" dirty="0"/>
          </a:p>
          <a:p>
            <a:pPr eaLnBrk="1" hangingPunct="1">
              <a:lnSpc>
                <a:spcPct val="90000"/>
              </a:lnSpc>
            </a:pPr>
            <a:r>
              <a:rPr lang="en-US" altLang="en-US" sz="3600" dirty="0"/>
              <a:t> E.g., Krispy Kreme replicating their U.S. donut shops in Canada</a:t>
            </a:r>
          </a:p>
        </p:txBody>
      </p:sp>
      <p:sp>
        <p:nvSpPr>
          <p:cNvPr id="2" name="Footer Placeholder 1"/>
          <p:cNvSpPr>
            <a:spLocks noGrp="1"/>
          </p:cNvSpPr>
          <p:nvPr>
            <p:ph type="ftr" sz="quarter" idx="11"/>
          </p:nvPr>
        </p:nvSpPr>
        <p:spPr>
          <a:xfrm>
            <a:off x="4419600" y="6248400"/>
            <a:ext cx="3124200" cy="457200"/>
          </a:xfrm>
        </p:spPr>
        <p:txBody>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eaLnBrk="1" hangingPunct="1"/>
            <a:r>
              <a:rPr lang="en-US" altLang="en-US" sz="1200" dirty="0">
                <a:solidFill>
                  <a:schemeClr val="tx1"/>
                </a:solidFill>
              </a:rPr>
              <a:t>Newburry 2026 DBA International Business</a:t>
            </a:r>
          </a:p>
        </p:txBody>
      </p:sp>
    </p:spTree>
    <p:extLst>
      <p:ext uri="{BB962C8B-B14F-4D97-AF65-F5344CB8AC3E}">
        <p14:creationId xmlns:p14="http://schemas.microsoft.com/office/powerpoint/2010/main" val="23564060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title" idx="4294967295"/>
          </p:nvPr>
        </p:nvSpPr>
        <p:spPr bwMode="auto">
          <a:xfrm>
            <a:off x="2477756" y="284163"/>
            <a:ext cx="8382000" cy="990600"/>
          </a:xfrm>
          <a:prstGeom prst="rect">
            <a:avLst/>
          </a:prstGeom>
          <a:solidFill>
            <a:schemeClr val="accent1"/>
          </a:solidFill>
          <a:ln w="12700">
            <a:noFill/>
            <a:prstDash/>
            <a:miter lim="800000"/>
            <a:headEnd/>
            <a:tailEnd/>
          </a:ln>
          <a:effectLst/>
        </p:spPr>
        <p:txBody>
          <a:bodyPr rot="0" spcFirstLastPara="0" vertOverflow="overflow" horzOverflow="overflow" vert="horz" wrap="square" lIns="90488" tIns="44450" rIns="90488" bIns="4445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chemeClr val="bg1"/>
                </a:solidFill>
                <a:effectLst>
                  <a:outerShdw blurRad="38100" dist="38100" dir="2700000" algn="tl">
                    <a:srgbClr val="FFFFFF"/>
                  </a:outerShdw>
                </a:effectLst>
                <a:uLnTx/>
                <a:uFillTx/>
                <a:latin typeface="+mn-lt"/>
                <a:ea typeface="+mn-ea"/>
                <a:cs typeface="+mn-cs"/>
              </a:rPr>
              <a:t>International Division Structure</a:t>
            </a:r>
          </a:p>
        </p:txBody>
      </p:sp>
      <p:sp>
        <p:nvSpPr>
          <p:cNvPr id="65541" name="Rectangle 3"/>
          <p:cNvSpPr>
            <a:spLocks noChangeArrowheads="1"/>
          </p:cNvSpPr>
          <p:nvPr/>
        </p:nvSpPr>
        <p:spPr bwMode="auto">
          <a:xfrm>
            <a:off x="5666249" y="1390650"/>
            <a:ext cx="2005013" cy="831850"/>
          </a:xfrm>
          <a:prstGeom prst="rect">
            <a:avLst/>
          </a:prstGeom>
          <a:solidFill>
            <a:srgbClr val="00B7A5"/>
          </a:solidFill>
          <a:ln w="12700">
            <a:solidFill>
              <a:schemeClr val="tx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Corporate</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Headquarters</a:t>
            </a:r>
          </a:p>
        </p:txBody>
      </p:sp>
      <p:sp>
        <p:nvSpPr>
          <p:cNvPr id="65542" name="Rectangle 4"/>
          <p:cNvSpPr>
            <a:spLocks noChangeArrowheads="1"/>
          </p:cNvSpPr>
          <p:nvPr/>
        </p:nvSpPr>
        <p:spPr bwMode="auto">
          <a:xfrm>
            <a:off x="3702511" y="2990851"/>
            <a:ext cx="1428750" cy="466725"/>
          </a:xfrm>
          <a:prstGeom prst="rect">
            <a:avLst/>
          </a:prstGeom>
          <a:solidFill>
            <a:srgbClr val="C0FEF9"/>
          </a:solidFill>
          <a:ln w="12700">
            <a:solidFill>
              <a:schemeClr val="tx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President</a:t>
            </a:r>
          </a:p>
        </p:txBody>
      </p:sp>
      <p:sp>
        <p:nvSpPr>
          <p:cNvPr id="65543" name="Rectangle 5"/>
          <p:cNvSpPr>
            <a:spLocks noChangeArrowheads="1"/>
          </p:cNvSpPr>
          <p:nvPr/>
        </p:nvSpPr>
        <p:spPr bwMode="auto">
          <a:xfrm>
            <a:off x="2711912" y="3905250"/>
            <a:ext cx="1539875" cy="831850"/>
          </a:xfrm>
          <a:prstGeom prst="rect">
            <a:avLst/>
          </a:prstGeom>
          <a:solidFill>
            <a:srgbClr val="C0FEF9"/>
          </a:solidFill>
          <a:ln w="12700">
            <a:solidFill>
              <a:schemeClr val="tx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Product A</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Division</a:t>
            </a:r>
          </a:p>
        </p:txBody>
      </p:sp>
      <p:sp>
        <p:nvSpPr>
          <p:cNvPr id="65544" name="Rectangle 6"/>
          <p:cNvSpPr>
            <a:spLocks noChangeArrowheads="1"/>
          </p:cNvSpPr>
          <p:nvPr/>
        </p:nvSpPr>
        <p:spPr bwMode="auto">
          <a:xfrm>
            <a:off x="4540711" y="3905250"/>
            <a:ext cx="1522412" cy="831850"/>
          </a:xfrm>
          <a:prstGeom prst="rect">
            <a:avLst/>
          </a:prstGeom>
          <a:solidFill>
            <a:srgbClr val="C0FEF9"/>
          </a:solidFill>
          <a:ln w="12700">
            <a:solidFill>
              <a:schemeClr val="tx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Product B</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Division</a:t>
            </a:r>
          </a:p>
        </p:txBody>
      </p:sp>
      <p:sp>
        <p:nvSpPr>
          <p:cNvPr id="65545" name="Rectangle 7"/>
          <p:cNvSpPr>
            <a:spLocks noChangeArrowheads="1"/>
          </p:cNvSpPr>
          <p:nvPr/>
        </p:nvSpPr>
        <p:spPr bwMode="auto">
          <a:xfrm>
            <a:off x="7961774" y="2838450"/>
            <a:ext cx="1920875" cy="831850"/>
          </a:xfrm>
          <a:prstGeom prst="rect">
            <a:avLst/>
          </a:prstGeom>
          <a:solidFill>
            <a:srgbClr val="FFCC99"/>
          </a:solidFill>
          <a:ln w="12700">
            <a:solidFill>
              <a:schemeClr val="tx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International</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Division</a:t>
            </a:r>
          </a:p>
        </p:txBody>
      </p:sp>
      <p:sp>
        <p:nvSpPr>
          <p:cNvPr id="65546" name="Rectangle 8"/>
          <p:cNvSpPr>
            <a:spLocks noChangeArrowheads="1"/>
          </p:cNvSpPr>
          <p:nvPr/>
        </p:nvSpPr>
        <p:spPr bwMode="auto">
          <a:xfrm>
            <a:off x="7207712" y="4133851"/>
            <a:ext cx="1336675" cy="466725"/>
          </a:xfrm>
          <a:prstGeom prst="rect">
            <a:avLst/>
          </a:prstGeom>
          <a:solidFill>
            <a:srgbClr val="FFCC99"/>
          </a:solidFill>
          <a:ln w="12700">
            <a:solidFill>
              <a:schemeClr val="tx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Region 1</a:t>
            </a:r>
          </a:p>
        </p:txBody>
      </p:sp>
      <p:sp>
        <p:nvSpPr>
          <p:cNvPr id="65547" name="Rectangle 9"/>
          <p:cNvSpPr>
            <a:spLocks noChangeArrowheads="1"/>
          </p:cNvSpPr>
          <p:nvPr/>
        </p:nvSpPr>
        <p:spPr bwMode="auto">
          <a:xfrm>
            <a:off x="9341312" y="4133851"/>
            <a:ext cx="1336675" cy="466725"/>
          </a:xfrm>
          <a:prstGeom prst="rect">
            <a:avLst/>
          </a:prstGeom>
          <a:solidFill>
            <a:srgbClr val="FFCC99"/>
          </a:solidFill>
          <a:ln w="12700">
            <a:solidFill>
              <a:schemeClr val="tx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Region 2</a:t>
            </a:r>
          </a:p>
        </p:txBody>
      </p:sp>
      <p:sp>
        <p:nvSpPr>
          <p:cNvPr id="65548" name="Rectangle 10"/>
          <p:cNvSpPr>
            <a:spLocks noChangeArrowheads="1"/>
          </p:cNvSpPr>
          <p:nvPr/>
        </p:nvSpPr>
        <p:spPr bwMode="auto">
          <a:xfrm>
            <a:off x="7245117" y="4721854"/>
            <a:ext cx="1620637" cy="1320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Arial" panose="020B0604020202020204" pitchFamily="34" charset="0"/>
              </a:rPr>
              <a:t>Production</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Arial" panose="020B0604020202020204" pitchFamily="34" charset="0"/>
              </a:rPr>
              <a:t>Development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Arial" panose="020B0604020202020204" pitchFamily="34" charset="0"/>
              </a:rPr>
              <a:t>Marketing</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Arial" panose="020B0604020202020204" pitchFamily="34" charset="0"/>
              </a:rPr>
              <a:t>etc...</a:t>
            </a:r>
          </a:p>
        </p:txBody>
      </p:sp>
      <p:sp>
        <p:nvSpPr>
          <p:cNvPr id="65549" name="Rectangle 11"/>
          <p:cNvSpPr>
            <a:spLocks noChangeArrowheads="1"/>
          </p:cNvSpPr>
          <p:nvPr/>
        </p:nvSpPr>
        <p:spPr bwMode="auto">
          <a:xfrm>
            <a:off x="9341312" y="4721854"/>
            <a:ext cx="1620637" cy="1320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Arial" panose="020B0604020202020204" pitchFamily="34" charset="0"/>
              </a:rPr>
              <a:t>Production</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Arial" panose="020B0604020202020204" pitchFamily="34" charset="0"/>
              </a:rPr>
              <a:t>Development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Arial" panose="020B0604020202020204" pitchFamily="34" charset="0"/>
              </a:rPr>
              <a:t>Marketing</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Arial" panose="020B0604020202020204" pitchFamily="34" charset="0"/>
              </a:rPr>
              <a:t>etc...</a:t>
            </a:r>
          </a:p>
        </p:txBody>
      </p:sp>
      <p:sp>
        <p:nvSpPr>
          <p:cNvPr id="65550" name="Line 12">
            <a:extLst>
              <a:ext uri="{C183D7F6-B498-43B3-948B-1728B52AA6E4}">
                <adec:decorative xmlns:adec="http://schemas.microsoft.com/office/drawing/2017/decorative" val="1"/>
              </a:ext>
            </a:extLst>
          </p:cNvPr>
          <p:cNvSpPr>
            <a:spLocks noChangeShapeType="1"/>
          </p:cNvSpPr>
          <p:nvPr/>
        </p:nvSpPr>
        <p:spPr bwMode="auto">
          <a:xfrm>
            <a:off x="4339098" y="2554288"/>
            <a:ext cx="47117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551" name="Line 13">
            <a:extLst>
              <a:ext uri="{C183D7F6-B498-43B3-948B-1728B52AA6E4}">
                <adec:decorative xmlns:adec="http://schemas.microsoft.com/office/drawing/2017/decorative" val="1"/>
              </a:ext>
            </a:extLst>
          </p:cNvPr>
          <p:cNvSpPr>
            <a:spLocks noChangeShapeType="1"/>
          </p:cNvSpPr>
          <p:nvPr/>
        </p:nvSpPr>
        <p:spPr bwMode="auto">
          <a:xfrm>
            <a:off x="6542548" y="2255838"/>
            <a:ext cx="0" cy="2921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552" name="Line 14">
            <a:extLst>
              <a:ext uri="{C183D7F6-B498-43B3-948B-1728B52AA6E4}">
                <adec:decorative xmlns:adec="http://schemas.microsoft.com/office/drawing/2017/decorative" val="1"/>
              </a:ext>
            </a:extLst>
          </p:cNvPr>
          <p:cNvSpPr>
            <a:spLocks noChangeShapeType="1"/>
          </p:cNvSpPr>
          <p:nvPr/>
        </p:nvSpPr>
        <p:spPr bwMode="auto">
          <a:xfrm>
            <a:off x="4332748" y="2560638"/>
            <a:ext cx="0" cy="3683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553" name="Line 15">
            <a:extLst>
              <a:ext uri="{C183D7F6-B498-43B3-948B-1728B52AA6E4}">
                <adec:decorative xmlns:adec="http://schemas.microsoft.com/office/drawing/2017/decorative" val="1"/>
              </a:ext>
            </a:extLst>
          </p:cNvPr>
          <p:cNvSpPr>
            <a:spLocks noChangeShapeType="1"/>
          </p:cNvSpPr>
          <p:nvPr/>
        </p:nvSpPr>
        <p:spPr bwMode="auto">
          <a:xfrm>
            <a:off x="9057148" y="2560638"/>
            <a:ext cx="0" cy="2159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554" name="Line 16">
            <a:extLst>
              <a:ext uri="{C183D7F6-B498-43B3-948B-1728B52AA6E4}">
                <adec:decorative xmlns:adec="http://schemas.microsoft.com/office/drawing/2017/decorative" val="1"/>
              </a:ext>
            </a:extLst>
          </p:cNvPr>
          <p:cNvSpPr>
            <a:spLocks noChangeShapeType="1"/>
          </p:cNvSpPr>
          <p:nvPr/>
        </p:nvSpPr>
        <p:spPr bwMode="auto">
          <a:xfrm>
            <a:off x="3424698" y="3697288"/>
            <a:ext cx="18923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555" name="Line 17">
            <a:extLst>
              <a:ext uri="{C183D7F6-B498-43B3-948B-1728B52AA6E4}">
                <adec:decorative xmlns:adec="http://schemas.microsoft.com/office/drawing/2017/decorative" val="1"/>
              </a:ext>
            </a:extLst>
          </p:cNvPr>
          <p:cNvSpPr>
            <a:spLocks noChangeShapeType="1"/>
          </p:cNvSpPr>
          <p:nvPr/>
        </p:nvSpPr>
        <p:spPr bwMode="auto">
          <a:xfrm>
            <a:off x="4332748" y="3475038"/>
            <a:ext cx="0" cy="2159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556" name="Line 18">
            <a:extLst>
              <a:ext uri="{C183D7F6-B498-43B3-948B-1728B52AA6E4}">
                <adec:decorative xmlns:adec="http://schemas.microsoft.com/office/drawing/2017/decorative" val="1"/>
              </a:ext>
            </a:extLst>
          </p:cNvPr>
          <p:cNvSpPr>
            <a:spLocks noChangeShapeType="1"/>
          </p:cNvSpPr>
          <p:nvPr/>
        </p:nvSpPr>
        <p:spPr bwMode="auto">
          <a:xfrm>
            <a:off x="3418348" y="3703638"/>
            <a:ext cx="0" cy="1397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557" name="Line 19">
            <a:extLst>
              <a:ext uri="{C183D7F6-B498-43B3-948B-1728B52AA6E4}">
                <adec:decorative xmlns:adec="http://schemas.microsoft.com/office/drawing/2017/decorative" val="1"/>
              </a:ext>
            </a:extLst>
          </p:cNvPr>
          <p:cNvSpPr>
            <a:spLocks noChangeShapeType="1"/>
          </p:cNvSpPr>
          <p:nvPr/>
        </p:nvSpPr>
        <p:spPr bwMode="auto">
          <a:xfrm>
            <a:off x="5323348" y="3703638"/>
            <a:ext cx="0" cy="1397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558" name="Line 20">
            <a:extLst>
              <a:ext uri="{C183D7F6-B498-43B3-948B-1728B52AA6E4}">
                <adec:decorative xmlns:adec="http://schemas.microsoft.com/office/drawing/2017/decorative" val="1"/>
              </a:ext>
            </a:extLst>
          </p:cNvPr>
          <p:cNvSpPr>
            <a:spLocks noChangeShapeType="1"/>
          </p:cNvSpPr>
          <p:nvPr/>
        </p:nvSpPr>
        <p:spPr bwMode="auto">
          <a:xfrm>
            <a:off x="7768098" y="4002088"/>
            <a:ext cx="22733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559" name="Line 21">
            <a:extLst>
              <a:ext uri="{C183D7F6-B498-43B3-948B-1728B52AA6E4}">
                <adec:decorative xmlns:adec="http://schemas.microsoft.com/office/drawing/2017/decorative" val="1"/>
              </a:ext>
            </a:extLst>
          </p:cNvPr>
          <p:cNvSpPr>
            <a:spLocks noChangeShapeType="1"/>
          </p:cNvSpPr>
          <p:nvPr/>
        </p:nvSpPr>
        <p:spPr bwMode="auto">
          <a:xfrm>
            <a:off x="7761748" y="4008438"/>
            <a:ext cx="0" cy="635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560" name="Line 22">
            <a:extLst>
              <a:ext uri="{C183D7F6-B498-43B3-948B-1728B52AA6E4}">
                <adec:decorative xmlns:adec="http://schemas.microsoft.com/office/drawing/2017/decorative" val="1"/>
              </a:ext>
            </a:extLst>
          </p:cNvPr>
          <p:cNvSpPr>
            <a:spLocks noChangeShapeType="1"/>
          </p:cNvSpPr>
          <p:nvPr/>
        </p:nvSpPr>
        <p:spPr bwMode="auto">
          <a:xfrm>
            <a:off x="10047748" y="4008438"/>
            <a:ext cx="0" cy="635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561" name="Line 23">
            <a:extLst>
              <a:ext uri="{C183D7F6-B498-43B3-948B-1728B52AA6E4}">
                <adec:decorative xmlns:adec="http://schemas.microsoft.com/office/drawing/2017/decorative" val="1"/>
              </a:ext>
            </a:extLst>
          </p:cNvPr>
          <p:cNvSpPr>
            <a:spLocks noChangeShapeType="1"/>
          </p:cNvSpPr>
          <p:nvPr/>
        </p:nvSpPr>
        <p:spPr bwMode="auto">
          <a:xfrm>
            <a:off x="9057148" y="3703638"/>
            <a:ext cx="0" cy="2921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562" name="Line 24">
            <a:extLst>
              <a:ext uri="{C183D7F6-B498-43B3-948B-1728B52AA6E4}">
                <adec:decorative xmlns:adec="http://schemas.microsoft.com/office/drawing/2017/decorative" val="1"/>
              </a:ext>
            </a:extLst>
          </p:cNvPr>
          <p:cNvSpPr>
            <a:spLocks noChangeShapeType="1"/>
          </p:cNvSpPr>
          <p:nvPr/>
        </p:nvSpPr>
        <p:spPr bwMode="auto">
          <a:xfrm>
            <a:off x="7207712" y="4600576"/>
            <a:ext cx="0" cy="13589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563" name="Line 25">
            <a:extLst>
              <a:ext uri="{C183D7F6-B498-43B3-948B-1728B52AA6E4}">
                <adec:decorative xmlns:adec="http://schemas.microsoft.com/office/drawing/2017/decorative" val="1"/>
              </a:ext>
            </a:extLst>
          </p:cNvPr>
          <p:cNvSpPr>
            <a:spLocks noChangeShapeType="1"/>
          </p:cNvSpPr>
          <p:nvPr/>
        </p:nvSpPr>
        <p:spPr bwMode="auto">
          <a:xfrm>
            <a:off x="7310898" y="5068888"/>
            <a:ext cx="63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564" name="Line 26">
            <a:extLst>
              <a:ext uri="{C183D7F6-B498-43B3-948B-1728B52AA6E4}">
                <adec:decorative xmlns:adec="http://schemas.microsoft.com/office/drawing/2017/decorative" val="1"/>
              </a:ext>
            </a:extLst>
          </p:cNvPr>
          <p:cNvSpPr>
            <a:spLocks noChangeShapeType="1"/>
          </p:cNvSpPr>
          <p:nvPr/>
        </p:nvSpPr>
        <p:spPr bwMode="auto">
          <a:xfrm>
            <a:off x="7310898" y="5373688"/>
            <a:ext cx="63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565" name="Line 27">
            <a:extLst>
              <a:ext uri="{C183D7F6-B498-43B3-948B-1728B52AA6E4}">
                <adec:decorative xmlns:adec="http://schemas.microsoft.com/office/drawing/2017/decorative" val="1"/>
              </a:ext>
            </a:extLst>
          </p:cNvPr>
          <p:cNvSpPr>
            <a:spLocks noChangeShapeType="1"/>
          </p:cNvSpPr>
          <p:nvPr/>
        </p:nvSpPr>
        <p:spPr bwMode="auto">
          <a:xfrm>
            <a:off x="7310898" y="5678488"/>
            <a:ext cx="63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566" name="Line 28">
            <a:extLst>
              <a:ext uri="{C183D7F6-B498-43B3-948B-1728B52AA6E4}">
                <adec:decorative xmlns:adec="http://schemas.microsoft.com/office/drawing/2017/decorative" val="1"/>
              </a:ext>
            </a:extLst>
          </p:cNvPr>
          <p:cNvSpPr>
            <a:spLocks noChangeShapeType="1"/>
          </p:cNvSpPr>
          <p:nvPr/>
        </p:nvSpPr>
        <p:spPr bwMode="auto">
          <a:xfrm>
            <a:off x="6521450" y="5964238"/>
            <a:ext cx="63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567" name="Line 29">
            <a:extLst>
              <a:ext uri="{C183D7F6-B498-43B3-948B-1728B52AA6E4}">
                <adec:decorative xmlns:adec="http://schemas.microsoft.com/office/drawing/2017/decorative" val="1"/>
              </a:ext>
            </a:extLst>
          </p:cNvPr>
          <p:cNvSpPr>
            <a:spLocks noChangeShapeType="1"/>
          </p:cNvSpPr>
          <p:nvPr/>
        </p:nvSpPr>
        <p:spPr bwMode="auto">
          <a:xfrm>
            <a:off x="9341312" y="4600576"/>
            <a:ext cx="0" cy="13589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568" name="Line 30">
            <a:extLst>
              <a:ext uri="{C183D7F6-B498-43B3-948B-1728B52AA6E4}">
                <adec:decorative xmlns:adec="http://schemas.microsoft.com/office/drawing/2017/decorative" val="1"/>
              </a:ext>
            </a:extLst>
          </p:cNvPr>
          <p:cNvSpPr>
            <a:spLocks noChangeShapeType="1"/>
          </p:cNvSpPr>
          <p:nvPr/>
        </p:nvSpPr>
        <p:spPr bwMode="auto">
          <a:xfrm>
            <a:off x="9444498" y="5068888"/>
            <a:ext cx="63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569" name="Line 31">
            <a:extLst>
              <a:ext uri="{C183D7F6-B498-43B3-948B-1728B52AA6E4}">
                <adec:decorative xmlns:adec="http://schemas.microsoft.com/office/drawing/2017/decorative" val="1"/>
              </a:ext>
            </a:extLst>
          </p:cNvPr>
          <p:cNvSpPr>
            <a:spLocks noChangeShapeType="1"/>
          </p:cNvSpPr>
          <p:nvPr/>
        </p:nvSpPr>
        <p:spPr bwMode="auto">
          <a:xfrm>
            <a:off x="9444498" y="5373688"/>
            <a:ext cx="63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570" name="Line 32">
            <a:extLst>
              <a:ext uri="{C183D7F6-B498-43B3-948B-1728B52AA6E4}">
                <adec:decorative xmlns:adec="http://schemas.microsoft.com/office/drawing/2017/decorative" val="1"/>
              </a:ext>
            </a:extLst>
          </p:cNvPr>
          <p:cNvSpPr>
            <a:spLocks noChangeShapeType="1"/>
          </p:cNvSpPr>
          <p:nvPr/>
        </p:nvSpPr>
        <p:spPr bwMode="auto">
          <a:xfrm>
            <a:off x="9444498" y="5678488"/>
            <a:ext cx="63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65571" name="Line 33">
            <a:extLst>
              <a:ext uri="{C183D7F6-B498-43B3-948B-1728B52AA6E4}">
                <adec:decorative xmlns:adec="http://schemas.microsoft.com/office/drawing/2017/decorative" val="1"/>
              </a:ext>
            </a:extLst>
          </p:cNvPr>
          <p:cNvSpPr>
            <a:spLocks noChangeShapeType="1"/>
          </p:cNvSpPr>
          <p:nvPr/>
        </p:nvSpPr>
        <p:spPr bwMode="auto">
          <a:xfrm>
            <a:off x="8655050" y="5964238"/>
            <a:ext cx="635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Footer Placeholder 1"/>
          <p:cNvSpPr>
            <a:spLocks noGrp="1"/>
          </p:cNvSpPr>
          <p:nvPr>
            <p:ph type="ftr" sz="quarter" idx="11"/>
          </p:nvPr>
        </p:nvSpPr>
        <p:spPr>
          <a:xfrm>
            <a:off x="5165776" y="6309898"/>
            <a:ext cx="44704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Newburry 2026 DBA International Business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Rectangle 1" descr="Anheuser-Busch Organizational Structure">
            <a:extLst>
              <a:ext uri="{FF2B5EF4-FFF2-40B4-BE49-F238E27FC236}">
                <a16:creationId xmlns:a16="http://schemas.microsoft.com/office/drawing/2014/main" id="{10E6FBC8-F0DC-102A-CFBD-AA3BA65F2134}"/>
              </a:ext>
            </a:extLst>
          </p:cNvPr>
          <p:cNvSpPr/>
          <p:nvPr/>
        </p:nvSpPr>
        <p:spPr>
          <a:xfrm>
            <a:off x="2793443" y="1597688"/>
            <a:ext cx="8410470" cy="4240404"/>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89795" name="Rectangle 2"/>
          <p:cNvSpPr>
            <a:spLocks noGrp="1" noChangeArrowheads="1"/>
          </p:cNvSpPr>
          <p:nvPr>
            <p:ph type="title" idx="4294967295"/>
          </p:nvPr>
        </p:nvSpPr>
        <p:spPr>
          <a:xfrm>
            <a:off x="3249325" y="526544"/>
            <a:ext cx="7772400" cy="1143000"/>
          </a:xfrm>
        </p:spPr>
        <p:txBody>
          <a:bodyPr/>
          <a:lstStyle/>
          <a:p>
            <a:pPr algn="ctr" eaLnBrk="1" hangingPunct="1">
              <a:defRPr/>
            </a:pPr>
            <a:r>
              <a:rPr lang="en-US" sz="4000" b="1" dirty="0"/>
              <a:t>Anheuser-Busch</a:t>
            </a:r>
          </a:p>
        </p:txBody>
      </p:sp>
      <p:graphicFrame>
        <p:nvGraphicFramePr>
          <p:cNvPr id="293891" name="Object 3">
            <a:extLst>
              <a:ext uri="{C183D7F6-B498-43B3-948B-1728B52AA6E4}">
                <adec:decorative xmlns:adec="http://schemas.microsoft.com/office/drawing/2017/decorative" val="1"/>
              </a:ext>
            </a:extLst>
          </p:cNvPr>
          <p:cNvGraphicFramePr>
            <a:graphicFrameLocks noGrp="1" noChangeAspect="1"/>
          </p:cNvGraphicFramePr>
          <p:nvPr>
            <p:ph type="dgm" idx="4294967295"/>
          </p:nvPr>
        </p:nvGraphicFramePr>
        <p:xfrm>
          <a:off x="3374572" y="1883316"/>
          <a:ext cx="7180263" cy="3579812"/>
        </p:xfrm>
        <a:graphic>
          <a:graphicData uri="http://schemas.openxmlformats.org/presentationml/2006/ole">
            <mc:AlternateContent xmlns:mc="http://schemas.openxmlformats.org/markup-compatibility/2006">
              <mc:Choice xmlns:v="urn:schemas-microsoft-com:vml" Requires="v">
                <p:oleObj name="MS Org Chart" r:id="rId3" imgW="7349836" imgH="3505200" progId="">
                  <p:embed followColorScheme="full"/>
                </p:oleObj>
              </mc:Choice>
              <mc:Fallback>
                <p:oleObj name="MS Org Chart" r:id="rId3" imgW="7349836" imgH="3505200" progId="">
                  <p:embed followColorScheme="full"/>
                  <p:pic>
                    <p:nvPicPr>
                      <p:cNvPr id="293891" name="Object 3">
                        <a:extLs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4572" y="1883316"/>
                        <a:ext cx="7180263" cy="35798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7" name="Rectangle 25"/>
          <p:cNvSpPr>
            <a:spLocks noGrp="1" noChangeArrowheads="1"/>
          </p:cNvSpPr>
          <p:nvPr>
            <p:ph type="ftr" sz="quarter" idx="11"/>
          </p:nvPr>
        </p:nvSpPr>
        <p:spPr>
          <a:xfrm>
            <a:off x="4900325" y="6248400"/>
            <a:ext cx="4470400" cy="457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srgbClr val="FFFFFF"/>
                </a:solidFill>
                <a:effectLst/>
                <a:uLnTx/>
                <a:uFillTx/>
                <a:latin typeface="Arial" panose="020B0604020202020204"/>
                <a:ea typeface="+mn-ea"/>
                <a:cs typeface="+mn-cs"/>
              </a:rPr>
              <a:t>Newburry 2026 DBA International Business</a:t>
            </a: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93891"/>
                                        </p:tgtEl>
                                        <p:attrNameLst>
                                          <p:attrName>style.visibility</p:attrName>
                                        </p:attrNameLst>
                                      </p:cBhvr>
                                      <p:to>
                                        <p:strVal val="visible"/>
                                      </p:to>
                                    </p:set>
                                    <p:animEffect transition="in" filter="box(out)">
                                      <p:cBhvr>
                                        <p:cTn id="7" dur="500"/>
                                        <p:tgtEl>
                                          <p:spTgt spid="293891"/>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373" name="Object 2" descr="Harley Davidson Structure"/>
          <p:cNvGraphicFramePr>
            <a:graphicFrameLocks noChangeAspect="1"/>
          </p:cNvGraphicFramePr>
          <p:nvPr/>
        </p:nvGraphicFramePr>
        <p:xfrm>
          <a:off x="2438400" y="651836"/>
          <a:ext cx="8772525" cy="6099175"/>
        </p:xfrm>
        <a:graphic>
          <a:graphicData uri="http://schemas.openxmlformats.org/presentationml/2006/ole">
            <mc:AlternateContent xmlns:mc="http://schemas.openxmlformats.org/markup-compatibility/2006">
              <mc:Choice xmlns:v="urn:schemas-microsoft-com:vml" Requires="v">
                <p:oleObj name="Organization Chart" r:id="rId2" imgW="4914720" imgH="2495520" progId="OrgPlusWOPX.4">
                  <p:embed followColorScheme="full"/>
                </p:oleObj>
              </mc:Choice>
              <mc:Fallback>
                <p:oleObj name="Organization Chart" r:id="rId2" imgW="4914720" imgH="2495520" progId="OrgPlusWOPX.4">
                  <p:embed followColorScheme="full"/>
                  <p:pic>
                    <p:nvPicPr>
                      <p:cNvPr id="58373" name="Object 2" descr="Harley Davidson Structure"/>
                      <p:cNvPicPr>
                        <a:picLocks noChangeAspect="1" noChangeArrowheads="1"/>
                      </p:cNvPicPr>
                      <p:nvPr/>
                    </p:nvPicPr>
                    <p:blipFill>
                      <a:blip r:embed="rId3"/>
                      <a:srcRect/>
                      <a:stretch>
                        <a:fillRect/>
                      </a:stretch>
                    </p:blipFill>
                    <p:spPr bwMode="auto">
                      <a:xfrm>
                        <a:off x="2438400" y="651836"/>
                        <a:ext cx="8772525" cy="609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8374" name="Rectangle 3"/>
          <p:cNvSpPr>
            <a:spLocks noGrp="1" noChangeArrowheads="1"/>
          </p:cNvSpPr>
          <p:nvPr>
            <p:ph type="title" idx="4294967295"/>
          </p:nvPr>
        </p:nvSpPr>
        <p:spPr bwMode="auto">
          <a:xfrm>
            <a:off x="2438400" y="214314"/>
            <a:ext cx="7354888" cy="579437"/>
          </a:xfrm>
          <a:prstGeom prst="rect">
            <a:avLst/>
          </a:prstGeom>
          <a:noFill/>
          <a:ln w="9525">
            <a:noFill/>
            <a:prstDash/>
            <a:miter lim="800000"/>
            <a:headEnd/>
            <a:tailEnd/>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3200" b="1" i="0" u="none" strike="noStrike" kern="1200" cap="none" spc="0" normalizeH="0" baseline="0" noProof="0" dirty="0">
                <a:ln>
                  <a:noFill/>
                </a:ln>
                <a:solidFill>
                  <a:schemeClr val="bg1"/>
                </a:solidFill>
                <a:effectLst/>
                <a:uLnTx/>
                <a:uFillTx/>
                <a:latin typeface="Times New Roman" pitchFamily="18" charset="0"/>
                <a:ea typeface="+mn-ea"/>
                <a:cs typeface="+mn-cs"/>
              </a:rPr>
              <a:t>Organizational Structure</a:t>
            </a:r>
            <a:r>
              <a:rPr kumimoji="0" lang="en-US" altLang="en-US" sz="2800" b="0" i="0" u="none" strike="noStrike" kern="1200" cap="none" spc="0" normalizeH="0" baseline="0" noProof="0" dirty="0">
                <a:ln>
                  <a:noFill/>
                </a:ln>
                <a:solidFill>
                  <a:schemeClr val="bg1"/>
                </a:solidFill>
                <a:effectLst/>
                <a:uLnTx/>
                <a:uFillTx/>
                <a:latin typeface="Times New Roman" pitchFamily="18" charset="0"/>
                <a:ea typeface="+mn-ea"/>
                <a:cs typeface="+mn-cs"/>
              </a:rPr>
              <a:t> </a:t>
            </a:r>
          </a:p>
        </p:txBody>
      </p:sp>
      <p:pic>
        <p:nvPicPr>
          <p:cNvPr id="58375" name="Picture 4" descr="a9"/>
          <p:cNvPicPr>
            <a:picLocks noChangeAspect="1" noChangeArrowheads="1" noCrop="1"/>
          </p:cNvPicPr>
          <p:nvPr/>
        </p:nvPicPr>
        <p:blipFill>
          <a:blip r:embed="rId4"/>
          <a:srcRect/>
          <a:stretch>
            <a:fillRect/>
          </a:stretch>
        </p:blipFill>
        <p:spPr bwMode="auto">
          <a:xfrm>
            <a:off x="8331200" y="4283868"/>
            <a:ext cx="3467100" cy="1766888"/>
          </a:xfrm>
          <a:prstGeom prst="rect">
            <a:avLst/>
          </a:prstGeom>
          <a:noFill/>
          <a:ln w="9525">
            <a:noFill/>
            <a:miter lim="800000"/>
            <a:headEnd/>
            <a:tailEnd/>
          </a:ln>
        </p:spPr>
      </p:pic>
      <p:sp>
        <p:nvSpPr>
          <p:cNvPr id="8" name="Rectangle 25"/>
          <p:cNvSpPr>
            <a:spLocks noGrp="1" noChangeArrowheads="1"/>
          </p:cNvSpPr>
          <p:nvPr>
            <p:ph type="ftr" sz="quarter" idx="11"/>
          </p:nvPr>
        </p:nvSpPr>
        <p:spPr>
          <a:xfrm>
            <a:off x="4770699" y="6249900"/>
            <a:ext cx="4470400" cy="457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srgbClr val="FFFFFF"/>
                </a:solidFill>
                <a:effectLst/>
                <a:uLnTx/>
                <a:uFillTx/>
                <a:latin typeface="Arial" panose="020B0604020202020204"/>
                <a:ea typeface="+mn-ea"/>
                <a:cs typeface="+mn-cs"/>
              </a:rPr>
              <a:t>Newburry 2026 DBA International Business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A3EFF-227B-4DA0-A965-1DF04009421A}"/>
            </a:ext>
          </a:extLst>
        </p:cNvPr>
        <p:cNvGrpSpPr/>
        <p:nvPr/>
      </p:nvGrpSpPr>
      <p:grpSpPr>
        <a:xfrm>
          <a:off x="0" y="0"/>
          <a:ext cx="0" cy="0"/>
          <a:chOff x="0" y="0"/>
          <a:chExt cx="0" cy="0"/>
        </a:xfrm>
      </p:grpSpPr>
      <p:sp>
        <p:nvSpPr>
          <p:cNvPr id="305154" name="Rectangle 2">
            <a:extLst>
              <a:ext uri="{FF2B5EF4-FFF2-40B4-BE49-F238E27FC236}">
                <a16:creationId xmlns:a16="http://schemas.microsoft.com/office/drawing/2014/main" id="{8D10C4C5-F0EC-80BC-2618-770D77815BD5}"/>
              </a:ext>
            </a:extLst>
          </p:cNvPr>
          <p:cNvSpPr>
            <a:spLocks noGrp="1" noChangeArrowheads="1"/>
          </p:cNvSpPr>
          <p:nvPr>
            <p:ph type="title" idx="4294967295"/>
          </p:nvPr>
        </p:nvSpPr>
        <p:spPr bwMode="auto">
          <a:xfrm>
            <a:off x="2599800" y="108062"/>
            <a:ext cx="8610600" cy="1066800"/>
          </a:xfrm>
          <a:prstGeom prst="rect">
            <a:avLst/>
          </a:prstGeom>
          <a:noFill/>
          <a:ln w="12700">
            <a:noFill/>
            <a:prstDash/>
            <a:miter lim="800000"/>
            <a:headEnd/>
            <a:tailEnd/>
          </a:ln>
          <a:effectLst/>
        </p:spPr>
        <p:txBody>
          <a:bodyPr rot="0" spcFirstLastPara="0" vertOverflow="overflow" horzOverflow="overflow" vert="horz" wrap="square" lIns="90488" tIns="44450" rIns="90488" bIns="4445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Arial" charset="0"/>
                <a:ea typeface="MS PGothic" panose="020B0600070205080204" pitchFamily="34" charset="-128"/>
                <a:cs typeface="Arial" charset="0"/>
              </a:rPr>
              <a:t>Integration-Responsiveness Framework – Multi-Domestic</a:t>
            </a:r>
            <a:endParaRPr kumimoji="0" lang="en-US" sz="18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Arial" charset="0"/>
              <a:ea typeface="MS PGothic" panose="020B0600070205080204" pitchFamily="34" charset="-128"/>
              <a:cs typeface="Arial" charset="0"/>
            </a:endParaRPr>
          </a:p>
        </p:txBody>
      </p:sp>
      <p:grpSp>
        <p:nvGrpSpPr>
          <p:cNvPr id="3" name="Group 2" descr="Multi-Domestic Strategy">
            <a:extLst>
              <a:ext uri="{FF2B5EF4-FFF2-40B4-BE49-F238E27FC236}">
                <a16:creationId xmlns:a16="http://schemas.microsoft.com/office/drawing/2014/main" id="{C0934B51-D404-D76A-033B-85052E58FAE0}"/>
              </a:ext>
            </a:extLst>
          </p:cNvPr>
          <p:cNvGrpSpPr/>
          <p:nvPr/>
        </p:nvGrpSpPr>
        <p:grpSpPr>
          <a:xfrm>
            <a:off x="2936580" y="1251061"/>
            <a:ext cx="7668548" cy="5265938"/>
            <a:chOff x="2936580" y="1251061"/>
            <a:chExt cx="7668548" cy="5265938"/>
          </a:xfrm>
        </p:grpSpPr>
        <p:sp>
          <p:nvSpPr>
            <p:cNvPr id="159746" name="Rectangle 3">
              <a:extLst>
                <a:ext uri="{FF2B5EF4-FFF2-40B4-BE49-F238E27FC236}">
                  <a16:creationId xmlns:a16="http://schemas.microsoft.com/office/drawing/2014/main" id="{DE2EFC08-E558-6116-1135-E6A19988B80D}"/>
                </a:ext>
              </a:extLst>
            </p:cNvPr>
            <p:cNvSpPr>
              <a:spLocks noChangeArrowheads="1"/>
            </p:cNvSpPr>
            <p:nvPr/>
          </p:nvSpPr>
          <p:spPr bwMode="auto">
            <a:xfrm>
              <a:off x="4966329" y="6057899"/>
              <a:ext cx="5200143"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a:solidFill>
                    <a:schemeClr val="bg1"/>
                  </a:solidFill>
                  <a:latin typeface="Times New Roman" panose="02020603050405020304" pitchFamily="18" charset="0"/>
                </a:rPr>
                <a:t>Pressures towards Local Responsiveness</a:t>
              </a:r>
            </a:p>
          </p:txBody>
        </p:sp>
        <p:sp>
          <p:nvSpPr>
            <p:cNvPr id="159747" name="Rectangle 4">
              <a:extLst>
                <a:ext uri="{FF2B5EF4-FFF2-40B4-BE49-F238E27FC236}">
                  <a16:creationId xmlns:a16="http://schemas.microsoft.com/office/drawing/2014/main" id="{733ECB37-9304-7115-00EE-E620A7B900DB}"/>
                </a:ext>
              </a:extLst>
            </p:cNvPr>
            <p:cNvSpPr>
              <a:spLocks noChangeArrowheads="1"/>
            </p:cNvSpPr>
            <p:nvPr/>
          </p:nvSpPr>
          <p:spPr bwMode="auto">
            <a:xfrm rot="-5400000">
              <a:off x="797692" y="3389949"/>
              <a:ext cx="473687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dirty="0">
                  <a:solidFill>
                    <a:schemeClr val="bg1"/>
                  </a:solidFill>
                  <a:latin typeface="Times New Roman" panose="02020603050405020304" pitchFamily="18" charset="0"/>
                </a:rPr>
                <a:t>Pressures towards Global Integration</a:t>
              </a:r>
            </a:p>
          </p:txBody>
        </p:sp>
        <p:sp>
          <p:nvSpPr>
            <p:cNvPr id="159748" name="Rectangle 5">
              <a:extLst>
                <a:ext uri="{FF2B5EF4-FFF2-40B4-BE49-F238E27FC236}">
                  <a16:creationId xmlns:a16="http://schemas.microsoft.com/office/drawing/2014/main" id="{DB7F2176-39D9-983A-E338-23E8EDD3D369}"/>
                </a:ext>
                <a:ext uri="{C183D7F6-B498-43B3-948B-1728B52AA6E4}">
                  <adec:decorative xmlns:adec="http://schemas.microsoft.com/office/drawing/2017/decorative" val="1"/>
                </a:ext>
              </a:extLst>
            </p:cNvPr>
            <p:cNvSpPr>
              <a:spLocks noChangeArrowheads="1"/>
            </p:cNvSpPr>
            <p:nvPr/>
          </p:nvSpPr>
          <p:spPr bwMode="auto">
            <a:xfrm>
              <a:off x="4515478" y="1492249"/>
              <a:ext cx="6089650" cy="4254500"/>
            </a:xfrm>
            <a:prstGeom prst="rect">
              <a:avLst/>
            </a:prstGeom>
            <a:noFill/>
            <a:ln w="127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eaLnBrk="1" hangingPunct="1"/>
              <a:endParaRPr lang="en-US" altLang="en-US">
                <a:solidFill>
                  <a:schemeClr val="bg1"/>
                </a:solidFill>
              </a:endParaRPr>
            </a:p>
          </p:txBody>
        </p:sp>
        <p:sp>
          <p:nvSpPr>
            <p:cNvPr id="159749" name="Rectangle 6">
              <a:extLst>
                <a:ext uri="{FF2B5EF4-FFF2-40B4-BE49-F238E27FC236}">
                  <a16:creationId xmlns:a16="http://schemas.microsoft.com/office/drawing/2014/main" id="{60175FEC-C478-17CC-0C66-1A1B06D60670}"/>
                </a:ext>
              </a:extLst>
            </p:cNvPr>
            <p:cNvSpPr>
              <a:spLocks noChangeArrowheads="1"/>
            </p:cNvSpPr>
            <p:nvPr/>
          </p:nvSpPr>
          <p:spPr bwMode="auto">
            <a:xfrm>
              <a:off x="3518528" y="1409699"/>
              <a:ext cx="953788"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a:solidFill>
                    <a:schemeClr val="bg1"/>
                  </a:solidFill>
                  <a:latin typeface="Times New Roman" panose="02020603050405020304" pitchFamily="18" charset="0"/>
                </a:rPr>
                <a:t>HIGH</a:t>
              </a:r>
            </a:p>
          </p:txBody>
        </p:sp>
        <p:sp>
          <p:nvSpPr>
            <p:cNvPr id="159750" name="Rectangle 7">
              <a:extLst>
                <a:ext uri="{FF2B5EF4-FFF2-40B4-BE49-F238E27FC236}">
                  <a16:creationId xmlns:a16="http://schemas.microsoft.com/office/drawing/2014/main" id="{6EED9AAC-A107-F607-EC3B-E694A27E7195}"/>
                </a:ext>
              </a:extLst>
            </p:cNvPr>
            <p:cNvSpPr>
              <a:spLocks noChangeArrowheads="1"/>
            </p:cNvSpPr>
            <p:nvPr/>
          </p:nvSpPr>
          <p:spPr bwMode="auto">
            <a:xfrm>
              <a:off x="3580441" y="5357812"/>
              <a:ext cx="88325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a:solidFill>
                    <a:schemeClr val="bg1"/>
                  </a:solidFill>
                  <a:latin typeface="Times New Roman" panose="02020603050405020304" pitchFamily="18" charset="0"/>
                </a:rPr>
                <a:t>LOW</a:t>
              </a:r>
            </a:p>
          </p:txBody>
        </p:sp>
        <p:sp>
          <p:nvSpPr>
            <p:cNvPr id="159751" name="Rectangle 8">
              <a:extLst>
                <a:ext uri="{FF2B5EF4-FFF2-40B4-BE49-F238E27FC236}">
                  <a16:creationId xmlns:a16="http://schemas.microsoft.com/office/drawing/2014/main" id="{3631938D-605B-548B-1BAF-ADA1C746816E}"/>
                </a:ext>
              </a:extLst>
            </p:cNvPr>
            <p:cNvSpPr>
              <a:spLocks noChangeArrowheads="1"/>
            </p:cNvSpPr>
            <p:nvPr/>
          </p:nvSpPr>
          <p:spPr bwMode="auto">
            <a:xfrm>
              <a:off x="4418641" y="5815012"/>
              <a:ext cx="88325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a:solidFill>
                    <a:schemeClr val="bg1"/>
                  </a:solidFill>
                  <a:latin typeface="Times New Roman" panose="02020603050405020304" pitchFamily="18" charset="0"/>
                </a:rPr>
                <a:t>LOW</a:t>
              </a:r>
            </a:p>
          </p:txBody>
        </p:sp>
        <p:sp>
          <p:nvSpPr>
            <p:cNvPr id="159752" name="Rectangle 9">
              <a:extLst>
                <a:ext uri="{FF2B5EF4-FFF2-40B4-BE49-F238E27FC236}">
                  <a16:creationId xmlns:a16="http://schemas.microsoft.com/office/drawing/2014/main" id="{B6320740-4774-CAC2-E626-F53B29A4C870}"/>
                </a:ext>
              </a:extLst>
            </p:cNvPr>
            <p:cNvSpPr>
              <a:spLocks noChangeArrowheads="1"/>
            </p:cNvSpPr>
            <p:nvPr/>
          </p:nvSpPr>
          <p:spPr bwMode="auto">
            <a:xfrm>
              <a:off x="9614528" y="5829299"/>
              <a:ext cx="953788"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a:solidFill>
                    <a:schemeClr val="bg1"/>
                  </a:solidFill>
                  <a:latin typeface="Times New Roman" panose="02020603050405020304" pitchFamily="18" charset="0"/>
                </a:rPr>
                <a:t>HIGH</a:t>
              </a:r>
            </a:p>
          </p:txBody>
        </p:sp>
        <p:sp>
          <p:nvSpPr>
            <p:cNvPr id="159753" name="Line 10">
              <a:extLst>
                <a:ext uri="{FF2B5EF4-FFF2-40B4-BE49-F238E27FC236}">
                  <a16:creationId xmlns:a16="http://schemas.microsoft.com/office/drawing/2014/main" id="{53E762A2-E767-A035-C156-0809BC92F551}"/>
                </a:ext>
                <a:ext uri="{C183D7F6-B498-43B3-948B-1728B52AA6E4}">
                  <adec:decorative xmlns:adec="http://schemas.microsoft.com/office/drawing/2017/decorative" val="1"/>
                </a:ext>
              </a:extLst>
            </p:cNvPr>
            <p:cNvSpPr>
              <a:spLocks noChangeShapeType="1"/>
            </p:cNvSpPr>
            <p:nvPr/>
          </p:nvSpPr>
          <p:spPr bwMode="auto">
            <a:xfrm>
              <a:off x="7557128" y="1562099"/>
              <a:ext cx="0" cy="41910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chemeClr val="bg1"/>
                </a:solidFill>
              </a:endParaRPr>
            </a:p>
          </p:txBody>
        </p:sp>
        <p:sp>
          <p:nvSpPr>
            <p:cNvPr id="159754" name="Line 11">
              <a:extLst>
                <a:ext uri="{FF2B5EF4-FFF2-40B4-BE49-F238E27FC236}">
                  <a16:creationId xmlns:a16="http://schemas.microsoft.com/office/drawing/2014/main" id="{88A3385E-2F57-6060-6B66-00ABE0339BFD}"/>
                </a:ext>
                <a:ext uri="{C183D7F6-B498-43B3-948B-1728B52AA6E4}">
                  <adec:decorative xmlns:adec="http://schemas.microsoft.com/office/drawing/2017/decorative" val="1"/>
                </a:ext>
              </a:extLst>
            </p:cNvPr>
            <p:cNvSpPr>
              <a:spLocks noChangeShapeType="1"/>
            </p:cNvSpPr>
            <p:nvPr/>
          </p:nvSpPr>
          <p:spPr bwMode="auto">
            <a:xfrm>
              <a:off x="4515478" y="3619499"/>
              <a:ext cx="608965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chemeClr val="bg1"/>
                </a:solidFill>
              </a:endParaRPr>
            </a:p>
          </p:txBody>
        </p:sp>
        <p:sp>
          <p:nvSpPr>
            <p:cNvPr id="159755" name="Rectangle 12">
              <a:extLst>
                <a:ext uri="{FF2B5EF4-FFF2-40B4-BE49-F238E27FC236}">
                  <a16:creationId xmlns:a16="http://schemas.microsoft.com/office/drawing/2014/main" id="{0FAB468C-BD64-0CC9-49F1-4C6112B051E3}"/>
                </a:ext>
              </a:extLst>
            </p:cNvPr>
            <p:cNvSpPr>
              <a:spLocks noChangeArrowheads="1"/>
            </p:cNvSpPr>
            <p:nvPr/>
          </p:nvSpPr>
          <p:spPr bwMode="auto">
            <a:xfrm>
              <a:off x="5118728" y="2247899"/>
              <a:ext cx="2104744"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b="1" i="1" dirty="0">
                  <a:solidFill>
                    <a:schemeClr val="bg1"/>
                  </a:solidFill>
                  <a:latin typeface="Times New Roman" panose="02020603050405020304" pitchFamily="18" charset="0"/>
                </a:rPr>
                <a:t>Global strategy</a:t>
              </a:r>
            </a:p>
          </p:txBody>
        </p:sp>
        <p:sp>
          <p:nvSpPr>
            <p:cNvPr id="159756" name="Rectangle 13">
              <a:extLst>
                <a:ext uri="{FF2B5EF4-FFF2-40B4-BE49-F238E27FC236}">
                  <a16:creationId xmlns:a16="http://schemas.microsoft.com/office/drawing/2014/main" id="{62E88813-2970-6ACA-D7C7-B03B1C60E06A}"/>
                </a:ext>
              </a:extLst>
            </p:cNvPr>
            <p:cNvSpPr>
              <a:spLocks noChangeArrowheads="1"/>
            </p:cNvSpPr>
            <p:nvPr/>
          </p:nvSpPr>
          <p:spPr bwMode="auto">
            <a:xfrm>
              <a:off x="7785728" y="4229099"/>
              <a:ext cx="2667000"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lgn="ctr"/>
              <a:r>
                <a:rPr lang="en-US" altLang="en-US" sz="2400" b="1" i="1" dirty="0">
                  <a:solidFill>
                    <a:srgbClr val="FFFF00"/>
                  </a:solidFill>
                  <a:latin typeface="Times New Roman" panose="02020603050405020304" pitchFamily="18" charset="0"/>
                </a:rPr>
                <a:t>Multi-domestic strategy</a:t>
              </a:r>
            </a:p>
          </p:txBody>
        </p:sp>
        <p:sp>
          <p:nvSpPr>
            <p:cNvPr id="159757" name="Rectangle 14">
              <a:extLst>
                <a:ext uri="{FF2B5EF4-FFF2-40B4-BE49-F238E27FC236}">
                  <a16:creationId xmlns:a16="http://schemas.microsoft.com/office/drawing/2014/main" id="{2479F9AC-2550-59FA-3A2F-46396B69203A}"/>
                </a:ext>
              </a:extLst>
            </p:cNvPr>
            <p:cNvSpPr>
              <a:spLocks noChangeArrowheads="1"/>
            </p:cNvSpPr>
            <p:nvPr/>
          </p:nvSpPr>
          <p:spPr bwMode="auto">
            <a:xfrm>
              <a:off x="8094522" y="2019299"/>
              <a:ext cx="1984327"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lgn="ctr"/>
              <a:r>
                <a:rPr lang="en-US" altLang="en-US" sz="2400" b="1" i="1">
                  <a:solidFill>
                    <a:schemeClr val="bg1"/>
                  </a:solidFill>
                  <a:latin typeface="Times New Roman" panose="02020603050405020304" pitchFamily="18" charset="0"/>
                </a:rPr>
                <a:t>Transnational</a:t>
              </a:r>
            </a:p>
            <a:p>
              <a:pPr algn="ctr"/>
              <a:r>
                <a:rPr lang="en-US" altLang="en-US" sz="2400" b="1" i="1">
                  <a:solidFill>
                    <a:schemeClr val="bg1"/>
                  </a:solidFill>
                  <a:latin typeface="Times New Roman" panose="02020603050405020304" pitchFamily="18" charset="0"/>
                </a:rPr>
                <a:t> strategy</a:t>
              </a:r>
            </a:p>
          </p:txBody>
        </p:sp>
        <p:sp>
          <p:nvSpPr>
            <p:cNvPr id="159758" name="Rectangle 15">
              <a:extLst>
                <a:ext uri="{FF2B5EF4-FFF2-40B4-BE49-F238E27FC236}">
                  <a16:creationId xmlns:a16="http://schemas.microsoft.com/office/drawing/2014/main" id="{1F0A1FA9-0414-031D-C9B6-01B6AD9C2407}"/>
                </a:ext>
              </a:extLst>
            </p:cNvPr>
            <p:cNvSpPr>
              <a:spLocks noChangeArrowheads="1"/>
            </p:cNvSpPr>
            <p:nvPr/>
          </p:nvSpPr>
          <p:spPr bwMode="auto">
            <a:xfrm>
              <a:off x="5050922" y="4229099"/>
              <a:ext cx="1875514"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lgn="ctr"/>
              <a:r>
                <a:rPr lang="en-US" altLang="en-US" sz="2400" b="1" i="1">
                  <a:solidFill>
                    <a:schemeClr val="bg1"/>
                  </a:solidFill>
                  <a:latin typeface="Times New Roman" panose="02020603050405020304" pitchFamily="18" charset="0"/>
                </a:rPr>
                <a:t>International</a:t>
              </a:r>
            </a:p>
            <a:p>
              <a:pPr algn="ctr"/>
              <a:r>
                <a:rPr lang="en-US" altLang="en-US" sz="2400" b="1" i="1">
                  <a:solidFill>
                    <a:schemeClr val="bg1"/>
                  </a:solidFill>
                  <a:latin typeface="Times New Roman" panose="02020603050405020304" pitchFamily="18" charset="0"/>
                </a:rPr>
                <a:t>strategy</a:t>
              </a:r>
            </a:p>
          </p:txBody>
        </p:sp>
      </p:grpSp>
      <p:sp>
        <p:nvSpPr>
          <p:cNvPr id="2" name="Footer Placeholder 1">
            <a:extLst>
              <a:ext uri="{FF2B5EF4-FFF2-40B4-BE49-F238E27FC236}">
                <a16:creationId xmlns:a16="http://schemas.microsoft.com/office/drawing/2014/main" id="{B9DD2C7E-8422-9225-A339-DCB5A65A6DF9}"/>
              </a:ext>
            </a:extLst>
          </p:cNvPr>
          <p:cNvSpPr>
            <a:spLocks noGrp="1"/>
          </p:cNvSpPr>
          <p:nvPr>
            <p:ph type="ftr" sz="quarter" idx="11"/>
          </p:nvPr>
        </p:nvSpPr>
        <p:spPr>
          <a:xfrm>
            <a:off x="4686299" y="6327775"/>
            <a:ext cx="4437603" cy="457200"/>
          </a:xfrm>
        </p:spPr>
        <p:txBody>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eaLnBrk="1" hangingPunct="1"/>
            <a:r>
              <a:rPr lang="en-US" altLang="en-US" sz="1200" dirty="0">
                <a:solidFill>
                  <a:schemeClr val="bg1"/>
                </a:solidFill>
              </a:rPr>
              <a:t>Newburry 2026 DBA International Business</a:t>
            </a:r>
          </a:p>
        </p:txBody>
      </p:sp>
    </p:spTree>
    <p:extLst>
      <p:ext uri="{BB962C8B-B14F-4D97-AF65-F5344CB8AC3E}">
        <p14:creationId xmlns:p14="http://schemas.microsoft.com/office/powerpoint/2010/main" val="22833733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a:xfrm>
            <a:off x="2291024" y="365125"/>
            <a:ext cx="9062776" cy="1325563"/>
          </a:xfrm>
        </p:spPr>
        <p:txBody>
          <a:bodyPr/>
          <a:lstStyle/>
          <a:p>
            <a:pPr eaLnBrk="1" hangingPunct="1">
              <a:defRPr/>
            </a:pPr>
            <a:r>
              <a:rPr lang="en-US" sz="4000" b="1" dirty="0">
                <a:ea typeface="MS PGothic" panose="020B0600070205080204" pitchFamily="34" charset="-128"/>
              </a:rPr>
              <a:t>Multidomestic Strategy</a:t>
            </a:r>
          </a:p>
        </p:txBody>
      </p:sp>
      <p:sp>
        <p:nvSpPr>
          <p:cNvPr id="164866" name="Rectangle 3"/>
          <p:cNvSpPr>
            <a:spLocks noGrp="1" noChangeArrowheads="1"/>
          </p:cNvSpPr>
          <p:nvPr>
            <p:ph type="body" idx="1"/>
          </p:nvPr>
        </p:nvSpPr>
        <p:spPr>
          <a:xfrm>
            <a:off x="2291023" y="1825625"/>
            <a:ext cx="9616273" cy="3955415"/>
          </a:xfrm>
        </p:spPr>
        <p:txBody>
          <a:bodyPr>
            <a:normAutofit lnSpcReduction="10000"/>
          </a:bodyPr>
          <a:lstStyle/>
          <a:p>
            <a:pPr eaLnBrk="1" hangingPunct="1">
              <a:lnSpc>
                <a:spcPct val="90000"/>
              </a:lnSpc>
            </a:pPr>
            <a:r>
              <a:rPr lang="en-US" altLang="en-US" sz="2800" dirty="0"/>
              <a:t>High responsiveness pressures and low integration pressures</a:t>
            </a:r>
          </a:p>
          <a:p>
            <a:pPr eaLnBrk="1" hangingPunct="1">
              <a:lnSpc>
                <a:spcPct val="90000"/>
              </a:lnSpc>
            </a:pPr>
            <a:r>
              <a:rPr lang="en-US" altLang="en-US" sz="2800" dirty="0"/>
              <a:t>Strategic decisions affecting country markets are made by country subsidiaries</a:t>
            </a:r>
          </a:p>
          <a:p>
            <a:pPr eaLnBrk="1" hangingPunct="1">
              <a:lnSpc>
                <a:spcPct val="90000"/>
              </a:lnSpc>
            </a:pPr>
            <a:r>
              <a:rPr lang="en-US" altLang="en-US" sz="2800" dirty="0"/>
              <a:t>Product offerings and other key strategy dimensions differ across countries</a:t>
            </a:r>
          </a:p>
          <a:p>
            <a:pPr eaLnBrk="1" hangingPunct="1">
              <a:lnSpc>
                <a:spcPct val="90000"/>
              </a:lnSpc>
            </a:pPr>
            <a:r>
              <a:rPr lang="en-US" altLang="en-US" sz="2800" dirty="0"/>
              <a:t>Collection of relatively independent subsidiaries</a:t>
            </a:r>
          </a:p>
          <a:p>
            <a:pPr eaLnBrk="1" hangingPunct="1">
              <a:lnSpc>
                <a:spcPct val="90000"/>
              </a:lnSpc>
              <a:buFontTx/>
              <a:buNone/>
            </a:pPr>
            <a:endParaRPr lang="en-US" altLang="en-US" sz="2800" dirty="0"/>
          </a:p>
          <a:p>
            <a:pPr eaLnBrk="1" hangingPunct="1">
              <a:lnSpc>
                <a:spcPct val="90000"/>
              </a:lnSpc>
            </a:pPr>
            <a:r>
              <a:rPr lang="en-US" altLang="en-US" sz="2800" dirty="0"/>
              <a:t>E.g., AFLAC Insurance (due to different market demands)</a:t>
            </a:r>
          </a:p>
        </p:txBody>
      </p:sp>
      <p:sp>
        <p:nvSpPr>
          <p:cNvPr id="2" name="Footer Placeholder 1"/>
          <p:cNvSpPr>
            <a:spLocks noGrp="1"/>
          </p:cNvSpPr>
          <p:nvPr>
            <p:ph type="ftr" sz="quarter" idx="11"/>
          </p:nvPr>
        </p:nvSpPr>
        <p:spPr>
          <a:xfrm>
            <a:off x="4648200" y="6248400"/>
            <a:ext cx="3124200" cy="457200"/>
          </a:xfrm>
        </p:spPr>
        <p:txBody>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eaLnBrk="1" hangingPunct="1"/>
            <a:r>
              <a:rPr lang="en-US" altLang="en-US" sz="1200" dirty="0">
                <a:solidFill>
                  <a:schemeClr val="tx1"/>
                </a:solidFill>
              </a:rPr>
              <a:t>Newburry 2026 DBA International Business</a:t>
            </a:r>
          </a:p>
        </p:txBody>
      </p:sp>
    </p:spTree>
    <p:extLst>
      <p:ext uri="{BB962C8B-B14F-4D97-AF65-F5344CB8AC3E}">
        <p14:creationId xmlns:p14="http://schemas.microsoft.com/office/powerpoint/2010/main" val="27401696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ChangeArrowheads="1"/>
          </p:cNvSpPr>
          <p:nvPr>
            <p:ph type="title" idx="4294967295"/>
          </p:nvPr>
        </p:nvSpPr>
        <p:spPr bwMode="auto">
          <a:xfrm>
            <a:off x="3160207" y="443131"/>
            <a:ext cx="7772400" cy="1143000"/>
          </a:xfrm>
          <a:prstGeom prst="rect">
            <a:avLst/>
          </a:prstGeom>
          <a:solidFill>
            <a:schemeClr val="accent1"/>
          </a:solidFill>
          <a:ln w="12700">
            <a:noFill/>
            <a:prstDash/>
            <a:miter lim="800000"/>
            <a:headEnd/>
            <a:tailEnd/>
          </a:ln>
          <a:effectLst/>
        </p:spPr>
        <p:txBody>
          <a:bodyPr rot="0" spcFirstLastPara="0" vertOverflow="overflow" horzOverflow="overflow" vert="horz" wrap="square" lIns="90488" tIns="44450" rIns="90488" bIns="4445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chemeClr val="bg1"/>
                </a:solidFill>
                <a:effectLst>
                  <a:outerShdw blurRad="38100" dist="38100" dir="2700000" algn="tl">
                    <a:srgbClr val="FFFFFF"/>
                  </a:outerShdw>
                </a:effectLst>
                <a:uLnTx/>
                <a:uFillTx/>
                <a:latin typeface="+mn-lt"/>
                <a:ea typeface="+mn-ea"/>
                <a:cs typeface="+mn-cs"/>
              </a:rPr>
              <a:t>Geographic</a:t>
            </a:r>
            <a:r>
              <a:rPr kumimoji="0" lang="en-US" sz="4000" b="1" i="0" u="none" strike="noStrike" kern="1200" cap="none" spc="0" normalizeH="0" baseline="0" noProof="0" dirty="0">
                <a:ln>
                  <a:noFill/>
                </a:ln>
                <a:solidFill>
                  <a:schemeClr val="tx2"/>
                </a:solidFill>
                <a:effectLst>
                  <a:outerShdw blurRad="38100" dist="38100" dir="2700000" algn="tl">
                    <a:srgbClr val="FFFFFF"/>
                  </a:outerShdw>
                </a:effectLst>
                <a:uLnTx/>
                <a:uFillTx/>
                <a:latin typeface="+mn-lt"/>
                <a:ea typeface="+mn-ea"/>
                <a:cs typeface="+mn-cs"/>
              </a:rPr>
              <a:t> </a:t>
            </a:r>
            <a:r>
              <a:rPr kumimoji="0" lang="en-US" sz="4000" b="1" i="0" u="none" strike="noStrike" kern="1200" cap="none" spc="0" normalizeH="0" baseline="0" noProof="0" dirty="0">
                <a:ln>
                  <a:noFill/>
                </a:ln>
                <a:solidFill>
                  <a:schemeClr val="bg1"/>
                </a:solidFill>
                <a:effectLst>
                  <a:outerShdw blurRad="38100" dist="38100" dir="2700000" algn="tl">
                    <a:srgbClr val="FFFFFF"/>
                  </a:outerShdw>
                </a:effectLst>
                <a:uLnTx/>
                <a:uFillTx/>
                <a:latin typeface="+mn-lt"/>
                <a:ea typeface="+mn-ea"/>
                <a:cs typeface="+mn-cs"/>
              </a:rPr>
              <a:t>Structure</a:t>
            </a:r>
          </a:p>
        </p:txBody>
      </p:sp>
      <p:graphicFrame>
        <p:nvGraphicFramePr>
          <p:cNvPr id="59398" name="Object 3" descr="Geographic Structure">
            <a:hlinkClick r:id="" action="ppaction://ole?verb=0"/>
          </p:cNvPr>
          <p:cNvGraphicFramePr>
            <a:graphicFrameLocks noChangeAspect="1"/>
          </p:cNvGraphicFramePr>
          <p:nvPr/>
        </p:nvGraphicFramePr>
        <p:xfrm>
          <a:off x="2562330" y="1882391"/>
          <a:ext cx="8637588" cy="3773488"/>
        </p:xfrm>
        <a:graphic>
          <a:graphicData uri="http://schemas.openxmlformats.org/presentationml/2006/ole">
            <mc:AlternateContent xmlns:mc="http://schemas.openxmlformats.org/markup-compatibility/2006">
              <mc:Choice xmlns:v="urn:schemas-microsoft-com:vml" Requires="v">
                <p:oleObj name="MS Organization Chart 2.0" r:id="rId2" imgW="7182770" imgH="3140491" progId="">
                  <p:embed followColorScheme="full"/>
                </p:oleObj>
              </mc:Choice>
              <mc:Fallback>
                <p:oleObj name="MS Organization Chart 2.0" r:id="rId2" imgW="7182770" imgH="3140491" progId="">
                  <p:embed followColorScheme="full"/>
                  <p:pic>
                    <p:nvPicPr>
                      <p:cNvPr id="59398" name="Object 3" descr="Geographic Structure">
                        <a:hlinkClick r:id="" action="ppaction://ole?verb=0"/>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2330" y="1882391"/>
                        <a:ext cx="8637588" cy="3773488"/>
                      </a:xfrm>
                      <a:prstGeom prst="rect">
                        <a:avLst/>
                      </a:prstGeom>
                      <a:solidFill>
                        <a:srgbClr val="0070C0"/>
                      </a:solidFill>
                      <a:ln>
                        <a:noFill/>
                      </a:ln>
                      <a:effectLst/>
                    </p:spPr>
                  </p:pic>
                </p:oleObj>
              </mc:Fallback>
            </mc:AlternateContent>
          </a:graphicData>
        </a:graphic>
      </p:graphicFrame>
      <p:sp>
        <p:nvSpPr>
          <p:cNvPr id="7" name="Rectangle 25"/>
          <p:cNvSpPr>
            <a:spLocks noGrp="1" noChangeArrowheads="1"/>
          </p:cNvSpPr>
          <p:nvPr>
            <p:ph type="ftr" sz="quarter" idx="11"/>
          </p:nvPr>
        </p:nvSpPr>
        <p:spPr>
          <a:xfrm>
            <a:off x="4645924" y="6298641"/>
            <a:ext cx="4470400" cy="457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srgbClr val="FFFFFF"/>
                </a:solidFill>
                <a:effectLst/>
                <a:uLnTx/>
                <a:uFillTx/>
                <a:latin typeface="Arial" panose="020B0604020202020204"/>
                <a:ea typeface="+mn-ea"/>
                <a:cs typeface="+mn-cs"/>
              </a:rPr>
              <a:t>Newburry 2026 DBA International Business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42" name="Rectangle 23"/>
          <p:cNvSpPr>
            <a:spLocks noGrp="1" noChangeArrowheads="1"/>
          </p:cNvSpPr>
          <p:nvPr>
            <p:ph type="title" idx="4294967295"/>
          </p:nvPr>
        </p:nvSpPr>
        <p:spPr bwMode="auto">
          <a:xfrm>
            <a:off x="2705100" y="257175"/>
            <a:ext cx="8458200" cy="762000"/>
          </a:xfrm>
          <a:prstGeom prst="rect">
            <a:avLst/>
          </a:prstGeom>
          <a:solidFill>
            <a:schemeClr val="accent1"/>
          </a:solidFill>
          <a:ln w="9525">
            <a:noFill/>
            <a:prstDash/>
            <a:miter lim="800000"/>
            <a:headEnd/>
            <a:tailEn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3200" b="1" i="0" u="none" strike="noStrike" kern="1200" cap="none" spc="0" normalizeH="0" baseline="0" noProof="0" dirty="0">
                <a:ln>
                  <a:noFill/>
                </a:ln>
                <a:solidFill>
                  <a:schemeClr val="bg1"/>
                </a:solidFill>
                <a:effectLst/>
                <a:uLnTx/>
                <a:uFillTx/>
                <a:latin typeface="Times New Roman" pitchFamily="18" charset="0"/>
                <a:ea typeface="+mn-ea"/>
                <a:cs typeface="+mn-cs"/>
              </a:rPr>
              <a:t>AFLAC Organizational Structure</a:t>
            </a:r>
          </a:p>
        </p:txBody>
      </p:sp>
      <p:grpSp>
        <p:nvGrpSpPr>
          <p:cNvPr id="2" name="Group 1" descr="AFLAC Structure">
            <a:extLst>
              <a:ext uri="{FF2B5EF4-FFF2-40B4-BE49-F238E27FC236}">
                <a16:creationId xmlns:a16="http://schemas.microsoft.com/office/drawing/2014/main" id="{DE9DB225-B875-7C90-E0F0-E1A9ECE6E3D4}"/>
              </a:ext>
            </a:extLst>
          </p:cNvPr>
          <p:cNvGrpSpPr/>
          <p:nvPr/>
        </p:nvGrpSpPr>
        <p:grpSpPr>
          <a:xfrm>
            <a:off x="2530510" y="1314448"/>
            <a:ext cx="8839201" cy="4695826"/>
            <a:chOff x="2530510" y="1314448"/>
            <a:chExt cx="8839201" cy="4695826"/>
          </a:xfrm>
        </p:grpSpPr>
        <p:pic>
          <p:nvPicPr>
            <p:cNvPr id="60421" name="Picture 2">
              <a:extLst>
                <a:ext uri="{C183D7F6-B498-43B3-948B-1728B52AA6E4}">
                  <adec:decorative xmlns:adec="http://schemas.microsoft.com/office/drawing/2017/decorative" val="1"/>
                </a:ext>
              </a:extLst>
            </p:cNvPr>
            <p:cNvPicPr>
              <a:picLocks noChangeAspect="1" noChangeArrowheads="1"/>
            </p:cNvPicPr>
            <p:nvPr/>
          </p:nvPicPr>
          <p:blipFill>
            <a:blip r:embed="rId2"/>
            <a:srcRect/>
            <a:stretch>
              <a:fillRect/>
            </a:stretch>
          </p:blipFill>
          <p:spPr bwMode="auto">
            <a:xfrm>
              <a:off x="2606710" y="1314448"/>
              <a:ext cx="1752600" cy="1701800"/>
            </a:xfrm>
            <a:prstGeom prst="rect">
              <a:avLst/>
            </a:prstGeom>
            <a:noFill/>
            <a:ln w="9525">
              <a:solidFill>
                <a:schemeClr val="bg1"/>
              </a:solidFill>
              <a:miter lim="800000"/>
              <a:headEnd/>
              <a:tailEnd/>
            </a:ln>
          </p:spPr>
        </p:pic>
        <p:graphicFrame>
          <p:nvGraphicFramePr>
            <p:cNvPr id="60422" name="Object 3">
              <a:extLst>
                <a:ext uri="{C183D7F6-B498-43B3-948B-1728B52AA6E4}">
                  <adec:decorative xmlns:adec="http://schemas.microsoft.com/office/drawing/2017/decorative" val="1"/>
                </a:ext>
              </a:extLst>
            </p:cNvPr>
            <p:cNvGraphicFramePr>
              <a:graphicFrameLocks noChangeAspect="1"/>
            </p:cNvGraphicFramePr>
            <p:nvPr/>
          </p:nvGraphicFramePr>
          <p:xfrm>
            <a:off x="9707598" y="1314448"/>
            <a:ext cx="1509712" cy="1676400"/>
          </p:xfrm>
          <a:graphic>
            <a:graphicData uri="http://schemas.openxmlformats.org/presentationml/2006/ole">
              <mc:AlternateContent xmlns:mc="http://schemas.openxmlformats.org/markup-compatibility/2006">
                <mc:Choice xmlns:v="urn:schemas-microsoft-com:vml" Requires="v">
                  <p:oleObj name="Bitmap Image" r:id="rId3" imgW="866896" imgH="961905" progId="PBrush">
                    <p:embed/>
                  </p:oleObj>
                </mc:Choice>
                <mc:Fallback>
                  <p:oleObj name="Bitmap Image" r:id="rId3" imgW="866896" imgH="961905" progId="PBrush">
                    <p:embed/>
                    <p:pic>
                      <p:nvPicPr>
                        <p:cNvPr id="60422" name="Object 3">
                          <a:extLs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07598" y="1314448"/>
                          <a:ext cx="1509712"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423" name="AutoShape 4" descr="AFLAC Structure"/>
            <p:cNvSpPr>
              <a:spLocks noChangeAspect="1" noChangeArrowheads="1" noTextEdit="1"/>
            </p:cNvSpPr>
            <p:nvPr/>
          </p:nvSpPr>
          <p:spPr bwMode="auto">
            <a:xfrm>
              <a:off x="2835310" y="1466848"/>
              <a:ext cx="8229600" cy="4495800"/>
            </a:xfrm>
            <a:prstGeom prst="rect">
              <a:avLst/>
            </a:prstGeom>
            <a:noFill/>
            <a:ln w="9525">
              <a:no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60424" name="Picture 5">
              <a:extLst>
                <a:ext uri="{C183D7F6-B498-43B3-948B-1728B52AA6E4}">
                  <adec:decorative xmlns:adec="http://schemas.microsoft.com/office/drawing/2017/decorative" val="1"/>
                </a:ext>
              </a:extLst>
            </p:cNvPr>
            <p:cNvPicPr>
              <a:picLocks noChangeAspect="1" noChangeArrowheads="1"/>
            </p:cNvPicPr>
            <p:nvPr/>
          </p:nvPicPr>
          <p:blipFill>
            <a:blip r:embed="rId5"/>
            <a:srcRect/>
            <a:stretch>
              <a:fillRect/>
            </a:stretch>
          </p:blipFill>
          <p:spPr bwMode="auto">
            <a:xfrm>
              <a:off x="2708310" y="3130549"/>
              <a:ext cx="3860800" cy="593725"/>
            </a:xfrm>
            <a:prstGeom prst="rect">
              <a:avLst/>
            </a:prstGeom>
            <a:noFill/>
            <a:ln w="9525">
              <a:solidFill>
                <a:schemeClr val="bg1"/>
              </a:solidFill>
              <a:miter lim="800000"/>
              <a:headEnd/>
              <a:tailEnd/>
            </a:ln>
          </p:spPr>
        </p:pic>
        <p:pic>
          <p:nvPicPr>
            <p:cNvPr id="60425" name="Picture 6">
              <a:extLst>
                <a:ext uri="{C183D7F6-B498-43B3-948B-1728B52AA6E4}">
                  <adec:decorative xmlns:adec="http://schemas.microsoft.com/office/drawing/2017/decorative" val="1"/>
                </a:ext>
              </a:extLst>
            </p:cNvPr>
            <p:cNvPicPr>
              <a:picLocks noChangeAspect="1" noChangeArrowheads="1"/>
            </p:cNvPicPr>
            <p:nvPr/>
          </p:nvPicPr>
          <p:blipFill>
            <a:blip r:embed="rId6"/>
            <a:srcRect/>
            <a:stretch>
              <a:fillRect/>
            </a:stretch>
          </p:blipFill>
          <p:spPr bwMode="auto">
            <a:xfrm>
              <a:off x="7331110" y="3116262"/>
              <a:ext cx="3962400" cy="625475"/>
            </a:xfrm>
            <a:prstGeom prst="rect">
              <a:avLst/>
            </a:prstGeom>
            <a:noFill/>
            <a:ln w="9525">
              <a:solidFill>
                <a:schemeClr val="bg1"/>
              </a:solidFill>
              <a:miter lim="800000"/>
              <a:headEnd/>
              <a:tailEnd/>
            </a:ln>
          </p:spPr>
        </p:pic>
        <p:pic>
          <p:nvPicPr>
            <p:cNvPr id="60426" name="Picture 7">
              <a:extLst>
                <a:ext uri="{C183D7F6-B498-43B3-948B-1728B52AA6E4}">
                  <adec:decorative xmlns:adec="http://schemas.microsoft.com/office/drawing/2017/decorative" val="1"/>
                </a:ext>
              </a:extLst>
            </p:cNvPr>
            <p:cNvPicPr>
              <a:picLocks noChangeAspect="1" noChangeArrowheads="1"/>
            </p:cNvPicPr>
            <p:nvPr/>
          </p:nvPicPr>
          <p:blipFill>
            <a:blip r:embed="rId7"/>
            <a:srcRect/>
            <a:stretch>
              <a:fillRect/>
            </a:stretch>
          </p:blipFill>
          <p:spPr bwMode="auto">
            <a:xfrm>
              <a:off x="4816511" y="4667249"/>
              <a:ext cx="1901825" cy="354013"/>
            </a:xfrm>
            <a:prstGeom prst="rect">
              <a:avLst/>
            </a:prstGeom>
            <a:noFill/>
            <a:ln w="9525">
              <a:solidFill>
                <a:schemeClr val="bg1"/>
              </a:solidFill>
              <a:miter lim="800000"/>
              <a:headEnd/>
              <a:tailEnd/>
            </a:ln>
          </p:spPr>
        </p:pic>
        <p:pic>
          <p:nvPicPr>
            <p:cNvPr id="60427" name="Picture 8">
              <a:extLst>
                <a:ext uri="{C183D7F6-B498-43B3-948B-1728B52AA6E4}">
                  <adec:decorative xmlns:adec="http://schemas.microsoft.com/office/drawing/2017/decorative" val="1"/>
                </a:ext>
              </a:extLst>
            </p:cNvPr>
            <p:cNvPicPr>
              <a:picLocks noChangeAspect="1" noChangeArrowheads="1"/>
            </p:cNvPicPr>
            <p:nvPr/>
          </p:nvPicPr>
          <p:blipFill>
            <a:blip r:embed="rId7"/>
            <a:srcRect/>
            <a:stretch>
              <a:fillRect/>
            </a:stretch>
          </p:blipFill>
          <p:spPr bwMode="auto">
            <a:xfrm>
              <a:off x="3597310" y="5429249"/>
              <a:ext cx="2057400" cy="561975"/>
            </a:xfrm>
            <a:prstGeom prst="rect">
              <a:avLst/>
            </a:prstGeom>
            <a:noFill/>
            <a:ln w="9525">
              <a:solidFill>
                <a:schemeClr val="bg1"/>
              </a:solidFill>
              <a:miter lim="800000"/>
              <a:headEnd/>
              <a:tailEnd/>
            </a:ln>
          </p:spPr>
        </p:pic>
        <p:pic>
          <p:nvPicPr>
            <p:cNvPr id="60428" name="Picture 9">
              <a:extLst>
                <a:ext uri="{C183D7F6-B498-43B3-948B-1728B52AA6E4}">
                  <adec:decorative xmlns:adec="http://schemas.microsoft.com/office/drawing/2017/decorative" val="1"/>
                </a:ext>
              </a:extLst>
            </p:cNvPr>
            <p:cNvPicPr>
              <a:picLocks noChangeAspect="1" noChangeArrowheads="1"/>
            </p:cNvPicPr>
            <p:nvPr/>
          </p:nvPicPr>
          <p:blipFill>
            <a:blip r:embed="rId8"/>
            <a:srcRect/>
            <a:stretch>
              <a:fillRect/>
            </a:stretch>
          </p:blipFill>
          <p:spPr bwMode="auto">
            <a:xfrm>
              <a:off x="7258086" y="4667248"/>
              <a:ext cx="1901825" cy="533400"/>
            </a:xfrm>
            <a:prstGeom prst="rect">
              <a:avLst/>
            </a:prstGeom>
            <a:noFill/>
            <a:ln w="9525">
              <a:solidFill>
                <a:schemeClr val="bg1"/>
              </a:solidFill>
              <a:miter lim="800000"/>
              <a:headEnd/>
              <a:tailEnd/>
            </a:ln>
          </p:spPr>
        </p:pic>
        <p:sp>
          <p:nvSpPr>
            <p:cNvPr id="60429" name="Text Box 10"/>
            <p:cNvSpPr txBox="1">
              <a:spLocks noChangeArrowheads="1"/>
            </p:cNvSpPr>
            <p:nvPr/>
          </p:nvSpPr>
          <p:spPr bwMode="auto">
            <a:xfrm>
              <a:off x="2606711" y="4667248"/>
              <a:ext cx="1831975" cy="523220"/>
            </a:xfrm>
            <a:prstGeom prst="rect">
              <a:avLst/>
            </a:prstGeom>
            <a:noFill/>
            <a:ln w="9525">
              <a:solidFill>
                <a:schemeClr val="bg1"/>
              </a:solidFill>
              <a:miter lim="800000"/>
              <a:headEnd/>
              <a:tailEnd/>
            </a:ln>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FFFFFF"/>
                  </a:solidFill>
                  <a:effectLst/>
                  <a:uLnTx/>
                  <a:uFillTx/>
                  <a:latin typeface="Arial" panose="020B0604020202020204"/>
                  <a:ea typeface="+mn-ea"/>
                  <a:cs typeface="+mn-cs"/>
                </a:rPr>
                <a:t>SUPPLIMENTAL INSUREANCE</a:t>
              </a:r>
            </a:p>
          </p:txBody>
        </p:sp>
        <p:sp>
          <p:nvSpPr>
            <p:cNvPr id="60430" name="Text Box 11"/>
            <p:cNvSpPr txBox="1">
              <a:spLocks noChangeArrowheads="1"/>
            </p:cNvSpPr>
            <p:nvPr/>
          </p:nvSpPr>
          <p:spPr bwMode="auto">
            <a:xfrm>
              <a:off x="3521110" y="5429249"/>
              <a:ext cx="2209800" cy="581025"/>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1" i="0" u="none" strike="noStrike" kern="1200" cap="none" spc="0" normalizeH="0" baseline="0" noProof="0" dirty="0">
                  <a:ln>
                    <a:noFill/>
                  </a:ln>
                  <a:solidFill>
                    <a:srgbClr val="000000"/>
                  </a:solidFill>
                  <a:effectLst/>
                  <a:uLnTx/>
                  <a:uFillTx/>
                  <a:latin typeface="Arial" panose="020B0604020202020204"/>
                  <a:ea typeface="+mn-ea"/>
                  <a:cs typeface="+mn-cs"/>
                </a:rPr>
                <a:t>SUPPLEMENTAL INSURANCE RIDER</a:t>
              </a:r>
            </a:p>
          </p:txBody>
        </p:sp>
        <p:sp>
          <p:nvSpPr>
            <p:cNvPr id="60431" name="Text Box 12"/>
            <p:cNvSpPr txBox="1">
              <a:spLocks noChangeArrowheads="1"/>
            </p:cNvSpPr>
            <p:nvPr/>
          </p:nvSpPr>
          <p:spPr bwMode="auto">
            <a:xfrm>
              <a:off x="4968910" y="4692648"/>
              <a:ext cx="1676400" cy="304800"/>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dirty="0">
                  <a:ln>
                    <a:noFill/>
                  </a:ln>
                  <a:solidFill>
                    <a:srgbClr val="000000"/>
                  </a:solidFill>
                  <a:effectLst/>
                  <a:uLnTx/>
                  <a:uFillTx/>
                  <a:latin typeface="Arial" panose="020B0604020202020204"/>
                  <a:ea typeface="+mn-ea"/>
                  <a:cs typeface="+mn-cs"/>
                </a:rPr>
                <a:t>LIFE INSURANCE</a:t>
              </a:r>
            </a:p>
          </p:txBody>
        </p:sp>
        <p:pic>
          <p:nvPicPr>
            <p:cNvPr id="60432" name="Picture 13">
              <a:extLst>
                <a:ext uri="{C183D7F6-B498-43B3-948B-1728B52AA6E4}">
                  <adec:decorative xmlns:adec="http://schemas.microsoft.com/office/drawing/2017/decorative" val="1"/>
                </a:ext>
              </a:extLst>
            </p:cNvPr>
            <p:cNvPicPr>
              <a:picLocks noChangeAspect="1" noChangeArrowheads="1"/>
            </p:cNvPicPr>
            <p:nvPr/>
          </p:nvPicPr>
          <p:blipFill>
            <a:blip r:embed="rId8"/>
            <a:srcRect/>
            <a:stretch>
              <a:fillRect/>
            </a:stretch>
          </p:blipFill>
          <p:spPr bwMode="auto">
            <a:xfrm>
              <a:off x="9467886" y="4667248"/>
              <a:ext cx="1901825" cy="330200"/>
            </a:xfrm>
            <a:prstGeom prst="rect">
              <a:avLst/>
            </a:prstGeom>
            <a:noFill/>
            <a:ln w="9525">
              <a:solidFill>
                <a:schemeClr val="bg1"/>
              </a:solidFill>
              <a:miter lim="800000"/>
              <a:headEnd/>
              <a:tailEnd/>
            </a:ln>
          </p:spPr>
        </p:pic>
        <p:sp>
          <p:nvSpPr>
            <p:cNvPr id="60433" name="Text Box 14"/>
            <p:cNvSpPr txBox="1">
              <a:spLocks noChangeArrowheads="1"/>
            </p:cNvSpPr>
            <p:nvPr/>
          </p:nvSpPr>
          <p:spPr bwMode="auto">
            <a:xfrm>
              <a:off x="9515510" y="4692648"/>
              <a:ext cx="1676400" cy="304800"/>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a:ea typeface="+mn-ea"/>
                  <a:cs typeface="+mn-cs"/>
                </a:rPr>
                <a:t>LIFE INSURANCE</a:t>
              </a:r>
            </a:p>
          </p:txBody>
        </p:sp>
        <p:cxnSp>
          <p:nvCxnSpPr>
            <p:cNvPr id="60434" name="AutoShape 15">
              <a:extLst>
                <a:ext uri="{C183D7F6-B498-43B3-948B-1728B52AA6E4}">
                  <adec:decorative xmlns:adec="http://schemas.microsoft.com/office/drawing/2017/decorative" val="1"/>
                </a:ext>
              </a:extLst>
            </p:cNvPr>
            <p:cNvCxnSpPr>
              <a:cxnSpLocks noChangeShapeType="1"/>
              <a:stCxn id="60430" idx="0"/>
            </p:cNvCxnSpPr>
            <p:nvPr/>
          </p:nvCxnSpPr>
          <p:spPr bwMode="auto">
            <a:xfrm flipV="1">
              <a:off x="4626010" y="3724274"/>
              <a:ext cx="12700" cy="1704975"/>
            </a:xfrm>
            <a:prstGeom prst="straightConnector1">
              <a:avLst/>
            </a:prstGeom>
            <a:noFill/>
            <a:ln w="12700">
              <a:solidFill>
                <a:schemeClr val="bg1"/>
              </a:solidFill>
              <a:round/>
              <a:headEnd/>
              <a:tailEnd/>
            </a:ln>
          </p:spPr>
        </p:cxnSp>
        <p:cxnSp>
          <p:nvCxnSpPr>
            <p:cNvPr id="60435" name="AutoShape 16">
              <a:extLst>
                <a:ext uri="{C183D7F6-B498-43B3-948B-1728B52AA6E4}">
                  <adec:decorative xmlns:adec="http://schemas.microsoft.com/office/drawing/2017/decorative" val="1"/>
                </a:ext>
              </a:extLst>
            </p:cNvPr>
            <p:cNvCxnSpPr>
              <a:cxnSpLocks noChangeShapeType="1"/>
              <a:stCxn id="60429" idx="0"/>
            </p:cNvCxnSpPr>
            <p:nvPr/>
          </p:nvCxnSpPr>
          <p:spPr bwMode="auto">
            <a:xfrm rot="5400000" flipH="1" flipV="1">
              <a:off x="3609217" y="3637755"/>
              <a:ext cx="942974" cy="1116012"/>
            </a:xfrm>
            <a:prstGeom prst="bentConnector2">
              <a:avLst/>
            </a:prstGeom>
            <a:noFill/>
            <a:ln w="12700">
              <a:solidFill>
                <a:schemeClr val="bg1"/>
              </a:solidFill>
              <a:miter lim="800000"/>
              <a:headEnd/>
              <a:tailEnd/>
            </a:ln>
          </p:spPr>
        </p:cxnSp>
        <p:cxnSp>
          <p:nvCxnSpPr>
            <p:cNvPr id="60436" name="AutoShape 17">
              <a:extLst>
                <a:ext uri="{C183D7F6-B498-43B3-948B-1728B52AA6E4}">
                  <adec:decorative xmlns:adec="http://schemas.microsoft.com/office/drawing/2017/decorative" val="1"/>
                </a:ext>
              </a:extLst>
            </p:cNvPr>
            <p:cNvCxnSpPr>
              <a:cxnSpLocks noChangeShapeType="1"/>
              <a:stCxn id="60431" idx="0"/>
            </p:cNvCxnSpPr>
            <p:nvPr/>
          </p:nvCxnSpPr>
          <p:spPr bwMode="auto">
            <a:xfrm rot="5400000" flipH="1">
              <a:off x="4738723" y="3624261"/>
              <a:ext cx="968375" cy="1168400"/>
            </a:xfrm>
            <a:prstGeom prst="bentConnector3">
              <a:avLst>
                <a:gd name="adj1" fmla="val 50000"/>
              </a:avLst>
            </a:prstGeom>
            <a:noFill/>
            <a:ln w="12700">
              <a:solidFill>
                <a:schemeClr val="bg1"/>
              </a:solidFill>
              <a:miter lim="800000"/>
              <a:headEnd/>
              <a:tailEnd/>
            </a:ln>
          </p:spPr>
        </p:cxnSp>
        <p:cxnSp>
          <p:nvCxnSpPr>
            <p:cNvPr id="60437" name="AutoShape 18">
              <a:extLst>
                <a:ext uri="{C183D7F6-B498-43B3-948B-1728B52AA6E4}">
                  <adec:decorative xmlns:adec="http://schemas.microsoft.com/office/drawing/2017/decorative" val="1"/>
                </a:ext>
              </a:extLst>
            </p:cNvPr>
            <p:cNvCxnSpPr>
              <a:cxnSpLocks noChangeShapeType="1"/>
            </p:cNvCxnSpPr>
            <p:nvPr/>
          </p:nvCxnSpPr>
          <p:spPr bwMode="auto">
            <a:xfrm rot="5400000" flipH="1">
              <a:off x="9402798" y="3651248"/>
              <a:ext cx="925512" cy="1106488"/>
            </a:xfrm>
            <a:prstGeom prst="bentConnector3">
              <a:avLst>
                <a:gd name="adj1" fmla="val 49912"/>
              </a:avLst>
            </a:prstGeom>
            <a:noFill/>
            <a:ln w="12700">
              <a:solidFill>
                <a:schemeClr val="bg1"/>
              </a:solidFill>
              <a:miter lim="800000"/>
              <a:headEnd/>
              <a:tailEnd/>
            </a:ln>
          </p:spPr>
        </p:cxnSp>
        <p:cxnSp>
          <p:nvCxnSpPr>
            <p:cNvPr id="60438" name="AutoShape 19">
              <a:extLst>
                <a:ext uri="{C183D7F6-B498-43B3-948B-1728B52AA6E4}">
                  <adec:decorative xmlns:adec="http://schemas.microsoft.com/office/drawing/2017/decorative" val="1"/>
                </a:ext>
              </a:extLst>
            </p:cNvPr>
            <p:cNvCxnSpPr>
              <a:cxnSpLocks noChangeShapeType="1"/>
            </p:cNvCxnSpPr>
            <p:nvPr/>
          </p:nvCxnSpPr>
          <p:spPr bwMode="auto">
            <a:xfrm rot="-5400000">
              <a:off x="8297898" y="3652836"/>
              <a:ext cx="925512" cy="1103312"/>
            </a:xfrm>
            <a:prstGeom prst="bentConnector3">
              <a:avLst>
                <a:gd name="adj1" fmla="val 49912"/>
              </a:avLst>
            </a:prstGeom>
            <a:noFill/>
            <a:ln w="12700">
              <a:solidFill>
                <a:schemeClr val="bg1"/>
              </a:solidFill>
              <a:miter lim="800000"/>
              <a:headEnd/>
              <a:tailEnd/>
            </a:ln>
          </p:spPr>
        </p:cxnSp>
        <p:pic>
          <p:nvPicPr>
            <p:cNvPr id="60439" name="Picture 20">
              <a:extLst>
                <a:ext uri="{C183D7F6-B498-43B3-948B-1728B52AA6E4}">
                  <adec:decorative xmlns:adec="http://schemas.microsoft.com/office/drawing/2017/decorative" val="1"/>
                </a:ext>
              </a:extLst>
            </p:cNvPr>
            <p:cNvPicPr>
              <a:picLocks noChangeAspect="1" noChangeArrowheads="1"/>
            </p:cNvPicPr>
            <p:nvPr/>
          </p:nvPicPr>
          <p:blipFill>
            <a:blip r:embed="rId9"/>
            <a:srcRect/>
            <a:stretch>
              <a:fillRect/>
            </a:stretch>
          </p:blipFill>
          <p:spPr bwMode="auto">
            <a:xfrm>
              <a:off x="6035710" y="1470024"/>
              <a:ext cx="1828800" cy="1368425"/>
            </a:xfrm>
            <a:prstGeom prst="rect">
              <a:avLst/>
            </a:prstGeom>
            <a:noFill/>
            <a:ln w="9525">
              <a:solidFill>
                <a:schemeClr val="bg1"/>
              </a:solidFill>
              <a:miter lim="800000"/>
              <a:headEnd/>
              <a:tailEnd/>
            </a:ln>
          </p:spPr>
        </p:pic>
        <p:cxnSp>
          <p:nvCxnSpPr>
            <p:cNvPr id="60440" name="AutoShape 21">
              <a:extLst>
                <a:ext uri="{C183D7F6-B498-43B3-948B-1728B52AA6E4}">
                  <adec:decorative xmlns:adec="http://schemas.microsoft.com/office/drawing/2017/decorative" val="1"/>
                </a:ext>
              </a:extLst>
            </p:cNvPr>
            <p:cNvCxnSpPr>
              <a:cxnSpLocks noChangeShapeType="1"/>
            </p:cNvCxnSpPr>
            <p:nvPr/>
          </p:nvCxnSpPr>
          <p:spPr bwMode="auto">
            <a:xfrm flipV="1">
              <a:off x="6569110" y="2838449"/>
              <a:ext cx="381000" cy="588963"/>
            </a:xfrm>
            <a:prstGeom prst="bentConnector2">
              <a:avLst/>
            </a:prstGeom>
            <a:noFill/>
            <a:ln w="12700">
              <a:solidFill>
                <a:schemeClr val="bg1"/>
              </a:solidFill>
              <a:miter lim="800000"/>
              <a:headEnd/>
              <a:tailEnd/>
            </a:ln>
          </p:spPr>
        </p:cxnSp>
        <p:cxnSp>
          <p:nvCxnSpPr>
            <p:cNvPr id="60441" name="AutoShape 22">
              <a:extLst>
                <a:ext uri="{C183D7F6-B498-43B3-948B-1728B52AA6E4}">
                  <adec:decorative xmlns:adec="http://schemas.microsoft.com/office/drawing/2017/decorative" val="1"/>
                </a:ext>
              </a:extLst>
            </p:cNvPr>
            <p:cNvCxnSpPr>
              <a:cxnSpLocks noChangeShapeType="1"/>
            </p:cNvCxnSpPr>
            <p:nvPr/>
          </p:nvCxnSpPr>
          <p:spPr bwMode="auto">
            <a:xfrm rot="10800000">
              <a:off x="6950110" y="2914648"/>
              <a:ext cx="381000" cy="514350"/>
            </a:xfrm>
            <a:prstGeom prst="bentConnector2">
              <a:avLst/>
            </a:prstGeom>
            <a:noFill/>
            <a:ln w="12700">
              <a:solidFill>
                <a:schemeClr val="bg1"/>
              </a:solidFill>
              <a:miter lim="800000"/>
              <a:headEnd/>
              <a:tailEnd/>
            </a:ln>
          </p:spPr>
        </p:cxnSp>
        <p:pic>
          <p:nvPicPr>
            <p:cNvPr id="60443" name="Picture 24">
              <a:extLst>
                <a:ext uri="{C183D7F6-B498-43B3-948B-1728B52AA6E4}">
                  <adec:decorative xmlns:adec="http://schemas.microsoft.com/office/drawing/2017/decorative" val="1"/>
                </a:ext>
              </a:extLst>
            </p:cNvPr>
            <p:cNvPicPr>
              <a:picLocks noChangeAspect="1" noChangeArrowheads="1"/>
            </p:cNvPicPr>
            <p:nvPr/>
          </p:nvPicPr>
          <p:blipFill>
            <a:blip r:embed="rId7"/>
            <a:srcRect/>
            <a:stretch>
              <a:fillRect/>
            </a:stretch>
          </p:blipFill>
          <p:spPr bwMode="auto">
            <a:xfrm>
              <a:off x="2606710" y="4667249"/>
              <a:ext cx="1905000" cy="561975"/>
            </a:xfrm>
            <a:prstGeom prst="rect">
              <a:avLst/>
            </a:prstGeom>
            <a:noFill/>
            <a:ln w="9525">
              <a:solidFill>
                <a:schemeClr val="bg1"/>
              </a:solidFill>
              <a:miter lim="800000"/>
              <a:headEnd/>
              <a:tailEnd/>
            </a:ln>
          </p:spPr>
        </p:pic>
        <p:sp>
          <p:nvSpPr>
            <p:cNvPr id="60444" name="Text Box 25"/>
            <p:cNvSpPr txBox="1">
              <a:spLocks noChangeArrowheads="1"/>
            </p:cNvSpPr>
            <p:nvPr/>
          </p:nvSpPr>
          <p:spPr bwMode="auto">
            <a:xfrm>
              <a:off x="2530510" y="4667248"/>
              <a:ext cx="2057400" cy="523220"/>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a:ea typeface="+mn-ea"/>
                  <a:cs typeface="+mn-cs"/>
                </a:rPr>
                <a:t>SUPPLEMENTAL INSURANCE</a:t>
              </a:r>
            </a:p>
          </p:txBody>
        </p:sp>
        <p:sp>
          <p:nvSpPr>
            <p:cNvPr id="60445" name="Text Box 26"/>
            <p:cNvSpPr txBox="1">
              <a:spLocks noChangeArrowheads="1"/>
            </p:cNvSpPr>
            <p:nvPr/>
          </p:nvSpPr>
          <p:spPr bwMode="auto">
            <a:xfrm>
              <a:off x="7178710" y="4667248"/>
              <a:ext cx="2057400" cy="523220"/>
            </a:xfrm>
            <a:prstGeom prst="rect">
              <a:avLst/>
            </a:prstGeom>
            <a:noFill/>
            <a:ln w="9525">
              <a:noFill/>
              <a:miter lim="800000"/>
              <a:headEnd/>
              <a:tailEnd/>
            </a:ln>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1200" cap="none" spc="0" normalizeH="0" baseline="0" noProof="0" dirty="0">
                  <a:ln>
                    <a:noFill/>
                  </a:ln>
                  <a:solidFill>
                    <a:srgbClr val="000000"/>
                  </a:solidFill>
                  <a:effectLst/>
                  <a:uLnTx/>
                  <a:uFillTx/>
                  <a:latin typeface="Arial" panose="020B0604020202020204"/>
                  <a:ea typeface="+mn-ea"/>
                  <a:cs typeface="+mn-cs"/>
                </a:rPr>
                <a:t>SUPPLEMENTAL INSURANCE</a:t>
              </a:r>
            </a:p>
          </p:txBody>
        </p:sp>
      </p:grpSp>
      <p:sp>
        <p:nvSpPr>
          <p:cNvPr id="30" name="Rectangle 25"/>
          <p:cNvSpPr>
            <a:spLocks noGrp="1" noChangeArrowheads="1"/>
          </p:cNvSpPr>
          <p:nvPr>
            <p:ph type="ftr" sz="quarter" idx="11"/>
          </p:nvPr>
        </p:nvSpPr>
        <p:spPr>
          <a:xfrm>
            <a:off x="5095910" y="6261099"/>
            <a:ext cx="4470400" cy="457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srgbClr val="FFFFFF"/>
                </a:solidFill>
                <a:effectLst/>
                <a:uLnTx/>
                <a:uFillTx/>
                <a:latin typeface="Arial" panose="020B0604020202020204"/>
                <a:ea typeface="+mn-ea"/>
                <a:cs typeface="+mn-cs"/>
              </a:rPr>
              <a:t>Newburry 2026 DBA International Business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2F639-FE72-83C6-8648-5E156B5260B4}"/>
            </a:ext>
          </a:extLst>
        </p:cNvPr>
        <p:cNvGrpSpPr/>
        <p:nvPr/>
      </p:nvGrpSpPr>
      <p:grpSpPr>
        <a:xfrm>
          <a:off x="0" y="0"/>
          <a:ext cx="0" cy="0"/>
          <a:chOff x="0" y="0"/>
          <a:chExt cx="0" cy="0"/>
        </a:xfrm>
      </p:grpSpPr>
      <p:sp>
        <p:nvSpPr>
          <p:cNvPr id="305154" name="Rectangle 2">
            <a:extLst>
              <a:ext uri="{FF2B5EF4-FFF2-40B4-BE49-F238E27FC236}">
                <a16:creationId xmlns:a16="http://schemas.microsoft.com/office/drawing/2014/main" id="{04960DB7-E2EA-9D8A-6D37-0425AF776DC0}"/>
              </a:ext>
            </a:extLst>
          </p:cNvPr>
          <p:cNvSpPr>
            <a:spLocks noGrp="1" noChangeArrowheads="1"/>
          </p:cNvSpPr>
          <p:nvPr>
            <p:ph type="title" idx="4294967295"/>
          </p:nvPr>
        </p:nvSpPr>
        <p:spPr bwMode="auto">
          <a:xfrm>
            <a:off x="2599800" y="108062"/>
            <a:ext cx="8610600" cy="1066800"/>
          </a:xfrm>
          <a:prstGeom prst="rect">
            <a:avLst/>
          </a:prstGeom>
          <a:noFill/>
          <a:ln w="12700">
            <a:noFill/>
            <a:prstDash/>
            <a:miter lim="800000"/>
            <a:headEnd/>
            <a:tailEnd/>
          </a:ln>
          <a:effectLst/>
        </p:spPr>
        <p:txBody>
          <a:bodyPr rot="0" spcFirstLastPara="0" vertOverflow="overflow" horzOverflow="overflow" vert="horz" wrap="square" lIns="90488" tIns="44450" rIns="90488" bIns="4445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Arial" charset="0"/>
                <a:ea typeface="MS PGothic" panose="020B0600070205080204" pitchFamily="34" charset="-128"/>
                <a:cs typeface="Arial" charset="0"/>
              </a:rPr>
              <a:t>Integration-Responsiveness Framework - Global</a:t>
            </a:r>
            <a:endParaRPr kumimoji="0" lang="en-US" sz="18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Arial" charset="0"/>
              <a:ea typeface="MS PGothic" panose="020B0600070205080204" pitchFamily="34" charset="-128"/>
              <a:cs typeface="Arial" charset="0"/>
            </a:endParaRPr>
          </a:p>
        </p:txBody>
      </p:sp>
      <p:grpSp>
        <p:nvGrpSpPr>
          <p:cNvPr id="3" name="Group 2" descr="Global Strategy">
            <a:extLst>
              <a:ext uri="{FF2B5EF4-FFF2-40B4-BE49-F238E27FC236}">
                <a16:creationId xmlns:a16="http://schemas.microsoft.com/office/drawing/2014/main" id="{10DBE930-BE03-B950-D043-8776F4CF59AC}"/>
              </a:ext>
            </a:extLst>
          </p:cNvPr>
          <p:cNvGrpSpPr/>
          <p:nvPr/>
        </p:nvGrpSpPr>
        <p:grpSpPr>
          <a:xfrm>
            <a:off x="2936580" y="1251061"/>
            <a:ext cx="7668548" cy="5265938"/>
            <a:chOff x="2936580" y="1251061"/>
            <a:chExt cx="7668548" cy="5265938"/>
          </a:xfrm>
        </p:grpSpPr>
        <p:sp>
          <p:nvSpPr>
            <p:cNvPr id="159746" name="Rectangle 3">
              <a:extLst>
                <a:ext uri="{FF2B5EF4-FFF2-40B4-BE49-F238E27FC236}">
                  <a16:creationId xmlns:a16="http://schemas.microsoft.com/office/drawing/2014/main" id="{B8A99AFF-CD9A-C204-8741-C170CC9469CF}"/>
                </a:ext>
              </a:extLst>
            </p:cNvPr>
            <p:cNvSpPr>
              <a:spLocks noChangeArrowheads="1"/>
            </p:cNvSpPr>
            <p:nvPr/>
          </p:nvSpPr>
          <p:spPr bwMode="auto">
            <a:xfrm>
              <a:off x="4966329" y="6057899"/>
              <a:ext cx="5200143"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a:solidFill>
                    <a:schemeClr val="bg1"/>
                  </a:solidFill>
                  <a:latin typeface="Times New Roman" panose="02020603050405020304" pitchFamily="18" charset="0"/>
                </a:rPr>
                <a:t>Pressures towards Local Responsiveness</a:t>
              </a:r>
            </a:p>
          </p:txBody>
        </p:sp>
        <p:sp>
          <p:nvSpPr>
            <p:cNvPr id="159747" name="Rectangle 4">
              <a:extLst>
                <a:ext uri="{FF2B5EF4-FFF2-40B4-BE49-F238E27FC236}">
                  <a16:creationId xmlns:a16="http://schemas.microsoft.com/office/drawing/2014/main" id="{0066F689-9D92-1C63-50D1-B23CCE62B61B}"/>
                </a:ext>
              </a:extLst>
            </p:cNvPr>
            <p:cNvSpPr>
              <a:spLocks noChangeArrowheads="1"/>
            </p:cNvSpPr>
            <p:nvPr/>
          </p:nvSpPr>
          <p:spPr bwMode="auto">
            <a:xfrm rot="-5400000">
              <a:off x="797692" y="3389949"/>
              <a:ext cx="473687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dirty="0">
                  <a:solidFill>
                    <a:schemeClr val="bg1"/>
                  </a:solidFill>
                  <a:latin typeface="Times New Roman" panose="02020603050405020304" pitchFamily="18" charset="0"/>
                </a:rPr>
                <a:t>Pressures towards Global Integration</a:t>
              </a:r>
            </a:p>
          </p:txBody>
        </p:sp>
        <p:sp>
          <p:nvSpPr>
            <p:cNvPr id="159748" name="Rectangle 5">
              <a:extLst>
                <a:ext uri="{FF2B5EF4-FFF2-40B4-BE49-F238E27FC236}">
                  <a16:creationId xmlns:a16="http://schemas.microsoft.com/office/drawing/2014/main" id="{29F1FFB5-B22E-9A1E-67BF-0B3EF7912FEA}"/>
                </a:ext>
                <a:ext uri="{C183D7F6-B498-43B3-948B-1728B52AA6E4}">
                  <adec:decorative xmlns:adec="http://schemas.microsoft.com/office/drawing/2017/decorative" val="1"/>
                </a:ext>
              </a:extLst>
            </p:cNvPr>
            <p:cNvSpPr>
              <a:spLocks noChangeArrowheads="1"/>
            </p:cNvSpPr>
            <p:nvPr/>
          </p:nvSpPr>
          <p:spPr bwMode="auto">
            <a:xfrm>
              <a:off x="4515478" y="1492249"/>
              <a:ext cx="6089650" cy="4254500"/>
            </a:xfrm>
            <a:prstGeom prst="rect">
              <a:avLst/>
            </a:prstGeom>
            <a:noFill/>
            <a:ln w="127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eaLnBrk="1" hangingPunct="1"/>
              <a:endParaRPr lang="en-US" altLang="en-US">
                <a:solidFill>
                  <a:schemeClr val="bg1"/>
                </a:solidFill>
              </a:endParaRPr>
            </a:p>
          </p:txBody>
        </p:sp>
        <p:sp>
          <p:nvSpPr>
            <p:cNvPr id="159749" name="Rectangle 6">
              <a:extLst>
                <a:ext uri="{FF2B5EF4-FFF2-40B4-BE49-F238E27FC236}">
                  <a16:creationId xmlns:a16="http://schemas.microsoft.com/office/drawing/2014/main" id="{9B92F440-E301-0966-5658-DB93480BB6FE}"/>
                </a:ext>
              </a:extLst>
            </p:cNvPr>
            <p:cNvSpPr>
              <a:spLocks noChangeArrowheads="1"/>
            </p:cNvSpPr>
            <p:nvPr/>
          </p:nvSpPr>
          <p:spPr bwMode="auto">
            <a:xfrm>
              <a:off x="3518528" y="1409699"/>
              <a:ext cx="953788"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a:solidFill>
                    <a:schemeClr val="bg1"/>
                  </a:solidFill>
                  <a:latin typeface="Times New Roman" panose="02020603050405020304" pitchFamily="18" charset="0"/>
                </a:rPr>
                <a:t>HIGH</a:t>
              </a:r>
            </a:p>
          </p:txBody>
        </p:sp>
        <p:sp>
          <p:nvSpPr>
            <p:cNvPr id="159750" name="Rectangle 7">
              <a:extLst>
                <a:ext uri="{FF2B5EF4-FFF2-40B4-BE49-F238E27FC236}">
                  <a16:creationId xmlns:a16="http://schemas.microsoft.com/office/drawing/2014/main" id="{3F2A06E2-A45D-CB83-484A-8D2680932ACF}"/>
                </a:ext>
              </a:extLst>
            </p:cNvPr>
            <p:cNvSpPr>
              <a:spLocks noChangeArrowheads="1"/>
            </p:cNvSpPr>
            <p:nvPr/>
          </p:nvSpPr>
          <p:spPr bwMode="auto">
            <a:xfrm>
              <a:off x="3580441" y="5357812"/>
              <a:ext cx="88325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a:solidFill>
                    <a:schemeClr val="bg1"/>
                  </a:solidFill>
                  <a:latin typeface="Times New Roman" panose="02020603050405020304" pitchFamily="18" charset="0"/>
                </a:rPr>
                <a:t>LOW</a:t>
              </a:r>
            </a:p>
          </p:txBody>
        </p:sp>
        <p:sp>
          <p:nvSpPr>
            <p:cNvPr id="159751" name="Rectangle 8">
              <a:extLst>
                <a:ext uri="{FF2B5EF4-FFF2-40B4-BE49-F238E27FC236}">
                  <a16:creationId xmlns:a16="http://schemas.microsoft.com/office/drawing/2014/main" id="{671442F2-2858-10E2-396E-BE221CA05C84}"/>
                </a:ext>
              </a:extLst>
            </p:cNvPr>
            <p:cNvSpPr>
              <a:spLocks noChangeArrowheads="1"/>
            </p:cNvSpPr>
            <p:nvPr/>
          </p:nvSpPr>
          <p:spPr bwMode="auto">
            <a:xfrm>
              <a:off x="4418641" y="5815012"/>
              <a:ext cx="88325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a:solidFill>
                    <a:schemeClr val="bg1"/>
                  </a:solidFill>
                  <a:latin typeface="Times New Roman" panose="02020603050405020304" pitchFamily="18" charset="0"/>
                </a:rPr>
                <a:t>LOW</a:t>
              </a:r>
            </a:p>
          </p:txBody>
        </p:sp>
        <p:sp>
          <p:nvSpPr>
            <p:cNvPr id="159752" name="Rectangle 9">
              <a:extLst>
                <a:ext uri="{FF2B5EF4-FFF2-40B4-BE49-F238E27FC236}">
                  <a16:creationId xmlns:a16="http://schemas.microsoft.com/office/drawing/2014/main" id="{D7D2BFEA-DEC0-126A-ECEE-89E23519B1BC}"/>
                </a:ext>
              </a:extLst>
            </p:cNvPr>
            <p:cNvSpPr>
              <a:spLocks noChangeArrowheads="1"/>
            </p:cNvSpPr>
            <p:nvPr/>
          </p:nvSpPr>
          <p:spPr bwMode="auto">
            <a:xfrm>
              <a:off x="9614528" y="5829299"/>
              <a:ext cx="953788"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a:solidFill>
                    <a:schemeClr val="bg1"/>
                  </a:solidFill>
                  <a:latin typeface="Times New Roman" panose="02020603050405020304" pitchFamily="18" charset="0"/>
                </a:rPr>
                <a:t>HIGH</a:t>
              </a:r>
            </a:p>
          </p:txBody>
        </p:sp>
        <p:sp>
          <p:nvSpPr>
            <p:cNvPr id="159753" name="Line 10">
              <a:extLst>
                <a:ext uri="{FF2B5EF4-FFF2-40B4-BE49-F238E27FC236}">
                  <a16:creationId xmlns:a16="http://schemas.microsoft.com/office/drawing/2014/main" id="{AFD62AD6-3439-C095-6394-AA77CADBB243}"/>
                </a:ext>
                <a:ext uri="{C183D7F6-B498-43B3-948B-1728B52AA6E4}">
                  <adec:decorative xmlns:adec="http://schemas.microsoft.com/office/drawing/2017/decorative" val="1"/>
                </a:ext>
              </a:extLst>
            </p:cNvPr>
            <p:cNvSpPr>
              <a:spLocks noChangeShapeType="1"/>
            </p:cNvSpPr>
            <p:nvPr/>
          </p:nvSpPr>
          <p:spPr bwMode="auto">
            <a:xfrm>
              <a:off x="7557128" y="1562099"/>
              <a:ext cx="0" cy="41910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chemeClr val="bg1"/>
                </a:solidFill>
              </a:endParaRPr>
            </a:p>
          </p:txBody>
        </p:sp>
        <p:sp>
          <p:nvSpPr>
            <p:cNvPr id="159754" name="Line 11">
              <a:extLst>
                <a:ext uri="{FF2B5EF4-FFF2-40B4-BE49-F238E27FC236}">
                  <a16:creationId xmlns:a16="http://schemas.microsoft.com/office/drawing/2014/main" id="{E9E81B57-4250-97B2-27FF-694FC6099E32}"/>
                </a:ext>
                <a:ext uri="{C183D7F6-B498-43B3-948B-1728B52AA6E4}">
                  <adec:decorative xmlns:adec="http://schemas.microsoft.com/office/drawing/2017/decorative" val="1"/>
                </a:ext>
              </a:extLst>
            </p:cNvPr>
            <p:cNvSpPr>
              <a:spLocks noChangeShapeType="1"/>
            </p:cNvSpPr>
            <p:nvPr/>
          </p:nvSpPr>
          <p:spPr bwMode="auto">
            <a:xfrm>
              <a:off x="4515478" y="3619499"/>
              <a:ext cx="608965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chemeClr val="bg1"/>
                </a:solidFill>
              </a:endParaRPr>
            </a:p>
          </p:txBody>
        </p:sp>
        <p:sp>
          <p:nvSpPr>
            <p:cNvPr id="159755" name="Rectangle 12">
              <a:extLst>
                <a:ext uri="{FF2B5EF4-FFF2-40B4-BE49-F238E27FC236}">
                  <a16:creationId xmlns:a16="http://schemas.microsoft.com/office/drawing/2014/main" id="{6FA8B818-6E30-94EE-6B50-5519418AEA26}"/>
                </a:ext>
              </a:extLst>
            </p:cNvPr>
            <p:cNvSpPr>
              <a:spLocks noChangeArrowheads="1"/>
            </p:cNvSpPr>
            <p:nvPr/>
          </p:nvSpPr>
          <p:spPr bwMode="auto">
            <a:xfrm>
              <a:off x="5118728" y="2247899"/>
              <a:ext cx="2104744"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b="1" i="1" dirty="0">
                  <a:solidFill>
                    <a:srgbClr val="FFFF00"/>
                  </a:solidFill>
                  <a:latin typeface="Times New Roman" panose="02020603050405020304" pitchFamily="18" charset="0"/>
                </a:rPr>
                <a:t>Global strategy</a:t>
              </a:r>
            </a:p>
          </p:txBody>
        </p:sp>
        <p:sp>
          <p:nvSpPr>
            <p:cNvPr id="159756" name="Rectangle 13">
              <a:extLst>
                <a:ext uri="{FF2B5EF4-FFF2-40B4-BE49-F238E27FC236}">
                  <a16:creationId xmlns:a16="http://schemas.microsoft.com/office/drawing/2014/main" id="{A497784B-3EEB-263F-3705-A2C061156559}"/>
                </a:ext>
              </a:extLst>
            </p:cNvPr>
            <p:cNvSpPr>
              <a:spLocks noChangeArrowheads="1"/>
            </p:cNvSpPr>
            <p:nvPr/>
          </p:nvSpPr>
          <p:spPr bwMode="auto">
            <a:xfrm>
              <a:off x="7785728" y="4229099"/>
              <a:ext cx="2667000"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lgn="ctr"/>
              <a:r>
                <a:rPr lang="en-US" altLang="en-US" sz="2400" b="1" i="1">
                  <a:solidFill>
                    <a:schemeClr val="bg1"/>
                  </a:solidFill>
                  <a:latin typeface="Times New Roman" panose="02020603050405020304" pitchFamily="18" charset="0"/>
                </a:rPr>
                <a:t>Multi-domestic strategy</a:t>
              </a:r>
            </a:p>
          </p:txBody>
        </p:sp>
        <p:sp>
          <p:nvSpPr>
            <p:cNvPr id="159757" name="Rectangle 14">
              <a:extLst>
                <a:ext uri="{FF2B5EF4-FFF2-40B4-BE49-F238E27FC236}">
                  <a16:creationId xmlns:a16="http://schemas.microsoft.com/office/drawing/2014/main" id="{189FD44D-6461-E2F9-2120-62950E7A15CE}"/>
                </a:ext>
              </a:extLst>
            </p:cNvPr>
            <p:cNvSpPr>
              <a:spLocks noChangeArrowheads="1"/>
            </p:cNvSpPr>
            <p:nvPr/>
          </p:nvSpPr>
          <p:spPr bwMode="auto">
            <a:xfrm>
              <a:off x="8094522" y="2019299"/>
              <a:ext cx="1984327"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lgn="ctr"/>
              <a:r>
                <a:rPr lang="en-US" altLang="en-US" sz="2400" b="1" i="1">
                  <a:solidFill>
                    <a:schemeClr val="bg1"/>
                  </a:solidFill>
                  <a:latin typeface="Times New Roman" panose="02020603050405020304" pitchFamily="18" charset="0"/>
                </a:rPr>
                <a:t>Transnational</a:t>
              </a:r>
            </a:p>
            <a:p>
              <a:pPr algn="ctr"/>
              <a:r>
                <a:rPr lang="en-US" altLang="en-US" sz="2400" b="1" i="1">
                  <a:solidFill>
                    <a:schemeClr val="bg1"/>
                  </a:solidFill>
                  <a:latin typeface="Times New Roman" panose="02020603050405020304" pitchFamily="18" charset="0"/>
                </a:rPr>
                <a:t> strategy</a:t>
              </a:r>
            </a:p>
          </p:txBody>
        </p:sp>
        <p:sp>
          <p:nvSpPr>
            <p:cNvPr id="159758" name="Rectangle 15">
              <a:extLst>
                <a:ext uri="{FF2B5EF4-FFF2-40B4-BE49-F238E27FC236}">
                  <a16:creationId xmlns:a16="http://schemas.microsoft.com/office/drawing/2014/main" id="{83537E06-46A2-1F6F-3A01-B3A49A4A8F1F}"/>
                </a:ext>
              </a:extLst>
            </p:cNvPr>
            <p:cNvSpPr>
              <a:spLocks noChangeArrowheads="1"/>
            </p:cNvSpPr>
            <p:nvPr/>
          </p:nvSpPr>
          <p:spPr bwMode="auto">
            <a:xfrm>
              <a:off x="5050922" y="4229099"/>
              <a:ext cx="1875514"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lgn="ctr"/>
              <a:r>
                <a:rPr lang="en-US" altLang="en-US" sz="2400" b="1" i="1">
                  <a:solidFill>
                    <a:schemeClr val="bg1"/>
                  </a:solidFill>
                  <a:latin typeface="Times New Roman" panose="02020603050405020304" pitchFamily="18" charset="0"/>
                </a:rPr>
                <a:t>International</a:t>
              </a:r>
            </a:p>
            <a:p>
              <a:pPr algn="ctr"/>
              <a:r>
                <a:rPr lang="en-US" altLang="en-US" sz="2400" b="1" i="1">
                  <a:solidFill>
                    <a:schemeClr val="bg1"/>
                  </a:solidFill>
                  <a:latin typeface="Times New Roman" panose="02020603050405020304" pitchFamily="18" charset="0"/>
                </a:rPr>
                <a:t>strategy</a:t>
              </a:r>
            </a:p>
          </p:txBody>
        </p:sp>
      </p:grpSp>
      <p:sp>
        <p:nvSpPr>
          <p:cNvPr id="2" name="Footer Placeholder 1">
            <a:extLst>
              <a:ext uri="{FF2B5EF4-FFF2-40B4-BE49-F238E27FC236}">
                <a16:creationId xmlns:a16="http://schemas.microsoft.com/office/drawing/2014/main" id="{5C1E0B6C-6141-B30A-E268-9E458464BD45}"/>
              </a:ext>
            </a:extLst>
          </p:cNvPr>
          <p:cNvSpPr>
            <a:spLocks noGrp="1"/>
          </p:cNvSpPr>
          <p:nvPr>
            <p:ph type="ftr" sz="quarter" idx="11"/>
          </p:nvPr>
        </p:nvSpPr>
        <p:spPr>
          <a:xfrm>
            <a:off x="4686299" y="6327775"/>
            <a:ext cx="4437603" cy="457200"/>
          </a:xfrm>
        </p:spPr>
        <p:txBody>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eaLnBrk="1" hangingPunct="1"/>
            <a:r>
              <a:rPr lang="en-US" altLang="en-US" sz="1200" dirty="0">
                <a:solidFill>
                  <a:schemeClr val="bg1"/>
                </a:solidFill>
              </a:rPr>
              <a:t>Newburry 2026 DBA International Business</a:t>
            </a:r>
          </a:p>
        </p:txBody>
      </p:sp>
    </p:spTree>
    <p:extLst>
      <p:ext uri="{BB962C8B-B14F-4D97-AF65-F5344CB8AC3E}">
        <p14:creationId xmlns:p14="http://schemas.microsoft.com/office/powerpoint/2010/main" val="4694912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title"/>
          </p:nvPr>
        </p:nvSpPr>
        <p:spPr>
          <a:xfrm>
            <a:off x="2250830" y="365125"/>
            <a:ext cx="9102969" cy="1325563"/>
          </a:xfrm>
        </p:spPr>
        <p:txBody>
          <a:bodyPr/>
          <a:lstStyle/>
          <a:p>
            <a:pPr eaLnBrk="1" hangingPunct="1">
              <a:defRPr/>
            </a:pPr>
            <a:r>
              <a:rPr lang="en-US" sz="4000" b="1" dirty="0">
                <a:ea typeface="MS PGothic" panose="020B0600070205080204" pitchFamily="34" charset="-128"/>
              </a:rPr>
              <a:t>Global Strategy</a:t>
            </a:r>
          </a:p>
        </p:txBody>
      </p:sp>
      <p:sp>
        <p:nvSpPr>
          <p:cNvPr id="167938" name="Rectangle 3"/>
          <p:cNvSpPr>
            <a:spLocks noGrp="1" noChangeArrowheads="1"/>
          </p:cNvSpPr>
          <p:nvPr>
            <p:ph type="body" idx="1"/>
          </p:nvPr>
        </p:nvSpPr>
        <p:spPr>
          <a:xfrm>
            <a:off x="2180491" y="1828800"/>
            <a:ext cx="9576079" cy="4533900"/>
          </a:xfrm>
        </p:spPr>
        <p:txBody>
          <a:bodyPr/>
          <a:lstStyle/>
          <a:p>
            <a:pPr eaLnBrk="1" hangingPunct="1">
              <a:lnSpc>
                <a:spcPct val="80000"/>
              </a:lnSpc>
            </a:pPr>
            <a:r>
              <a:rPr lang="en-US" altLang="en-US" sz="2400" dirty="0"/>
              <a:t>High integration pressures and low responsiveness pressures</a:t>
            </a:r>
          </a:p>
          <a:p>
            <a:pPr eaLnBrk="1" hangingPunct="1">
              <a:lnSpc>
                <a:spcPct val="80000"/>
              </a:lnSpc>
            </a:pPr>
            <a:r>
              <a:rPr lang="en-US" altLang="en-US" sz="2400" dirty="0"/>
              <a:t>Treats world as a single marketplace </a:t>
            </a:r>
          </a:p>
          <a:p>
            <a:pPr eaLnBrk="1" hangingPunct="1">
              <a:lnSpc>
                <a:spcPct val="80000"/>
              </a:lnSpc>
            </a:pPr>
            <a:r>
              <a:rPr lang="en-US" altLang="en-US" sz="2400" dirty="0"/>
              <a:t>Strives for global standardization of products and services</a:t>
            </a:r>
          </a:p>
          <a:p>
            <a:pPr eaLnBrk="1" hangingPunct="1">
              <a:lnSpc>
                <a:spcPct val="80000"/>
              </a:lnSpc>
            </a:pPr>
            <a:r>
              <a:rPr lang="en-US" altLang="en-US" sz="2400" dirty="0"/>
              <a:t>Centralization of strategic decision making, R&amp;D, new product development</a:t>
            </a:r>
          </a:p>
          <a:p>
            <a:pPr eaLnBrk="1" hangingPunct="1">
              <a:lnSpc>
                <a:spcPct val="80000"/>
              </a:lnSpc>
            </a:pPr>
            <a:r>
              <a:rPr lang="en-US" altLang="en-US" sz="2400" dirty="0"/>
              <a:t>Strategic location of value chain activities, global sourcing, and global supply chains</a:t>
            </a:r>
          </a:p>
          <a:p>
            <a:pPr eaLnBrk="1" hangingPunct="1">
              <a:lnSpc>
                <a:spcPct val="80000"/>
              </a:lnSpc>
            </a:pPr>
            <a:r>
              <a:rPr lang="en-US" altLang="en-US" sz="2400" dirty="0"/>
              <a:t>Interdependence of country subsidiaries</a:t>
            </a:r>
          </a:p>
          <a:p>
            <a:pPr eaLnBrk="1" hangingPunct="1">
              <a:lnSpc>
                <a:spcPct val="80000"/>
              </a:lnSpc>
              <a:buFontTx/>
              <a:buNone/>
            </a:pPr>
            <a:endParaRPr lang="en-US" altLang="en-US" sz="2400" dirty="0"/>
          </a:p>
          <a:p>
            <a:pPr eaLnBrk="1" hangingPunct="1">
              <a:lnSpc>
                <a:spcPct val="80000"/>
              </a:lnSpc>
            </a:pPr>
            <a:r>
              <a:rPr lang="en-US" altLang="en-US" sz="2400" dirty="0"/>
              <a:t>E.g., Walt Disney Corporation (for consistent image) or Boeing (for economies of scale)</a:t>
            </a:r>
          </a:p>
          <a:p>
            <a:pPr lvl="1" eaLnBrk="1" hangingPunct="1">
              <a:lnSpc>
                <a:spcPct val="80000"/>
              </a:lnSpc>
            </a:pPr>
            <a:endParaRPr lang="en-US" altLang="en-US" sz="2400" dirty="0">
              <a:ea typeface="Arial" panose="020B0604020202020204" pitchFamily="34" charset="0"/>
            </a:endParaRPr>
          </a:p>
        </p:txBody>
      </p:sp>
      <p:sp>
        <p:nvSpPr>
          <p:cNvPr id="2" name="Footer Placeholder 1"/>
          <p:cNvSpPr>
            <a:spLocks noGrp="1"/>
          </p:cNvSpPr>
          <p:nvPr>
            <p:ph type="ftr" sz="quarter" idx="11"/>
          </p:nvPr>
        </p:nvSpPr>
        <p:spPr>
          <a:xfrm>
            <a:off x="5602794" y="6362700"/>
            <a:ext cx="3200400" cy="457200"/>
          </a:xfrm>
        </p:spPr>
        <p:txBody>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eaLnBrk="1" hangingPunct="1"/>
            <a:r>
              <a:rPr lang="en-US" altLang="en-US" sz="1200" dirty="0">
                <a:solidFill>
                  <a:schemeClr val="bg1"/>
                </a:solidFill>
              </a:rPr>
              <a:t>Newburry 2026 DBA International Business</a:t>
            </a:r>
          </a:p>
        </p:txBody>
      </p:sp>
    </p:spTree>
    <p:extLst>
      <p:ext uri="{BB962C8B-B14F-4D97-AF65-F5344CB8AC3E}">
        <p14:creationId xmlns:p14="http://schemas.microsoft.com/office/powerpoint/2010/main" val="1134283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idx="4294967295"/>
          </p:nvPr>
        </p:nvSpPr>
        <p:spPr bwMode="auto">
          <a:xfrm>
            <a:off x="2981430" y="459677"/>
            <a:ext cx="7772400" cy="1143000"/>
          </a:xfrm>
          <a:prstGeom prst="rect">
            <a:avLst/>
          </a:prstGeom>
          <a:solidFill>
            <a:schemeClr val="accent1"/>
          </a:solidFill>
          <a:ln w="12700">
            <a:noFill/>
            <a:prstDash/>
            <a:miter lim="800000"/>
            <a:headEnd/>
            <a:tailEnd/>
          </a:ln>
          <a:effectLst/>
        </p:spPr>
        <p:txBody>
          <a:bodyPr rot="0" spcFirstLastPara="0" vertOverflow="overflow" horzOverflow="overflow" vert="horz" wrap="square" lIns="90488" tIns="44450" rIns="90488" bIns="4445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chemeClr val="bg1"/>
                </a:solidFill>
                <a:effectLst>
                  <a:outerShdw blurRad="38100" dist="38100" dir="2700000" algn="tl">
                    <a:srgbClr val="FFFFFF"/>
                  </a:outerShdw>
                </a:effectLst>
                <a:uLnTx/>
                <a:uFillTx/>
                <a:latin typeface="+mn-lt"/>
                <a:ea typeface="+mn-ea"/>
                <a:cs typeface="+mn-cs"/>
              </a:rPr>
              <a:t>Global Functional Structure</a:t>
            </a:r>
          </a:p>
        </p:txBody>
      </p:sp>
      <p:grpSp>
        <p:nvGrpSpPr>
          <p:cNvPr id="11" name="Group 10" descr="Global Functional Structure">
            <a:extLst>
              <a:ext uri="{FF2B5EF4-FFF2-40B4-BE49-F238E27FC236}">
                <a16:creationId xmlns:a16="http://schemas.microsoft.com/office/drawing/2014/main" id="{5AC2F5F8-DCE9-4FE2-75B8-7EED14D73F35}"/>
              </a:ext>
            </a:extLst>
          </p:cNvPr>
          <p:cNvGrpSpPr/>
          <p:nvPr/>
        </p:nvGrpSpPr>
        <p:grpSpPr>
          <a:xfrm>
            <a:off x="3457051" y="2023068"/>
            <a:ext cx="7086600" cy="3384550"/>
            <a:chOff x="3457051" y="2023068"/>
            <a:chExt cx="7086600" cy="3384550"/>
          </a:xfrm>
        </p:grpSpPr>
        <p:graphicFrame>
          <p:nvGraphicFramePr>
            <p:cNvPr id="62470" name="Object 3">
              <a:hlinkClick r:id="" action="ppaction://ole?verb=0"/>
            </p:cNvPr>
            <p:cNvGraphicFramePr>
              <a:graphicFrameLocks/>
            </p:cNvGraphicFramePr>
            <p:nvPr/>
          </p:nvGraphicFramePr>
          <p:xfrm>
            <a:off x="3457051" y="2023068"/>
            <a:ext cx="7086600" cy="3384550"/>
          </p:xfrm>
          <a:graphic>
            <a:graphicData uri="http://schemas.openxmlformats.org/presentationml/2006/ole">
              <mc:AlternateContent xmlns:mc="http://schemas.openxmlformats.org/markup-compatibility/2006">
                <mc:Choice xmlns:v="urn:schemas-microsoft-com:vml" Requires="v">
                  <p:oleObj name="Organization Chart" r:id="rId2" imgW="7569000" imgH="3619440" progId="OrgPlusWOPX.4">
                    <p:embed followColorScheme="full"/>
                  </p:oleObj>
                </mc:Choice>
                <mc:Fallback>
                  <p:oleObj name="Organization Chart" r:id="rId2" imgW="7569000" imgH="3619440" progId="OrgPlusWOPX.4">
                    <p:embed followColorScheme="full"/>
                    <p:pic>
                      <p:nvPicPr>
                        <p:cNvPr id="62470" name="Object 3">
                          <a:hlinkClick r:id="" action="ppaction://ole?verb=0"/>
                        </p:cNvPr>
                        <p:cNvPicPr>
                          <a:picLocks noChangeArrowheads="1"/>
                        </p:cNvPicPr>
                        <p:nvPr/>
                      </p:nvPicPr>
                      <p:blipFill>
                        <a:blip r:embed="rId3"/>
                        <a:srcRect/>
                        <a:stretch>
                          <a:fillRect/>
                        </a:stretch>
                      </p:blipFill>
                      <p:spPr bwMode="auto">
                        <a:xfrm>
                          <a:off x="3457051" y="2023068"/>
                          <a:ext cx="7086600" cy="3384550"/>
                        </a:xfrm>
                        <a:prstGeom prst="rect">
                          <a:avLst/>
                        </a:prstGeom>
                        <a:solidFill>
                          <a:srgbClr val="0070C0"/>
                        </a:solidFill>
                        <a:ln>
                          <a:noFill/>
                        </a:ln>
                        <a:effectLst/>
                      </p:spPr>
                    </p:pic>
                  </p:oleObj>
                </mc:Fallback>
              </mc:AlternateContent>
            </a:graphicData>
          </a:graphic>
        </p:graphicFrame>
        <p:sp>
          <p:nvSpPr>
            <p:cNvPr id="3" name="TextBox 2">
              <a:extLst>
                <a:ext uri="{FF2B5EF4-FFF2-40B4-BE49-F238E27FC236}">
                  <a16:creationId xmlns:a16="http://schemas.microsoft.com/office/drawing/2014/main" id="{9251CAD8-A0B6-BE4F-17EC-25D3E4E3D2A6}"/>
                </a:ext>
              </a:extLst>
            </p:cNvPr>
            <p:cNvSpPr txBox="1"/>
            <p:nvPr/>
          </p:nvSpPr>
          <p:spPr>
            <a:xfrm>
              <a:off x="3969328" y="3059668"/>
              <a:ext cx="68480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anose="020B0604020202020204"/>
                  <a:ea typeface="+mn-ea"/>
                  <a:cs typeface="+mn-cs"/>
                </a:rPr>
                <a:t>R&amp;D</a:t>
              </a:r>
            </a:p>
          </p:txBody>
        </p:sp>
        <p:sp>
          <p:nvSpPr>
            <p:cNvPr id="5" name="TextBox 4">
              <a:extLst>
                <a:ext uri="{FF2B5EF4-FFF2-40B4-BE49-F238E27FC236}">
                  <a16:creationId xmlns:a16="http://schemas.microsoft.com/office/drawing/2014/main" id="{BF1A1C80-D3CE-A936-EA12-8C62C06B74CD}"/>
                </a:ext>
              </a:extLst>
            </p:cNvPr>
            <p:cNvSpPr txBox="1"/>
            <p:nvPr/>
          </p:nvSpPr>
          <p:spPr>
            <a:xfrm>
              <a:off x="5394526" y="3070059"/>
              <a:ext cx="140294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anose="020B0604020202020204"/>
                  <a:ea typeface="+mn-ea"/>
                  <a:cs typeface="+mn-cs"/>
                </a:rPr>
                <a:t>Production</a:t>
              </a:r>
            </a:p>
          </p:txBody>
        </p:sp>
        <p:sp>
          <p:nvSpPr>
            <p:cNvPr id="8" name="TextBox 7">
              <a:extLst>
                <a:ext uri="{FF2B5EF4-FFF2-40B4-BE49-F238E27FC236}">
                  <a16:creationId xmlns:a16="http://schemas.microsoft.com/office/drawing/2014/main" id="{E6914515-73AB-F59C-0F56-0D148264F955}"/>
                </a:ext>
              </a:extLst>
            </p:cNvPr>
            <p:cNvSpPr txBox="1"/>
            <p:nvPr/>
          </p:nvSpPr>
          <p:spPr>
            <a:xfrm>
              <a:off x="7308273" y="3070059"/>
              <a:ext cx="127470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anose="020B0604020202020204"/>
                  <a:ea typeface="+mn-ea"/>
                  <a:cs typeface="+mn-cs"/>
                </a:rPr>
                <a:t>Marketing</a:t>
              </a:r>
            </a:p>
          </p:txBody>
        </p:sp>
        <p:sp>
          <p:nvSpPr>
            <p:cNvPr id="10" name="TextBox 9">
              <a:extLst>
                <a:ext uri="{FF2B5EF4-FFF2-40B4-BE49-F238E27FC236}">
                  <a16:creationId xmlns:a16="http://schemas.microsoft.com/office/drawing/2014/main" id="{5A25E409-C010-C2A2-6CD3-7EF6B934EE7D}"/>
                </a:ext>
              </a:extLst>
            </p:cNvPr>
            <p:cNvSpPr txBox="1"/>
            <p:nvPr/>
          </p:nvSpPr>
          <p:spPr>
            <a:xfrm>
              <a:off x="9235551" y="3070059"/>
              <a:ext cx="10567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panose="020B0604020202020204"/>
                  <a:ea typeface="+mn-ea"/>
                  <a:cs typeface="+mn-cs"/>
                </a:rPr>
                <a:t>Finance</a:t>
              </a:r>
            </a:p>
          </p:txBody>
        </p:sp>
      </p:grpSp>
      <p:sp>
        <p:nvSpPr>
          <p:cNvPr id="7" name="Rectangle 25"/>
          <p:cNvSpPr>
            <a:spLocks noGrp="1" noChangeArrowheads="1"/>
          </p:cNvSpPr>
          <p:nvPr>
            <p:ph type="ftr" sz="quarter" idx="11"/>
          </p:nvPr>
        </p:nvSpPr>
        <p:spPr>
          <a:xfrm>
            <a:off x="4765151" y="6268497"/>
            <a:ext cx="4470400" cy="457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srgbClr val="FFFFFF"/>
                </a:solidFill>
                <a:effectLst/>
                <a:uLnTx/>
                <a:uFillTx/>
                <a:latin typeface="Arial" panose="020B0604020202020204"/>
                <a:ea typeface="+mn-ea"/>
                <a:cs typeface="+mn-cs"/>
              </a:rPr>
              <a:t>Newburry 2026 DBA International Business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p:cNvSpPr>
            <a:spLocks noGrp="1" noChangeArrowheads="1"/>
          </p:cNvSpPr>
          <p:nvPr>
            <p:ph type="title" idx="4294967295"/>
          </p:nvPr>
        </p:nvSpPr>
        <p:spPr bwMode="auto">
          <a:xfrm>
            <a:off x="3400530" y="381001"/>
            <a:ext cx="6934200" cy="838200"/>
          </a:xfrm>
          <a:prstGeom prst="rect">
            <a:avLst/>
          </a:prstGeom>
          <a:solidFill>
            <a:schemeClr val="accent1"/>
          </a:solidFill>
          <a:ln w="9525">
            <a:noFill/>
            <a:prstDash/>
            <a:miter lim="800000"/>
            <a:headEnd/>
            <a:tailEnd/>
          </a:ln>
          <a:effectLst/>
        </p:spPr>
        <p:txBody>
          <a:bodyPr rot="0" spcFirstLastPara="0" vertOverflow="overflow" horzOverflow="overflow" vert="horz" wrap="square" lIns="92075" tIns="46038" rIns="92075" bIns="4603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chemeClr val="bg1"/>
                </a:solidFill>
                <a:effectLst>
                  <a:outerShdw blurRad="38100" dist="38100" dir="2700000" algn="tl">
                    <a:srgbClr val="FFFFFF"/>
                  </a:outerShdw>
                </a:effectLst>
                <a:uLnTx/>
                <a:uFillTx/>
                <a:latin typeface="+mn-lt"/>
                <a:ea typeface="+mn-ea"/>
                <a:cs typeface="+mn-cs"/>
              </a:rPr>
              <a:t>Global Functional Design</a:t>
            </a:r>
          </a:p>
        </p:txBody>
      </p:sp>
      <p:graphicFrame>
        <p:nvGraphicFramePr>
          <p:cNvPr id="63494" name="Object 3" descr="Hard Rock Cafe Structure"/>
          <p:cNvGraphicFramePr>
            <a:graphicFrameLocks noChangeAspect="1"/>
          </p:cNvGraphicFramePr>
          <p:nvPr/>
        </p:nvGraphicFramePr>
        <p:xfrm>
          <a:off x="2794000" y="3316289"/>
          <a:ext cx="8059738" cy="2498725"/>
        </p:xfrm>
        <a:graphic>
          <a:graphicData uri="http://schemas.openxmlformats.org/presentationml/2006/ole">
            <mc:AlternateContent xmlns:mc="http://schemas.openxmlformats.org/markup-compatibility/2006">
              <mc:Choice xmlns:v="urn:schemas-microsoft-com:vml" Requires="v">
                <p:oleObj name="MS Organization Chart 2.0" r:id="rId2" imgW="7772400" imgH="2412720" progId="">
                  <p:embed followColorScheme="full"/>
                </p:oleObj>
              </mc:Choice>
              <mc:Fallback>
                <p:oleObj name="MS Organization Chart 2.0" r:id="rId2" imgW="7772400" imgH="2412720" progId="">
                  <p:embed followColorScheme="full"/>
                  <p:pic>
                    <p:nvPicPr>
                      <p:cNvPr id="63494" name="Object 3" descr="Hard Rock Cafe Structure"/>
                      <p:cNvPicPr>
                        <a:picLocks noChangeAspect="1" noChangeArrowheads="1"/>
                      </p:cNvPicPr>
                      <p:nvPr/>
                    </p:nvPicPr>
                    <p:blipFill>
                      <a:blip r:embed="rId3"/>
                      <a:srcRect/>
                      <a:stretch>
                        <a:fillRect/>
                      </a:stretch>
                    </p:blipFill>
                    <p:spPr bwMode="auto">
                      <a:xfrm>
                        <a:off x="2794000" y="3316289"/>
                        <a:ext cx="8059738" cy="249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3497" name="Picture 14" descr="Timeline Series Title Pin">
            <a:hlinkClick r:id="rId4"/>
          </p:cNvPr>
          <p:cNvPicPr>
            <a:picLocks noChangeAspect="1" noChangeArrowheads="1"/>
          </p:cNvPicPr>
          <p:nvPr/>
        </p:nvPicPr>
        <p:blipFill>
          <a:blip r:embed="rId5"/>
          <a:srcRect/>
          <a:stretch>
            <a:fillRect/>
          </a:stretch>
        </p:blipFill>
        <p:spPr bwMode="auto">
          <a:xfrm>
            <a:off x="2794000" y="1487488"/>
            <a:ext cx="2133600" cy="2590800"/>
          </a:xfrm>
          <a:prstGeom prst="rect">
            <a:avLst/>
          </a:prstGeom>
          <a:noFill/>
          <a:ln w="9525">
            <a:noFill/>
            <a:miter lim="800000"/>
            <a:headEnd/>
            <a:tailEnd/>
          </a:ln>
        </p:spPr>
      </p:pic>
      <p:sp>
        <p:nvSpPr>
          <p:cNvPr id="18" name="Rectangle 25"/>
          <p:cNvSpPr>
            <a:spLocks noGrp="1" noChangeArrowheads="1"/>
          </p:cNvSpPr>
          <p:nvPr>
            <p:ph type="ftr" sz="quarter" idx="11"/>
          </p:nvPr>
        </p:nvSpPr>
        <p:spPr>
          <a:xfrm>
            <a:off x="5006312" y="6248399"/>
            <a:ext cx="4470400" cy="457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srgbClr val="FFFFFF"/>
                </a:solidFill>
                <a:effectLst/>
                <a:uLnTx/>
                <a:uFillTx/>
                <a:latin typeface="Arial" panose="020B0604020202020204"/>
                <a:ea typeface="+mn-ea"/>
                <a:cs typeface="+mn-cs"/>
              </a:rPr>
              <a:t>Newburry 2026 DBA International Business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7" name="Rectangle 2"/>
          <p:cNvSpPr>
            <a:spLocks noGrp="1" noChangeArrowheads="1"/>
          </p:cNvSpPr>
          <p:nvPr>
            <p:ph type="title" idx="4294967295"/>
          </p:nvPr>
        </p:nvSpPr>
        <p:spPr bwMode="auto">
          <a:xfrm>
            <a:off x="1981200" y="304800"/>
            <a:ext cx="8229600" cy="1066800"/>
          </a:xfrm>
          <a:prstGeom prst="rect">
            <a:avLst/>
          </a:prstGeom>
          <a:solidFill>
            <a:schemeClr val="accent1"/>
          </a:solidFill>
          <a:ln w="9525">
            <a:noFill/>
            <a:prstDash/>
            <a:miter lim="800000"/>
            <a:headEnd/>
            <a:tailE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n-US" sz="3200" b="1" i="0" u="none" strike="noStrike" kern="1200" cap="none" spc="0" normalizeH="0" baseline="0" noProof="0" dirty="0">
                <a:ln>
                  <a:noFill/>
                </a:ln>
                <a:solidFill>
                  <a:schemeClr val="bg1"/>
                </a:solidFill>
                <a:effectLst/>
                <a:uLnTx/>
                <a:uFillTx/>
                <a:latin typeface="Times New Roman" pitchFamily="18" charset="0"/>
                <a:ea typeface="+mn-ea"/>
                <a:cs typeface="+mn-cs"/>
              </a:rPr>
              <a:t>MLB Organizational Structure </a:t>
            </a:r>
            <a:br>
              <a:rPr kumimoji="0" lang="en-US" altLang="en-US" sz="3200" b="1" i="0" u="none" strike="noStrike" kern="1200" cap="none" spc="0" normalizeH="0" baseline="0" noProof="0" dirty="0">
                <a:ln>
                  <a:noFill/>
                </a:ln>
                <a:solidFill>
                  <a:schemeClr val="bg1"/>
                </a:solidFill>
                <a:effectLst/>
                <a:uLnTx/>
                <a:uFillTx/>
                <a:latin typeface="Times New Roman" pitchFamily="18" charset="0"/>
                <a:ea typeface="+mn-ea"/>
                <a:cs typeface="+mn-cs"/>
              </a:rPr>
            </a:br>
            <a:r>
              <a:rPr kumimoji="0" lang="en-US" altLang="en-US" sz="3200" b="1" i="0" u="none" strike="noStrike" kern="1200" cap="none" spc="0" normalizeH="0" baseline="0" noProof="0" dirty="0">
                <a:ln>
                  <a:noFill/>
                </a:ln>
                <a:solidFill>
                  <a:schemeClr val="bg1"/>
                </a:solidFill>
                <a:effectLst/>
                <a:uLnTx/>
                <a:uFillTx/>
                <a:latin typeface="Times New Roman" pitchFamily="18" charset="0"/>
                <a:ea typeface="+mn-ea"/>
                <a:cs typeface="+mn-cs"/>
              </a:rPr>
              <a:t>is a simple Functional one...</a:t>
            </a:r>
            <a:endParaRPr kumimoji="0" lang="en-US" altLang="en-US" sz="3200" b="0" i="0" u="none" strike="noStrike" kern="1200" cap="none" spc="0" normalizeH="0" baseline="0" noProof="0" dirty="0">
              <a:ln>
                <a:noFill/>
              </a:ln>
              <a:solidFill>
                <a:schemeClr val="bg1"/>
              </a:solidFill>
              <a:effectLst/>
              <a:uLnTx/>
              <a:uFillTx/>
              <a:latin typeface="Times New Roman" pitchFamily="18" charset="0"/>
              <a:ea typeface="+mn-ea"/>
              <a:cs typeface="+mn-cs"/>
            </a:endParaRPr>
          </a:p>
        </p:txBody>
      </p:sp>
      <p:pic>
        <p:nvPicPr>
          <p:cNvPr id="64519" name="Picture 4" descr="wsf"/>
          <p:cNvPicPr>
            <a:picLocks noChangeAspect="1" noChangeArrowheads="1"/>
          </p:cNvPicPr>
          <p:nvPr/>
        </p:nvPicPr>
        <p:blipFill>
          <a:blip r:embed="rId2"/>
          <a:srcRect/>
          <a:stretch>
            <a:fillRect/>
          </a:stretch>
        </p:blipFill>
        <p:spPr bwMode="auto">
          <a:xfrm>
            <a:off x="5492262" y="1557339"/>
            <a:ext cx="2743200" cy="2238375"/>
          </a:xfrm>
          <a:prstGeom prst="rect">
            <a:avLst/>
          </a:prstGeom>
          <a:noFill/>
          <a:ln w="9525">
            <a:noFill/>
            <a:miter lim="800000"/>
            <a:headEnd/>
            <a:tailEnd/>
          </a:ln>
        </p:spPr>
      </p:pic>
      <p:graphicFrame>
        <p:nvGraphicFramePr>
          <p:cNvPr id="64518" name="Object 3" descr="Major League Baseball Structure"/>
          <p:cNvGraphicFramePr>
            <a:graphicFrameLocks noChangeAspect="1"/>
          </p:cNvGraphicFramePr>
          <p:nvPr/>
        </p:nvGraphicFramePr>
        <p:xfrm>
          <a:off x="2444262" y="3843338"/>
          <a:ext cx="8915400" cy="2209800"/>
        </p:xfrm>
        <a:graphic>
          <a:graphicData uri="http://schemas.openxmlformats.org/presentationml/2006/ole">
            <mc:AlternateContent xmlns:mc="http://schemas.openxmlformats.org/markup-compatibility/2006">
              <mc:Choice xmlns:v="urn:schemas-microsoft-com:vml" Requires="v">
                <p:oleObj name="MS Org Chart" r:id="rId3" imgW="5562360" imgH="1028520" progId="">
                  <p:embed followColorScheme="full"/>
                </p:oleObj>
              </mc:Choice>
              <mc:Fallback>
                <p:oleObj name="MS Org Chart" r:id="rId3" imgW="5562360" imgH="1028520" progId="">
                  <p:embed followColorScheme="full"/>
                  <p:pic>
                    <p:nvPicPr>
                      <p:cNvPr id="64518" name="Object 3" descr="Major League Baseball Structure"/>
                      <p:cNvPicPr>
                        <a:picLocks noChangeAspect="1" noChangeArrowheads="1"/>
                      </p:cNvPicPr>
                      <p:nvPr/>
                    </p:nvPicPr>
                    <p:blipFill>
                      <a:blip r:embed="rId4"/>
                      <a:srcRect/>
                      <a:stretch>
                        <a:fillRect/>
                      </a:stretch>
                    </p:blipFill>
                    <p:spPr bwMode="auto">
                      <a:xfrm>
                        <a:off x="2444262" y="3843338"/>
                        <a:ext cx="8915400" cy="2209800"/>
                      </a:xfrm>
                      <a:prstGeom prst="rect">
                        <a:avLst/>
                      </a:prstGeom>
                      <a:solidFill>
                        <a:srgbClr val="0070C0"/>
                      </a:solidFill>
                      <a:ln>
                        <a:noFill/>
                      </a:ln>
                      <a:effectLst/>
                    </p:spPr>
                  </p:pic>
                </p:oleObj>
              </mc:Fallback>
            </mc:AlternateContent>
          </a:graphicData>
        </a:graphic>
      </p:graphicFrame>
      <p:sp>
        <p:nvSpPr>
          <p:cNvPr id="9" name="Rectangle 25"/>
          <p:cNvSpPr>
            <a:spLocks noGrp="1" noChangeArrowheads="1"/>
          </p:cNvSpPr>
          <p:nvPr>
            <p:ph type="ftr" sz="quarter" idx="11"/>
          </p:nvPr>
        </p:nvSpPr>
        <p:spPr>
          <a:xfrm>
            <a:off x="4745055" y="6267452"/>
            <a:ext cx="4470400" cy="457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srgbClr val="FFFFFF"/>
                </a:solidFill>
                <a:effectLst/>
                <a:uLnTx/>
                <a:uFillTx/>
                <a:latin typeface="Arial" panose="020B0604020202020204"/>
                <a:ea typeface="+mn-ea"/>
                <a:cs typeface="+mn-cs"/>
              </a:rPr>
              <a:t>Newburry 2026 DBA International Business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p:cNvSpPr>
            <a:spLocks noGrp="1" noChangeArrowheads="1"/>
          </p:cNvSpPr>
          <p:nvPr>
            <p:ph type="title" idx="4294967295"/>
          </p:nvPr>
        </p:nvSpPr>
        <p:spPr bwMode="auto">
          <a:xfrm>
            <a:off x="2784231" y="266700"/>
            <a:ext cx="8148376" cy="1143000"/>
          </a:xfrm>
          <a:prstGeom prst="rect">
            <a:avLst/>
          </a:prstGeom>
          <a:solidFill>
            <a:schemeClr val="accent1"/>
          </a:solidFill>
          <a:ln w="12700">
            <a:noFill/>
            <a:prstDash/>
            <a:miter lim="800000"/>
            <a:headEnd/>
            <a:tailEnd/>
          </a:ln>
          <a:effectLst/>
        </p:spPr>
        <p:txBody>
          <a:bodyPr rot="0" spcFirstLastPara="0" vertOverflow="overflow" horzOverflow="overflow" vert="horz" wrap="square" lIns="90488" tIns="44450" rIns="90488" bIns="4445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chemeClr val="bg1"/>
                </a:solidFill>
                <a:effectLst>
                  <a:outerShdw blurRad="38100" dist="38100" dir="2700000" algn="tl">
                    <a:srgbClr val="FFFFFF"/>
                  </a:outerShdw>
                </a:effectLst>
                <a:uLnTx/>
                <a:uFillTx/>
                <a:latin typeface="+mn-lt"/>
                <a:ea typeface="+mn-ea"/>
                <a:cs typeface="+mn-cs"/>
              </a:rPr>
              <a:t>Global Product Division Structure</a:t>
            </a:r>
          </a:p>
        </p:txBody>
      </p:sp>
      <p:graphicFrame>
        <p:nvGraphicFramePr>
          <p:cNvPr id="2" name="Diagram 1" descr="Global Product Division Structure"/>
          <p:cNvGraphicFramePr/>
          <p:nvPr/>
        </p:nvGraphicFramePr>
        <p:xfrm>
          <a:off x="3149600" y="1543050"/>
          <a:ext cx="7467600" cy="45672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Footer Placeholder 2"/>
          <p:cNvSpPr>
            <a:spLocks noGrp="1"/>
          </p:cNvSpPr>
          <p:nvPr>
            <p:ph type="ftr" sz="quarter" idx="11"/>
          </p:nvPr>
        </p:nvSpPr>
        <p:spPr>
          <a:xfrm>
            <a:off x="4648200" y="6243638"/>
            <a:ext cx="44704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Newburry 2026 DBA International Business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1" name="Rectangle 2"/>
          <p:cNvSpPr>
            <a:spLocks noGrp="1" noChangeArrowheads="1"/>
          </p:cNvSpPr>
          <p:nvPr>
            <p:ph type="title" idx="4294967295"/>
          </p:nvPr>
        </p:nvSpPr>
        <p:spPr>
          <a:xfrm>
            <a:off x="3531995" y="453013"/>
            <a:ext cx="7696200" cy="1066800"/>
          </a:xfrm>
        </p:spPr>
        <p:txBody>
          <a:bodyPr/>
          <a:lstStyle/>
          <a:p>
            <a:pPr eaLnBrk="1" hangingPunct="1">
              <a:defRPr/>
            </a:pPr>
            <a:r>
              <a:rPr lang="en-US" sz="4000" b="1" dirty="0"/>
              <a:t>Structure of Reed-Elsevier</a:t>
            </a:r>
          </a:p>
        </p:txBody>
      </p:sp>
      <p:graphicFrame>
        <p:nvGraphicFramePr>
          <p:cNvPr id="65542" name="Object 3" descr="Reed-Elsevier Structure"/>
          <p:cNvGraphicFramePr>
            <a:graphicFrameLocks noGrp="1" noChangeAspect="1"/>
          </p:cNvGraphicFramePr>
          <p:nvPr>
            <p:ph type="dgm" idx="4294967295"/>
          </p:nvPr>
        </p:nvGraphicFramePr>
        <p:xfrm>
          <a:off x="2670350" y="1978113"/>
          <a:ext cx="8053388" cy="3308350"/>
        </p:xfrm>
        <a:graphic>
          <a:graphicData uri="http://schemas.openxmlformats.org/presentationml/2006/ole">
            <mc:AlternateContent xmlns:mc="http://schemas.openxmlformats.org/markup-compatibility/2006">
              <mc:Choice xmlns:v="urn:schemas-microsoft-com:vml" Requires="v">
                <p:oleObj name="MS Org Chart" r:id="rId3" imgW="4387680" imgH="1834920" progId="">
                  <p:embed followColorScheme="full"/>
                </p:oleObj>
              </mc:Choice>
              <mc:Fallback>
                <p:oleObj name="MS Org Chart" r:id="rId3" imgW="4387680" imgH="1834920" progId="">
                  <p:embed followColorScheme="full"/>
                  <p:pic>
                    <p:nvPicPr>
                      <p:cNvPr id="65542" name="Object 3" descr="Reed-Elsevier Structure"/>
                      <p:cNvPicPr>
                        <a:picLocks noChangeAspect="1" noChangeArrowheads="1"/>
                      </p:cNvPicPr>
                      <p:nvPr/>
                    </p:nvPicPr>
                    <p:blipFill>
                      <a:blip r:embed="rId4"/>
                      <a:srcRect/>
                      <a:stretch>
                        <a:fillRect/>
                      </a:stretch>
                    </p:blipFill>
                    <p:spPr bwMode="auto">
                      <a:xfrm>
                        <a:off x="2670350" y="1978113"/>
                        <a:ext cx="8053388" cy="3308350"/>
                      </a:xfrm>
                      <a:prstGeom prst="rect">
                        <a:avLst/>
                      </a:prstGeom>
                      <a:solidFill>
                        <a:srgbClr val="0070C0"/>
                      </a:solidFill>
                      <a:ln>
                        <a:noFill/>
                      </a:ln>
                    </p:spPr>
                  </p:pic>
                </p:oleObj>
              </mc:Fallback>
            </mc:AlternateContent>
          </a:graphicData>
        </a:graphic>
      </p:graphicFrame>
      <p:sp>
        <p:nvSpPr>
          <p:cNvPr id="7" name="Rectangle 25"/>
          <p:cNvSpPr>
            <a:spLocks noGrp="1" noChangeArrowheads="1"/>
          </p:cNvSpPr>
          <p:nvPr>
            <p:ph type="ftr" sz="quarter" idx="11"/>
          </p:nvPr>
        </p:nvSpPr>
        <p:spPr>
          <a:xfrm>
            <a:off x="4795296" y="6176387"/>
            <a:ext cx="4470400" cy="457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srgbClr val="FFFFFF"/>
                </a:solidFill>
                <a:effectLst/>
                <a:uLnTx/>
                <a:uFillTx/>
                <a:latin typeface="Arial" panose="020B0604020202020204"/>
                <a:ea typeface="+mn-ea"/>
                <a:cs typeface="+mn-cs"/>
              </a:rPr>
              <a:t>Newburry 2026 DBA International Business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6591AD-5B95-3127-0190-A43129E0ADD1}"/>
              </a:ext>
            </a:extLst>
          </p:cNvPr>
          <p:cNvSpPr>
            <a:spLocks noGrp="1"/>
          </p:cNvSpPr>
          <p:nvPr>
            <p:ph type="title" idx="4294967295"/>
          </p:nvPr>
        </p:nvSpPr>
        <p:spPr>
          <a:xfrm>
            <a:off x="1712439" y="-123002"/>
            <a:ext cx="9565640" cy="1325563"/>
          </a:xfrm>
        </p:spPr>
        <p:txBody>
          <a:bodyPr/>
          <a:lstStyle/>
          <a:p>
            <a:r>
              <a:rPr lang="en-US" b="1" dirty="0"/>
              <a:t>Thales Structure</a:t>
            </a:r>
          </a:p>
        </p:txBody>
      </p:sp>
      <p:grpSp>
        <p:nvGrpSpPr>
          <p:cNvPr id="4" name="Group 3" descr="Thales Structure">
            <a:extLst>
              <a:ext uri="{FF2B5EF4-FFF2-40B4-BE49-F238E27FC236}">
                <a16:creationId xmlns:a16="http://schemas.microsoft.com/office/drawing/2014/main" id="{4ED0390C-A9F1-C7B1-4749-D820CF7C8E98}"/>
              </a:ext>
            </a:extLst>
          </p:cNvPr>
          <p:cNvGrpSpPr/>
          <p:nvPr/>
        </p:nvGrpSpPr>
        <p:grpSpPr>
          <a:xfrm>
            <a:off x="2751932" y="705356"/>
            <a:ext cx="8202612" cy="4227512"/>
            <a:chOff x="2751932" y="705356"/>
            <a:chExt cx="8202612" cy="4227512"/>
          </a:xfrm>
        </p:grpSpPr>
        <p:pic>
          <p:nvPicPr>
            <p:cNvPr id="74756" name="Picture 2" descr="simu"/>
            <p:cNvPicPr>
              <a:picLocks noChangeAspect="1" noChangeArrowheads="1"/>
            </p:cNvPicPr>
            <p:nvPr/>
          </p:nvPicPr>
          <p:blipFill>
            <a:blip r:embed="rId2" cstate="print">
              <a:extLst>
                <a:ext uri="{28A0092B-C50C-407E-A947-70E740481C1C}">
                  <a14:useLocalDpi xmlns:a14="http://schemas.microsoft.com/office/drawing/2010/main" val="0"/>
                </a:ext>
              </a:extLst>
            </a:blip>
            <a:srcRect t="6592"/>
            <a:stretch>
              <a:fillRect/>
            </a:stretch>
          </p:blipFill>
          <p:spPr bwMode="auto">
            <a:xfrm>
              <a:off x="9449593" y="3423156"/>
              <a:ext cx="1062038" cy="1327150"/>
            </a:xfrm>
            <a:prstGeom prst="rect">
              <a:avLst/>
            </a:prstGeom>
            <a:noFill/>
            <a:ln w="19050">
              <a:solidFill>
                <a:srgbClr val="33CC33"/>
              </a:solidFill>
              <a:miter lim="800000"/>
              <a:headEnd/>
              <a:tailEnd/>
            </a:ln>
            <a:extLst>
              <a:ext uri="{909E8E84-426E-40DD-AFC4-6F175D3DCCD1}">
                <a14:hiddenFill xmlns:a14="http://schemas.microsoft.com/office/drawing/2010/main">
                  <a:solidFill>
                    <a:srgbClr val="FFFFFF"/>
                  </a:solidFill>
                </a14:hiddenFill>
              </a:ext>
            </a:extLst>
          </p:spPr>
        </p:pic>
        <p:sp>
          <p:nvSpPr>
            <p:cNvPr id="74758" name="Line 4">
              <a:extLst>
                <a:ext uri="{C183D7F6-B498-43B3-948B-1728B52AA6E4}">
                  <adec:decorative xmlns:adec="http://schemas.microsoft.com/office/drawing/2017/decorative" val="1"/>
                </a:ext>
              </a:extLst>
            </p:cNvPr>
            <p:cNvSpPr>
              <a:spLocks noChangeShapeType="1"/>
            </p:cNvSpPr>
            <p:nvPr/>
          </p:nvSpPr>
          <p:spPr bwMode="auto">
            <a:xfrm flipH="1">
              <a:off x="6288881" y="2696081"/>
              <a:ext cx="2112962"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4759" name="Line 5">
              <a:extLst>
                <a:ext uri="{C183D7F6-B498-43B3-948B-1728B52AA6E4}">
                  <adec:decorative xmlns:adec="http://schemas.microsoft.com/office/drawing/2017/decorative" val="1"/>
                </a:ext>
              </a:extLst>
            </p:cNvPr>
            <p:cNvSpPr>
              <a:spLocks noChangeShapeType="1"/>
            </p:cNvSpPr>
            <p:nvPr/>
          </p:nvSpPr>
          <p:spPr bwMode="auto">
            <a:xfrm>
              <a:off x="6288881" y="1249868"/>
              <a:ext cx="0" cy="194945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74760" name="Picture 6" descr="1485"/>
            <p:cNvPicPr>
              <a:picLocks noChangeAspect="1" noChangeArrowheads="1"/>
            </p:cNvPicPr>
            <p:nvPr/>
          </p:nvPicPr>
          <p:blipFill>
            <a:blip r:embed="rId3" cstate="print">
              <a:extLst>
                <a:ext uri="{28A0092B-C50C-407E-A947-70E740481C1C}">
                  <a14:useLocalDpi xmlns:a14="http://schemas.microsoft.com/office/drawing/2010/main" val="0"/>
                </a:ext>
              </a:extLst>
            </a:blip>
            <a:srcRect t="11530"/>
            <a:stretch>
              <a:fillRect/>
            </a:stretch>
          </p:blipFill>
          <p:spPr bwMode="auto">
            <a:xfrm>
              <a:off x="6585743" y="3423157"/>
              <a:ext cx="1138238" cy="1068387"/>
            </a:xfrm>
            <a:prstGeom prst="rect">
              <a:avLst/>
            </a:prstGeom>
            <a:noFill/>
            <a:ln w="19050">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pic>
          <p:nvPicPr>
            <p:cNvPr id="74761" name="Picture 7" descr="00001883"/>
            <p:cNvPicPr>
              <a:picLocks noChangeAspect="1" noChangeArrowheads="1"/>
            </p:cNvPicPr>
            <p:nvPr/>
          </p:nvPicPr>
          <p:blipFill>
            <a:blip r:embed="rId4" cstate="print">
              <a:extLst>
                <a:ext uri="{28A0092B-C50C-407E-A947-70E740481C1C}">
                  <a14:useLocalDpi xmlns:a14="http://schemas.microsoft.com/office/drawing/2010/main" val="0"/>
                </a:ext>
              </a:extLst>
            </a:blip>
            <a:srcRect l="24542" t="8217" r="6427" b="914"/>
            <a:stretch>
              <a:fillRect/>
            </a:stretch>
          </p:blipFill>
          <p:spPr bwMode="auto">
            <a:xfrm>
              <a:off x="3847306" y="3480307"/>
              <a:ext cx="1065212" cy="1068387"/>
            </a:xfrm>
            <a:prstGeom prst="rect">
              <a:avLst/>
            </a:prstGeom>
            <a:noFill/>
            <a:ln w="19050">
              <a:solidFill>
                <a:srgbClr val="3399FF"/>
              </a:solidFill>
              <a:miter lim="800000"/>
              <a:headEnd/>
              <a:tailEnd/>
            </a:ln>
            <a:extLst>
              <a:ext uri="{909E8E84-426E-40DD-AFC4-6F175D3DCCD1}">
                <a14:hiddenFill xmlns:a14="http://schemas.microsoft.com/office/drawing/2010/main">
                  <a:solidFill>
                    <a:srgbClr val="FFFFFF"/>
                  </a:solidFill>
                </a14:hiddenFill>
              </a:ext>
            </a:extLst>
          </p:spPr>
        </p:pic>
        <p:sp>
          <p:nvSpPr>
            <p:cNvPr id="309256" name="AutoShape 8">
              <a:extLst>
                <a:ext uri="{C183D7F6-B498-43B3-948B-1728B52AA6E4}">
                  <adec:decorative xmlns:adec="http://schemas.microsoft.com/office/drawing/2017/decorative" val="1"/>
                </a:ext>
              </a:extLst>
            </p:cNvPr>
            <p:cNvSpPr>
              <a:spLocks noChangeArrowheads="1"/>
            </p:cNvSpPr>
            <p:nvPr/>
          </p:nvSpPr>
          <p:spPr bwMode="auto">
            <a:xfrm>
              <a:off x="8038307" y="705356"/>
              <a:ext cx="515937" cy="558800"/>
            </a:xfrm>
            <a:prstGeom prst="flowChartDelay">
              <a:avLst/>
            </a:prstGeom>
            <a:gradFill rotWithShape="0">
              <a:gsLst>
                <a:gs pos="0">
                  <a:schemeClr val="bg1"/>
                </a:gs>
                <a:gs pos="100000">
                  <a:schemeClr val="bg1">
                    <a:gamma/>
                    <a:shade val="76078"/>
                    <a:invGamma/>
                  </a:schemeClr>
                </a:gs>
              </a:gsLst>
              <a:lin ang="5400000" scaled="1"/>
            </a:gradFill>
            <a:ln w="9525">
              <a:solidFill>
                <a:schemeClr val="tx1"/>
              </a:solid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09257" name="AutoShape 9">
              <a:extLst>
                <a:ext uri="{C183D7F6-B498-43B3-948B-1728B52AA6E4}">
                  <adec:decorative xmlns:adec="http://schemas.microsoft.com/office/drawing/2017/decorative" val="1"/>
                </a:ext>
              </a:extLst>
            </p:cNvPr>
            <p:cNvSpPr>
              <a:spLocks noChangeArrowheads="1"/>
            </p:cNvSpPr>
            <p:nvPr/>
          </p:nvSpPr>
          <p:spPr bwMode="auto">
            <a:xfrm flipH="1">
              <a:off x="5182393" y="705356"/>
              <a:ext cx="514350" cy="558800"/>
            </a:xfrm>
            <a:prstGeom prst="flowChartDelay">
              <a:avLst/>
            </a:prstGeom>
            <a:gradFill rotWithShape="0">
              <a:gsLst>
                <a:gs pos="0">
                  <a:schemeClr val="tx2"/>
                </a:gs>
                <a:gs pos="100000">
                  <a:schemeClr val="tx2">
                    <a:gamma/>
                    <a:shade val="66275"/>
                    <a:invGamma/>
                  </a:schemeClr>
                </a:gs>
              </a:gsLst>
              <a:lin ang="5400000" scaled="1"/>
            </a:gradFill>
            <a:ln w="9525">
              <a:solidFill>
                <a:schemeClr val="tx1"/>
              </a:solid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09258" name="Rectangle 10">
              <a:extLst>
                <a:ext uri="{C183D7F6-B498-43B3-948B-1728B52AA6E4}">
                  <adec:decorative xmlns:adec="http://schemas.microsoft.com/office/drawing/2017/decorative" val="1"/>
                </a:ext>
              </a:extLst>
            </p:cNvPr>
            <p:cNvSpPr>
              <a:spLocks noChangeArrowheads="1"/>
            </p:cNvSpPr>
            <p:nvPr/>
          </p:nvSpPr>
          <p:spPr bwMode="auto">
            <a:xfrm>
              <a:off x="5693568" y="705356"/>
              <a:ext cx="2344738" cy="558800"/>
            </a:xfrm>
            <a:prstGeom prst="rect">
              <a:avLst/>
            </a:prstGeom>
            <a:gradFill rotWithShape="0">
              <a:gsLst>
                <a:gs pos="0">
                  <a:schemeClr val="bg1"/>
                </a:gs>
                <a:gs pos="100000">
                  <a:schemeClr val="bg1">
                    <a:gamma/>
                    <a:shade val="76078"/>
                    <a:invGamma/>
                  </a:schemeClr>
                </a:gs>
              </a:gsLst>
              <a:lin ang="5400000" scaled="1"/>
            </a:gradFill>
            <a:ln w="9525">
              <a:solidFill>
                <a:schemeClr val="tx1"/>
              </a:solid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09259" name="Text Box 11"/>
            <p:cNvSpPr txBox="1">
              <a:spLocks noChangeArrowheads="1"/>
            </p:cNvSpPr>
            <p:nvPr/>
          </p:nvSpPr>
          <p:spPr bwMode="auto">
            <a:xfrm>
              <a:off x="5684044" y="725993"/>
              <a:ext cx="2328863" cy="523220"/>
            </a:xfrm>
            <a:prstGeom prst="rect">
              <a:avLst/>
            </a:prstGeom>
            <a:noFill/>
            <a:ln w="28575">
              <a:noFill/>
              <a:miter lim="800000"/>
              <a:headEnd/>
              <a:tailEnd/>
            </a:ln>
            <a:effectLst/>
          </p:spPr>
          <p:txBody>
            <a:bodyPr>
              <a:spAutoFit/>
            </a:bodyPr>
            <a:lstStyle/>
            <a:p>
              <a:pPr marL="0" marR="0" lvl="0" indent="0" algn="l" defTabSz="762000" rtl="0" eaLnBrk="1" fontAlgn="auto" latinLnBrk="0" hangingPunct="1">
                <a:lnSpc>
                  <a:spcPct val="80000"/>
                </a:lnSpc>
                <a:spcBef>
                  <a:spcPct val="40000"/>
                </a:spcBef>
                <a:spcAft>
                  <a:spcPts val="0"/>
                </a:spcAft>
                <a:buClrTx/>
                <a:buSzTx/>
                <a:buFontTx/>
                <a:buNone/>
                <a:tabLst/>
                <a:defRPr/>
              </a:pPr>
              <a:r>
                <a:rPr kumimoji="0" lang="fr-FR" altLang="fr-FR" sz="1400" b="1" i="0"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a:ea typeface="+mn-ea"/>
                  <a:cs typeface="+mn-cs"/>
                </a:rPr>
                <a:t>THALES</a:t>
              </a:r>
            </a:p>
            <a:p>
              <a:pPr marL="0" marR="0" lvl="0" indent="0" algn="r" defTabSz="762000" rtl="0" eaLnBrk="1" fontAlgn="auto" latinLnBrk="0" hangingPunct="1">
                <a:lnSpc>
                  <a:spcPct val="80000"/>
                </a:lnSpc>
                <a:spcBef>
                  <a:spcPct val="40000"/>
                </a:spcBef>
                <a:spcAft>
                  <a:spcPts val="0"/>
                </a:spcAft>
                <a:buClrTx/>
                <a:buSzTx/>
                <a:buFontTx/>
                <a:buNone/>
                <a:tabLst/>
                <a:defRPr/>
              </a:pPr>
              <a:r>
                <a:rPr kumimoji="0" lang="fr-FR" altLang="fr-FR" sz="1400" b="0" i="1"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a:ea typeface="+mn-ea"/>
                  <a:cs typeface="+mn-cs"/>
                </a:rPr>
                <a:t>Denis RANQUE</a:t>
              </a:r>
              <a:endParaRPr kumimoji="0" lang="fr-FR" altLang="fr-FR" sz="1400" b="0" i="1" u="none" strike="noStrike" kern="1200" cap="none" spc="0" normalizeH="0" baseline="0" noProof="0">
                <a:ln>
                  <a:noFill/>
                </a:ln>
                <a:solidFill>
                  <a:srgbClr val="071F3E"/>
                </a:solidFill>
                <a:effectLst>
                  <a:outerShdw blurRad="38100" dist="38100" dir="2700000" algn="tl">
                    <a:srgbClr val="C0C0C0"/>
                  </a:outerShdw>
                </a:effectLst>
                <a:uLnTx/>
                <a:uFillTx/>
                <a:latin typeface="Arial" panose="020B0604020202020204"/>
                <a:ea typeface="+mn-ea"/>
                <a:cs typeface="+mn-cs"/>
              </a:endParaRPr>
            </a:p>
          </p:txBody>
        </p:sp>
        <p:sp>
          <p:nvSpPr>
            <p:cNvPr id="309260" name="AutoShape 12">
              <a:extLst>
                <a:ext uri="{C183D7F6-B498-43B3-948B-1728B52AA6E4}">
                  <adec:decorative xmlns:adec="http://schemas.microsoft.com/office/drawing/2017/decorative" val="1"/>
                </a:ext>
              </a:extLst>
            </p:cNvPr>
            <p:cNvSpPr>
              <a:spLocks noChangeArrowheads="1"/>
            </p:cNvSpPr>
            <p:nvPr/>
          </p:nvSpPr>
          <p:spPr bwMode="auto">
            <a:xfrm>
              <a:off x="8038307" y="1570543"/>
              <a:ext cx="515937" cy="558800"/>
            </a:xfrm>
            <a:prstGeom prst="flowChartDelay">
              <a:avLst/>
            </a:prstGeom>
            <a:gradFill rotWithShape="0">
              <a:gsLst>
                <a:gs pos="0">
                  <a:schemeClr val="bg1"/>
                </a:gs>
                <a:gs pos="100000">
                  <a:schemeClr val="bg1">
                    <a:gamma/>
                    <a:shade val="76078"/>
                    <a:invGamma/>
                  </a:schemeClr>
                </a:gs>
              </a:gsLst>
              <a:lin ang="5400000" scaled="1"/>
            </a:gradFill>
            <a:ln w="9525">
              <a:solidFill>
                <a:schemeClr val="tx1"/>
              </a:solid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4767" name="AutoShape 13">
              <a:extLst>
                <a:ext uri="{C183D7F6-B498-43B3-948B-1728B52AA6E4}">
                  <adec:decorative xmlns:adec="http://schemas.microsoft.com/office/drawing/2017/decorative" val="1"/>
                </a:ext>
              </a:extLst>
            </p:cNvPr>
            <p:cNvSpPr>
              <a:spLocks noChangeArrowheads="1"/>
            </p:cNvSpPr>
            <p:nvPr/>
          </p:nvSpPr>
          <p:spPr bwMode="auto">
            <a:xfrm flipH="1">
              <a:off x="5182393" y="1570543"/>
              <a:ext cx="514350" cy="558800"/>
            </a:xfrm>
            <a:prstGeom prst="flowChartDelay">
              <a:avLst/>
            </a:prstGeom>
            <a:gradFill rotWithShape="0">
              <a:gsLst>
                <a:gs pos="0">
                  <a:srgbClr val="D18247"/>
                </a:gs>
                <a:gs pos="100000">
                  <a:srgbClr val="8B562F"/>
                </a:gs>
              </a:gsLst>
              <a:lin ang="5400000" scaled="1"/>
            </a:gradFill>
            <a:ln w="9525">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4400" b="0" i="0" u="none" strike="noStrike" kern="1200" cap="none" spc="0" normalizeH="0" baseline="0" noProof="0">
                <a:ln>
                  <a:noFill/>
                </a:ln>
                <a:solidFill>
                  <a:srgbClr val="C4960B"/>
                </a:solidFill>
                <a:effectLst/>
                <a:uLnTx/>
                <a:uFillTx/>
                <a:latin typeface="Arial" panose="020B0604020202020204" pitchFamily="34" charset="0"/>
                <a:ea typeface="+mn-ea"/>
                <a:cs typeface="Arial" panose="020B0604020202020204" pitchFamily="34" charset="0"/>
              </a:endParaRPr>
            </a:p>
          </p:txBody>
        </p:sp>
        <p:sp>
          <p:nvSpPr>
            <p:cNvPr id="309262" name="Rectangle 14">
              <a:extLst>
                <a:ext uri="{C183D7F6-B498-43B3-948B-1728B52AA6E4}">
                  <adec:decorative xmlns:adec="http://schemas.microsoft.com/office/drawing/2017/decorative" val="1"/>
                </a:ext>
              </a:extLst>
            </p:cNvPr>
            <p:cNvSpPr>
              <a:spLocks noChangeArrowheads="1"/>
            </p:cNvSpPr>
            <p:nvPr/>
          </p:nvSpPr>
          <p:spPr bwMode="auto">
            <a:xfrm>
              <a:off x="5693568" y="1570543"/>
              <a:ext cx="2344738" cy="558800"/>
            </a:xfrm>
            <a:prstGeom prst="rect">
              <a:avLst/>
            </a:prstGeom>
            <a:gradFill rotWithShape="0">
              <a:gsLst>
                <a:gs pos="0">
                  <a:schemeClr val="bg1"/>
                </a:gs>
                <a:gs pos="100000">
                  <a:schemeClr val="bg1">
                    <a:gamma/>
                    <a:shade val="76078"/>
                    <a:invGamma/>
                  </a:schemeClr>
                </a:gs>
              </a:gsLst>
              <a:lin ang="5400000" scaled="1"/>
            </a:gradFill>
            <a:ln w="9525">
              <a:solidFill>
                <a:schemeClr val="tx1"/>
              </a:solid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09263" name="Text Box 15"/>
            <p:cNvSpPr txBox="1">
              <a:spLocks noChangeArrowheads="1"/>
            </p:cNvSpPr>
            <p:nvPr/>
          </p:nvSpPr>
          <p:spPr bwMode="auto">
            <a:xfrm>
              <a:off x="5696744" y="1591181"/>
              <a:ext cx="2328863" cy="523220"/>
            </a:xfrm>
            <a:prstGeom prst="rect">
              <a:avLst/>
            </a:prstGeom>
            <a:noFill/>
            <a:ln w="28575">
              <a:noFill/>
              <a:miter lim="800000"/>
              <a:headEnd/>
              <a:tailEnd/>
            </a:ln>
            <a:effectLst/>
          </p:spPr>
          <p:txBody>
            <a:bodyPr>
              <a:spAutoFit/>
            </a:bodyPr>
            <a:lstStyle/>
            <a:p>
              <a:pPr marL="0" marR="0" lvl="0" indent="0" algn="l" defTabSz="762000" rtl="0" eaLnBrk="1" fontAlgn="auto" latinLnBrk="0" hangingPunct="1">
                <a:lnSpc>
                  <a:spcPct val="80000"/>
                </a:lnSpc>
                <a:spcBef>
                  <a:spcPct val="40000"/>
                </a:spcBef>
                <a:spcAft>
                  <a:spcPts val="0"/>
                </a:spcAft>
                <a:buClrTx/>
                <a:buSzTx/>
                <a:buFontTx/>
                <a:buNone/>
                <a:tabLst/>
                <a:defRPr/>
              </a:pPr>
              <a:r>
                <a:rPr kumimoji="0" lang="fr-FR" altLang="fr-FR" sz="1400" b="1" i="0"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a:ea typeface="+mn-ea"/>
                  <a:cs typeface="+mn-cs"/>
                </a:rPr>
                <a:t>AEROSPACE</a:t>
              </a:r>
            </a:p>
            <a:p>
              <a:pPr marL="0" marR="0" lvl="0" indent="0" algn="r" defTabSz="762000" rtl="0" eaLnBrk="1" fontAlgn="auto" latinLnBrk="0" hangingPunct="1">
                <a:lnSpc>
                  <a:spcPct val="80000"/>
                </a:lnSpc>
                <a:spcBef>
                  <a:spcPct val="40000"/>
                </a:spcBef>
                <a:spcAft>
                  <a:spcPts val="0"/>
                </a:spcAft>
                <a:buClrTx/>
                <a:buSzTx/>
                <a:buFontTx/>
                <a:buNone/>
                <a:tabLst/>
                <a:defRPr/>
              </a:pPr>
              <a:r>
                <a:rPr kumimoji="0" lang="fr-FR" altLang="fr-FR" sz="1400" b="0" i="1"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a:ea typeface="+mn-ea"/>
                  <a:cs typeface="+mn-cs"/>
                </a:rPr>
                <a:t>François LUREAU</a:t>
              </a:r>
            </a:p>
          </p:txBody>
        </p:sp>
        <p:sp>
          <p:nvSpPr>
            <p:cNvPr id="309264" name="AutoShape 16">
              <a:extLst>
                <a:ext uri="{C183D7F6-B498-43B3-948B-1728B52AA6E4}">
                  <adec:decorative xmlns:adec="http://schemas.microsoft.com/office/drawing/2017/decorative" val="1"/>
                </a:ext>
              </a:extLst>
            </p:cNvPr>
            <p:cNvSpPr>
              <a:spLocks noChangeArrowheads="1"/>
            </p:cNvSpPr>
            <p:nvPr/>
          </p:nvSpPr>
          <p:spPr bwMode="auto">
            <a:xfrm>
              <a:off x="7647782" y="4374068"/>
              <a:ext cx="515937" cy="558800"/>
            </a:xfrm>
            <a:prstGeom prst="flowChartDelay">
              <a:avLst/>
            </a:prstGeom>
            <a:gradFill rotWithShape="0">
              <a:gsLst>
                <a:gs pos="0">
                  <a:schemeClr val="bg1"/>
                </a:gs>
                <a:gs pos="100000">
                  <a:schemeClr val="bg1">
                    <a:gamma/>
                    <a:shade val="76078"/>
                    <a:invGamma/>
                  </a:schemeClr>
                </a:gs>
              </a:gsLst>
              <a:lin ang="5400000" scaled="1"/>
            </a:gradFill>
            <a:ln w="9525">
              <a:solidFill>
                <a:schemeClr val="tx1"/>
              </a:solid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09265" name="AutoShape 17">
              <a:extLst>
                <a:ext uri="{C183D7F6-B498-43B3-948B-1728B52AA6E4}">
                  <adec:decorative xmlns:adec="http://schemas.microsoft.com/office/drawing/2017/decorative" val="1"/>
                </a:ext>
              </a:extLst>
            </p:cNvPr>
            <p:cNvSpPr>
              <a:spLocks noChangeArrowheads="1"/>
            </p:cNvSpPr>
            <p:nvPr/>
          </p:nvSpPr>
          <p:spPr bwMode="auto">
            <a:xfrm flipH="1">
              <a:off x="5571332" y="4374068"/>
              <a:ext cx="515937" cy="558800"/>
            </a:xfrm>
            <a:prstGeom prst="flowChartDelay">
              <a:avLst/>
            </a:prstGeom>
            <a:gradFill rotWithShape="0">
              <a:gsLst>
                <a:gs pos="0">
                  <a:schemeClr val="accent1"/>
                </a:gs>
                <a:gs pos="100000">
                  <a:schemeClr val="accent1">
                    <a:gamma/>
                    <a:shade val="66275"/>
                    <a:invGamma/>
                  </a:schemeClr>
                </a:gs>
              </a:gsLst>
              <a:lin ang="5400000" scaled="1"/>
            </a:gradFill>
            <a:ln w="9525">
              <a:solidFill>
                <a:schemeClr val="tx1"/>
              </a:solid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09266" name="Rectangle 18">
              <a:extLst>
                <a:ext uri="{C183D7F6-B498-43B3-948B-1728B52AA6E4}">
                  <adec:decorative xmlns:adec="http://schemas.microsoft.com/office/drawing/2017/decorative" val="1"/>
                </a:ext>
              </a:extLst>
            </p:cNvPr>
            <p:cNvSpPr>
              <a:spLocks noChangeArrowheads="1"/>
            </p:cNvSpPr>
            <p:nvPr/>
          </p:nvSpPr>
          <p:spPr bwMode="auto">
            <a:xfrm>
              <a:off x="5999956" y="4374068"/>
              <a:ext cx="1731962" cy="558800"/>
            </a:xfrm>
            <a:prstGeom prst="rect">
              <a:avLst/>
            </a:prstGeom>
            <a:gradFill rotWithShape="0">
              <a:gsLst>
                <a:gs pos="0">
                  <a:schemeClr val="bg1"/>
                </a:gs>
                <a:gs pos="100000">
                  <a:schemeClr val="bg1">
                    <a:gamma/>
                    <a:shade val="76078"/>
                    <a:invGamma/>
                  </a:schemeClr>
                </a:gs>
              </a:gsLst>
              <a:lin ang="5400000" scaled="1"/>
            </a:gradFill>
            <a:ln w="9525">
              <a:solidFill>
                <a:schemeClr val="tx1"/>
              </a:solid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09267" name="Text Box 19"/>
            <p:cNvSpPr txBox="1">
              <a:spLocks noChangeArrowheads="1"/>
            </p:cNvSpPr>
            <p:nvPr/>
          </p:nvSpPr>
          <p:spPr bwMode="auto">
            <a:xfrm>
              <a:off x="6001544" y="4394707"/>
              <a:ext cx="1719263" cy="535531"/>
            </a:xfrm>
            <a:prstGeom prst="rect">
              <a:avLst/>
            </a:prstGeom>
            <a:noFill/>
            <a:ln w="28575">
              <a:noFill/>
              <a:miter lim="800000"/>
              <a:headEnd/>
              <a:tailEnd/>
            </a:ln>
            <a:effectLst/>
          </p:spPr>
          <p:txBody>
            <a:bodyPr>
              <a:spAutoFit/>
            </a:bodyPr>
            <a:lstStyle/>
            <a:p>
              <a:pPr marL="0" marR="0" lvl="0" indent="0" algn="l" defTabSz="762000" rtl="0" eaLnBrk="1" fontAlgn="auto" latinLnBrk="0" hangingPunct="1">
                <a:lnSpc>
                  <a:spcPct val="80000"/>
                </a:lnSpc>
                <a:spcBef>
                  <a:spcPts val="0"/>
                </a:spcBef>
                <a:spcAft>
                  <a:spcPts val="0"/>
                </a:spcAft>
                <a:buClrTx/>
                <a:buSzTx/>
                <a:buFontTx/>
                <a:buNone/>
                <a:tabLst/>
                <a:defRPr/>
              </a:pPr>
              <a:r>
                <a:rPr kumimoji="0" lang="fr-FR" altLang="fr-FR" sz="1200" b="1" i="0"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a:ea typeface="+mn-ea"/>
                  <a:cs typeface="+mn-cs"/>
                </a:rPr>
                <a:t>AVIONICS	</a:t>
              </a:r>
            </a:p>
            <a:p>
              <a:pPr marL="0" marR="0" lvl="0" indent="0" algn="l" defTabSz="762000" rtl="0" eaLnBrk="1" fontAlgn="auto" latinLnBrk="0" hangingPunct="1">
                <a:lnSpc>
                  <a:spcPct val="80000"/>
                </a:lnSpc>
                <a:spcBef>
                  <a:spcPts val="0"/>
                </a:spcBef>
                <a:spcAft>
                  <a:spcPts val="0"/>
                </a:spcAft>
                <a:buClrTx/>
                <a:buSzTx/>
                <a:buFontTx/>
                <a:buNone/>
                <a:tabLst/>
                <a:defRPr/>
              </a:pPr>
              <a:endParaRPr kumimoji="0" lang="fr-FR" altLang="fr-FR" sz="1200" b="1" i="0"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a:ea typeface="+mn-ea"/>
                <a:cs typeface="+mn-cs"/>
              </a:endParaRPr>
            </a:p>
            <a:p>
              <a:pPr marL="0" marR="0" lvl="0" indent="0" algn="r" defTabSz="762000" rtl="0" eaLnBrk="1" fontAlgn="auto" latinLnBrk="0" hangingPunct="1">
                <a:lnSpc>
                  <a:spcPct val="80000"/>
                </a:lnSpc>
                <a:spcBef>
                  <a:spcPts val="0"/>
                </a:spcBef>
                <a:spcAft>
                  <a:spcPts val="0"/>
                </a:spcAft>
                <a:buClrTx/>
                <a:buSzTx/>
                <a:buFontTx/>
                <a:buNone/>
                <a:tabLst/>
                <a:defRPr/>
              </a:pPr>
              <a:r>
                <a:rPr kumimoji="0" lang="fr-FR" altLang="fr-FR" sz="1200" b="0" i="1"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a:ea typeface="+mn-ea"/>
                  <a:cs typeface="+mn-cs"/>
                </a:rPr>
                <a:t>François LUREAU</a:t>
              </a:r>
            </a:p>
          </p:txBody>
        </p:sp>
        <p:sp>
          <p:nvSpPr>
            <p:cNvPr id="309268" name="AutoShape 20">
              <a:extLst>
                <a:ext uri="{C183D7F6-B498-43B3-948B-1728B52AA6E4}">
                  <adec:decorative xmlns:adec="http://schemas.microsoft.com/office/drawing/2017/decorative" val="1"/>
                </a:ext>
              </a:extLst>
            </p:cNvPr>
            <p:cNvSpPr>
              <a:spLocks noChangeArrowheads="1"/>
            </p:cNvSpPr>
            <p:nvPr/>
          </p:nvSpPr>
          <p:spPr bwMode="auto">
            <a:xfrm>
              <a:off x="10438607" y="4374068"/>
              <a:ext cx="515937" cy="558800"/>
            </a:xfrm>
            <a:prstGeom prst="flowChartDelay">
              <a:avLst/>
            </a:prstGeom>
            <a:gradFill rotWithShape="0">
              <a:gsLst>
                <a:gs pos="0">
                  <a:schemeClr val="bg1"/>
                </a:gs>
                <a:gs pos="100000">
                  <a:schemeClr val="bg1">
                    <a:gamma/>
                    <a:shade val="76078"/>
                    <a:invGamma/>
                  </a:schemeClr>
                </a:gs>
              </a:gsLst>
              <a:lin ang="5400000" scaled="1"/>
            </a:gradFill>
            <a:ln w="9525">
              <a:solidFill>
                <a:schemeClr val="tx1"/>
              </a:solid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4775" name="AutoShape 21">
              <a:extLst>
                <a:ext uri="{C183D7F6-B498-43B3-948B-1728B52AA6E4}">
                  <adec:decorative xmlns:adec="http://schemas.microsoft.com/office/drawing/2017/decorative" val="1"/>
                </a:ext>
              </a:extLst>
            </p:cNvPr>
            <p:cNvSpPr>
              <a:spLocks noChangeArrowheads="1"/>
            </p:cNvSpPr>
            <p:nvPr/>
          </p:nvSpPr>
          <p:spPr bwMode="auto">
            <a:xfrm flipH="1">
              <a:off x="8362157" y="4374068"/>
              <a:ext cx="515937" cy="558800"/>
            </a:xfrm>
            <a:prstGeom prst="flowChartDelay">
              <a:avLst/>
            </a:prstGeom>
            <a:gradFill rotWithShape="0">
              <a:gsLst>
                <a:gs pos="0">
                  <a:srgbClr val="33CC33"/>
                </a:gs>
                <a:gs pos="100000">
                  <a:srgbClr val="228722"/>
                </a:gs>
              </a:gsLst>
              <a:lin ang="5400000" scaled="1"/>
            </a:gradFill>
            <a:ln w="9525">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4400" b="0" i="0" u="none" strike="noStrike" kern="1200" cap="none" spc="0" normalizeH="0" baseline="0" noProof="0">
                <a:ln>
                  <a:noFill/>
                </a:ln>
                <a:solidFill>
                  <a:srgbClr val="C4960B"/>
                </a:solidFill>
                <a:effectLst/>
                <a:uLnTx/>
                <a:uFillTx/>
                <a:latin typeface="Arial" panose="020B0604020202020204" pitchFamily="34" charset="0"/>
                <a:ea typeface="+mn-ea"/>
                <a:cs typeface="Arial" panose="020B0604020202020204" pitchFamily="34" charset="0"/>
              </a:endParaRPr>
            </a:p>
          </p:txBody>
        </p:sp>
        <p:sp>
          <p:nvSpPr>
            <p:cNvPr id="309270" name="Rectangle 22">
              <a:extLst>
                <a:ext uri="{C183D7F6-B498-43B3-948B-1728B52AA6E4}">
                  <adec:decorative xmlns:adec="http://schemas.microsoft.com/office/drawing/2017/decorative" val="1"/>
                </a:ext>
              </a:extLst>
            </p:cNvPr>
            <p:cNvSpPr>
              <a:spLocks noChangeArrowheads="1"/>
            </p:cNvSpPr>
            <p:nvPr/>
          </p:nvSpPr>
          <p:spPr bwMode="auto">
            <a:xfrm>
              <a:off x="8789194" y="4374068"/>
              <a:ext cx="1731963" cy="558800"/>
            </a:xfrm>
            <a:prstGeom prst="rect">
              <a:avLst/>
            </a:prstGeom>
            <a:gradFill rotWithShape="0">
              <a:gsLst>
                <a:gs pos="0">
                  <a:schemeClr val="bg1"/>
                </a:gs>
                <a:gs pos="100000">
                  <a:schemeClr val="bg1">
                    <a:gamma/>
                    <a:shade val="76078"/>
                    <a:invGamma/>
                  </a:schemeClr>
                </a:gs>
              </a:gsLst>
              <a:lin ang="5400000" scaled="1"/>
            </a:gradFill>
            <a:ln w="9525">
              <a:solidFill>
                <a:schemeClr val="tx1"/>
              </a:solid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09271" name="Text Box 23"/>
            <p:cNvSpPr txBox="1">
              <a:spLocks noChangeArrowheads="1"/>
            </p:cNvSpPr>
            <p:nvPr/>
          </p:nvSpPr>
          <p:spPr bwMode="auto">
            <a:xfrm>
              <a:off x="8790781" y="4394707"/>
              <a:ext cx="1720850" cy="535531"/>
            </a:xfrm>
            <a:prstGeom prst="rect">
              <a:avLst/>
            </a:prstGeom>
            <a:noFill/>
            <a:ln w="28575">
              <a:noFill/>
              <a:miter lim="800000"/>
              <a:headEnd/>
              <a:tailEnd/>
            </a:ln>
            <a:effectLst/>
          </p:spPr>
          <p:txBody>
            <a:bodyPr>
              <a:spAutoFit/>
            </a:bodyPr>
            <a:lstStyle/>
            <a:p>
              <a:pPr marL="0" marR="0" lvl="0" indent="0" algn="l" defTabSz="762000" rtl="0" eaLnBrk="1" fontAlgn="auto" latinLnBrk="0" hangingPunct="1">
                <a:lnSpc>
                  <a:spcPct val="80000"/>
                </a:lnSpc>
                <a:spcBef>
                  <a:spcPts val="0"/>
                </a:spcBef>
                <a:spcAft>
                  <a:spcPts val="0"/>
                </a:spcAft>
                <a:buClrTx/>
                <a:buSzTx/>
                <a:buFontTx/>
                <a:buNone/>
                <a:tabLst/>
                <a:defRPr/>
              </a:pPr>
              <a:r>
                <a:rPr kumimoji="0" lang="fr-FR" altLang="fr-FR" sz="1200" b="1" i="0"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a:ea typeface="+mn-ea"/>
                  <a:cs typeface="+mn-cs"/>
                </a:rPr>
                <a:t>TRAINING AND SIMULATION</a:t>
              </a:r>
            </a:p>
            <a:p>
              <a:pPr marL="0" marR="0" lvl="0" indent="0" algn="r" defTabSz="762000" rtl="0" eaLnBrk="1" fontAlgn="auto" latinLnBrk="0" hangingPunct="1">
                <a:lnSpc>
                  <a:spcPct val="80000"/>
                </a:lnSpc>
                <a:spcBef>
                  <a:spcPts val="0"/>
                </a:spcBef>
                <a:spcAft>
                  <a:spcPts val="0"/>
                </a:spcAft>
                <a:buClrTx/>
                <a:buSzTx/>
                <a:buFontTx/>
                <a:buNone/>
                <a:tabLst/>
                <a:defRPr/>
              </a:pPr>
              <a:r>
                <a:rPr kumimoji="0" lang="fr-FR" altLang="fr-FR" sz="1200" b="0" i="1"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a:ea typeface="+mn-ea"/>
                  <a:cs typeface="+mn-cs"/>
                </a:rPr>
                <a:t>Stanislas GUERIN</a:t>
              </a:r>
            </a:p>
          </p:txBody>
        </p:sp>
        <p:sp>
          <p:nvSpPr>
            <p:cNvPr id="309272" name="AutoShape 24">
              <a:extLst>
                <a:ext uri="{C183D7F6-B498-43B3-948B-1728B52AA6E4}">
                  <adec:decorative xmlns:adec="http://schemas.microsoft.com/office/drawing/2017/decorative" val="1"/>
                </a:ext>
              </a:extLst>
            </p:cNvPr>
            <p:cNvSpPr>
              <a:spLocks noChangeArrowheads="1"/>
            </p:cNvSpPr>
            <p:nvPr/>
          </p:nvSpPr>
          <p:spPr bwMode="auto">
            <a:xfrm>
              <a:off x="4828382" y="4374068"/>
              <a:ext cx="515937" cy="558800"/>
            </a:xfrm>
            <a:prstGeom prst="flowChartDelay">
              <a:avLst/>
            </a:prstGeom>
            <a:gradFill rotWithShape="0">
              <a:gsLst>
                <a:gs pos="0">
                  <a:schemeClr val="bg1"/>
                </a:gs>
                <a:gs pos="100000">
                  <a:schemeClr val="bg1">
                    <a:gamma/>
                    <a:shade val="76078"/>
                    <a:invGamma/>
                  </a:schemeClr>
                </a:gs>
              </a:gsLst>
              <a:lin ang="5400000" scaled="1"/>
            </a:gradFill>
            <a:ln w="9525">
              <a:solidFill>
                <a:schemeClr val="tx1"/>
              </a:solid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4779" name="AutoShape 25">
              <a:extLst>
                <a:ext uri="{C183D7F6-B498-43B3-948B-1728B52AA6E4}">
                  <adec:decorative xmlns:adec="http://schemas.microsoft.com/office/drawing/2017/decorative" val="1"/>
                </a:ext>
              </a:extLst>
            </p:cNvPr>
            <p:cNvSpPr>
              <a:spLocks noChangeArrowheads="1"/>
            </p:cNvSpPr>
            <p:nvPr/>
          </p:nvSpPr>
          <p:spPr bwMode="auto">
            <a:xfrm flipH="1">
              <a:off x="2751932" y="4374068"/>
              <a:ext cx="515937" cy="558800"/>
            </a:xfrm>
            <a:prstGeom prst="flowChartDelay">
              <a:avLst/>
            </a:prstGeom>
            <a:gradFill rotWithShape="0">
              <a:gsLst>
                <a:gs pos="0">
                  <a:srgbClr val="3399FF"/>
                </a:gs>
                <a:gs pos="100000">
                  <a:srgbClr val="2265A9"/>
                </a:gs>
              </a:gsLst>
              <a:lin ang="5400000" scaled="1"/>
            </a:gradFill>
            <a:ln w="9525">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4400" b="0" i="0" u="none" strike="noStrike" kern="1200" cap="none" spc="0" normalizeH="0" baseline="0" noProof="0">
                <a:ln>
                  <a:noFill/>
                </a:ln>
                <a:solidFill>
                  <a:srgbClr val="C4960B"/>
                </a:solidFill>
                <a:effectLst/>
                <a:uLnTx/>
                <a:uFillTx/>
                <a:latin typeface="Arial" panose="020B0604020202020204" pitchFamily="34" charset="0"/>
                <a:ea typeface="+mn-ea"/>
                <a:cs typeface="Arial" panose="020B0604020202020204" pitchFamily="34" charset="0"/>
              </a:endParaRPr>
            </a:p>
          </p:txBody>
        </p:sp>
        <p:sp>
          <p:nvSpPr>
            <p:cNvPr id="309274" name="Rectangle 26">
              <a:extLst>
                <a:ext uri="{C183D7F6-B498-43B3-948B-1728B52AA6E4}">
                  <adec:decorative xmlns:adec="http://schemas.microsoft.com/office/drawing/2017/decorative" val="1"/>
                </a:ext>
              </a:extLst>
            </p:cNvPr>
            <p:cNvSpPr>
              <a:spLocks noChangeArrowheads="1"/>
            </p:cNvSpPr>
            <p:nvPr/>
          </p:nvSpPr>
          <p:spPr bwMode="auto">
            <a:xfrm>
              <a:off x="3180556" y="4374068"/>
              <a:ext cx="1731962" cy="558800"/>
            </a:xfrm>
            <a:prstGeom prst="rect">
              <a:avLst/>
            </a:prstGeom>
            <a:gradFill rotWithShape="0">
              <a:gsLst>
                <a:gs pos="0">
                  <a:schemeClr val="bg1"/>
                </a:gs>
                <a:gs pos="100000">
                  <a:schemeClr val="bg1">
                    <a:gamma/>
                    <a:shade val="76078"/>
                    <a:invGamma/>
                  </a:schemeClr>
                </a:gs>
              </a:gsLst>
              <a:lin ang="5400000" scaled="1"/>
            </a:gradFill>
            <a:ln w="9525">
              <a:solidFill>
                <a:schemeClr val="tx1"/>
              </a:solid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09275" name="Text Box 27"/>
            <p:cNvSpPr txBox="1">
              <a:spLocks noChangeArrowheads="1"/>
            </p:cNvSpPr>
            <p:nvPr/>
          </p:nvSpPr>
          <p:spPr bwMode="auto">
            <a:xfrm>
              <a:off x="3182144" y="4394707"/>
              <a:ext cx="1719263" cy="535531"/>
            </a:xfrm>
            <a:prstGeom prst="rect">
              <a:avLst/>
            </a:prstGeom>
            <a:noFill/>
            <a:ln w="28575">
              <a:noFill/>
              <a:miter lim="800000"/>
              <a:headEnd/>
              <a:tailEnd/>
            </a:ln>
            <a:effectLst/>
          </p:spPr>
          <p:txBody>
            <a:bodyPr>
              <a:spAutoFit/>
            </a:bodyPr>
            <a:lstStyle/>
            <a:p>
              <a:pPr marL="0" marR="0" lvl="0" indent="0" algn="l" defTabSz="762000" rtl="0" eaLnBrk="1" fontAlgn="auto" latinLnBrk="0" hangingPunct="1">
                <a:lnSpc>
                  <a:spcPct val="80000"/>
                </a:lnSpc>
                <a:spcBef>
                  <a:spcPts val="0"/>
                </a:spcBef>
                <a:spcAft>
                  <a:spcPts val="0"/>
                </a:spcAft>
                <a:buClrTx/>
                <a:buSzTx/>
                <a:buFontTx/>
                <a:buNone/>
                <a:tabLst/>
                <a:defRPr/>
              </a:pPr>
              <a:r>
                <a:rPr kumimoji="0" lang="fr-FR" altLang="fr-FR" sz="1200" b="1" i="0"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a:ea typeface="+mn-ea"/>
                  <a:cs typeface="+mn-cs"/>
                </a:rPr>
                <a:t>AIR TRAFFIC MANAGEMENT</a:t>
              </a:r>
            </a:p>
            <a:p>
              <a:pPr marL="0" marR="0" lvl="0" indent="0" algn="r" defTabSz="762000" rtl="0" eaLnBrk="1" fontAlgn="auto" latinLnBrk="0" hangingPunct="1">
                <a:lnSpc>
                  <a:spcPct val="80000"/>
                </a:lnSpc>
                <a:spcBef>
                  <a:spcPts val="0"/>
                </a:spcBef>
                <a:spcAft>
                  <a:spcPts val="0"/>
                </a:spcAft>
                <a:buClrTx/>
                <a:buSzTx/>
                <a:buFontTx/>
                <a:buNone/>
                <a:tabLst/>
                <a:defRPr/>
              </a:pPr>
              <a:r>
                <a:rPr kumimoji="0" lang="fr-FR" altLang="fr-FR" sz="1200" b="0" i="1"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a:ea typeface="+mn-ea"/>
                  <a:cs typeface="+mn-cs"/>
                </a:rPr>
                <a:t>Michel MATHIEU</a:t>
              </a:r>
            </a:p>
          </p:txBody>
        </p:sp>
        <p:sp>
          <p:nvSpPr>
            <p:cNvPr id="309276" name="AutoShape 28">
              <a:extLst>
                <a:ext uri="{C183D7F6-B498-43B3-948B-1728B52AA6E4}">
                  <adec:decorative xmlns:adec="http://schemas.microsoft.com/office/drawing/2017/decorative" val="1"/>
                </a:ext>
              </a:extLst>
            </p:cNvPr>
            <p:cNvSpPr>
              <a:spLocks noChangeArrowheads="1"/>
            </p:cNvSpPr>
            <p:nvPr/>
          </p:nvSpPr>
          <p:spPr bwMode="auto">
            <a:xfrm>
              <a:off x="10438607" y="2419856"/>
              <a:ext cx="515937" cy="558800"/>
            </a:xfrm>
            <a:prstGeom prst="flowChartDelay">
              <a:avLst/>
            </a:prstGeom>
            <a:gradFill rotWithShape="0">
              <a:gsLst>
                <a:gs pos="0">
                  <a:schemeClr val="bg1"/>
                </a:gs>
                <a:gs pos="100000">
                  <a:schemeClr val="bg1">
                    <a:gamma/>
                    <a:shade val="76078"/>
                    <a:invGamma/>
                  </a:schemeClr>
                </a:gs>
              </a:gsLst>
              <a:lin ang="5400000" scaled="1"/>
            </a:gradFill>
            <a:ln w="9525">
              <a:solidFill>
                <a:schemeClr val="tx1"/>
              </a:solid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4783" name="AutoShape 29">
              <a:extLst>
                <a:ext uri="{C183D7F6-B498-43B3-948B-1728B52AA6E4}">
                  <adec:decorative xmlns:adec="http://schemas.microsoft.com/office/drawing/2017/decorative" val="1"/>
                </a:ext>
              </a:extLst>
            </p:cNvPr>
            <p:cNvSpPr>
              <a:spLocks noChangeArrowheads="1"/>
            </p:cNvSpPr>
            <p:nvPr/>
          </p:nvSpPr>
          <p:spPr bwMode="auto">
            <a:xfrm flipH="1">
              <a:off x="8362157" y="2419856"/>
              <a:ext cx="515937" cy="558800"/>
            </a:xfrm>
            <a:prstGeom prst="flowChartDelay">
              <a:avLst/>
            </a:prstGeom>
            <a:gradFill rotWithShape="0">
              <a:gsLst>
                <a:gs pos="0">
                  <a:srgbClr val="6600FF"/>
                </a:gs>
                <a:gs pos="100000">
                  <a:srgbClr val="4400A9"/>
                </a:gs>
              </a:gsLst>
              <a:lin ang="5400000" scaled="1"/>
            </a:gradFill>
            <a:ln w="9525">
              <a:solidFill>
                <a:schemeClr val="tx1"/>
              </a:solidFill>
              <a:miter lim="800000"/>
              <a:headEnd/>
              <a:tailEnd/>
            </a:ln>
          </p:spPr>
          <p:txBody>
            <a:bodyPr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4400" b="0" i="0" u="none" strike="noStrike" kern="1200" cap="none" spc="0" normalizeH="0" baseline="0" noProof="0">
                <a:ln>
                  <a:noFill/>
                </a:ln>
                <a:solidFill>
                  <a:srgbClr val="C4960B"/>
                </a:solidFill>
                <a:effectLst/>
                <a:uLnTx/>
                <a:uFillTx/>
                <a:latin typeface="Arial" panose="020B0604020202020204" pitchFamily="34" charset="0"/>
                <a:ea typeface="+mn-ea"/>
                <a:cs typeface="Arial" panose="020B0604020202020204" pitchFamily="34" charset="0"/>
              </a:endParaRPr>
            </a:p>
          </p:txBody>
        </p:sp>
        <p:sp>
          <p:nvSpPr>
            <p:cNvPr id="309278" name="Rectangle 30">
              <a:extLst>
                <a:ext uri="{C183D7F6-B498-43B3-948B-1728B52AA6E4}">
                  <adec:decorative xmlns:adec="http://schemas.microsoft.com/office/drawing/2017/decorative" val="1"/>
                </a:ext>
              </a:extLst>
            </p:cNvPr>
            <p:cNvSpPr>
              <a:spLocks noChangeArrowheads="1"/>
            </p:cNvSpPr>
            <p:nvPr/>
          </p:nvSpPr>
          <p:spPr bwMode="auto">
            <a:xfrm>
              <a:off x="8789194" y="2419856"/>
              <a:ext cx="1731963" cy="558800"/>
            </a:xfrm>
            <a:prstGeom prst="rect">
              <a:avLst/>
            </a:prstGeom>
            <a:gradFill rotWithShape="0">
              <a:gsLst>
                <a:gs pos="0">
                  <a:schemeClr val="bg1"/>
                </a:gs>
                <a:gs pos="100000">
                  <a:schemeClr val="bg1">
                    <a:gamma/>
                    <a:shade val="76078"/>
                    <a:invGamma/>
                  </a:schemeClr>
                </a:gs>
              </a:gsLst>
              <a:lin ang="5400000" scaled="1"/>
            </a:gradFill>
            <a:ln w="9525">
              <a:solidFill>
                <a:schemeClr val="tx1"/>
              </a:solidFill>
              <a:miter lim="800000"/>
              <a:headEnd/>
              <a:tailEnd/>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09279" name="Text Box 31"/>
            <p:cNvSpPr txBox="1">
              <a:spLocks noChangeArrowheads="1"/>
            </p:cNvSpPr>
            <p:nvPr/>
          </p:nvSpPr>
          <p:spPr bwMode="auto">
            <a:xfrm>
              <a:off x="8790781" y="2451607"/>
              <a:ext cx="1720850" cy="535531"/>
            </a:xfrm>
            <a:prstGeom prst="rect">
              <a:avLst/>
            </a:prstGeom>
            <a:noFill/>
            <a:ln w="28575">
              <a:noFill/>
              <a:miter lim="800000"/>
              <a:headEnd/>
              <a:tailEnd/>
            </a:ln>
            <a:effectLst/>
          </p:spPr>
          <p:txBody>
            <a:bodyPr>
              <a:spAutoFit/>
            </a:bodyPr>
            <a:lstStyle/>
            <a:p>
              <a:pPr marL="0" marR="0" lvl="0" indent="0" algn="l" defTabSz="762000" rtl="0" eaLnBrk="1" fontAlgn="auto" latinLnBrk="0" hangingPunct="1">
                <a:lnSpc>
                  <a:spcPct val="80000"/>
                </a:lnSpc>
                <a:spcBef>
                  <a:spcPts val="0"/>
                </a:spcBef>
                <a:spcAft>
                  <a:spcPts val="0"/>
                </a:spcAft>
                <a:buClrTx/>
                <a:buSzTx/>
                <a:buFontTx/>
                <a:buNone/>
                <a:tabLst/>
                <a:defRPr/>
              </a:pPr>
              <a:r>
                <a:rPr kumimoji="0" lang="fr-FR" altLang="fr-FR" sz="1200" b="1" i="0"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a:ea typeface="+mn-ea"/>
                  <a:cs typeface="+mn-cs"/>
                </a:rPr>
                <a:t>GALILEO</a:t>
              </a:r>
            </a:p>
            <a:p>
              <a:pPr marL="0" marR="0" lvl="0" indent="0" algn="l" defTabSz="762000" rtl="0" eaLnBrk="1" fontAlgn="auto" latinLnBrk="0" hangingPunct="1">
                <a:lnSpc>
                  <a:spcPct val="80000"/>
                </a:lnSpc>
                <a:spcBef>
                  <a:spcPts val="0"/>
                </a:spcBef>
                <a:spcAft>
                  <a:spcPts val="0"/>
                </a:spcAft>
                <a:buClrTx/>
                <a:buSzTx/>
                <a:buFontTx/>
                <a:buNone/>
                <a:tabLst/>
                <a:defRPr/>
              </a:pPr>
              <a:endParaRPr kumimoji="0" lang="fr-FR" altLang="fr-FR" sz="1200" b="1" i="0"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a:ea typeface="+mn-ea"/>
                <a:cs typeface="+mn-cs"/>
              </a:endParaRPr>
            </a:p>
            <a:p>
              <a:pPr marL="0" marR="0" lvl="0" indent="0" algn="r" defTabSz="762000" rtl="0" eaLnBrk="1" fontAlgn="auto" latinLnBrk="0" hangingPunct="1">
                <a:lnSpc>
                  <a:spcPct val="80000"/>
                </a:lnSpc>
                <a:spcBef>
                  <a:spcPts val="0"/>
                </a:spcBef>
                <a:spcAft>
                  <a:spcPts val="0"/>
                </a:spcAft>
                <a:buClrTx/>
                <a:buSzTx/>
                <a:buFontTx/>
                <a:buNone/>
                <a:tabLst/>
                <a:defRPr/>
              </a:pPr>
              <a:r>
                <a:rPr kumimoji="0" lang="fr-FR" altLang="fr-FR" sz="1200" b="0" i="1"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a:ea typeface="+mn-ea"/>
                  <a:cs typeface="+mn-cs"/>
                </a:rPr>
                <a:t>Alain BORIES</a:t>
              </a:r>
            </a:p>
          </p:txBody>
        </p:sp>
        <p:sp>
          <p:nvSpPr>
            <p:cNvPr id="74786" name="Freeform 32">
              <a:extLst>
                <a:ext uri="{C183D7F6-B498-43B3-948B-1728B52AA6E4}">
                  <adec:decorative xmlns:adec="http://schemas.microsoft.com/office/drawing/2017/decorative" val="1"/>
                </a:ext>
              </a:extLst>
            </p:cNvPr>
            <p:cNvSpPr>
              <a:spLocks/>
            </p:cNvSpPr>
            <p:nvPr/>
          </p:nvSpPr>
          <p:spPr bwMode="auto">
            <a:xfrm>
              <a:off x="3490119" y="3178681"/>
              <a:ext cx="5629275" cy="1193800"/>
            </a:xfrm>
            <a:custGeom>
              <a:avLst/>
              <a:gdLst>
                <a:gd name="T0" fmla="*/ 0 w 3772"/>
                <a:gd name="T1" fmla="*/ 2147483646 h 752"/>
                <a:gd name="T2" fmla="*/ 0 w 3772"/>
                <a:gd name="T3" fmla="*/ 0 h 752"/>
                <a:gd name="T4" fmla="*/ 2147483646 w 3772"/>
                <a:gd name="T5" fmla="*/ 0 h 752"/>
                <a:gd name="T6" fmla="*/ 2147483646 w 3772"/>
                <a:gd name="T7" fmla="*/ 2147483646 h 752"/>
                <a:gd name="T8" fmla="*/ 0 60000 65536"/>
                <a:gd name="T9" fmla="*/ 0 60000 65536"/>
                <a:gd name="T10" fmla="*/ 0 60000 65536"/>
                <a:gd name="T11" fmla="*/ 0 60000 65536"/>
                <a:gd name="T12" fmla="*/ 0 w 3772"/>
                <a:gd name="T13" fmla="*/ 0 h 752"/>
                <a:gd name="T14" fmla="*/ 3772 w 3772"/>
                <a:gd name="T15" fmla="*/ 752 h 752"/>
              </a:gdLst>
              <a:ahLst/>
              <a:cxnLst>
                <a:cxn ang="T8">
                  <a:pos x="T0" y="T1"/>
                </a:cxn>
                <a:cxn ang="T9">
                  <a:pos x="T2" y="T3"/>
                </a:cxn>
                <a:cxn ang="T10">
                  <a:pos x="T4" y="T5"/>
                </a:cxn>
                <a:cxn ang="T11">
                  <a:pos x="T6" y="T7"/>
                </a:cxn>
              </a:cxnLst>
              <a:rect l="T12" t="T13" r="T14" b="T15"/>
              <a:pathLst>
                <a:path w="3772" h="752">
                  <a:moveTo>
                    <a:pt x="0" y="738"/>
                  </a:moveTo>
                  <a:lnTo>
                    <a:pt x="0" y="0"/>
                  </a:lnTo>
                  <a:lnTo>
                    <a:pt x="3772" y="0"/>
                  </a:lnTo>
                  <a:lnTo>
                    <a:pt x="3772" y="752"/>
                  </a:lnTo>
                </a:path>
              </a:pathLst>
            </a:custGeom>
            <a:noFill/>
            <a:ln w="1905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4787" name="Line 33">
              <a:extLst>
                <a:ext uri="{C183D7F6-B498-43B3-948B-1728B52AA6E4}">
                  <adec:decorative xmlns:adec="http://schemas.microsoft.com/office/drawing/2017/decorative" val="1"/>
                </a:ext>
              </a:extLst>
            </p:cNvPr>
            <p:cNvSpPr>
              <a:spLocks noChangeShapeType="1"/>
            </p:cNvSpPr>
            <p:nvPr/>
          </p:nvSpPr>
          <p:spPr bwMode="auto">
            <a:xfrm>
              <a:off x="6288881" y="3178681"/>
              <a:ext cx="0" cy="119380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sp>
        <p:nvSpPr>
          <p:cNvPr id="309251" name="Rectangle 3"/>
          <p:cNvSpPr>
            <a:spLocks noChangeArrowheads="1"/>
          </p:cNvSpPr>
          <p:nvPr/>
        </p:nvSpPr>
        <p:spPr bwMode="auto">
          <a:xfrm>
            <a:off x="2255043" y="5221794"/>
            <a:ext cx="9144000" cy="720725"/>
          </a:xfrm>
          <a:prstGeom prst="rect">
            <a:avLst/>
          </a:prstGeom>
          <a:noFill/>
          <a:ln w="28575">
            <a:noFill/>
            <a:miter lim="800000"/>
            <a:headEnd/>
            <a:tailEnd/>
          </a:ln>
          <a:effectLst/>
        </p:spPr>
        <p:txBody>
          <a:bodyPr wrap="none" lIns="80030" tIns="40743" rIns="80030" bIns="40743" anchor="ctr"/>
          <a:lstStyle/>
          <a:p>
            <a:pPr marL="0" marR="0" lvl="0" indent="0" algn="ctr" defTabSz="795338" rtl="0" eaLnBrk="1" fontAlgn="auto" latinLnBrk="0" hangingPunct="1">
              <a:lnSpc>
                <a:spcPct val="80000"/>
              </a:lnSpc>
              <a:spcBef>
                <a:spcPts val="0"/>
              </a:spcBef>
              <a:spcAft>
                <a:spcPts val="0"/>
              </a:spcAft>
              <a:buClr>
                <a:srgbClr val="0563C1"/>
              </a:buClr>
              <a:buSzPct val="85000"/>
              <a:buFontTx/>
              <a:buNone/>
              <a:tabLst>
                <a:tab pos="1141413" algn="l"/>
              </a:tabLst>
              <a:defRPr/>
            </a:pPr>
            <a:r>
              <a:rPr kumimoji="0" lang="fr-FR" altLang="fr-FR" sz="2200" b="1" i="0" u="none" strike="noStrike" kern="1200" cap="none" spc="0" normalizeH="0" baseline="0" noProof="0" dirty="0">
                <a:ln>
                  <a:noFill/>
                </a:ln>
                <a:solidFill>
                  <a:srgbClr val="FFFFFF"/>
                </a:solidFill>
                <a:effectLst>
                  <a:outerShdw blurRad="38100" dist="38100" dir="2700000" algn="tl">
                    <a:srgbClr val="C0C0C0"/>
                  </a:outerShdw>
                </a:effectLst>
                <a:uLnTx/>
                <a:uFillTx/>
                <a:latin typeface="Arial" panose="020B0604020202020204"/>
                <a:ea typeface="+mn-ea"/>
                <a:cs typeface="+mn-cs"/>
              </a:rPr>
              <a:t>THALES </a:t>
            </a:r>
            <a:r>
              <a:rPr kumimoji="0" lang="fr-FR" altLang="fr-FR" sz="2200" b="1" i="0" u="none" strike="noStrike" kern="1200" cap="none" spc="0" normalizeH="0" baseline="0" noProof="0" dirty="0" err="1">
                <a:ln>
                  <a:noFill/>
                </a:ln>
                <a:solidFill>
                  <a:srgbClr val="FFFFFF"/>
                </a:solidFill>
                <a:effectLst>
                  <a:outerShdw blurRad="38100" dist="38100" dir="2700000" algn="tl">
                    <a:srgbClr val="C0C0C0"/>
                  </a:outerShdw>
                </a:effectLst>
                <a:uLnTx/>
                <a:uFillTx/>
                <a:latin typeface="Arial" panose="020B0604020202020204"/>
                <a:ea typeface="+mn-ea"/>
                <a:cs typeface="+mn-cs"/>
              </a:rPr>
              <a:t>is</a:t>
            </a:r>
            <a:r>
              <a:rPr kumimoji="0" lang="fr-FR" altLang="fr-FR" sz="2200" b="1" i="0" u="none" strike="noStrike" kern="1200" cap="none" spc="0" normalizeH="0" baseline="0" noProof="0" dirty="0">
                <a:ln>
                  <a:noFill/>
                </a:ln>
                <a:solidFill>
                  <a:srgbClr val="FFFFFF"/>
                </a:solidFill>
                <a:effectLst>
                  <a:outerShdw blurRad="38100" dist="38100" dir="2700000" algn="tl">
                    <a:srgbClr val="C0C0C0"/>
                  </a:outerShdw>
                </a:effectLst>
                <a:uLnTx/>
                <a:uFillTx/>
                <a:latin typeface="Arial" panose="020B0604020202020204"/>
                <a:ea typeface="+mn-ea"/>
                <a:cs typeface="+mn-cs"/>
              </a:rPr>
              <a:t> the </a:t>
            </a:r>
            <a:r>
              <a:rPr kumimoji="0" lang="fr-FR" altLang="fr-FR" sz="2200" b="1" i="0" u="none" strike="noStrike" kern="1200" cap="none" spc="0" normalizeH="0" baseline="0" noProof="0" dirty="0" err="1">
                <a:ln>
                  <a:noFill/>
                </a:ln>
                <a:solidFill>
                  <a:srgbClr val="FFFFFF"/>
                </a:solidFill>
                <a:effectLst>
                  <a:outerShdw blurRad="38100" dist="38100" dir="2700000" algn="tl">
                    <a:srgbClr val="C0C0C0"/>
                  </a:outerShdw>
                </a:effectLst>
                <a:uLnTx/>
                <a:uFillTx/>
                <a:latin typeface="Arial" panose="020B0604020202020204"/>
                <a:ea typeface="+mn-ea"/>
                <a:cs typeface="+mn-cs"/>
              </a:rPr>
              <a:t>only</a:t>
            </a:r>
            <a:r>
              <a:rPr kumimoji="0" lang="fr-FR" altLang="fr-FR" sz="2200" b="1" i="0" u="none" strike="noStrike" kern="1200" cap="none" spc="0" normalizeH="0" baseline="0" noProof="0" dirty="0">
                <a:ln>
                  <a:noFill/>
                </a:ln>
                <a:solidFill>
                  <a:srgbClr val="FFFFFF"/>
                </a:solidFill>
                <a:effectLst>
                  <a:outerShdw blurRad="38100" dist="38100" dir="2700000" algn="tl">
                    <a:srgbClr val="C0C0C0"/>
                  </a:outerShdw>
                </a:effectLst>
                <a:uLnTx/>
                <a:uFillTx/>
                <a:latin typeface="Arial" panose="020B0604020202020204"/>
                <a:ea typeface="+mn-ea"/>
                <a:cs typeface="+mn-cs"/>
              </a:rPr>
              <a:t> </a:t>
            </a:r>
            <a:r>
              <a:rPr kumimoji="0" lang="fr-FR" altLang="fr-FR" sz="2200" b="1" i="0" u="none" strike="noStrike" kern="1200" cap="none" spc="0" normalizeH="0" baseline="0" noProof="0" dirty="0" err="1">
                <a:ln>
                  <a:noFill/>
                </a:ln>
                <a:solidFill>
                  <a:srgbClr val="FFFFFF"/>
                </a:solidFill>
                <a:effectLst>
                  <a:outerShdw blurRad="38100" dist="38100" dir="2700000" algn="tl">
                    <a:srgbClr val="C0C0C0"/>
                  </a:outerShdw>
                </a:effectLst>
                <a:uLnTx/>
                <a:uFillTx/>
                <a:latin typeface="Arial" panose="020B0604020202020204"/>
                <a:ea typeface="+mn-ea"/>
                <a:cs typeface="+mn-cs"/>
              </a:rPr>
              <a:t>company</a:t>
            </a:r>
            <a:r>
              <a:rPr kumimoji="0" lang="fr-FR" altLang="fr-FR" sz="2200" b="1" i="0" u="none" strike="noStrike" kern="1200" cap="none" spc="0" normalizeH="0" baseline="0" noProof="0" dirty="0">
                <a:ln>
                  <a:noFill/>
                </a:ln>
                <a:solidFill>
                  <a:srgbClr val="FFFFFF"/>
                </a:solidFill>
                <a:effectLst>
                  <a:outerShdw blurRad="38100" dist="38100" dir="2700000" algn="tl">
                    <a:srgbClr val="C0C0C0"/>
                  </a:outerShdw>
                </a:effectLst>
                <a:uLnTx/>
                <a:uFillTx/>
                <a:latin typeface="Arial" panose="020B0604020202020204"/>
                <a:ea typeface="+mn-ea"/>
                <a:cs typeface="+mn-cs"/>
              </a:rPr>
              <a:t> in the world to cover </a:t>
            </a:r>
          </a:p>
          <a:p>
            <a:pPr marL="0" marR="0" lvl="0" indent="0" algn="ctr" defTabSz="795338" rtl="0" eaLnBrk="1" fontAlgn="auto" latinLnBrk="0" hangingPunct="1">
              <a:lnSpc>
                <a:spcPct val="80000"/>
              </a:lnSpc>
              <a:spcBef>
                <a:spcPts val="0"/>
              </a:spcBef>
              <a:spcAft>
                <a:spcPts val="0"/>
              </a:spcAft>
              <a:buClr>
                <a:srgbClr val="0563C1"/>
              </a:buClr>
              <a:buSzPct val="85000"/>
              <a:buFontTx/>
              <a:buNone/>
              <a:tabLst>
                <a:tab pos="1141413" algn="l"/>
              </a:tabLst>
              <a:defRPr/>
            </a:pPr>
            <a:r>
              <a:rPr kumimoji="0" lang="fr-FR" altLang="fr-FR" sz="2200" b="1" i="0" u="none" strike="noStrike" kern="1200" cap="none" spc="0" normalizeH="0" baseline="0" noProof="0" dirty="0">
                <a:ln>
                  <a:noFill/>
                </a:ln>
                <a:solidFill>
                  <a:srgbClr val="FFFFFF"/>
                </a:solidFill>
                <a:effectLst>
                  <a:outerShdw blurRad="38100" dist="38100" dir="2700000" algn="tl">
                    <a:srgbClr val="C0C0C0"/>
                  </a:outerShdw>
                </a:effectLst>
                <a:uLnTx/>
                <a:uFillTx/>
                <a:latin typeface="Arial" panose="020B0604020202020204"/>
                <a:ea typeface="+mn-ea"/>
                <a:cs typeface="+mn-cs"/>
              </a:rPr>
              <a:t>all </a:t>
            </a:r>
            <a:r>
              <a:rPr kumimoji="0" lang="fr-FR" altLang="fr-FR" sz="2200" b="1" i="0" u="none" strike="noStrike" kern="1200" cap="none" spc="0" normalizeH="0" baseline="0" noProof="0" dirty="0" err="1">
                <a:ln>
                  <a:noFill/>
                </a:ln>
                <a:solidFill>
                  <a:srgbClr val="FFFFFF"/>
                </a:solidFill>
                <a:effectLst>
                  <a:outerShdw blurRad="38100" dist="38100" dir="2700000" algn="tl">
                    <a:srgbClr val="C0C0C0"/>
                  </a:outerShdw>
                </a:effectLst>
                <a:uLnTx/>
                <a:uFillTx/>
                <a:latin typeface="Arial" panose="020B0604020202020204"/>
                <a:ea typeface="+mn-ea"/>
                <a:cs typeface="+mn-cs"/>
              </a:rPr>
              <a:t>three</a:t>
            </a:r>
            <a:r>
              <a:rPr kumimoji="0" lang="fr-FR" altLang="fr-FR" sz="2200" b="1" i="0" u="none" strike="noStrike" kern="1200" cap="none" spc="0" normalizeH="0" baseline="0" noProof="0" dirty="0">
                <a:ln>
                  <a:noFill/>
                </a:ln>
                <a:solidFill>
                  <a:srgbClr val="FFFFFF"/>
                </a:solidFill>
                <a:effectLst>
                  <a:outerShdw blurRad="38100" dist="38100" dir="2700000" algn="tl">
                    <a:srgbClr val="C0C0C0"/>
                  </a:outerShdw>
                </a:effectLst>
                <a:uLnTx/>
                <a:uFillTx/>
                <a:latin typeface="Arial" panose="020B0604020202020204"/>
                <a:ea typeface="+mn-ea"/>
                <a:cs typeface="+mn-cs"/>
              </a:rPr>
              <a:t> aspects </a:t>
            </a:r>
            <a:r>
              <a:rPr kumimoji="0" lang="fr-FR" altLang="fr-FR" sz="2200" b="1" i="0" u="none" strike="noStrike" kern="1200" cap="none" spc="0" normalizeH="0" baseline="0" noProof="0" dirty="0" err="1">
                <a:ln>
                  <a:noFill/>
                </a:ln>
                <a:solidFill>
                  <a:srgbClr val="FFFFFF"/>
                </a:solidFill>
                <a:effectLst>
                  <a:outerShdw blurRad="38100" dist="38100" dir="2700000" algn="tl">
                    <a:srgbClr val="C0C0C0"/>
                  </a:outerShdw>
                </a:effectLst>
                <a:uLnTx/>
                <a:uFillTx/>
                <a:latin typeface="Arial" panose="020B0604020202020204"/>
                <a:ea typeface="+mn-ea"/>
                <a:cs typeface="+mn-cs"/>
              </a:rPr>
              <a:t>critical</a:t>
            </a:r>
            <a:r>
              <a:rPr kumimoji="0" lang="fr-FR" altLang="fr-FR" sz="2200" b="1" i="0" u="none" strike="noStrike" kern="1200" cap="none" spc="0" normalizeH="0" baseline="0" noProof="0" dirty="0">
                <a:ln>
                  <a:noFill/>
                </a:ln>
                <a:solidFill>
                  <a:srgbClr val="FFFFFF"/>
                </a:solidFill>
                <a:effectLst>
                  <a:outerShdw blurRad="38100" dist="38100" dir="2700000" algn="tl">
                    <a:srgbClr val="C0C0C0"/>
                  </a:outerShdw>
                </a:effectLst>
                <a:uLnTx/>
                <a:uFillTx/>
                <a:latin typeface="Arial" panose="020B0604020202020204"/>
                <a:ea typeface="+mn-ea"/>
                <a:cs typeface="+mn-cs"/>
              </a:rPr>
              <a:t> to air transport </a:t>
            </a:r>
            <a:r>
              <a:rPr kumimoji="0" lang="fr-FR" altLang="fr-FR" sz="2200" b="1" i="0" u="none" strike="noStrike" kern="1200" cap="none" spc="0" normalizeH="0" baseline="0" noProof="0" dirty="0" err="1">
                <a:ln>
                  <a:noFill/>
                </a:ln>
                <a:solidFill>
                  <a:srgbClr val="FFFFFF"/>
                </a:solidFill>
                <a:effectLst>
                  <a:outerShdw blurRad="38100" dist="38100" dir="2700000" algn="tl">
                    <a:srgbClr val="C0C0C0"/>
                  </a:outerShdw>
                </a:effectLst>
                <a:uLnTx/>
                <a:uFillTx/>
                <a:latin typeface="Arial" panose="020B0604020202020204"/>
                <a:ea typeface="+mn-ea"/>
                <a:cs typeface="+mn-cs"/>
              </a:rPr>
              <a:t>safety</a:t>
            </a:r>
            <a:r>
              <a:rPr kumimoji="0" lang="fr-FR" altLang="fr-FR" sz="2200" b="1" i="0" u="none" strike="noStrike" kern="1200" cap="none" spc="0" normalizeH="0" baseline="0" noProof="0" dirty="0">
                <a:ln>
                  <a:noFill/>
                </a:ln>
                <a:solidFill>
                  <a:srgbClr val="FFFFFF"/>
                </a:solidFill>
                <a:effectLst>
                  <a:outerShdw blurRad="38100" dist="38100" dir="2700000" algn="tl">
                    <a:srgbClr val="C0C0C0"/>
                  </a:outerShdw>
                </a:effectLst>
                <a:uLnTx/>
                <a:uFillTx/>
                <a:latin typeface="Arial" panose="020B0604020202020204"/>
                <a:ea typeface="+mn-ea"/>
                <a:cs typeface="+mn-cs"/>
              </a:rPr>
              <a:t> and </a:t>
            </a:r>
            <a:r>
              <a:rPr kumimoji="0" lang="fr-FR" altLang="fr-FR" sz="2200" b="1" i="0" u="none" strike="noStrike" kern="1200" cap="none" spc="0" normalizeH="0" baseline="0" noProof="0" dirty="0" err="1">
                <a:ln>
                  <a:noFill/>
                </a:ln>
                <a:solidFill>
                  <a:srgbClr val="FFFFFF"/>
                </a:solidFill>
                <a:effectLst>
                  <a:outerShdw blurRad="38100" dist="38100" dir="2700000" algn="tl">
                    <a:srgbClr val="C0C0C0"/>
                  </a:outerShdw>
                </a:effectLst>
                <a:uLnTx/>
                <a:uFillTx/>
                <a:latin typeface="Arial" panose="020B0604020202020204"/>
                <a:ea typeface="+mn-ea"/>
                <a:cs typeface="+mn-cs"/>
              </a:rPr>
              <a:t>security</a:t>
            </a:r>
            <a:endParaRPr kumimoji="0" lang="fr-FR" altLang="fr-FR" sz="2200" b="1" i="0" u="none" strike="noStrike" kern="1200" cap="none" spc="0" normalizeH="0" baseline="0" noProof="0" dirty="0">
              <a:ln>
                <a:noFill/>
              </a:ln>
              <a:solidFill>
                <a:srgbClr val="FFFFFF"/>
              </a:solidFill>
              <a:effectLst>
                <a:outerShdw blurRad="38100" dist="38100" dir="2700000" algn="tl">
                  <a:srgbClr val="C0C0C0"/>
                </a:outerShdw>
              </a:effectLst>
              <a:uLnTx/>
              <a:uFillTx/>
              <a:latin typeface="Arial" panose="020B0604020202020204"/>
              <a:ea typeface="+mn-ea"/>
              <a:cs typeface="+mn-cs"/>
            </a:endParaRPr>
          </a:p>
        </p:txBody>
      </p:sp>
      <p:sp>
        <p:nvSpPr>
          <p:cNvPr id="2" name="Footer Placeholder 1"/>
          <p:cNvSpPr>
            <a:spLocks noGrp="1"/>
          </p:cNvSpPr>
          <p:nvPr>
            <p:ph type="ftr" sz="quarter" idx="11"/>
          </p:nvPr>
        </p:nvSpPr>
        <p:spPr>
          <a:xfrm>
            <a:off x="4613276" y="6253072"/>
            <a:ext cx="44704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Newburry 2026 DBA International Business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88" fill="hold" grpId="0" nodeType="afterEffect">
                                  <p:stCondLst>
                                    <p:cond delay="1000"/>
                                  </p:stCondLst>
                                  <p:childTnLst>
                                    <p:set>
                                      <p:cBhvr>
                                        <p:cTn id="6" dur="1" fill="hold">
                                          <p:stCondLst>
                                            <p:cond delay="0"/>
                                          </p:stCondLst>
                                        </p:cTn>
                                        <p:tgtEl>
                                          <p:spTgt spid="309251"/>
                                        </p:tgtEl>
                                        <p:attrNameLst>
                                          <p:attrName>style.visibility</p:attrName>
                                        </p:attrNameLst>
                                      </p:cBhvr>
                                      <p:to>
                                        <p:strVal val="visible"/>
                                      </p:to>
                                    </p:set>
                                    <p:anim calcmode="lin" valueType="num">
                                      <p:cBhvr>
                                        <p:cTn id="7" dur="500" fill="hold"/>
                                        <p:tgtEl>
                                          <p:spTgt spid="309251"/>
                                        </p:tgtEl>
                                        <p:attrNameLst>
                                          <p:attrName>ppt_w</p:attrName>
                                        </p:attrNameLst>
                                      </p:cBhvr>
                                      <p:tavLst>
                                        <p:tav tm="0">
                                          <p:val>
                                            <p:strVal val="4/3*#ppt_w"/>
                                          </p:val>
                                        </p:tav>
                                        <p:tav tm="100000">
                                          <p:val>
                                            <p:strVal val="#ppt_w"/>
                                          </p:val>
                                        </p:tav>
                                      </p:tavLst>
                                    </p:anim>
                                    <p:anim calcmode="lin" valueType="num">
                                      <p:cBhvr>
                                        <p:cTn id="8" dur="500" fill="hold"/>
                                        <p:tgtEl>
                                          <p:spTgt spid="309251"/>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1"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B41C8-DFF1-6208-17EB-9BB2A591998C}"/>
            </a:ext>
          </a:extLst>
        </p:cNvPr>
        <p:cNvGrpSpPr/>
        <p:nvPr/>
      </p:nvGrpSpPr>
      <p:grpSpPr>
        <a:xfrm>
          <a:off x="0" y="0"/>
          <a:ext cx="0" cy="0"/>
          <a:chOff x="0" y="0"/>
          <a:chExt cx="0" cy="0"/>
        </a:xfrm>
      </p:grpSpPr>
      <p:sp>
        <p:nvSpPr>
          <p:cNvPr id="305154" name="Rectangle 2">
            <a:extLst>
              <a:ext uri="{FF2B5EF4-FFF2-40B4-BE49-F238E27FC236}">
                <a16:creationId xmlns:a16="http://schemas.microsoft.com/office/drawing/2014/main" id="{2E4BE0F4-61FA-4548-3E53-6E63D3830AFB}"/>
              </a:ext>
            </a:extLst>
          </p:cNvPr>
          <p:cNvSpPr>
            <a:spLocks noGrp="1" noChangeArrowheads="1"/>
          </p:cNvSpPr>
          <p:nvPr>
            <p:ph type="title" idx="4294967295"/>
          </p:nvPr>
        </p:nvSpPr>
        <p:spPr bwMode="auto">
          <a:xfrm>
            <a:off x="2599800" y="108062"/>
            <a:ext cx="8610600" cy="1066800"/>
          </a:xfrm>
          <a:prstGeom prst="rect">
            <a:avLst/>
          </a:prstGeom>
          <a:noFill/>
          <a:ln w="12700">
            <a:noFill/>
            <a:prstDash/>
            <a:miter lim="800000"/>
            <a:headEnd/>
            <a:tailEnd/>
          </a:ln>
          <a:effectLst/>
        </p:spPr>
        <p:txBody>
          <a:bodyPr rot="0" spcFirstLastPara="0" vertOverflow="overflow" horzOverflow="overflow" vert="horz" wrap="square" lIns="90488" tIns="44450" rIns="90488" bIns="4445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chemeClr val="bg1"/>
                </a:solidFill>
                <a:effectLst>
                  <a:outerShdw blurRad="38100" dist="38100" dir="2700000" algn="tl">
                    <a:srgbClr val="000000"/>
                  </a:outerShdw>
                </a:effectLst>
                <a:uLnTx/>
                <a:uFillTx/>
                <a:latin typeface="Arial" charset="0"/>
                <a:ea typeface="MS PGothic" panose="020B0600070205080204" pitchFamily="34" charset="-128"/>
                <a:cs typeface="Arial" charset="0"/>
              </a:rPr>
              <a:t>Integration-Responsiveness Framework - Transnational</a:t>
            </a:r>
            <a:endParaRPr kumimoji="0" lang="en-US" sz="18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Arial" charset="0"/>
              <a:ea typeface="MS PGothic" panose="020B0600070205080204" pitchFamily="34" charset="-128"/>
              <a:cs typeface="Arial" charset="0"/>
            </a:endParaRPr>
          </a:p>
        </p:txBody>
      </p:sp>
      <p:grpSp>
        <p:nvGrpSpPr>
          <p:cNvPr id="3" name="Group 2" descr="Transnational Strategy">
            <a:extLst>
              <a:ext uri="{FF2B5EF4-FFF2-40B4-BE49-F238E27FC236}">
                <a16:creationId xmlns:a16="http://schemas.microsoft.com/office/drawing/2014/main" id="{0379D822-28A1-FD30-85E7-35D262ADC978}"/>
              </a:ext>
            </a:extLst>
          </p:cNvPr>
          <p:cNvGrpSpPr/>
          <p:nvPr/>
        </p:nvGrpSpPr>
        <p:grpSpPr>
          <a:xfrm>
            <a:off x="2936580" y="1251061"/>
            <a:ext cx="7668548" cy="5265938"/>
            <a:chOff x="2936580" y="1251061"/>
            <a:chExt cx="7668548" cy="5265938"/>
          </a:xfrm>
        </p:grpSpPr>
        <p:sp>
          <p:nvSpPr>
            <p:cNvPr id="159746" name="Rectangle 3">
              <a:extLst>
                <a:ext uri="{FF2B5EF4-FFF2-40B4-BE49-F238E27FC236}">
                  <a16:creationId xmlns:a16="http://schemas.microsoft.com/office/drawing/2014/main" id="{381A503A-9AB2-8253-28EE-D0E1F5746C56}"/>
                </a:ext>
              </a:extLst>
            </p:cNvPr>
            <p:cNvSpPr>
              <a:spLocks noChangeArrowheads="1"/>
            </p:cNvSpPr>
            <p:nvPr/>
          </p:nvSpPr>
          <p:spPr bwMode="auto">
            <a:xfrm>
              <a:off x="4966329" y="6057899"/>
              <a:ext cx="5200143"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a:solidFill>
                    <a:schemeClr val="bg1"/>
                  </a:solidFill>
                  <a:latin typeface="Times New Roman" panose="02020603050405020304" pitchFamily="18" charset="0"/>
                </a:rPr>
                <a:t>Pressures towards Local Responsiveness</a:t>
              </a:r>
            </a:p>
          </p:txBody>
        </p:sp>
        <p:sp>
          <p:nvSpPr>
            <p:cNvPr id="159747" name="Rectangle 4">
              <a:extLst>
                <a:ext uri="{FF2B5EF4-FFF2-40B4-BE49-F238E27FC236}">
                  <a16:creationId xmlns:a16="http://schemas.microsoft.com/office/drawing/2014/main" id="{524C09A4-47E2-700D-06AF-1A91154DF387}"/>
                </a:ext>
              </a:extLst>
            </p:cNvPr>
            <p:cNvSpPr>
              <a:spLocks noChangeArrowheads="1"/>
            </p:cNvSpPr>
            <p:nvPr/>
          </p:nvSpPr>
          <p:spPr bwMode="auto">
            <a:xfrm rot="-5400000">
              <a:off x="797692" y="3389949"/>
              <a:ext cx="4736875"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dirty="0">
                  <a:solidFill>
                    <a:schemeClr val="bg1"/>
                  </a:solidFill>
                  <a:latin typeface="Times New Roman" panose="02020603050405020304" pitchFamily="18" charset="0"/>
                </a:rPr>
                <a:t>Pressures towards Global Integration</a:t>
              </a:r>
            </a:p>
          </p:txBody>
        </p:sp>
        <p:sp>
          <p:nvSpPr>
            <p:cNvPr id="159748" name="Rectangle 5">
              <a:extLst>
                <a:ext uri="{FF2B5EF4-FFF2-40B4-BE49-F238E27FC236}">
                  <a16:creationId xmlns:a16="http://schemas.microsoft.com/office/drawing/2014/main" id="{B877A8FB-EC3E-9E24-0863-92CAA3235AD2}"/>
                </a:ext>
                <a:ext uri="{C183D7F6-B498-43B3-948B-1728B52AA6E4}">
                  <adec:decorative xmlns:adec="http://schemas.microsoft.com/office/drawing/2017/decorative" val="1"/>
                </a:ext>
              </a:extLst>
            </p:cNvPr>
            <p:cNvSpPr>
              <a:spLocks noChangeArrowheads="1"/>
            </p:cNvSpPr>
            <p:nvPr/>
          </p:nvSpPr>
          <p:spPr bwMode="auto">
            <a:xfrm>
              <a:off x="4515478" y="1492249"/>
              <a:ext cx="6089650" cy="4254500"/>
            </a:xfrm>
            <a:prstGeom prst="rect">
              <a:avLst/>
            </a:prstGeom>
            <a:noFill/>
            <a:ln w="127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eaLnBrk="1" hangingPunct="1"/>
              <a:endParaRPr lang="en-US" altLang="en-US">
                <a:solidFill>
                  <a:schemeClr val="bg1"/>
                </a:solidFill>
              </a:endParaRPr>
            </a:p>
          </p:txBody>
        </p:sp>
        <p:sp>
          <p:nvSpPr>
            <p:cNvPr id="159749" name="Rectangle 6">
              <a:extLst>
                <a:ext uri="{FF2B5EF4-FFF2-40B4-BE49-F238E27FC236}">
                  <a16:creationId xmlns:a16="http://schemas.microsoft.com/office/drawing/2014/main" id="{B2571447-A846-AF7F-DA4D-18BB17AD057A}"/>
                </a:ext>
              </a:extLst>
            </p:cNvPr>
            <p:cNvSpPr>
              <a:spLocks noChangeArrowheads="1"/>
            </p:cNvSpPr>
            <p:nvPr/>
          </p:nvSpPr>
          <p:spPr bwMode="auto">
            <a:xfrm>
              <a:off x="3518528" y="1409699"/>
              <a:ext cx="953788"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a:solidFill>
                    <a:schemeClr val="bg1"/>
                  </a:solidFill>
                  <a:latin typeface="Times New Roman" panose="02020603050405020304" pitchFamily="18" charset="0"/>
                </a:rPr>
                <a:t>HIGH</a:t>
              </a:r>
            </a:p>
          </p:txBody>
        </p:sp>
        <p:sp>
          <p:nvSpPr>
            <p:cNvPr id="159750" name="Rectangle 7">
              <a:extLst>
                <a:ext uri="{FF2B5EF4-FFF2-40B4-BE49-F238E27FC236}">
                  <a16:creationId xmlns:a16="http://schemas.microsoft.com/office/drawing/2014/main" id="{6063AB4D-F2F3-A482-3848-239E416E76B4}"/>
                </a:ext>
              </a:extLst>
            </p:cNvPr>
            <p:cNvSpPr>
              <a:spLocks noChangeArrowheads="1"/>
            </p:cNvSpPr>
            <p:nvPr/>
          </p:nvSpPr>
          <p:spPr bwMode="auto">
            <a:xfrm>
              <a:off x="3580441" y="5357812"/>
              <a:ext cx="88325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a:solidFill>
                    <a:schemeClr val="bg1"/>
                  </a:solidFill>
                  <a:latin typeface="Times New Roman" panose="02020603050405020304" pitchFamily="18" charset="0"/>
                </a:rPr>
                <a:t>LOW</a:t>
              </a:r>
            </a:p>
          </p:txBody>
        </p:sp>
        <p:sp>
          <p:nvSpPr>
            <p:cNvPr id="159751" name="Rectangle 8">
              <a:extLst>
                <a:ext uri="{FF2B5EF4-FFF2-40B4-BE49-F238E27FC236}">
                  <a16:creationId xmlns:a16="http://schemas.microsoft.com/office/drawing/2014/main" id="{D6450A5D-8AAB-0DEB-625D-615B9C579A00}"/>
                </a:ext>
              </a:extLst>
            </p:cNvPr>
            <p:cNvSpPr>
              <a:spLocks noChangeArrowheads="1"/>
            </p:cNvSpPr>
            <p:nvPr/>
          </p:nvSpPr>
          <p:spPr bwMode="auto">
            <a:xfrm>
              <a:off x="4418641" y="5815012"/>
              <a:ext cx="883256"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a:solidFill>
                    <a:schemeClr val="bg1"/>
                  </a:solidFill>
                  <a:latin typeface="Times New Roman" panose="02020603050405020304" pitchFamily="18" charset="0"/>
                </a:rPr>
                <a:t>LOW</a:t>
              </a:r>
            </a:p>
          </p:txBody>
        </p:sp>
        <p:sp>
          <p:nvSpPr>
            <p:cNvPr id="159752" name="Rectangle 9">
              <a:extLst>
                <a:ext uri="{FF2B5EF4-FFF2-40B4-BE49-F238E27FC236}">
                  <a16:creationId xmlns:a16="http://schemas.microsoft.com/office/drawing/2014/main" id="{30CD7585-F08E-2321-ACE0-1495BF605175}"/>
                </a:ext>
              </a:extLst>
            </p:cNvPr>
            <p:cNvSpPr>
              <a:spLocks noChangeArrowheads="1"/>
            </p:cNvSpPr>
            <p:nvPr/>
          </p:nvSpPr>
          <p:spPr bwMode="auto">
            <a:xfrm>
              <a:off x="9614528" y="5829299"/>
              <a:ext cx="953788"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a:solidFill>
                    <a:schemeClr val="bg1"/>
                  </a:solidFill>
                  <a:latin typeface="Times New Roman" panose="02020603050405020304" pitchFamily="18" charset="0"/>
                </a:rPr>
                <a:t>HIGH</a:t>
              </a:r>
            </a:p>
          </p:txBody>
        </p:sp>
        <p:sp>
          <p:nvSpPr>
            <p:cNvPr id="159753" name="Line 10">
              <a:extLst>
                <a:ext uri="{FF2B5EF4-FFF2-40B4-BE49-F238E27FC236}">
                  <a16:creationId xmlns:a16="http://schemas.microsoft.com/office/drawing/2014/main" id="{62FF3EF2-A1BB-131F-4BEE-5095F9AE73A5}"/>
                </a:ext>
                <a:ext uri="{C183D7F6-B498-43B3-948B-1728B52AA6E4}">
                  <adec:decorative xmlns:adec="http://schemas.microsoft.com/office/drawing/2017/decorative" val="1"/>
                </a:ext>
              </a:extLst>
            </p:cNvPr>
            <p:cNvSpPr>
              <a:spLocks noChangeShapeType="1"/>
            </p:cNvSpPr>
            <p:nvPr/>
          </p:nvSpPr>
          <p:spPr bwMode="auto">
            <a:xfrm>
              <a:off x="7557128" y="1562099"/>
              <a:ext cx="0" cy="41910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chemeClr val="bg1"/>
                </a:solidFill>
              </a:endParaRPr>
            </a:p>
          </p:txBody>
        </p:sp>
        <p:sp>
          <p:nvSpPr>
            <p:cNvPr id="159754" name="Line 11">
              <a:extLst>
                <a:ext uri="{FF2B5EF4-FFF2-40B4-BE49-F238E27FC236}">
                  <a16:creationId xmlns:a16="http://schemas.microsoft.com/office/drawing/2014/main" id="{0BF48905-D7DD-DCF0-A4BB-9C997F38011A}"/>
                </a:ext>
                <a:ext uri="{C183D7F6-B498-43B3-948B-1728B52AA6E4}">
                  <adec:decorative xmlns:adec="http://schemas.microsoft.com/office/drawing/2017/decorative" val="1"/>
                </a:ext>
              </a:extLst>
            </p:cNvPr>
            <p:cNvSpPr>
              <a:spLocks noChangeShapeType="1"/>
            </p:cNvSpPr>
            <p:nvPr/>
          </p:nvSpPr>
          <p:spPr bwMode="auto">
            <a:xfrm>
              <a:off x="4515478" y="3619499"/>
              <a:ext cx="608965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chemeClr val="bg1"/>
                </a:solidFill>
              </a:endParaRPr>
            </a:p>
          </p:txBody>
        </p:sp>
        <p:sp>
          <p:nvSpPr>
            <p:cNvPr id="159755" name="Rectangle 12">
              <a:extLst>
                <a:ext uri="{FF2B5EF4-FFF2-40B4-BE49-F238E27FC236}">
                  <a16:creationId xmlns:a16="http://schemas.microsoft.com/office/drawing/2014/main" id="{E64CFDBC-B29D-23DB-FBD3-1559A54C9A57}"/>
                </a:ext>
              </a:extLst>
            </p:cNvPr>
            <p:cNvSpPr>
              <a:spLocks noChangeArrowheads="1"/>
            </p:cNvSpPr>
            <p:nvPr/>
          </p:nvSpPr>
          <p:spPr bwMode="auto">
            <a:xfrm>
              <a:off x="5118728" y="2247899"/>
              <a:ext cx="2104744" cy="4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r>
                <a:rPr lang="en-US" altLang="en-US" sz="2400" b="1" i="1" dirty="0">
                  <a:solidFill>
                    <a:schemeClr val="bg1"/>
                  </a:solidFill>
                  <a:latin typeface="Times New Roman" panose="02020603050405020304" pitchFamily="18" charset="0"/>
                </a:rPr>
                <a:t>Global strategy</a:t>
              </a:r>
            </a:p>
          </p:txBody>
        </p:sp>
        <p:sp>
          <p:nvSpPr>
            <p:cNvPr id="159756" name="Rectangle 13">
              <a:extLst>
                <a:ext uri="{FF2B5EF4-FFF2-40B4-BE49-F238E27FC236}">
                  <a16:creationId xmlns:a16="http://schemas.microsoft.com/office/drawing/2014/main" id="{2E3D1947-1738-303D-0BE2-5BFA5F38892A}"/>
                </a:ext>
              </a:extLst>
            </p:cNvPr>
            <p:cNvSpPr>
              <a:spLocks noChangeArrowheads="1"/>
            </p:cNvSpPr>
            <p:nvPr/>
          </p:nvSpPr>
          <p:spPr bwMode="auto">
            <a:xfrm>
              <a:off x="7785728" y="4229099"/>
              <a:ext cx="2667000"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lgn="ctr"/>
              <a:r>
                <a:rPr lang="en-US" altLang="en-US" sz="2400" b="1" i="1">
                  <a:solidFill>
                    <a:schemeClr val="bg1"/>
                  </a:solidFill>
                  <a:latin typeface="Times New Roman" panose="02020603050405020304" pitchFamily="18" charset="0"/>
                </a:rPr>
                <a:t>Multi-domestic strategy</a:t>
              </a:r>
            </a:p>
          </p:txBody>
        </p:sp>
        <p:sp>
          <p:nvSpPr>
            <p:cNvPr id="159757" name="Rectangle 14">
              <a:extLst>
                <a:ext uri="{FF2B5EF4-FFF2-40B4-BE49-F238E27FC236}">
                  <a16:creationId xmlns:a16="http://schemas.microsoft.com/office/drawing/2014/main" id="{BAD36BB1-5CDB-AE83-8EA6-1FDDEB0F2010}"/>
                </a:ext>
              </a:extLst>
            </p:cNvPr>
            <p:cNvSpPr>
              <a:spLocks noChangeArrowheads="1"/>
            </p:cNvSpPr>
            <p:nvPr/>
          </p:nvSpPr>
          <p:spPr bwMode="auto">
            <a:xfrm>
              <a:off x="8094522" y="2019299"/>
              <a:ext cx="1984327"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lgn="ctr"/>
              <a:r>
                <a:rPr lang="en-US" altLang="en-US" sz="2400" b="1" i="1" dirty="0">
                  <a:solidFill>
                    <a:srgbClr val="FFFF00"/>
                  </a:solidFill>
                  <a:latin typeface="Times New Roman" panose="02020603050405020304" pitchFamily="18" charset="0"/>
                </a:rPr>
                <a:t>Transnational</a:t>
              </a:r>
            </a:p>
            <a:p>
              <a:pPr algn="ctr"/>
              <a:r>
                <a:rPr lang="en-US" altLang="en-US" sz="2400" b="1" i="1" dirty="0">
                  <a:solidFill>
                    <a:srgbClr val="FFFF00"/>
                  </a:solidFill>
                  <a:latin typeface="Times New Roman" panose="02020603050405020304" pitchFamily="18" charset="0"/>
                </a:rPr>
                <a:t> strategy</a:t>
              </a:r>
            </a:p>
          </p:txBody>
        </p:sp>
        <p:sp>
          <p:nvSpPr>
            <p:cNvPr id="159758" name="Rectangle 15">
              <a:extLst>
                <a:ext uri="{FF2B5EF4-FFF2-40B4-BE49-F238E27FC236}">
                  <a16:creationId xmlns:a16="http://schemas.microsoft.com/office/drawing/2014/main" id="{70B055C3-BD27-B8AA-026F-C89FCCE3F882}"/>
                </a:ext>
              </a:extLst>
            </p:cNvPr>
            <p:cNvSpPr>
              <a:spLocks noChangeArrowheads="1"/>
            </p:cNvSpPr>
            <p:nvPr/>
          </p:nvSpPr>
          <p:spPr bwMode="auto">
            <a:xfrm>
              <a:off x="5050922" y="4229099"/>
              <a:ext cx="1875514"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lgn="ctr"/>
              <a:r>
                <a:rPr lang="en-US" altLang="en-US" sz="2400" b="1" i="1">
                  <a:solidFill>
                    <a:schemeClr val="bg1"/>
                  </a:solidFill>
                  <a:latin typeface="Times New Roman" panose="02020603050405020304" pitchFamily="18" charset="0"/>
                </a:rPr>
                <a:t>International</a:t>
              </a:r>
            </a:p>
            <a:p>
              <a:pPr algn="ctr"/>
              <a:r>
                <a:rPr lang="en-US" altLang="en-US" sz="2400" b="1" i="1">
                  <a:solidFill>
                    <a:schemeClr val="bg1"/>
                  </a:solidFill>
                  <a:latin typeface="Times New Roman" panose="02020603050405020304" pitchFamily="18" charset="0"/>
                </a:rPr>
                <a:t>strategy</a:t>
              </a:r>
            </a:p>
          </p:txBody>
        </p:sp>
      </p:grpSp>
      <p:sp>
        <p:nvSpPr>
          <p:cNvPr id="2" name="Footer Placeholder 1">
            <a:extLst>
              <a:ext uri="{FF2B5EF4-FFF2-40B4-BE49-F238E27FC236}">
                <a16:creationId xmlns:a16="http://schemas.microsoft.com/office/drawing/2014/main" id="{6B17B576-6525-06F3-E1EB-A9686D61F25D}"/>
              </a:ext>
            </a:extLst>
          </p:cNvPr>
          <p:cNvSpPr>
            <a:spLocks noGrp="1"/>
          </p:cNvSpPr>
          <p:nvPr>
            <p:ph type="ftr" sz="quarter" idx="11"/>
          </p:nvPr>
        </p:nvSpPr>
        <p:spPr>
          <a:xfrm>
            <a:off x="4686299" y="6327775"/>
            <a:ext cx="4437603" cy="457200"/>
          </a:xfrm>
        </p:spPr>
        <p:txBody>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eaLnBrk="1" hangingPunct="1"/>
            <a:r>
              <a:rPr lang="en-US" altLang="en-US" sz="1200" dirty="0">
                <a:solidFill>
                  <a:schemeClr val="bg1"/>
                </a:solidFill>
              </a:rPr>
              <a:t>Newburry 2026 DBA International Business</a:t>
            </a:r>
          </a:p>
        </p:txBody>
      </p:sp>
    </p:spTree>
    <p:extLst>
      <p:ext uri="{BB962C8B-B14F-4D97-AF65-F5344CB8AC3E}">
        <p14:creationId xmlns:p14="http://schemas.microsoft.com/office/powerpoint/2010/main" val="16817570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p:cNvSpPr>
            <a:spLocks noGrp="1" noChangeArrowheads="1"/>
          </p:cNvSpPr>
          <p:nvPr>
            <p:ph type="title"/>
          </p:nvPr>
        </p:nvSpPr>
        <p:spPr>
          <a:xfrm>
            <a:off x="2130250" y="365125"/>
            <a:ext cx="9223549" cy="1325563"/>
          </a:xfrm>
        </p:spPr>
        <p:txBody>
          <a:bodyPr/>
          <a:lstStyle/>
          <a:p>
            <a:pPr eaLnBrk="1" hangingPunct="1">
              <a:defRPr/>
            </a:pPr>
            <a:r>
              <a:rPr lang="en-US" sz="4000" b="1" dirty="0">
                <a:ea typeface="MS PGothic" panose="020B0600070205080204" pitchFamily="34" charset="-128"/>
              </a:rPr>
              <a:t>Transnational Strategy</a:t>
            </a:r>
            <a:endParaRPr lang="en-US" sz="4000" dirty="0">
              <a:ea typeface="MS PGothic" panose="020B0600070205080204" pitchFamily="34" charset="-128"/>
            </a:endParaRPr>
          </a:p>
        </p:txBody>
      </p:sp>
      <p:sp>
        <p:nvSpPr>
          <p:cNvPr id="171010" name="Rectangle 3"/>
          <p:cNvSpPr>
            <a:spLocks noGrp="1" noChangeArrowheads="1"/>
          </p:cNvSpPr>
          <p:nvPr>
            <p:ph type="body" idx="1"/>
          </p:nvPr>
        </p:nvSpPr>
        <p:spPr>
          <a:xfrm>
            <a:off x="2202430" y="1828800"/>
            <a:ext cx="9433560" cy="4533900"/>
          </a:xfrm>
        </p:spPr>
        <p:txBody>
          <a:bodyPr/>
          <a:lstStyle/>
          <a:p>
            <a:pPr eaLnBrk="1" hangingPunct="1"/>
            <a:r>
              <a:rPr lang="en-US" altLang="en-US" sz="3600" dirty="0"/>
              <a:t> Both high integration pressures and high responsiveness pressures </a:t>
            </a:r>
          </a:p>
          <a:p>
            <a:pPr eaLnBrk="1" hangingPunct="1"/>
            <a:r>
              <a:rPr lang="en-US" altLang="en-US" sz="3600" dirty="0"/>
              <a:t> Combines global-scale efficiencies with local responsiveness benefits</a:t>
            </a:r>
          </a:p>
          <a:p>
            <a:pPr eaLnBrk="1" hangingPunct="1">
              <a:buFontTx/>
              <a:buNone/>
            </a:pPr>
            <a:endParaRPr lang="en-US" altLang="en-US" sz="3600" dirty="0"/>
          </a:p>
          <a:p>
            <a:pPr eaLnBrk="1" hangingPunct="1"/>
            <a:r>
              <a:rPr lang="en-US" altLang="en-US" sz="3600" dirty="0"/>
              <a:t> E.g., Star Alliance in Airline Industry </a:t>
            </a:r>
          </a:p>
          <a:p>
            <a:pPr eaLnBrk="1" hangingPunct="1"/>
            <a:endParaRPr lang="en-US" altLang="en-US" sz="3600" dirty="0"/>
          </a:p>
          <a:p>
            <a:pPr eaLnBrk="1" hangingPunct="1"/>
            <a:endParaRPr lang="en-US" altLang="en-US" sz="3600" dirty="0"/>
          </a:p>
        </p:txBody>
      </p:sp>
      <p:sp>
        <p:nvSpPr>
          <p:cNvPr id="2" name="Footer Placeholder 1"/>
          <p:cNvSpPr>
            <a:spLocks noGrp="1"/>
          </p:cNvSpPr>
          <p:nvPr>
            <p:ph type="ftr" sz="quarter" idx="11"/>
          </p:nvPr>
        </p:nvSpPr>
        <p:spPr>
          <a:xfrm>
            <a:off x="5472165" y="6272212"/>
            <a:ext cx="3124200" cy="457200"/>
          </a:xfrm>
        </p:spPr>
        <p:txBody>
          <a:bodyPr/>
          <a:lstStyle>
            <a:lvl1pPr eaLnBrk="0" hangingPunct="0">
              <a:defRPr sz="4400">
                <a:solidFill>
                  <a:schemeClr val="accent2"/>
                </a:solidFill>
                <a:latin typeface="Arial" panose="020B0604020202020204" pitchFamily="34" charset="0"/>
                <a:ea typeface="ＭＳ Ｐゴシック" panose="020B0600070205080204" pitchFamily="34" charset="-128"/>
              </a:defRPr>
            </a:lvl1pPr>
            <a:lvl2pPr marL="742950" indent="-285750" eaLnBrk="0" hangingPunct="0">
              <a:defRPr sz="4400">
                <a:solidFill>
                  <a:schemeClr val="accent2"/>
                </a:solidFill>
                <a:latin typeface="Arial" panose="020B0604020202020204" pitchFamily="34" charset="0"/>
                <a:ea typeface="ＭＳ Ｐゴシック" panose="020B0600070205080204" pitchFamily="34" charset="-128"/>
              </a:defRPr>
            </a:lvl2pPr>
            <a:lvl3pPr marL="1143000" indent="-228600" eaLnBrk="0" hangingPunct="0">
              <a:defRPr sz="4400">
                <a:solidFill>
                  <a:schemeClr val="accent2"/>
                </a:solidFill>
                <a:latin typeface="Arial" panose="020B0604020202020204" pitchFamily="34" charset="0"/>
                <a:ea typeface="ＭＳ Ｐゴシック" panose="020B0600070205080204" pitchFamily="34" charset="-128"/>
              </a:defRPr>
            </a:lvl3pPr>
            <a:lvl4pPr marL="1600200" indent="-228600" eaLnBrk="0" hangingPunct="0">
              <a:defRPr sz="4400">
                <a:solidFill>
                  <a:schemeClr val="accent2"/>
                </a:solidFill>
                <a:latin typeface="Arial" panose="020B0604020202020204" pitchFamily="34" charset="0"/>
                <a:ea typeface="ＭＳ Ｐゴシック" panose="020B0600070205080204" pitchFamily="34" charset="-128"/>
              </a:defRPr>
            </a:lvl4pPr>
            <a:lvl5pPr marL="2057400" indent="-228600" eaLnBrk="0" hangingPunct="0">
              <a:defRPr sz="4400">
                <a:solidFill>
                  <a:schemeClr val="accent2"/>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eaLnBrk="1" hangingPunct="1"/>
            <a:r>
              <a:rPr lang="en-US" altLang="en-US" sz="1200" dirty="0">
                <a:solidFill>
                  <a:schemeClr val="bg1"/>
                </a:solidFill>
              </a:rPr>
              <a:t>Newburry 2026 DBA International Business</a:t>
            </a:r>
          </a:p>
        </p:txBody>
      </p:sp>
    </p:spTree>
    <p:extLst>
      <p:ext uri="{BB962C8B-B14F-4D97-AF65-F5344CB8AC3E}">
        <p14:creationId xmlns:p14="http://schemas.microsoft.com/office/powerpoint/2010/main" val="28230928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ChangeArrowheads="1"/>
          </p:cNvSpPr>
          <p:nvPr>
            <p:ph type="title" idx="4294967295"/>
          </p:nvPr>
        </p:nvSpPr>
        <p:spPr bwMode="auto">
          <a:xfrm>
            <a:off x="2722266" y="330992"/>
            <a:ext cx="7772400" cy="838200"/>
          </a:xfrm>
          <a:prstGeom prst="rect">
            <a:avLst/>
          </a:prstGeom>
          <a:solidFill>
            <a:schemeClr val="accent1"/>
          </a:solidFill>
          <a:ln w="12700">
            <a:noFill/>
            <a:prstDash/>
            <a:miter lim="800000"/>
            <a:headEnd/>
            <a:tailEnd/>
          </a:ln>
          <a:effectLst/>
        </p:spPr>
        <p:txBody>
          <a:bodyPr rot="0" spcFirstLastPara="0" vertOverflow="overflow" horzOverflow="overflow" vert="horz" wrap="square" lIns="90488" tIns="44450" rIns="90488" bIns="4445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chemeClr val="bg1"/>
                </a:solidFill>
                <a:effectLst>
                  <a:outerShdw blurRad="38100" dist="38100" dir="2700000" algn="tl">
                    <a:srgbClr val="FFFFFF"/>
                  </a:outerShdw>
                </a:effectLst>
                <a:uLnTx/>
                <a:uFillTx/>
                <a:latin typeface="+mn-lt"/>
                <a:ea typeface="+mn-ea"/>
                <a:cs typeface="+mn-cs"/>
              </a:rPr>
              <a:t>Global Matrix</a:t>
            </a:r>
          </a:p>
        </p:txBody>
      </p:sp>
      <p:grpSp>
        <p:nvGrpSpPr>
          <p:cNvPr id="6" name="Group 5" descr="Global Matrix Structure">
            <a:extLst>
              <a:ext uri="{FF2B5EF4-FFF2-40B4-BE49-F238E27FC236}">
                <a16:creationId xmlns:a16="http://schemas.microsoft.com/office/drawing/2014/main" id="{44D49F0D-69A2-7D40-BCAC-245602EAE32D}"/>
              </a:ext>
            </a:extLst>
          </p:cNvPr>
          <p:cNvGrpSpPr/>
          <p:nvPr/>
        </p:nvGrpSpPr>
        <p:grpSpPr>
          <a:xfrm>
            <a:off x="2019719" y="1130088"/>
            <a:ext cx="9696659" cy="5265337"/>
            <a:chOff x="2019719" y="1130088"/>
            <a:chExt cx="9696659" cy="5265337"/>
          </a:xfrm>
        </p:grpSpPr>
        <p:sp>
          <p:nvSpPr>
            <p:cNvPr id="5" name="Rectangle 4" descr="Global Matrix Structure">
              <a:extLst>
                <a:ext uri="{FF2B5EF4-FFF2-40B4-BE49-F238E27FC236}">
                  <a16:creationId xmlns:a16="http://schemas.microsoft.com/office/drawing/2014/main" id="{C3A9CDF3-3D07-E50A-0589-42F41FECE2AC}"/>
                </a:ext>
              </a:extLst>
            </p:cNvPr>
            <p:cNvSpPr/>
            <p:nvPr/>
          </p:nvSpPr>
          <p:spPr>
            <a:xfrm>
              <a:off x="2019719" y="1130088"/>
              <a:ext cx="9696659" cy="5265337"/>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3" name="Group 3"/>
            <p:cNvGrpSpPr>
              <a:grpSpLocks/>
            </p:cNvGrpSpPr>
            <p:nvPr/>
          </p:nvGrpSpPr>
          <p:grpSpPr bwMode="auto">
            <a:xfrm>
              <a:off x="2493666" y="1473993"/>
              <a:ext cx="8426450" cy="4657725"/>
              <a:chOff x="332" y="1043"/>
              <a:chExt cx="5308" cy="2934"/>
            </a:xfrm>
          </p:grpSpPr>
          <p:sp>
            <p:nvSpPr>
              <p:cNvPr id="75783" name="Rectangle 4"/>
              <p:cNvSpPr>
                <a:spLocks noChangeArrowheads="1"/>
              </p:cNvSpPr>
              <p:nvPr/>
            </p:nvSpPr>
            <p:spPr bwMode="auto">
              <a:xfrm>
                <a:off x="1955" y="1139"/>
                <a:ext cx="1865" cy="294"/>
              </a:xfrm>
              <a:prstGeom prst="rect">
                <a:avLst/>
              </a:prstGeom>
              <a:solidFill>
                <a:srgbClr val="FC0128"/>
              </a:solidFill>
              <a:ln w="12700">
                <a:solidFill>
                  <a:schemeClr val="tx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Global Headquarters</a:t>
                </a:r>
              </a:p>
            </p:txBody>
          </p:sp>
          <p:sp>
            <p:nvSpPr>
              <p:cNvPr id="75784" name="Oval 5"/>
              <p:cNvSpPr>
                <a:spLocks noChangeArrowheads="1"/>
              </p:cNvSpPr>
              <p:nvPr/>
            </p:nvSpPr>
            <p:spPr bwMode="auto">
              <a:xfrm>
                <a:off x="436" y="1828"/>
                <a:ext cx="1144" cy="616"/>
              </a:xfrm>
              <a:prstGeom prst="ellipse">
                <a:avLst/>
              </a:prstGeom>
              <a:solidFill>
                <a:srgbClr val="C0FEF9"/>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4400" b="0" i="0" u="none" strike="noStrike" kern="1200" cap="none" spc="0" normalizeH="0" baseline="0" noProof="0">
                  <a:ln>
                    <a:noFill/>
                  </a:ln>
                  <a:solidFill>
                    <a:srgbClr val="C4960B"/>
                  </a:solidFill>
                  <a:effectLst/>
                  <a:uLnTx/>
                  <a:uFillTx/>
                  <a:latin typeface="Arial" panose="020B0604020202020204" pitchFamily="34" charset="0"/>
                  <a:ea typeface="+mn-ea"/>
                  <a:cs typeface="Arial" panose="020B0604020202020204" pitchFamily="34" charset="0"/>
                </a:endParaRPr>
              </a:p>
            </p:txBody>
          </p:sp>
          <p:sp>
            <p:nvSpPr>
              <p:cNvPr id="75785" name="Rectangle 6"/>
              <p:cNvSpPr>
                <a:spLocks noChangeArrowheads="1"/>
              </p:cNvSpPr>
              <p:nvPr/>
            </p:nvSpPr>
            <p:spPr bwMode="auto">
              <a:xfrm>
                <a:off x="611" y="2723"/>
                <a:ext cx="927" cy="294"/>
              </a:xfrm>
              <a:prstGeom prst="rect">
                <a:avLst/>
              </a:prstGeom>
              <a:solidFill>
                <a:srgbClr val="C0FEF9"/>
              </a:solidFill>
              <a:ln w="12700">
                <a:solidFill>
                  <a:schemeClr val="tx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Product 1</a:t>
                </a:r>
              </a:p>
            </p:txBody>
          </p:sp>
          <p:sp>
            <p:nvSpPr>
              <p:cNvPr id="75786" name="Rectangle 7"/>
              <p:cNvSpPr>
                <a:spLocks noChangeArrowheads="1"/>
              </p:cNvSpPr>
              <p:nvPr/>
            </p:nvSpPr>
            <p:spPr bwMode="auto">
              <a:xfrm>
                <a:off x="611" y="3203"/>
                <a:ext cx="927" cy="294"/>
              </a:xfrm>
              <a:prstGeom prst="rect">
                <a:avLst/>
              </a:prstGeom>
              <a:solidFill>
                <a:srgbClr val="C0FEF9"/>
              </a:solidFill>
              <a:ln w="12700">
                <a:solidFill>
                  <a:schemeClr val="tx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Product 2</a:t>
                </a:r>
              </a:p>
            </p:txBody>
          </p:sp>
          <p:sp>
            <p:nvSpPr>
              <p:cNvPr id="75787" name="Rectangle 8"/>
              <p:cNvSpPr>
                <a:spLocks noChangeArrowheads="1"/>
              </p:cNvSpPr>
              <p:nvPr/>
            </p:nvSpPr>
            <p:spPr bwMode="auto">
              <a:xfrm>
                <a:off x="611" y="3683"/>
                <a:ext cx="927" cy="294"/>
              </a:xfrm>
              <a:prstGeom prst="rect">
                <a:avLst/>
              </a:prstGeom>
              <a:solidFill>
                <a:srgbClr val="C0FEF9"/>
              </a:solidFill>
              <a:ln w="12700">
                <a:solidFill>
                  <a:schemeClr val="tx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Product 3</a:t>
                </a:r>
              </a:p>
            </p:txBody>
          </p:sp>
          <p:sp>
            <p:nvSpPr>
              <p:cNvPr id="75788" name="Rectangle 9"/>
              <p:cNvSpPr>
                <a:spLocks noChangeArrowheads="1"/>
              </p:cNvSpPr>
              <p:nvPr/>
            </p:nvSpPr>
            <p:spPr bwMode="auto">
              <a:xfrm>
                <a:off x="2461" y="2723"/>
                <a:ext cx="1060" cy="294"/>
              </a:xfrm>
              <a:prstGeom prst="rect">
                <a:avLst/>
              </a:prstGeom>
              <a:solidFill>
                <a:schemeClr val="accent1"/>
              </a:solidFill>
              <a:ln w="12700">
                <a:solidFill>
                  <a:schemeClr val="bg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Arial" panose="020B0604020202020204" pitchFamily="34" charset="0"/>
                  </a:rPr>
                  <a:t>N. America</a:t>
                </a:r>
              </a:p>
            </p:txBody>
          </p:sp>
          <p:sp>
            <p:nvSpPr>
              <p:cNvPr id="75789" name="Rectangle 10"/>
              <p:cNvSpPr>
                <a:spLocks noChangeArrowheads="1"/>
              </p:cNvSpPr>
              <p:nvPr/>
            </p:nvSpPr>
            <p:spPr bwMode="auto">
              <a:xfrm>
                <a:off x="2632" y="3203"/>
                <a:ext cx="730" cy="294"/>
              </a:xfrm>
              <a:prstGeom prst="rect">
                <a:avLst/>
              </a:prstGeom>
              <a:solidFill>
                <a:schemeClr val="accent1"/>
              </a:solidFill>
              <a:ln w="12700">
                <a:solidFill>
                  <a:schemeClr val="bg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Arial" panose="020B0604020202020204" pitchFamily="34" charset="0"/>
                  </a:rPr>
                  <a:t>Europe</a:t>
                </a:r>
              </a:p>
            </p:txBody>
          </p:sp>
          <p:sp>
            <p:nvSpPr>
              <p:cNvPr id="75790" name="Rectangle 11"/>
              <p:cNvSpPr>
                <a:spLocks noChangeArrowheads="1"/>
              </p:cNvSpPr>
              <p:nvPr/>
            </p:nvSpPr>
            <p:spPr bwMode="auto">
              <a:xfrm>
                <a:off x="2435" y="3683"/>
                <a:ext cx="1102" cy="294"/>
              </a:xfrm>
              <a:prstGeom prst="rect">
                <a:avLst/>
              </a:prstGeom>
              <a:solidFill>
                <a:schemeClr val="accent1"/>
              </a:solidFill>
              <a:ln w="12700">
                <a:solidFill>
                  <a:schemeClr val="bg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FFFFFF"/>
                    </a:solidFill>
                    <a:effectLst/>
                    <a:uLnTx/>
                    <a:uFillTx/>
                    <a:latin typeface="Times New Roman" panose="02020603050405020304" pitchFamily="18" charset="0"/>
                    <a:ea typeface="+mn-ea"/>
                    <a:cs typeface="Arial" panose="020B0604020202020204" pitchFamily="34" charset="0"/>
                  </a:rPr>
                  <a:t>Asia-Pacific</a:t>
                </a:r>
              </a:p>
            </p:txBody>
          </p:sp>
          <p:sp>
            <p:nvSpPr>
              <p:cNvPr id="75791" name="Rectangle 12"/>
              <p:cNvSpPr>
                <a:spLocks noChangeArrowheads="1"/>
              </p:cNvSpPr>
              <p:nvPr/>
            </p:nvSpPr>
            <p:spPr bwMode="auto">
              <a:xfrm>
                <a:off x="4339" y="2723"/>
                <a:ext cx="996" cy="294"/>
              </a:xfrm>
              <a:prstGeom prst="rect">
                <a:avLst/>
              </a:prstGeom>
              <a:solidFill>
                <a:srgbClr val="FFCC99"/>
              </a:solidFill>
              <a:ln w="12700">
                <a:solidFill>
                  <a:schemeClr val="tx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Marketing</a:t>
                </a:r>
              </a:p>
            </p:txBody>
          </p:sp>
          <p:sp>
            <p:nvSpPr>
              <p:cNvPr id="75792" name="Rectangle 13"/>
              <p:cNvSpPr>
                <a:spLocks noChangeArrowheads="1"/>
              </p:cNvSpPr>
              <p:nvPr/>
            </p:nvSpPr>
            <p:spPr bwMode="auto">
              <a:xfrm>
                <a:off x="4387" y="3203"/>
                <a:ext cx="879" cy="294"/>
              </a:xfrm>
              <a:prstGeom prst="rect">
                <a:avLst/>
              </a:prstGeom>
              <a:solidFill>
                <a:srgbClr val="FFCC99"/>
              </a:solidFill>
              <a:ln w="12700">
                <a:solidFill>
                  <a:schemeClr val="tx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Research</a:t>
                </a:r>
              </a:p>
            </p:txBody>
          </p:sp>
          <p:sp>
            <p:nvSpPr>
              <p:cNvPr id="75793" name="Rectangle 14"/>
              <p:cNvSpPr>
                <a:spLocks noChangeArrowheads="1"/>
              </p:cNvSpPr>
              <p:nvPr/>
            </p:nvSpPr>
            <p:spPr bwMode="auto">
              <a:xfrm>
                <a:off x="4211" y="3683"/>
                <a:ext cx="1222" cy="294"/>
              </a:xfrm>
              <a:prstGeom prst="rect">
                <a:avLst/>
              </a:prstGeom>
              <a:solidFill>
                <a:srgbClr val="FFCC99"/>
              </a:solidFill>
              <a:ln w="12700">
                <a:solidFill>
                  <a:schemeClr val="tx1"/>
                </a:solidFill>
                <a:miter lim="800000"/>
                <a:headEnd/>
                <a:tailEnd/>
              </a:ln>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Info. Systems</a:t>
                </a:r>
              </a:p>
            </p:txBody>
          </p:sp>
          <p:sp>
            <p:nvSpPr>
              <p:cNvPr id="75794" name="Oval 15"/>
              <p:cNvSpPr>
                <a:spLocks noChangeArrowheads="1"/>
              </p:cNvSpPr>
              <p:nvPr/>
            </p:nvSpPr>
            <p:spPr bwMode="auto">
              <a:xfrm>
                <a:off x="2308" y="1828"/>
                <a:ext cx="1192" cy="616"/>
              </a:xfrm>
              <a:prstGeom prst="ellipse">
                <a:avLst/>
              </a:prstGeom>
              <a:solidFill>
                <a:schemeClr val="accent1"/>
              </a:solidFill>
              <a:ln w="12700">
                <a:solidFill>
                  <a:schemeClr val="bg1"/>
                </a:solidFill>
                <a:round/>
                <a:headEnd/>
                <a:tailEnd/>
              </a:ln>
            </p:spPr>
            <p:txBody>
              <a:bodyPr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4400" b="0" i="0" u="none" strike="noStrike" kern="1200" cap="none" spc="0" normalizeH="0" baseline="0" noProof="0">
                  <a:ln>
                    <a:noFill/>
                  </a:ln>
                  <a:solidFill>
                    <a:srgbClr val="C4960B"/>
                  </a:solidFill>
                  <a:effectLst/>
                  <a:uLnTx/>
                  <a:uFillTx/>
                  <a:latin typeface="Arial" panose="020B0604020202020204" pitchFamily="34" charset="0"/>
                  <a:ea typeface="+mn-ea"/>
                  <a:cs typeface="Arial" panose="020B0604020202020204" pitchFamily="34" charset="0"/>
                </a:endParaRPr>
              </a:p>
            </p:txBody>
          </p:sp>
          <p:sp>
            <p:nvSpPr>
              <p:cNvPr id="75795" name="Oval 16"/>
              <p:cNvSpPr>
                <a:spLocks noChangeArrowheads="1"/>
              </p:cNvSpPr>
              <p:nvPr/>
            </p:nvSpPr>
            <p:spPr bwMode="auto">
              <a:xfrm>
                <a:off x="4036" y="1828"/>
                <a:ext cx="1336" cy="616"/>
              </a:xfrm>
              <a:prstGeom prst="ellipse">
                <a:avLst/>
              </a:prstGeom>
              <a:solidFill>
                <a:srgbClr val="FFCC99"/>
              </a:solidFill>
              <a:ln w="12700">
                <a:solidFill>
                  <a:schemeClr val="tx1"/>
                </a:solidFill>
                <a:round/>
                <a:headEnd/>
                <a:tailEnd/>
              </a:ln>
            </p:spPr>
            <p:txBody>
              <a:bodyPr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4400" b="0" i="0" u="none" strike="noStrike" kern="1200" cap="none" spc="0" normalizeH="0" baseline="0" noProof="0">
                  <a:ln>
                    <a:noFill/>
                  </a:ln>
                  <a:solidFill>
                    <a:srgbClr val="C4960B"/>
                  </a:solidFill>
                  <a:effectLst/>
                  <a:uLnTx/>
                  <a:uFillTx/>
                  <a:latin typeface="Arial" panose="020B0604020202020204" pitchFamily="34" charset="0"/>
                  <a:ea typeface="+mn-ea"/>
                  <a:cs typeface="Arial" panose="020B0604020202020204" pitchFamily="34" charset="0"/>
                </a:endParaRPr>
              </a:p>
            </p:txBody>
          </p:sp>
          <p:sp>
            <p:nvSpPr>
              <p:cNvPr id="75796" name="Rectangle 17"/>
              <p:cNvSpPr>
                <a:spLocks noChangeArrowheads="1"/>
              </p:cNvSpPr>
              <p:nvPr/>
            </p:nvSpPr>
            <p:spPr bwMode="auto">
              <a:xfrm>
                <a:off x="2535" y="1911"/>
                <a:ext cx="847"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Arial" panose="020B0604020202020204" pitchFamily="34" charset="0"/>
                  </a:rPr>
                  <a:t>Regional</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Arial" panose="020B0604020202020204" pitchFamily="34" charset="0"/>
                  </a:rPr>
                  <a:t>Groups</a:t>
                </a:r>
              </a:p>
            </p:txBody>
          </p:sp>
          <p:sp>
            <p:nvSpPr>
              <p:cNvPr id="75797" name="Rectangle 18"/>
              <p:cNvSpPr>
                <a:spLocks noChangeArrowheads="1"/>
              </p:cNvSpPr>
              <p:nvPr/>
            </p:nvSpPr>
            <p:spPr bwMode="auto">
              <a:xfrm>
                <a:off x="567" y="1911"/>
                <a:ext cx="869"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Product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Divisions</a:t>
                </a:r>
              </a:p>
            </p:txBody>
          </p:sp>
          <p:sp>
            <p:nvSpPr>
              <p:cNvPr id="75798" name="Rectangle 19"/>
              <p:cNvSpPr>
                <a:spLocks noChangeArrowheads="1"/>
              </p:cNvSpPr>
              <p:nvPr/>
            </p:nvSpPr>
            <p:spPr bwMode="auto">
              <a:xfrm>
                <a:off x="4226" y="1911"/>
                <a:ext cx="1009"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Functional</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400" b="1"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rPr>
                  <a:t>Services</a:t>
                </a:r>
              </a:p>
            </p:txBody>
          </p:sp>
          <p:sp>
            <p:nvSpPr>
              <p:cNvPr id="75799" name="Rectangle 20"/>
              <p:cNvSpPr>
                <a:spLocks noChangeArrowheads="1"/>
              </p:cNvSpPr>
              <p:nvPr/>
            </p:nvSpPr>
            <p:spPr bwMode="auto">
              <a:xfrm>
                <a:off x="4307" y="1043"/>
                <a:ext cx="1333" cy="524"/>
              </a:xfrm>
              <a:prstGeom prst="rect">
                <a:avLst/>
              </a:prstGeom>
              <a:noFill/>
              <a:ln w="127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90488" tIns="44450" rIns="90488" bIns="44450">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1" u="none" strike="noStrike" kern="1200" cap="none" spc="0" normalizeH="0" baseline="0" noProof="0" dirty="0">
                    <a:ln>
                      <a:noFill/>
                    </a:ln>
                    <a:solidFill>
                      <a:srgbClr val="FFFFFF"/>
                    </a:solidFill>
                    <a:effectLst/>
                    <a:uLnTx/>
                    <a:uFillTx/>
                    <a:latin typeface="Times New Roman" panose="02020603050405020304" pitchFamily="18" charset="0"/>
                    <a:ea typeface="+mn-ea"/>
                    <a:cs typeface="Arial" panose="020B0604020202020204" pitchFamily="34" charset="0"/>
                  </a:rPr>
                  <a:t>Global Support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1" i="1" u="none" strike="noStrike" kern="1200" cap="none" spc="0" normalizeH="0" baseline="0" noProof="0" dirty="0">
                    <a:ln>
                      <a:noFill/>
                    </a:ln>
                    <a:solidFill>
                      <a:srgbClr val="FFFFFF"/>
                    </a:solidFill>
                    <a:effectLst/>
                    <a:uLnTx/>
                    <a:uFillTx/>
                    <a:latin typeface="Times New Roman" panose="02020603050405020304" pitchFamily="18" charset="0"/>
                    <a:ea typeface="+mn-ea"/>
                    <a:cs typeface="Arial" panose="020B0604020202020204" pitchFamily="34" charset="0"/>
                  </a:rPr>
                  <a:t>Functions</a:t>
                </a:r>
              </a:p>
            </p:txBody>
          </p:sp>
          <p:sp>
            <p:nvSpPr>
              <p:cNvPr id="75800" name="Line 21"/>
              <p:cNvSpPr>
                <a:spLocks noChangeShapeType="1"/>
              </p:cNvSpPr>
              <p:nvPr/>
            </p:nvSpPr>
            <p:spPr bwMode="auto">
              <a:xfrm>
                <a:off x="1012" y="1680"/>
                <a:ext cx="3688"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01" name="Line 22"/>
              <p:cNvSpPr>
                <a:spLocks noChangeShapeType="1"/>
              </p:cNvSpPr>
              <p:nvPr/>
            </p:nvSpPr>
            <p:spPr bwMode="auto">
              <a:xfrm>
                <a:off x="4704" y="1684"/>
                <a:ext cx="0" cy="13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02" name="Line 23"/>
              <p:cNvSpPr>
                <a:spLocks noChangeShapeType="1"/>
              </p:cNvSpPr>
              <p:nvPr/>
            </p:nvSpPr>
            <p:spPr bwMode="auto">
              <a:xfrm>
                <a:off x="2928" y="1684"/>
                <a:ext cx="0" cy="13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03" name="Line 24"/>
              <p:cNvSpPr>
                <a:spLocks noChangeShapeType="1"/>
              </p:cNvSpPr>
              <p:nvPr/>
            </p:nvSpPr>
            <p:spPr bwMode="auto">
              <a:xfrm>
                <a:off x="1008" y="1684"/>
                <a:ext cx="0" cy="13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04" name="Line 25"/>
              <p:cNvSpPr>
                <a:spLocks noChangeShapeType="1"/>
              </p:cNvSpPr>
              <p:nvPr/>
            </p:nvSpPr>
            <p:spPr bwMode="auto">
              <a:xfrm>
                <a:off x="2928" y="1444"/>
                <a:ext cx="0" cy="23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05" name="Line 26"/>
              <p:cNvSpPr>
                <a:spLocks noChangeShapeType="1"/>
              </p:cNvSpPr>
              <p:nvPr/>
            </p:nvSpPr>
            <p:spPr bwMode="auto">
              <a:xfrm>
                <a:off x="2880" y="2452"/>
                <a:ext cx="0" cy="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06" name="Line 27"/>
              <p:cNvSpPr>
                <a:spLocks noChangeShapeType="1"/>
              </p:cNvSpPr>
              <p:nvPr/>
            </p:nvSpPr>
            <p:spPr bwMode="auto">
              <a:xfrm flipH="1">
                <a:off x="2252" y="2544"/>
                <a:ext cx="632"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07" name="Line 28"/>
              <p:cNvSpPr>
                <a:spLocks noChangeShapeType="1"/>
              </p:cNvSpPr>
              <p:nvPr/>
            </p:nvSpPr>
            <p:spPr bwMode="auto">
              <a:xfrm>
                <a:off x="2256" y="2548"/>
                <a:ext cx="0" cy="12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08" name="Line 29"/>
              <p:cNvSpPr>
                <a:spLocks noChangeShapeType="1"/>
              </p:cNvSpPr>
              <p:nvPr/>
            </p:nvSpPr>
            <p:spPr bwMode="auto">
              <a:xfrm>
                <a:off x="2260" y="2832"/>
                <a:ext cx="18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09" name="Line 30"/>
              <p:cNvSpPr>
                <a:spLocks noChangeShapeType="1"/>
              </p:cNvSpPr>
              <p:nvPr/>
            </p:nvSpPr>
            <p:spPr bwMode="auto">
              <a:xfrm>
                <a:off x="2260" y="3360"/>
                <a:ext cx="37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10" name="Line 31"/>
              <p:cNvSpPr>
                <a:spLocks noChangeShapeType="1"/>
              </p:cNvSpPr>
              <p:nvPr/>
            </p:nvSpPr>
            <p:spPr bwMode="auto">
              <a:xfrm>
                <a:off x="2260" y="3840"/>
                <a:ext cx="136"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4" name="Group 32"/>
              <p:cNvGrpSpPr>
                <a:grpSpLocks/>
              </p:cNvGrpSpPr>
              <p:nvPr/>
            </p:nvGrpSpPr>
            <p:grpSpPr bwMode="auto">
              <a:xfrm>
                <a:off x="332" y="2452"/>
                <a:ext cx="632" cy="1388"/>
                <a:chOff x="332" y="2452"/>
                <a:chExt cx="632" cy="1388"/>
              </a:xfrm>
            </p:grpSpPr>
            <p:sp>
              <p:nvSpPr>
                <p:cNvPr id="75841" name="Line 33"/>
                <p:cNvSpPr>
                  <a:spLocks noChangeShapeType="1"/>
                </p:cNvSpPr>
                <p:nvPr/>
              </p:nvSpPr>
              <p:spPr bwMode="auto">
                <a:xfrm>
                  <a:off x="960" y="2452"/>
                  <a:ext cx="0" cy="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42" name="Line 34"/>
                <p:cNvSpPr>
                  <a:spLocks noChangeShapeType="1"/>
                </p:cNvSpPr>
                <p:nvPr/>
              </p:nvSpPr>
              <p:spPr bwMode="auto">
                <a:xfrm flipH="1">
                  <a:off x="332" y="2544"/>
                  <a:ext cx="632"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43" name="Line 35"/>
                <p:cNvSpPr>
                  <a:spLocks noChangeShapeType="1"/>
                </p:cNvSpPr>
                <p:nvPr/>
              </p:nvSpPr>
              <p:spPr bwMode="auto">
                <a:xfrm>
                  <a:off x="336" y="2548"/>
                  <a:ext cx="0" cy="12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44" name="Line 36"/>
                <p:cNvSpPr>
                  <a:spLocks noChangeShapeType="1"/>
                </p:cNvSpPr>
                <p:nvPr/>
              </p:nvSpPr>
              <p:spPr bwMode="auto">
                <a:xfrm>
                  <a:off x="340" y="2832"/>
                  <a:ext cx="28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45" name="Line 37"/>
                <p:cNvSpPr>
                  <a:spLocks noChangeShapeType="1"/>
                </p:cNvSpPr>
                <p:nvPr/>
              </p:nvSpPr>
              <p:spPr bwMode="auto">
                <a:xfrm>
                  <a:off x="340" y="3360"/>
                  <a:ext cx="28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46" name="Line 38"/>
                <p:cNvSpPr>
                  <a:spLocks noChangeShapeType="1"/>
                </p:cNvSpPr>
                <p:nvPr/>
              </p:nvSpPr>
              <p:spPr bwMode="auto">
                <a:xfrm>
                  <a:off x="340" y="3840"/>
                  <a:ext cx="28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sp>
            <p:nvSpPr>
              <p:cNvPr id="75812" name="Line 39"/>
              <p:cNvSpPr>
                <a:spLocks noChangeShapeType="1"/>
              </p:cNvSpPr>
              <p:nvPr/>
            </p:nvSpPr>
            <p:spPr bwMode="auto">
              <a:xfrm>
                <a:off x="4704" y="2452"/>
                <a:ext cx="0" cy="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13" name="Line 40"/>
              <p:cNvSpPr>
                <a:spLocks noChangeShapeType="1"/>
              </p:cNvSpPr>
              <p:nvPr/>
            </p:nvSpPr>
            <p:spPr bwMode="auto">
              <a:xfrm>
                <a:off x="4708" y="2544"/>
                <a:ext cx="90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14" name="Line 41"/>
              <p:cNvSpPr>
                <a:spLocks noChangeShapeType="1"/>
              </p:cNvSpPr>
              <p:nvPr/>
            </p:nvSpPr>
            <p:spPr bwMode="auto">
              <a:xfrm>
                <a:off x="5616" y="2548"/>
                <a:ext cx="0" cy="124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15" name="Line 42"/>
              <p:cNvSpPr>
                <a:spLocks noChangeShapeType="1"/>
              </p:cNvSpPr>
              <p:nvPr/>
            </p:nvSpPr>
            <p:spPr bwMode="auto">
              <a:xfrm>
                <a:off x="5380" y="2880"/>
                <a:ext cx="232"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16" name="Line 43"/>
              <p:cNvSpPr>
                <a:spLocks noChangeShapeType="1"/>
              </p:cNvSpPr>
              <p:nvPr/>
            </p:nvSpPr>
            <p:spPr bwMode="auto">
              <a:xfrm>
                <a:off x="5284" y="3312"/>
                <a:ext cx="328"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17" name="Line 44"/>
              <p:cNvSpPr>
                <a:spLocks noChangeShapeType="1"/>
              </p:cNvSpPr>
              <p:nvPr/>
            </p:nvSpPr>
            <p:spPr bwMode="auto">
              <a:xfrm>
                <a:off x="5428" y="3792"/>
                <a:ext cx="18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18" name="Line 45"/>
              <p:cNvSpPr>
                <a:spLocks noChangeShapeType="1"/>
              </p:cNvSpPr>
              <p:nvPr/>
            </p:nvSpPr>
            <p:spPr bwMode="auto">
              <a:xfrm>
                <a:off x="1680" y="2836"/>
                <a:ext cx="0" cy="9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19" name="Line 46"/>
              <p:cNvSpPr>
                <a:spLocks noChangeShapeType="1"/>
              </p:cNvSpPr>
              <p:nvPr/>
            </p:nvSpPr>
            <p:spPr bwMode="auto">
              <a:xfrm>
                <a:off x="1684" y="3120"/>
                <a:ext cx="88"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20" name="Line 47"/>
              <p:cNvSpPr>
                <a:spLocks noChangeShapeType="1"/>
              </p:cNvSpPr>
              <p:nvPr/>
            </p:nvSpPr>
            <p:spPr bwMode="auto">
              <a:xfrm flipV="1">
                <a:off x="1776" y="2780"/>
                <a:ext cx="0" cy="344"/>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21" name="Line 48"/>
              <p:cNvSpPr>
                <a:spLocks noChangeShapeType="1"/>
              </p:cNvSpPr>
              <p:nvPr/>
            </p:nvSpPr>
            <p:spPr bwMode="auto">
              <a:xfrm>
                <a:off x="1780" y="2784"/>
                <a:ext cx="328"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22" name="Line 49"/>
              <p:cNvSpPr>
                <a:spLocks noChangeShapeType="1"/>
              </p:cNvSpPr>
              <p:nvPr/>
            </p:nvSpPr>
            <p:spPr bwMode="auto">
              <a:xfrm>
                <a:off x="1684" y="3360"/>
                <a:ext cx="424"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23" name="Line 50"/>
              <p:cNvSpPr>
                <a:spLocks noChangeShapeType="1"/>
              </p:cNvSpPr>
              <p:nvPr/>
            </p:nvSpPr>
            <p:spPr bwMode="auto">
              <a:xfrm>
                <a:off x="1684" y="3600"/>
                <a:ext cx="88"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24" name="Line 51"/>
              <p:cNvSpPr>
                <a:spLocks noChangeShapeType="1"/>
              </p:cNvSpPr>
              <p:nvPr/>
            </p:nvSpPr>
            <p:spPr bwMode="auto">
              <a:xfrm>
                <a:off x="1776" y="3604"/>
                <a:ext cx="0" cy="23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25" name="Line 52"/>
              <p:cNvSpPr>
                <a:spLocks noChangeShapeType="1"/>
              </p:cNvSpPr>
              <p:nvPr/>
            </p:nvSpPr>
            <p:spPr bwMode="auto">
              <a:xfrm>
                <a:off x="1780" y="3840"/>
                <a:ext cx="328"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26" name="Line 53"/>
              <p:cNvSpPr>
                <a:spLocks noChangeShapeType="1"/>
              </p:cNvSpPr>
              <p:nvPr/>
            </p:nvSpPr>
            <p:spPr bwMode="auto">
              <a:xfrm flipH="1">
                <a:off x="1580" y="2832"/>
                <a:ext cx="10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27" name="Line 54"/>
              <p:cNvSpPr>
                <a:spLocks noChangeShapeType="1"/>
              </p:cNvSpPr>
              <p:nvPr/>
            </p:nvSpPr>
            <p:spPr bwMode="auto">
              <a:xfrm flipH="1">
                <a:off x="1580" y="3360"/>
                <a:ext cx="10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28" name="Line 55"/>
              <p:cNvSpPr>
                <a:spLocks noChangeShapeType="1"/>
              </p:cNvSpPr>
              <p:nvPr/>
            </p:nvSpPr>
            <p:spPr bwMode="auto">
              <a:xfrm flipH="1">
                <a:off x="1580" y="3792"/>
                <a:ext cx="10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29" name="Line 56"/>
              <p:cNvSpPr>
                <a:spLocks noChangeShapeType="1"/>
              </p:cNvSpPr>
              <p:nvPr/>
            </p:nvSpPr>
            <p:spPr bwMode="auto">
              <a:xfrm>
                <a:off x="4032" y="2884"/>
                <a:ext cx="0" cy="9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30" name="Line 57"/>
              <p:cNvSpPr>
                <a:spLocks noChangeShapeType="1"/>
              </p:cNvSpPr>
              <p:nvPr/>
            </p:nvSpPr>
            <p:spPr bwMode="auto">
              <a:xfrm flipH="1">
                <a:off x="3644" y="3312"/>
                <a:ext cx="392"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31" name="Line 58"/>
              <p:cNvSpPr>
                <a:spLocks noChangeShapeType="1"/>
              </p:cNvSpPr>
              <p:nvPr/>
            </p:nvSpPr>
            <p:spPr bwMode="auto">
              <a:xfrm flipH="1">
                <a:off x="3932" y="3072"/>
                <a:ext cx="10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32" name="Line 59"/>
              <p:cNvSpPr>
                <a:spLocks noChangeShapeType="1"/>
              </p:cNvSpPr>
              <p:nvPr/>
            </p:nvSpPr>
            <p:spPr bwMode="auto">
              <a:xfrm flipV="1">
                <a:off x="3936" y="2828"/>
                <a:ext cx="0" cy="24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33" name="Line 60"/>
              <p:cNvSpPr>
                <a:spLocks noChangeShapeType="1"/>
              </p:cNvSpPr>
              <p:nvPr/>
            </p:nvSpPr>
            <p:spPr bwMode="auto">
              <a:xfrm flipH="1">
                <a:off x="3932" y="3552"/>
                <a:ext cx="104"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34" name="Line 61"/>
              <p:cNvSpPr>
                <a:spLocks noChangeShapeType="1"/>
              </p:cNvSpPr>
              <p:nvPr/>
            </p:nvSpPr>
            <p:spPr bwMode="auto">
              <a:xfrm>
                <a:off x="3936" y="3556"/>
                <a:ext cx="0" cy="32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35" name="Line 62"/>
              <p:cNvSpPr>
                <a:spLocks noChangeShapeType="1"/>
              </p:cNvSpPr>
              <p:nvPr/>
            </p:nvSpPr>
            <p:spPr bwMode="auto">
              <a:xfrm flipH="1">
                <a:off x="3644" y="3888"/>
                <a:ext cx="296"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36" name="Line 63"/>
              <p:cNvSpPr>
                <a:spLocks noChangeShapeType="1"/>
              </p:cNvSpPr>
              <p:nvPr/>
            </p:nvSpPr>
            <p:spPr bwMode="auto">
              <a:xfrm flipH="1">
                <a:off x="3644" y="2832"/>
                <a:ext cx="296"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37" name="Line 64"/>
              <p:cNvSpPr>
                <a:spLocks noChangeShapeType="1"/>
              </p:cNvSpPr>
              <p:nvPr/>
            </p:nvSpPr>
            <p:spPr bwMode="auto">
              <a:xfrm>
                <a:off x="4036" y="2880"/>
                <a:ext cx="232"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38" name="Line 65"/>
              <p:cNvSpPr>
                <a:spLocks noChangeShapeType="1"/>
              </p:cNvSpPr>
              <p:nvPr/>
            </p:nvSpPr>
            <p:spPr bwMode="auto">
              <a:xfrm flipH="1">
                <a:off x="4028" y="3312"/>
                <a:ext cx="248"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39" name="Line 66"/>
              <p:cNvSpPr>
                <a:spLocks noChangeShapeType="1"/>
              </p:cNvSpPr>
              <p:nvPr/>
            </p:nvSpPr>
            <p:spPr bwMode="auto">
              <a:xfrm flipH="1">
                <a:off x="4028" y="3840"/>
                <a:ext cx="152"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75840" name="Line 67"/>
              <p:cNvSpPr>
                <a:spLocks noChangeShapeType="1"/>
              </p:cNvSpPr>
              <p:nvPr/>
            </p:nvSpPr>
            <p:spPr bwMode="auto">
              <a:xfrm flipH="1">
                <a:off x="3792" y="1248"/>
                <a:ext cx="48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grpSp>
      <p:sp>
        <p:nvSpPr>
          <p:cNvPr id="2" name="Footer Placeholder 1"/>
          <p:cNvSpPr>
            <a:spLocks noGrp="1"/>
          </p:cNvSpPr>
          <p:nvPr>
            <p:ph type="ftr" sz="quarter" idx="11"/>
          </p:nvPr>
        </p:nvSpPr>
        <p:spPr>
          <a:xfrm>
            <a:off x="4428035" y="6278456"/>
            <a:ext cx="44704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Newburry 2026 DBA International Business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title" idx="4294967295"/>
          </p:nvPr>
        </p:nvSpPr>
        <p:spPr>
          <a:xfrm>
            <a:off x="2514600" y="467248"/>
            <a:ext cx="8077200" cy="1143000"/>
          </a:xfrm>
        </p:spPr>
        <p:txBody>
          <a:bodyPr>
            <a:normAutofit fontScale="90000"/>
          </a:bodyPr>
          <a:lstStyle/>
          <a:p>
            <a:pPr eaLnBrk="1" hangingPunct="1">
              <a:defRPr/>
            </a:pPr>
            <a:r>
              <a:rPr lang="en-US" sz="4000" b="1" dirty="0"/>
              <a:t>McDonnell Douglas Corporation</a:t>
            </a:r>
            <a:br>
              <a:rPr lang="en-US" sz="4000" b="1" dirty="0"/>
            </a:br>
            <a:r>
              <a:rPr lang="en-US" sz="4000" b="1" dirty="0"/>
              <a:t>(when I worked there)</a:t>
            </a:r>
          </a:p>
        </p:txBody>
      </p:sp>
      <p:grpSp>
        <p:nvGrpSpPr>
          <p:cNvPr id="5" name="Group 4" descr="McDonnell Douglas Structure">
            <a:extLst>
              <a:ext uri="{FF2B5EF4-FFF2-40B4-BE49-F238E27FC236}">
                <a16:creationId xmlns:a16="http://schemas.microsoft.com/office/drawing/2014/main" id="{C2B27B7E-A877-40D8-7D53-AD74C4A2E252}"/>
              </a:ext>
            </a:extLst>
          </p:cNvPr>
          <p:cNvGrpSpPr/>
          <p:nvPr/>
        </p:nvGrpSpPr>
        <p:grpSpPr>
          <a:xfrm>
            <a:off x="2514600" y="2219848"/>
            <a:ext cx="8382000" cy="3733800"/>
            <a:chOff x="2514600" y="2219848"/>
            <a:chExt cx="8382000" cy="3733800"/>
          </a:xfrm>
        </p:grpSpPr>
        <p:grpSp>
          <p:nvGrpSpPr>
            <p:cNvPr id="2" name="Group 3"/>
            <p:cNvGrpSpPr>
              <a:grpSpLocks/>
            </p:cNvGrpSpPr>
            <p:nvPr/>
          </p:nvGrpSpPr>
          <p:grpSpPr bwMode="auto">
            <a:xfrm>
              <a:off x="4191000" y="2219848"/>
              <a:ext cx="6553200" cy="3733800"/>
              <a:chOff x="1344" y="1392"/>
              <a:chExt cx="4128" cy="2352"/>
            </a:xfrm>
          </p:grpSpPr>
          <p:sp>
            <p:nvSpPr>
              <p:cNvPr id="76818" name="Rectangle 4"/>
              <p:cNvSpPr>
                <a:spLocks noChangeArrowheads="1"/>
              </p:cNvSpPr>
              <p:nvPr/>
            </p:nvSpPr>
            <p:spPr bwMode="auto">
              <a:xfrm>
                <a:off x="1344" y="1392"/>
                <a:ext cx="960" cy="384"/>
              </a:xfrm>
              <a:prstGeom prst="rect">
                <a:avLst/>
              </a:prstGeom>
              <a:solidFill>
                <a:schemeClr val="accent1"/>
              </a:solidFill>
              <a:ln w="12700">
                <a:solidFill>
                  <a:schemeClr val="bg1"/>
                </a:solidFill>
                <a:miter lim="800000"/>
                <a:headEnd type="none" w="sm" len="sm"/>
                <a:tailEnd type="none" w="sm" len="sm"/>
              </a:ln>
            </p:spPr>
            <p:txBody>
              <a:bodyPr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Contracts &amp; </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Pricing</a:t>
                </a:r>
              </a:p>
            </p:txBody>
          </p:sp>
          <p:sp>
            <p:nvSpPr>
              <p:cNvPr id="76819" name="Rectangle 5"/>
              <p:cNvSpPr>
                <a:spLocks noChangeArrowheads="1"/>
              </p:cNvSpPr>
              <p:nvPr/>
            </p:nvSpPr>
            <p:spPr bwMode="auto">
              <a:xfrm>
                <a:off x="2400" y="1392"/>
                <a:ext cx="960" cy="384"/>
              </a:xfrm>
              <a:prstGeom prst="rect">
                <a:avLst/>
              </a:prstGeom>
              <a:solidFill>
                <a:schemeClr val="accent1"/>
              </a:solidFill>
              <a:ln w="12700">
                <a:solidFill>
                  <a:schemeClr val="bg1"/>
                </a:solidFill>
                <a:miter lim="800000"/>
                <a:headEnd type="none" w="sm" len="sm"/>
                <a:tailEnd type="none" w="sm" len="sm"/>
              </a:ln>
            </p:spPr>
            <p:txBody>
              <a:bodyPr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Engineering</a:t>
                </a:r>
              </a:p>
            </p:txBody>
          </p:sp>
          <p:sp>
            <p:nvSpPr>
              <p:cNvPr id="76820" name="Rectangle 6"/>
              <p:cNvSpPr>
                <a:spLocks noChangeArrowheads="1"/>
              </p:cNvSpPr>
              <p:nvPr/>
            </p:nvSpPr>
            <p:spPr bwMode="auto">
              <a:xfrm>
                <a:off x="3456" y="1392"/>
                <a:ext cx="960" cy="384"/>
              </a:xfrm>
              <a:prstGeom prst="rect">
                <a:avLst/>
              </a:prstGeom>
              <a:solidFill>
                <a:schemeClr val="accent1"/>
              </a:solidFill>
              <a:ln w="12700">
                <a:solidFill>
                  <a:schemeClr val="bg1"/>
                </a:solidFill>
                <a:miter lim="800000"/>
                <a:headEnd type="none" w="sm" len="sm"/>
                <a:tailEnd type="none" w="sm" len="sm"/>
              </a:ln>
            </p:spPr>
            <p:txBody>
              <a:bodyPr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Manufacturing</a:t>
                </a:r>
              </a:p>
            </p:txBody>
          </p:sp>
          <p:sp>
            <p:nvSpPr>
              <p:cNvPr id="76821" name="Rectangle 7"/>
              <p:cNvSpPr>
                <a:spLocks noChangeArrowheads="1"/>
              </p:cNvSpPr>
              <p:nvPr/>
            </p:nvSpPr>
            <p:spPr bwMode="auto">
              <a:xfrm>
                <a:off x="4512" y="1392"/>
                <a:ext cx="960" cy="384"/>
              </a:xfrm>
              <a:prstGeom prst="rect">
                <a:avLst/>
              </a:prstGeom>
              <a:solidFill>
                <a:schemeClr val="accent1"/>
              </a:solidFill>
              <a:ln w="12700">
                <a:solidFill>
                  <a:schemeClr val="bg1"/>
                </a:solidFill>
                <a:miter lim="800000"/>
                <a:headEnd type="none" w="sm" len="sm"/>
                <a:tailEnd type="none" w="sm" len="sm"/>
              </a:ln>
            </p:spPr>
            <p:txBody>
              <a:bodyPr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Quality </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Assurance</a:t>
                </a:r>
              </a:p>
            </p:txBody>
          </p:sp>
          <p:sp>
            <p:nvSpPr>
              <p:cNvPr id="76822" name="AutoShape 8"/>
              <p:cNvSpPr>
                <a:spLocks noChangeArrowheads="1"/>
              </p:cNvSpPr>
              <p:nvPr/>
            </p:nvSpPr>
            <p:spPr bwMode="auto">
              <a:xfrm>
                <a:off x="1776" y="1824"/>
                <a:ext cx="144" cy="1920"/>
              </a:xfrm>
              <a:prstGeom prst="downArrow">
                <a:avLst>
                  <a:gd name="adj1" fmla="val 50000"/>
                  <a:gd name="adj2" fmla="val 333333"/>
                </a:avLst>
              </a:prstGeom>
              <a:solidFill>
                <a:schemeClr val="accent1"/>
              </a:solidFill>
              <a:ln w="12700">
                <a:solidFill>
                  <a:schemeClr val="bg1"/>
                </a:solidFill>
                <a:miter lim="800000"/>
                <a:headEnd type="none" w="sm" len="sm"/>
                <a:tailEnd type="none" w="sm" len="sm"/>
              </a:ln>
            </p:spPr>
            <p:txBody>
              <a:bodyPr vert="eaVert"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76823" name="AutoShape 9"/>
              <p:cNvSpPr>
                <a:spLocks noChangeArrowheads="1"/>
              </p:cNvSpPr>
              <p:nvPr/>
            </p:nvSpPr>
            <p:spPr bwMode="auto">
              <a:xfrm>
                <a:off x="2832" y="1824"/>
                <a:ext cx="144" cy="1920"/>
              </a:xfrm>
              <a:prstGeom prst="downArrow">
                <a:avLst>
                  <a:gd name="adj1" fmla="val 50000"/>
                  <a:gd name="adj2" fmla="val 333333"/>
                </a:avLst>
              </a:prstGeom>
              <a:solidFill>
                <a:schemeClr val="accent1"/>
              </a:solidFill>
              <a:ln w="12700">
                <a:solidFill>
                  <a:schemeClr val="bg1"/>
                </a:solidFill>
                <a:miter lim="800000"/>
                <a:headEnd type="none" w="sm" len="sm"/>
                <a:tailEnd type="none" w="sm" len="sm"/>
              </a:ln>
            </p:spPr>
            <p:txBody>
              <a:bodyPr vert="eaVert"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76824" name="AutoShape 10"/>
              <p:cNvSpPr>
                <a:spLocks noChangeArrowheads="1"/>
              </p:cNvSpPr>
              <p:nvPr/>
            </p:nvSpPr>
            <p:spPr bwMode="auto">
              <a:xfrm>
                <a:off x="3888" y="1824"/>
                <a:ext cx="144" cy="1920"/>
              </a:xfrm>
              <a:prstGeom prst="downArrow">
                <a:avLst>
                  <a:gd name="adj1" fmla="val 50000"/>
                  <a:gd name="adj2" fmla="val 333333"/>
                </a:avLst>
              </a:prstGeom>
              <a:solidFill>
                <a:schemeClr val="accent1"/>
              </a:solidFill>
              <a:ln w="12700">
                <a:solidFill>
                  <a:schemeClr val="bg1"/>
                </a:solidFill>
                <a:miter lim="800000"/>
                <a:headEnd type="none" w="sm" len="sm"/>
                <a:tailEnd type="none" w="sm" len="sm"/>
              </a:ln>
            </p:spPr>
            <p:txBody>
              <a:bodyPr vert="eaVert"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76825" name="AutoShape 11"/>
              <p:cNvSpPr>
                <a:spLocks noChangeArrowheads="1"/>
              </p:cNvSpPr>
              <p:nvPr/>
            </p:nvSpPr>
            <p:spPr bwMode="auto">
              <a:xfrm>
                <a:off x="4944" y="1824"/>
                <a:ext cx="144" cy="1920"/>
              </a:xfrm>
              <a:prstGeom prst="downArrow">
                <a:avLst>
                  <a:gd name="adj1" fmla="val 50000"/>
                  <a:gd name="adj2" fmla="val 333333"/>
                </a:avLst>
              </a:prstGeom>
              <a:solidFill>
                <a:schemeClr val="accent1"/>
              </a:solidFill>
              <a:ln w="12700">
                <a:solidFill>
                  <a:schemeClr val="bg1"/>
                </a:solidFill>
                <a:miter lim="800000"/>
                <a:headEnd type="none" w="sm" len="sm"/>
                <a:tailEnd type="none" w="sm" len="sm"/>
              </a:ln>
            </p:spPr>
            <p:txBody>
              <a:bodyPr vert="eaVert"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grpSp>
        <p:grpSp>
          <p:nvGrpSpPr>
            <p:cNvPr id="3" name="Group 12"/>
            <p:cNvGrpSpPr>
              <a:grpSpLocks/>
            </p:cNvGrpSpPr>
            <p:nvPr/>
          </p:nvGrpSpPr>
          <p:grpSpPr bwMode="auto">
            <a:xfrm>
              <a:off x="2514600" y="2981848"/>
              <a:ext cx="8382000" cy="2895600"/>
              <a:chOff x="288" y="1872"/>
              <a:chExt cx="5280" cy="1824"/>
            </a:xfrm>
          </p:grpSpPr>
          <p:sp>
            <p:nvSpPr>
              <p:cNvPr id="76810" name="Rectangle 13"/>
              <p:cNvSpPr>
                <a:spLocks noChangeArrowheads="1"/>
              </p:cNvSpPr>
              <p:nvPr/>
            </p:nvSpPr>
            <p:spPr bwMode="auto">
              <a:xfrm>
                <a:off x="288" y="1872"/>
                <a:ext cx="960" cy="384"/>
              </a:xfrm>
              <a:prstGeom prst="rect">
                <a:avLst/>
              </a:prstGeom>
              <a:solidFill>
                <a:schemeClr val="accent1"/>
              </a:solidFill>
              <a:ln w="12700">
                <a:solidFill>
                  <a:schemeClr val="bg1"/>
                </a:solidFill>
                <a:miter lim="800000"/>
                <a:headEnd type="none" w="sm" len="sm"/>
                <a:tailEnd type="none" w="sm" len="sm"/>
              </a:ln>
            </p:spPr>
            <p:txBody>
              <a:bodyPr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F-15 U.S.</a:t>
                </a:r>
              </a:p>
            </p:txBody>
          </p:sp>
          <p:sp>
            <p:nvSpPr>
              <p:cNvPr id="76811" name="Rectangle 14"/>
              <p:cNvSpPr>
                <a:spLocks noChangeArrowheads="1"/>
              </p:cNvSpPr>
              <p:nvPr/>
            </p:nvSpPr>
            <p:spPr bwMode="auto">
              <a:xfrm>
                <a:off x="288" y="3312"/>
                <a:ext cx="960" cy="384"/>
              </a:xfrm>
              <a:prstGeom prst="rect">
                <a:avLst/>
              </a:prstGeom>
              <a:solidFill>
                <a:schemeClr val="accent1"/>
              </a:solidFill>
              <a:ln w="12700">
                <a:solidFill>
                  <a:schemeClr val="bg1"/>
                </a:solidFill>
                <a:miter lim="800000"/>
                <a:headEnd type="none" w="sm" len="sm"/>
                <a:tailEnd type="none" w="sm" len="sm"/>
              </a:ln>
            </p:spPr>
            <p:txBody>
              <a:bodyPr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AV8-B</a:t>
                </a:r>
              </a:p>
            </p:txBody>
          </p:sp>
          <p:sp>
            <p:nvSpPr>
              <p:cNvPr id="76812" name="Rectangle 15"/>
              <p:cNvSpPr>
                <a:spLocks noChangeArrowheads="1"/>
              </p:cNvSpPr>
              <p:nvPr/>
            </p:nvSpPr>
            <p:spPr bwMode="auto">
              <a:xfrm>
                <a:off x="288" y="2832"/>
                <a:ext cx="960" cy="384"/>
              </a:xfrm>
              <a:prstGeom prst="rect">
                <a:avLst/>
              </a:prstGeom>
              <a:solidFill>
                <a:schemeClr val="accent1"/>
              </a:solidFill>
              <a:ln w="12700">
                <a:solidFill>
                  <a:schemeClr val="bg1"/>
                </a:solidFill>
                <a:miter lim="800000"/>
                <a:headEnd type="none" w="sm" len="sm"/>
                <a:tailEnd type="none" w="sm" len="sm"/>
              </a:ln>
            </p:spPr>
            <p:txBody>
              <a:bodyPr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F-18</a:t>
                </a:r>
              </a:p>
            </p:txBody>
          </p:sp>
          <p:sp>
            <p:nvSpPr>
              <p:cNvPr id="76813" name="Rectangle 16"/>
              <p:cNvSpPr>
                <a:spLocks noChangeArrowheads="1"/>
              </p:cNvSpPr>
              <p:nvPr/>
            </p:nvSpPr>
            <p:spPr bwMode="auto">
              <a:xfrm>
                <a:off x="288" y="2352"/>
                <a:ext cx="960" cy="384"/>
              </a:xfrm>
              <a:prstGeom prst="rect">
                <a:avLst/>
              </a:prstGeom>
              <a:solidFill>
                <a:schemeClr val="accent1"/>
              </a:solidFill>
              <a:ln w="12700">
                <a:solidFill>
                  <a:schemeClr val="bg1"/>
                </a:solidFill>
                <a:miter lim="800000"/>
                <a:headEnd type="none" w="sm" len="sm"/>
                <a:tailEnd type="none" w="sm" len="sm"/>
              </a:ln>
            </p:spPr>
            <p:txBody>
              <a:bodyPr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F-15 Japan</a:t>
                </a:r>
              </a:p>
            </p:txBody>
          </p:sp>
          <p:sp>
            <p:nvSpPr>
              <p:cNvPr id="76814" name="AutoShape 17"/>
              <p:cNvSpPr>
                <a:spLocks noChangeArrowheads="1"/>
              </p:cNvSpPr>
              <p:nvPr/>
            </p:nvSpPr>
            <p:spPr bwMode="auto">
              <a:xfrm>
                <a:off x="1296" y="1968"/>
                <a:ext cx="4272" cy="144"/>
              </a:xfrm>
              <a:prstGeom prst="rightArrow">
                <a:avLst>
                  <a:gd name="adj1" fmla="val 50000"/>
                  <a:gd name="adj2" fmla="val 741667"/>
                </a:avLst>
              </a:prstGeom>
              <a:solidFill>
                <a:schemeClr val="accent1"/>
              </a:solidFill>
              <a:ln w="12700">
                <a:solidFill>
                  <a:schemeClr val="bg1"/>
                </a:solidFill>
                <a:miter lim="800000"/>
                <a:headEnd type="none" w="sm" len="sm"/>
                <a:tailEnd type="none" w="sm" len="sm"/>
              </a:ln>
            </p:spPr>
            <p:txBody>
              <a:bodyPr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76815" name="AutoShape 18"/>
              <p:cNvSpPr>
                <a:spLocks noChangeArrowheads="1"/>
              </p:cNvSpPr>
              <p:nvPr/>
            </p:nvSpPr>
            <p:spPr bwMode="auto">
              <a:xfrm>
                <a:off x="1296" y="2448"/>
                <a:ext cx="4272" cy="144"/>
              </a:xfrm>
              <a:prstGeom prst="rightArrow">
                <a:avLst>
                  <a:gd name="adj1" fmla="val 50000"/>
                  <a:gd name="adj2" fmla="val 741667"/>
                </a:avLst>
              </a:prstGeom>
              <a:solidFill>
                <a:schemeClr val="accent1"/>
              </a:solidFill>
              <a:ln w="12700">
                <a:solidFill>
                  <a:schemeClr val="bg1"/>
                </a:solidFill>
                <a:miter lim="800000"/>
                <a:headEnd type="none" w="sm" len="sm"/>
                <a:tailEnd type="none" w="sm" len="sm"/>
              </a:ln>
            </p:spPr>
            <p:txBody>
              <a:bodyPr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76816" name="AutoShape 19"/>
              <p:cNvSpPr>
                <a:spLocks noChangeArrowheads="1"/>
              </p:cNvSpPr>
              <p:nvPr/>
            </p:nvSpPr>
            <p:spPr bwMode="auto">
              <a:xfrm>
                <a:off x="1296" y="2928"/>
                <a:ext cx="4272" cy="144"/>
              </a:xfrm>
              <a:prstGeom prst="rightArrow">
                <a:avLst>
                  <a:gd name="adj1" fmla="val 50000"/>
                  <a:gd name="adj2" fmla="val 741667"/>
                </a:avLst>
              </a:prstGeom>
              <a:solidFill>
                <a:schemeClr val="accent1"/>
              </a:solidFill>
              <a:ln w="12700">
                <a:solidFill>
                  <a:schemeClr val="bg1"/>
                </a:solidFill>
                <a:miter lim="800000"/>
                <a:headEnd type="none" w="sm" len="sm"/>
                <a:tailEnd type="none" w="sm" len="sm"/>
              </a:ln>
            </p:spPr>
            <p:txBody>
              <a:bodyPr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76817" name="AutoShape 20"/>
              <p:cNvSpPr>
                <a:spLocks noChangeArrowheads="1"/>
              </p:cNvSpPr>
              <p:nvPr/>
            </p:nvSpPr>
            <p:spPr bwMode="auto">
              <a:xfrm>
                <a:off x="1296" y="3408"/>
                <a:ext cx="4272" cy="144"/>
              </a:xfrm>
              <a:prstGeom prst="rightArrow">
                <a:avLst>
                  <a:gd name="adj1" fmla="val 50000"/>
                  <a:gd name="adj2" fmla="val 741667"/>
                </a:avLst>
              </a:prstGeom>
              <a:solidFill>
                <a:schemeClr val="accent1"/>
              </a:solidFill>
              <a:ln w="12700">
                <a:solidFill>
                  <a:schemeClr val="bg1"/>
                </a:solidFill>
                <a:miter lim="800000"/>
                <a:headEnd type="none" w="sm" len="sm"/>
                <a:tailEnd type="none" w="sm" len="sm"/>
              </a:ln>
            </p:spPr>
            <p:txBody>
              <a:bodyPr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grpSp>
        <p:sp>
          <p:nvSpPr>
            <p:cNvPr id="313365" name="AutoShape 21"/>
            <p:cNvSpPr>
              <a:spLocks noChangeArrowheads="1"/>
            </p:cNvSpPr>
            <p:nvPr/>
          </p:nvSpPr>
          <p:spPr bwMode="auto">
            <a:xfrm>
              <a:off x="4724400" y="2981848"/>
              <a:ext cx="533400" cy="457200"/>
            </a:xfrm>
            <a:prstGeom prst="star5">
              <a:avLst/>
            </a:prstGeom>
            <a:solidFill>
              <a:srgbClr val="FF0000"/>
            </a:solidFill>
            <a:ln w="12700">
              <a:solidFill>
                <a:schemeClr val="bg1"/>
              </a:solidFill>
              <a:miter lim="800000"/>
              <a:headEnd type="none" w="sm" len="sm"/>
              <a:tailEnd type="none" w="sm" len="sm"/>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13366" name="AutoShape 22"/>
            <p:cNvSpPr>
              <a:spLocks noChangeArrowheads="1"/>
            </p:cNvSpPr>
            <p:nvPr/>
          </p:nvSpPr>
          <p:spPr bwMode="auto">
            <a:xfrm>
              <a:off x="4724400" y="3743848"/>
              <a:ext cx="533400" cy="457200"/>
            </a:xfrm>
            <a:prstGeom prst="star5">
              <a:avLst/>
            </a:prstGeom>
            <a:solidFill>
              <a:srgbClr val="FF0000"/>
            </a:solidFill>
            <a:ln w="12700">
              <a:solidFill>
                <a:schemeClr val="bg1"/>
              </a:solidFill>
              <a:miter lim="800000"/>
              <a:headEnd type="none" w="sm" len="sm"/>
              <a:tailEnd type="none" w="sm" len="sm"/>
            </a:ln>
            <a:effectLst/>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4" name="Footer Placeholder 3"/>
          <p:cNvSpPr>
            <a:spLocks noGrp="1"/>
          </p:cNvSpPr>
          <p:nvPr>
            <p:ph type="ftr" sz="quarter" idx="11"/>
          </p:nvPr>
        </p:nvSpPr>
        <p:spPr>
          <a:xfrm>
            <a:off x="4559440" y="6243638"/>
            <a:ext cx="44704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Newburry 2026 DBA International Business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3346"/>
                                        </p:tgtEl>
                                        <p:attrNameLst>
                                          <p:attrName>style.visibility</p:attrName>
                                        </p:attrNameLst>
                                      </p:cBhvr>
                                      <p:to>
                                        <p:strVal val="visible"/>
                                      </p:to>
                                    </p:set>
                                    <p:animEffect transition="in" filter="blinds(horizontal)">
                                      <p:cBhvr>
                                        <p:cTn id="7" dur="500"/>
                                        <p:tgtEl>
                                          <p:spTgt spid="313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6"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1" name="Rectangle 2"/>
          <p:cNvSpPr>
            <a:spLocks noGrp="1" noChangeArrowheads="1"/>
          </p:cNvSpPr>
          <p:nvPr>
            <p:ph type="title" idx="4294967295"/>
          </p:nvPr>
        </p:nvSpPr>
        <p:spPr>
          <a:xfrm>
            <a:off x="2574053" y="455615"/>
            <a:ext cx="8229600" cy="1143000"/>
          </a:xfrm>
        </p:spPr>
        <p:txBody>
          <a:bodyPr>
            <a:normAutofit fontScale="90000"/>
          </a:bodyPr>
          <a:lstStyle/>
          <a:p>
            <a:pPr eaLnBrk="1" hangingPunct="1">
              <a:defRPr/>
            </a:pPr>
            <a:r>
              <a:rPr lang="en-US" sz="4000" b="1" dirty="0"/>
              <a:t>Ciba-Geigy Before Early 1990’s Reorganization</a:t>
            </a:r>
          </a:p>
        </p:txBody>
      </p:sp>
      <p:sp>
        <p:nvSpPr>
          <p:cNvPr id="304132" name="Rectangle 3"/>
          <p:cNvSpPr>
            <a:spLocks noGrp="1" noChangeArrowheads="1"/>
          </p:cNvSpPr>
          <p:nvPr>
            <p:ph type="body" idx="4294967295"/>
          </p:nvPr>
        </p:nvSpPr>
        <p:spPr>
          <a:xfrm>
            <a:off x="2785068" y="2235358"/>
            <a:ext cx="4267200" cy="2833687"/>
          </a:xfrm>
        </p:spPr>
        <p:txBody>
          <a:bodyPr>
            <a:normAutofit lnSpcReduction="10000"/>
          </a:bodyPr>
          <a:lstStyle/>
          <a:p>
            <a:pPr eaLnBrk="1" hangingPunct="1">
              <a:lnSpc>
                <a:spcPct val="90000"/>
              </a:lnSpc>
              <a:defRPr/>
            </a:pPr>
            <a:r>
              <a:rPr lang="en-US" sz="3600">
                <a:effectLst>
                  <a:outerShdw blurRad="38100" dist="38100" dir="2700000" algn="tl">
                    <a:srgbClr val="000000"/>
                  </a:outerShdw>
                </a:effectLst>
              </a:rPr>
              <a:t>“Cube” – reporting lines based on three dimensions: geography, business and function</a:t>
            </a:r>
          </a:p>
          <a:p>
            <a:pPr eaLnBrk="1" hangingPunct="1">
              <a:lnSpc>
                <a:spcPct val="90000"/>
              </a:lnSpc>
              <a:defRPr/>
            </a:pPr>
            <a:endParaRPr lang="en-US" sz="3600">
              <a:effectLst>
                <a:outerShdw blurRad="38100" dist="38100" dir="2700000" algn="tl">
                  <a:srgbClr val="000000"/>
                </a:outerShdw>
              </a:effectLst>
            </a:endParaRPr>
          </a:p>
        </p:txBody>
      </p:sp>
      <p:sp>
        <p:nvSpPr>
          <p:cNvPr id="77830" name="AutoShape 4"/>
          <p:cNvSpPr>
            <a:spLocks noChangeArrowheads="1"/>
          </p:cNvSpPr>
          <p:nvPr/>
        </p:nvSpPr>
        <p:spPr bwMode="auto">
          <a:xfrm>
            <a:off x="7280868" y="2243294"/>
            <a:ext cx="3429000" cy="3124200"/>
          </a:xfrm>
          <a:prstGeom prst="cube">
            <a:avLst>
              <a:gd name="adj" fmla="val 25000"/>
            </a:avLst>
          </a:prstGeom>
          <a:solidFill>
            <a:srgbClr val="0000FF"/>
          </a:solidFill>
          <a:ln w="12700">
            <a:solidFill>
              <a:schemeClr val="tx1"/>
            </a:solidFill>
            <a:miter lim="800000"/>
            <a:headEnd type="none" w="sm" len="sm"/>
            <a:tailEnd type="none" w="sm" len="sm"/>
          </a:ln>
        </p:spPr>
        <p:txBody>
          <a:bodyPr wrap="none" anchor="ct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Geography</a:t>
            </a:r>
          </a:p>
        </p:txBody>
      </p:sp>
      <p:sp>
        <p:nvSpPr>
          <p:cNvPr id="77831" name="Text Box 5"/>
          <p:cNvSpPr txBox="1">
            <a:spLocks noChangeArrowheads="1"/>
          </p:cNvSpPr>
          <p:nvPr/>
        </p:nvSpPr>
        <p:spPr bwMode="auto">
          <a:xfrm>
            <a:off x="8347668" y="2471894"/>
            <a:ext cx="142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Business</a:t>
            </a:r>
          </a:p>
        </p:txBody>
      </p:sp>
      <p:sp>
        <p:nvSpPr>
          <p:cNvPr id="77832" name="Text Box 6"/>
          <p:cNvSpPr txBox="1">
            <a:spLocks noChangeArrowheads="1"/>
          </p:cNvSpPr>
          <p:nvPr/>
        </p:nvSpPr>
        <p:spPr bwMode="auto">
          <a:xfrm rot="5400000">
            <a:off x="9671896" y="3624699"/>
            <a:ext cx="1354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Function</a:t>
            </a:r>
          </a:p>
        </p:txBody>
      </p:sp>
      <p:sp>
        <p:nvSpPr>
          <p:cNvPr id="2" name="Footer Placeholder 1"/>
          <p:cNvSpPr>
            <a:spLocks noGrp="1"/>
          </p:cNvSpPr>
          <p:nvPr>
            <p:ph type="ftr" sz="quarter" idx="11"/>
          </p:nvPr>
        </p:nvSpPr>
        <p:spPr>
          <a:xfrm>
            <a:off x="4453653" y="6243638"/>
            <a:ext cx="44704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Newburry 2026 DBA International Business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5" name="Rectangle 2"/>
          <p:cNvSpPr>
            <a:spLocks noGrp="1" noChangeArrowheads="1"/>
          </p:cNvSpPr>
          <p:nvPr>
            <p:ph type="title" idx="4294967295"/>
          </p:nvPr>
        </p:nvSpPr>
        <p:spPr>
          <a:xfrm>
            <a:off x="2624295" y="244476"/>
            <a:ext cx="8458200" cy="1143000"/>
          </a:xfrm>
        </p:spPr>
        <p:txBody>
          <a:bodyPr vert="horz" lIns="90488" tIns="44450" rIns="90488" bIns="44450" rtlCol="0" anchor="ctr">
            <a:normAutofit/>
          </a:bodyPr>
          <a:lstStyle/>
          <a:p>
            <a:pPr eaLnBrk="1" hangingPunct="1">
              <a:defRPr/>
            </a:pPr>
            <a:r>
              <a:rPr lang="en-US" sz="4000" b="1" dirty="0"/>
              <a:t>Stages of International Structure</a:t>
            </a:r>
          </a:p>
        </p:txBody>
      </p:sp>
      <p:sp>
        <p:nvSpPr>
          <p:cNvPr id="78853" name="Freeform 3" descr="Stages of International Structure"/>
          <p:cNvSpPr>
            <a:spLocks/>
          </p:cNvSpPr>
          <p:nvPr/>
        </p:nvSpPr>
        <p:spPr bwMode="auto">
          <a:xfrm>
            <a:off x="3626583" y="2498725"/>
            <a:ext cx="3505200" cy="3048000"/>
          </a:xfrm>
          <a:custGeom>
            <a:avLst/>
            <a:gdLst>
              <a:gd name="T0" fmla="*/ 0 w 2208"/>
              <a:gd name="T1" fmla="*/ 2147483646 h 1920"/>
              <a:gd name="T2" fmla="*/ 2147483646 w 2208"/>
              <a:gd name="T3" fmla="*/ 2147483646 h 1920"/>
              <a:gd name="T4" fmla="*/ 2147483646 w 2208"/>
              <a:gd name="T5" fmla="*/ 0 h 1920"/>
              <a:gd name="T6" fmla="*/ 0 60000 65536"/>
              <a:gd name="T7" fmla="*/ 0 60000 65536"/>
              <a:gd name="T8" fmla="*/ 0 60000 65536"/>
              <a:gd name="T9" fmla="*/ 0 w 2208"/>
              <a:gd name="T10" fmla="*/ 0 h 1920"/>
              <a:gd name="T11" fmla="*/ 2208 w 2208"/>
              <a:gd name="T12" fmla="*/ 1920 h 1920"/>
            </a:gdLst>
            <a:ahLst/>
            <a:cxnLst>
              <a:cxn ang="T6">
                <a:pos x="T0" y="T1"/>
              </a:cxn>
              <a:cxn ang="T7">
                <a:pos x="T2" y="T3"/>
              </a:cxn>
              <a:cxn ang="T8">
                <a:pos x="T4" y="T5"/>
              </a:cxn>
            </a:cxnLst>
            <a:rect l="T9" t="T10" r="T11" b="T12"/>
            <a:pathLst>
              <a:path w="2208" h="1920">
                <a:moveTo>
                  <a:pt x="0" y="1920"/>
                </a:moveTo>
                <a:cubicBezTo>
                  <a:pt x="104" y="1456"/>
                  <a:pt x="208" y="992"/>
                  <a:pt x="576" y="672"/>
                </a:cubicBezTo>
                <a:cubicBezTo>
                  <a:pt x="944" y="352"/>
                  <a:pt x="1576" y="176"/>
                  <a:pt x="2208" y="0"/>
                </a:cubicBezTo>
              </a:path>
            </a:pathLst>
          </a:custGeom>
          <a:noFill/>
          <a:ln w="12700">
            <a:solidFill>
              <a:schemeClr val="bg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8857" name="Freeform 7">
            <a:extLst>
              <a:ext uri="{C183D7F6-B498-43B3-948B-1728B52AA6E4}">
                <adec:decorative xmlns:adec="http://schemas.microsoft.com/office/drawing/2017/decorative" val="1"/>
              </a:ext>
            </a:extLst>
          </p:cNvPr>
          <p:cNvSpPr>
            <a:spLocks/>
          </p:cNvSpPr>
          <p:nvPr/>
        </p:nvSpPr>
        <p:spPr bwMode="auto">
          <a:xfrm>
            <a:off x="4968875" y="1309688"/>
            <a:ext cx="4267200" cy="2895600"/>
          </a:xfrm>
          <a:custGeom>
            <a:avLst/>
            <a:gdLst>
              <a:gd name="T0" fmla="*/ 0 w 2688"/>
              <a:gd name="T1" fmla="*/ 0 h 1824"/>
              <a:gd name="T2" fmla="*/ 2147483646 w 2688"/>
              <a:gd name="T3" fmla="*/ 2147483646 h 1824"/>
              <a:gd name="T4" fmla="*/ 2147483646 w 2688"/>
              <a:gd name="T5" fmla="*/ 2147483646 h 1824"/>
              <a:gd name="T6" fmla="*/ 0 60000 65536"/>
              <a:gd name="T7" fmla="*/ 0 60000 65536"/>
              <a:gd name="T8" fmla="*/ 0 60000 65536"/>
              <a:gd name="T9" fmla="*/ 0 w 2688"/>
              <a:gd name="T10" fmla="*/ 0 h 1824"/>
              <a:gd name="T11" fmla="*/ 2688 w 2688"/>
              <a:gd name="T12" fmla="*/ 1824 h 1824"/>
            </a:gdLst>
            <a:ahLst/>
            <a:cxnLst>
              <a:cxn ang="T6">
                <a:pos x="T0" y="T1"/>
              </a:cxn>
              <a:cxn ang="T7">
                <a:pos x="T2" y="T3"/>
              </a:cxn>
              <a:cxn ang="T8">
                <a:pos x="T4" y="T5"/>
              </a:cxn>
            </a:cxnLst>
            <a:rect l="T9" t="T10" r="T11" b="T12"/>
            <a:pathLst>
              <a:path w="2688" h="1824">
                <a:moveTo>
                  <a:pt x="0" y="0"/>
                </a:moveTo>
                <a:cubicBezTo>
                  <a:pt x="136" y="624"/>
                  <a:pt x="272" y="1248"/>
                  <a:pt x="720" y="1536"/>
                </a:cubicBezTo>
                <a:cubicBezTo>
                  <a:pt x="1168" y="1824"/>
                  <a:pt x="1928" y="1776"/>
                  <a:pt x="2688" y="1728"/>
                </a:cubicBezTo>
              </a:path>
            </a:pathLst>
          </a:custGeom>
          <a:noFill/>
          <a:ln w="12700" cap="rnd">
            <a:no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3" name="Group 2" descr="Stages of International Structure">
            <a:extLst>
              <a:ext uri="{FF2B5EF4-FFF2-40B4-BE49-F238E27FC236}">
                <a16:creationId xmlns:a16="http://schemas.microsoft.com/office/drawing/2014/main" id="{F62649A7-5DFC-F565-78CC-C372F48745BC}"/>
              </a:ext>
            </a:extLst>
          </p:cNvPr>
          <p:cNvGrpSpPr/>
          <p:nvPr/>
        </p:nvGrpSpPr>
        <p:grpSpPr>
          <a:xfrm>
            <a:off x="2504221" y="1431925"/>
            <a:ext cx="8093075" cy="4452938"/>
            <a:chOff x="2504221" y="1431925"/>
            <a:chExt cx="8093075" cy="4452938"/>
          </a:xfrm>
        </p:grpSpPr>
        <p:sp>
          <p:nvSpPr>
            <p:cNvPr id="78854" name="Freeform 4"/>
            <p:cNvSpPr>
              <a:spLocks/>
            </p:cNvSpPr>
            <p:nvPr/>
          </p:nvSpPr>
          <p:spPr bwMode="auto">
            <a:xfrm>
              <a:off x="3626583" y="3032125"/>
              <a:ext cx="3962400" cy="2514600"/>
            </a:xfrm>
            <a:custGeom>
              <a:avLst/>
              <a:gdLst>
                <a:gd name="T0" fmla="*/ 0 w 2496"/>
                <a:gd name="T1" fmla="*/ 2147483646 h 1584"/>
                <a:gd name="T2" fmla="*/ 2147483646 w 2496"/>
                <a:gd name="T3" fmla="*/ 2147483646 h 1584"/>
                <a:gd name="T4" fmla="*/ 2147483646 w 2496"/>
                <a:gd name="T5" fmla="*/ 0 h 1584"/>
                <a:gd name="T6" fmla="*/ 0 60000 65536"/>
                <a:gd name="T7" fmla="*/ 0 60000 65536"/>
                <a:gd name="T8" fmla="*/ 0 60000 65536"/>
                <a:gd name="T9" fmla="*/ 0 w 2496"/>
                <a:gd name="T10" fmla="*/ 0 h 1584"/>
                <a:gd name="T11" fmla="*/ 2496 w 2496"/>
                <a:gd name="T12" fmla="*/ 1584 h 1584"/>
              </a:gdLst>
              <a:ahLst/>
              <a:cxnLst>
                <a:cxn ang="T6">
                  <a:pos x="T0" y="T1"/>
                </a:cxn>
                <a:cxn ang="T7">
                  <a:pos x="T2" y="T3"/>
                </a:cxn>
                <a:cxn ang="T8">
                  <a:pos x="T4" y="T5"/>
                </a:cxn>
              </a:cxnLst>
              <a:rect l="T9" t="T10" r="T11" b="T12"/>
              <a:pathLst>
                <a:path w="2496" h="1584">
                  <a:moveTo>
                    <a:pt x="0" y="1584"/>
                  </a:moveTo>
                  <a:cubicBezTo>
                    <a:pt x="632" y="1524"/>
                    <a:pt x="1264" y="1464"/>
                    <a:pt x="1680" y="1200"/>
                  </a:cubicBezTo>
                  <a:cubicBezTo>
                    <a:pt x="2096" y="936"/>
                    <a:pt x="2360" y="200"/>
                    <a:pt x="2496" y="0"/>
                  </a:cubicBezTo>
                </a:path>
              </a:pathLst>
            </a:custGeom>
            <a:noFill/>
            <a:ln w="12700">
              <a:solidFill>
                <a:schemeClr val="bg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8855" name="Line 5"/>
            <p:cNvSpPr>
              <a:spLocks noChangeShapeType="1"/>
            </p:cNvSpPr>
            <p:nvPr/>
          </p:nvSpPr>
          <p:spPr bwMode="auto">
            <a:xfrm flipV="1">
              <a:off x="3626583" y="1431925"/>
              <a:ext cx="0" cy="41148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8856" name="Line 6"/>
            <p:cNvSpPr>
              <a:spLocks noChangeShapeType="1"/>
            </p:cNvSpPr>
            <p:nvPr/>
          </p:nvSpPr>
          <p:spPr bwMode="auto">
            <a:xfrm>
              <a:off x="3626583" y="5546725"/>
              <a:ext cx="54102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8858" name="Line 8"/>
            <p:cNvSpPr>
              <a:spLocks noChangeShapeType="1"/>
            </p:cNvSpPr>
            <p:nvPr/>
          </p:nvSpPr>
          <p:spPr bwMode="auto">
            <a:xfrm>
              <a:off x="3626583" y="3260725"/>
              <a:ext cx="2667000" cy="22860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8859" name="Text Box 9"/>
            <p:cNvSpPr txBox="1">
              <a:spLocks noChangeArrowheads="1"/>
            </p:cNvSpPr>
            <p:nvPr/>
          </p:nvSpPr>
          <p:spPr bwMode="auto">
            <a:xfrm>
              <a:off x="3778984" y="4937126"/>
              <a:ext cx="1827213" cy="5810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FFFFFF"/>
                  </a:solidFill>
                  <a:effectLst/>
                  <a:uLnTx/>
                  <a:uFillTx/>
                  <a:latin typeface="Times New Roman" panose="02020603050405020304" pitchFamily="18" charset="0"/>
                  <a:ea typeface="+mn-ea"/>
                  <a:cs typeface="Arial" panose="020B0604020202020204" pitchFamily="34" charset="0"/>
                </a:rPr>
                <a:t>INTERNATIONAL</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FFFFFF"/>
                  </a:solidFill>
                  <a:effectLst/>
                  <a:uLnTx/>
                  <a:uFillTx/>
                  <a:latin typeface="Times New Roman" panose="02020603050405020304" pitchFamily="18" charset="0"/>
                  <a:ea typeface="+mn-ea"/>
                  <a:cs typeface="Arial" panose="020B0604020202020204" pitchFamily="34" charset="0"/>
                </a:rPr>
                <a:t>DIVISION</a:t>
              </a:r>
            </a:p>
          </p:txBody>
        </p:sp>
        <p:sp>
          <p:nvSpPr>
            <p:cNvPr id="78860" name="Text Box 10"/>
            <p:cNvSpPr txBox="1">
              <a:spLocks noChangeArrowheads="1"/>
            </p:cNvSpPr>
            <p:nvPr/>
          </p:nvSpPr>
          <p:spPr bwMode="auto">
            <a:xfrm>
              <a:off x="5058508" y="3779838"/>
              <a:ext cx="1085850" cy="5810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Arial" panose="020B0604020202020204" pitchFamily="34" charset="0"/>
                </a:rPr>
                <a:t>AREA</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dirty="0">
                  <a:ln>
                    <a:noFill/>
                  </a:ln>
                  <a:solidFill>
                    <a:srgbClr val="FFFFFF"/>
                  </a:solidFill>
                  <a:effectLst/>
                  <a:uLnTx/>
                  <a:uFillTx/>
                  <a:latin typeface="Times New Roman" panose="02020603050405020304" pitchFamily="18" charset="0"/>
                  <a:ea typeface="+mn-ea"/>
                  <a:cs typeface="Arial" panose="020B0604020202020204" pitchFamily="34" charset="0"/>
                </a:rPr>
                <a:t>DIVISION</a:t>
              </a:r>
            </a:p>
          </p:txBody>
        </p:sp>
        <p:sp>
          <p:nvSpPr>
            <p:cNvPr id="78861" name="Text Box 11"/>
            <p:cNvSpPr txBox="1">
              <a:spLocks noChangeArrowheads="1"/>
            </p:cNvSpPr>
            <p:nvPr/>
          </p:nvSpPr>
          <p:spPr bwMode="auto">
            <a:xfrm>
              <a:off x="3686909" y="2484437"/>
              <a:ext cx="1457325" cy="8255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FFFFFF"/>
                  </a:solidFill>
                  <a:effectLst/>
                  <a:uLnTx/>
                  <a:uFillTx/>
                  <a:latin typeface="Times New Roman" panose="02020603050405020304" pitchFamily="18" charset="0"/>
                  <a:ea typeface="+mn-ea"/>
                  <a:cs typeface="Arial" panose="020B0604020202020204" pitchFamily="34" charset="0"/>
                </a:rPr>
                <a:t>WORLDWIDE</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FFFFFF"/>
                  </a:solidFill>
                  <a:effectLst/>
                  <a:uLnTx/>
                  <a:uFillTx/>
                  <a:latin typeface="Times New Roman" panose="02020603050405020304" pitchFamily="18" charset="0"/>
                  <a:ea typeface="+mn-ea"/>
                  <a:cs typeface="Arial" panose="020B0604020202020204" pitchFamily="34" charset="0"/>
                </a:rPr>
                <a:t>PRODUCT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FFFFFF"/>
                  </a:solidFill>
                  <a:effectLst/>
                  <a:uLnTx/>
                  <a:uFillTx/>
                  <a:latin typeface="Times New Roman" panose="02020603050405020304" pitchFamily="18" charset="0"/>
                  <a:ea typeface="+mn-ea"/>
                  <a:cs typeface="Arial" panose="020B0604020202020204" pitchFamily="34" charset="0"/>
                </a:rPr>
                <a:t>DIVISION</a:t>
              </a:r>
            </a:p>
          </p:txBody>
        </p:sp>
        <p:sp>
          <p:nvSpPr>
            <p:cNvPr id="78862" name="Text Box 12"/>
            <p:cNvSpPr txBox="1">
              <a:spLocks noChangeArrowheads="1"/>
            </p:cNvSpPr>
            <p:nvPr/>
          </p:nvSpPr>
          <p:spPr bwMode="auto">
            <a:xfrm>
              <a:off x="7268308" y="2332038"/>
              <a:ext cx="1855788" cy="5810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FFFFFF"/>
                  </a:solidFill>
                  <a:effectLst/>
                  <a:uLnTx/>
                  <a:uFillTx/>
                  <a:latin typeface="Times New Roman" panose="02020603050405020304" pitchFamily="18" charset="0"/>
                  <a:ea typeface="+mn-ea"/>
                  <a:cs typeface="Arial" panose="020B0604020202020204" pitchFamily="34" charset="0"/>
                </a:rPr>
                <a:t>GLOBAL MATRIX</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FFFFFF"/>
                  </a:solidFill>
                  <a:effectLst/>
                  <a:uLnTx/>
                  <a:uFillTx/>
                  <a:latin typeface="Times New Roman" panose="02020603050405020304" pitchFamily="18" charset="0"/>
                  <a:ea typeface="+mn-ea"/>
                  <a:cs typeface="Arial" panose="020B0604020202020204" pitchFamily="34" charset="0"/>
                </a:rPr>
                <a:t>(OR “GRID”)</a:t>
              </a:r>
            </a:p>
          </p:txBody>
        </p:sp>
        <p:sp>
          <p:nvSpPr>
            <p:cNvPr id="78863" name="Freeform 13"/>
            <p:cNvSpPr>
              <a:spLocks/>
            </p:cNvSpPr>
            <p:nvPr/>
          </p:nvSpPr>
          <p:spPr bwMode="auto">
            <a:xfrm>
              <a:off x="7373083" y="3455987"/>
              <a:ext cx="1663700" cy="1252538"/>
            </a:xfrm>
            <a:custGeom>
              <a:avLst/>
              <a:gdLst>
                <a:gd name="T0" fmla="*/ 2147483646 w 1183"/>
                <a:gd name="T1" fmla="*/ 2147483646 h 900"/>
                <a:gd name="T2" fmla="*/ 2147483646 w 1183"/>
                <a:gd name="T3" fmla="*/ 2147483646 h 900"/>
                <a:gd name="T4" fmla="*/ 2147483646 w 1183"/>
                <a:gd name="T5" fmla="*/ 2147483646 h 900"/>
                <a:gd name="T6" fmla="*/ 2147483646 w 1183"/>
                <a:gd name="T7" fmla="*/ 2147483646 h 900"/>
                <a:gd name="T8" fmla="*/ 2147483646 w 1183"/>
                <a:gd name="T9" fmla="*/ 2147483646 h 900"/>
                <a:gd name="T10" fmla="*/ 2147483646 w 1183"/>
                <a:gd name="T11" fmla="*/ 2147483646 h 900"/>
                <a:gd name="T12" fmla="*/ 2147483646 w 1183"/>
                <a:gd name="T13" fmla="*/ 2147483646 h 900"/>
                <a:gd name="T14" fmla="*/ 2147483646 w 1183"/>
                <a:gd name="T15" fmla="*/ 2147483646 h 900"/>
                <a:gd name="T16" fmla="*/ 2147483646 w 1183"/>
                <a:gd name="T17" fmla="*/ 2147483646 h 900"/>
                <a:gd name="T18" fmla="*/ 2147483646 w 1183"/>
                <a:gd name="T19" fmla="*/ 2147483646 h 900"/>
                <a:gd name="T20" fmla="*/ 2147483646 w 1183"/>
                <a:gd name="T21" fmla="*/ 2147483646 h 900"/>
                <a:gd name="T22" fmla="*/ 2147483646 w 1183"/>
                <a:gd name="T23" fmla="*/ 2147483646 h 900"/>
                <a:gd name="T24" fmla="*/ 2147483646 w 1183"/>
                <a:gd name="T25" fmla="*/ 2147483646 h 900"/>
                <a:gd name="T26" fmla="*/ 2147483646 w 1183"/>
                <a:gd name="T27" fmla="*/ 2147483646 h 900"/>
                <a:gd name="T28" fmla="*/ 2147483646 w 1183"/>
                <a:gd name="T29" fmla="*/ 2147483646 h 900"/>
                <a:gd name="T30" fmla="*/ 2147483646 w 1183"/>
                <a:gd name="T31" fmla="*/ 2147483646 h 900"/>
                <a:gd name="T32" fmla="*/ 2147483646 w 1183"/>
                <a:gd name="T33" fmla="*/ 2147483646 h 900"/>
                <a:gd name="T34" fmla="*/ 0 w 1183"/>
                <a:gd name="T35" fmla="*/ 0 h 90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83"/>
                <a:gd name="T55" fmla="*/ 0 h 900"/>
                <a:gd name="T56" fmla="*/ 1183 w 1183"/>
                <a:gd name="T57" fmla="*/ 900 h 90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83" h="900">
                  <a:moveTo>
                    <a:pt x="1183" y="900"/>
                  </a:moveTo>
                  <a:cubicBezTo>
                    <a:pt x="1165" y="894"/>
                    <a:pt x="1145" y="894"/>
                    <a:pt x="1130" y="882"/>
                  </a:cubicBezTo>
                  <a:cubicBezTo>
                    <a:pt x="1114" y="869"/>
                    <a:pt x="1113" y="840"/>
                    <a:pt x="1095" y="829"/>
                  </a:cubicBezTo>
                  <a:cubicBezTo>
                    <a:pt x="1063" y="809"/>
                    <a:pt x="989" y="794"/>
                    <a:pt x="989" y="794"/>
                  </a:cubicBezTo>
                  <a:cubicBezTo>
                    <a:pt x="918" y="686"/>
                    <a:pt x="850" y="719"/>
                    <a:pt x="707" y="706"/>
                  </a:cubicBezTo>
                  <a:cubicBezTo>
                    <a:pt x="695" y="688"/>
                    <a:pt x="680" y="673"/>
                    <a:pt x="671" y="653"/>
                  </a:cubicBezTo>
                  <a:cubicBezTo>
                    <a:pt x="656" y="619"/>
                    <a:pt x="672" y="556"/>
                    <a:pt x="636" y="547"/>
                  </a:cubicBezTo>
                  <a:cubicBezTo>
                    <a:pt x="612" y="541"/>
                    <a:pt x="589" y="536"/>
                    <a:pt x="565" y="530"/>
                  </a:cubicBezTo>
                  <a:cubicBezTo>
                    <a:pt x="559" y="506"/>
                    <a:pt x="553" y="483"/>
                    <a:pt x="548" y="459"/>
                  </a:cubicBezTo>
                  <a:cubicBezTo>
                    <a:pt x="541" y="424"/>
                    <a:pt x="538" y="388"/>
                    <a:pt x="530" y="353"/>
                  </a:cubicBezTo>
                  <a:cubicBezTo>
                    <a:pt x="526" y="335"/>
                    <a:pt x="528" y="309"/>
                    <a:pt x="512" y="300"/>
                  </a:cubicBezTo>
                  <a:cubicBezTo>
                    <a:pt x="481" y="282"/>
                    <a:pt x="441" y="289"/>
                    <a:pt x="406" y="283"/>
                  </a:cubicBezTo>
                  <a:cubicBezTo>
                    <a:pt x="383" y="271"/>
                    <a:pt x="356" y="264"/>
                    <a:pt x="336" y="247"/>
                  </a:cubicBezTo>
                  <a:cubicBezTo>
                    <a:pt x="320" y="233"/>
                    <a:pt x="320" y="204"/>
                    <a:pt x="301" y="194"/>
                  </a:cubicBezTo>
                  <a:cubicBezTo>
                    <a:pt x="252" y="167"/>
                    <a:pt x="142" y="141"/>
                    <a:pt x="142" y="141"/>
                  </a:cubicBezTo>
                  <a:cubicBezTo>
                    <a:pt x="130" y="129"/>
                    <a:pt x="117" y="119"/>
                    <a:pt x="106" y="106"/>
                  </a:cubicBezTo>
                  <a:cubicBezTo>
                    <a:pt x="93" y="90"/>
                    <a:pt x="86" y="68"/>
                    <a:pt x="71" y="53"/>
                  </a:cubicBezTo>
                  <a:cubicBezTo>
                    <a:pt x="50" y="32"/>
                    <a:pt x="21" y="21"/>
                    <a:pt x="0" y="0"/>
                  </a:cubicBezTo>
                </a:path>
              </a:pathLst>
            </a:custGeom>
            <a:noFill/>
            <a:ln w="12700">
              <a:solidFill>
                <a:schemeClr val="bg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8864" name="Freeform 14"/>
            <p:cNvSpPr>
              <a:spLocks/>
            </p:cNvSpPr>
            <p:nvPr/>
          </p:nvSpPr>
          <p:spPr bwMode="auto">
            <a:xfrm>
              <a:off x="6669822" y="2608263"/>
              <a:ext cx="676275" cy="847725"/>
            </a:xfrm>
            <a:custGeom>
              <a:avLst/>
              <a:gdLst>
                <a:gd name="T0" fmla="*/ 2147483646 w 426"/>
                <a:gd name="T1" fmla="*/ 2147483646 h 534"/>
                <a:gd name="T2" fmla="*/ 2147483646 w 426"/>
                <a:gd name="T3" fmla="*/ 2147483646 h 534"/>
                <a:gd name="T4" fmla="*/ 2147483646 w 426"/>
                <a:gd name="T5" fmla="*/ 2147483646 h 534"/>
                <a:gd name="T6" fmla="*/ 2147483646 w 426"/>
                <a:gd name="T7" fmla="*/ 2147483646 h 534"/>
                <a:gd name="T8" fmla="*/ 2147483646 w 426"/>
                <a:gd name="T9" fmla="*/ 2147483646 h 534"/>
                <a:gd name="T10" fmla="*/ 2147483646 w 426"/>
                <a:gd name="T11" fmla="*/ 2147483646 h 534"/>
                <a:gd name="T12" fmla="*/ 2147483646 w 426"/>
                <a:gd name="T13" fmla="*/ 2147483646 h 534"/>
                <a:gd name="T14" fmla="*/ 2147483646 w 426"/>
                <a:gd name="T15" fmla="*/ 2147483646 h 534"/>
                <a:gd name="T16" fmla="*/ 2147483646 w 426"/>
                <a:gd name="T17" fmla="*/ 2147483646 h 534"/>
                <a:gd name="T18" fmla="*/ 2147483646 w 426"/>
                <a:gd name="T19" fmla="*/ 2147483646 h 5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6"/>
                <a:gd name="T31" fmla="*/ 0 h 534"/>
                <a:gd name="T32" fmla="*/ 426 w 426"/>
                <a:gd name="T33" fmla="*/ 534 h 5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6" h="534">
                  <a:moveTo>
                    <a:pt x="426" y="534"/>
                  </a:moveTo>
                  <a:cubicBezTo>
                    <a:pt x="414" y="487"/>
                    <a:pt x="404" y="440"/>
                    <a:pt x="391" y="393"/>
                  </a:cubicBezTo>
                  <a:cubicBezTo>
                    <a:pt x="386" y="375"/>
                    <a:pt x="385" y="355"/>
                    <a:pt x="373" y="340"/>
                  </a:cubicBezTo>
                  <a:cubicBezTo>
                    <a:pt x="344" y="304"/>
                    <a:pt x="296" y="287"/>
                    <a:pt x="267" y="252"/>
                  </a:cubicBezTo>
                  <a:cubicBezTo>
                    <a:pt x="253" y="236"/>
                    <a:pt x="241" y="218"/>
                    <a:pt x="232" y="199"/>
                  </a:cubicBezTo>
                  <a:cubicBezTo>
                    <a:pt x="224" y="182"/>
                    <a:pt x="227" y="159"/>
                    <a:pt x="214" y="146"/>
                  </a:cubicBezTo>
                  <a:cubicBezTo>
                    <a:pt x="201" y="133"/>
                    <a:pt x="179" y="134"/>
                    <a:pt x="161" y="128"/>
                  </a:cubicBezTo>
                  <a:cubicBezTo>
                    <a:pt x="149" y="110"/>
                    <a:pt x="143" y="88"/>
                    <a:pt x="126" y="75"/>
                  </a:cubicBezTo>
                  <a:cubicBezTo>
                    <a:pt x="111" y="63"/>
                    <a:pt x="88" y="70"/>
                    <a:pt x="73" y="58"/>
                  </a:cubicBezTo>
                  <a:cubicBezTo>
                    <a:pt x="0" y="0"/>
                    <a:pt x="69" y="5"/>
                    <a:pt x="20" y="5"/>
                  </a:cubicBezTo>
                </a:path>
              </a:pathLst>
            </a:custGeom>
            <a:noFill/>
            <a:ln w="12700">
              <a:solidFill>
                <a:schemeClr val="bg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8865" name="Text Box 15"/>
            <p:cNvSpPr txBox="1">
              <a:spLocks noChangeArrowheads="1"/>
            </p:cNvSpPr>
            <p:nvPr/>
          </p:nvSpPr>
          <p:spPr bwMode="auto">
            <a:xfrm>
              <a:off x="8639909" y="4618038"/>
              <a:ext cx="1604963" cy="5810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1" u="none" strike="noStrike" kern="1200" cap="none" spc="0" normalizeH="0" baseline="0" noProof="0">
                  <a:ln>
                    <a:noFill/>
                  </a:ln>
                  <a:solidFill>
                    <a:srgbClr val="FFFFFF"/>
                  </a:solidFill>
                  <a:effectLst/>
                  <a:uLnTx/>
                  <a:uFillTx/>
                  <a:latin typeface="Times New Roman" panose="02020603050405020304" pitchFamily="18" charset="0"/>
                  <a:ea typeface="+mn-ea"/>
                  <a:cs typeface="Arial" panose="020B0604020202020204" pitchFamily="34" charset="0"/>
                </a:rPr>
                <a:t>Alternative Paths</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1" u="none" strike="noStrike" kern="1200" cap="none" spc="0" normalizeH="0" baseline="0" noProof="0">
                  <a:ln>
                    <a:noFill/>
                  </a:ln>
                  <a:solidFill>
                    <a:srgbClr val="FFFFFF"/>
                  </a:solidFill>
                  <a:effectLst/>
                  <a:uLnTx/>
                  <a:uFillTx/>
                  <a:latin typeface="Times New Roman" panose="02020603050405020304" pitchFamily="18" charset="0"/>
                  <a:ea typeface="+mn-ea"/>
                  <a:cs typeface="Arial" panose="020B0604020202020204" pitchFamily="34" charset="0"/>
                </a:rPr>
                <a:t>of Development</a:t>
              </a:r>
            </a:p>
          </p:txBody>
        </p:sp>
        <p:sp>
          <p:nvSpPr>
            <p:cNvPr id="78866" name="Text Box 16"/>
            <p:cNvSpPr txBox="1">
              <a:spLocks noChangeArrowheads="1"/>
            </p:cNvSpPr>
            <p:nvPr/>
          </p:nvSpPr>
          <p:spPr bwMode="auto">
            <a:xfrm>
              <a:off x="7650896" y="5546726"/>
              <a:ext cx="2946400" cy="33813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1" u="none" strike="noStrike" kern="1200" cap="none" spc="0" normalizeH="0" baseline="0" noProof="0" dirty="0">
                  <a:ln>
                    <a:noFill/>
                  </a:ln>
                  <a:solidFill>
                    <a:srgbClr val="FFFFFF"/>
                  </a:solidFill>
                  <a:effectLst/>
                  <a:uLnTx/>
                  <a:uFillTx/>
                  <a:latin typeface="Times New Roman" panose="02020603050405020304" pitchFamily="18" charset="0"/>
                  <a:ea typeface="+mn-ea"/>
                  <a:cs typeface="Arial" panose="020B0604020202020204" pitchFamily="34" charset="0"/>
                </a:rPr>
                <a:t>Foreign Sales as % of Total Sales</a:t>
              </a:r>
            </a:p>
          </p:txBody>
        </p:sp>
        <p:sp>
          <p:nvSpPr>
            <p:cNvPr id="78867" name="Text Box 17"/>
            <p:cNvSpPr txBox="1">
              <a:spLocks noChangeArrowheads="1"/>
            </p:cNvSpPr>
            <p:nvPr/>
          </p:nvSpPr>
          <p:spPr bwMode="auto">
            <a:xfrm>
              <a:off x="2504221" y="1457325"/>
              <a:ext cx="1122362" cy="1016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0" i="1" u="none" strike="noStrike" kern="1200" cap="none" spc="0" normalizeH="0" baseline="0" noProof="0">
                  <a:ln>
                    <a:noFill/>
                  </a:ln>
                  <a:solidFill>
                    <a:srgbClr val="FFFFFF"/>
                  </a:solidFill>
                  <a:effectLst/>
                  <a:uLnTx/>
                  <a:uFillTx/>
                  <a:latin typeface="Times New Roman" panose="02020603050405020304" pitchFamily="18" charset="0"/>
                  <a:ea typeface="+mn-ea"/>
                  <a:cs typeface="Arial" panose="020B0604020202020204" pitchFamily="34" charset="0"/>
                </a:rPr>
                <a:t>Foreign</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0" i="1" u="none" strike="noStrike" kern="1200" cap="none" spc="0" normalizeH="0" baseline="0" noProof="0">
                  <a:ln>
                    <a:noFill/>
                  </a:ln>
                  <a:solidFill>
                    <a:srgbClr val="FFFFFF"/>
                  </a:solidFill>
                  <a:effectLst/>
                  <a:uLnTx/>
                  <a:uFillTx/>
                  <a:latin typeface="Times New Roman" panose="02020603050405020304" pitchFamily="18" charset="0"/>
                  <a:ea typeface="+mn-ea"/>
                  <a:cs typeface="Arial" panose="020B0604020202020204" pitchFamily="34" charset="0"/>
                </a:rPr>
                <a:t>Product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2000" b="0" i="1" u="none" strike="noStrike" kern="1200" cap="none" spc="0" normalizeH="0" baseline="0" noProof="0">
                  <a:ln>
                    <a:noFill/>
                  </a:ln>
                  <a:solidFill>
                    <a:srgbClr val="FFFFFF"/>
                  </a:solidFill>
                  <a:effectLst/>
                  <a:uLnTx/>
                  <a:uFillTx/>
                  <a:latin typeface="Times New Roman" panose="02020603050405020304" pitchFamily="18" charset="0"/>
                  <a:ea typeface="+mn-ea"/>
                  <a:cs typeface="Arial" panose="020B0604020202020204" pitchFamily="34" charset="0"/>
                </a:rPr>
                <a:t>Diversity</a:t>
              </a:r>
            </a:p>
          </p:txBody>
        </p:sp>
        <p:sp>
          <p:nvSpPr>
            <p:cNvPr id="78868" name="Text Box 18"/>
            <p:cNvSpPr txBox="1">
              <a:spLocks noChangeArrowheads="1"/>
            </p:cNvSpPr>
            <p:nvPr/>
          </p:nvSpPr>
          <p:spPr bwMode="auto">
            <a:xfrm>
              <a:off x="6201508" y="5227637"/>
              <a:ext cx="3505200" cy="33655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tx2"/>
                </a:buClr>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600" b="0" i="0" u="none" strike="noStrike" kern="1200" cap="none" spc="0" normalizeH="0" baseline="0" noProof="0">
                  <a:ln>
                    <a:noFill/>
                  </a:ln>
                  <a:solidFill>
                    <a:srgbClr val="FFFFFF"/>
                  </a:solidFill>
                  <a:effectLst/>
                  <a:uLnTx/>
                  <a:uFillTx/>
                  <a:latin typeface="Times New Roman" panose="02020603050405020304" pitchFamily="18" charset="0"/>
                  <a:ea typeface="+mn-ea"/>
                  <a:cs typeface="Arial" panose="020B0604020202020204" pitchFamily="34" charset="0"/>
                </a:rPr>
                <a:t>WORLDWIDE FUNCTIONAL</a:t>
              </a:r>
            </a:p>
          </p:txBody>
        </p:sp>
      </p:grpSp>
      <p:sp>
        <p:nvSpPr>
          <p:cNvPr id="2" name="Footer Placeholder 1"/>
          <p:cNvSpPr>
            <a:spLocks noGrp="1"/>
          </p:cNvSpPr>
          <p:nvPr>
            <p:ph type="ftr" sz="quarter" idx="11"/>
          </p:nvPr>
        </p:nvSpPr>
        <p:spPr>
          <a:xfrm>
            <a:off x="5508625" y="6311900"/>
            <a:ext cx="372745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Newburry 2026 DBA International Business</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1606D-DAA9-F09E-31E8-C6016D0E92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F47910-8682-3863-F30E-EBA0178AAC46}"/>
              </a:ext>
            </a:extLst>
          </p:cNvPr>
          <p:cNvSpPr>
            <a:spLocks noGrp="1"/>
          </p:cNvSpPr>
          <p:nvPr>
            <p:ph type="title"/>
          </p:nvPr>
        </p:nvSpPr>
        <p:spPr>
          <a:xfrm>
            <a:off x="2213264" y="228600"/>
            <a:ext cx="9767454" cy="1143000"/>
          </a:xfrm>
        </p:spPr>
        <p:txBody>
          <a:bodyPr/>
          <a:lstStyle/>
          <a:p>
            <a:pPr>
              <a:defRPr/>
            </a:pPr>
            <a:r>
              <a:rPr lang="en-US" altLang="en-US" dirty="0"/>
              <a:t>September 8 / 10 – Structuring the MNC</a:t>
            </a:r>
          </a:p>
        </p:txBody>
      </p:sp>
      <p:sp>
        <p:nvSpPr>
          <p:cNvPr id="32772" name="Rectangle 4">
            <a:extLst>
              <a:ext uri="{FF2B5EF4-FFF2-40B4-BE49-F238E27FC236}">
                <a16:creationId xmlns:a16="http://schemas.microsoft.com/office/drawing/2014/main" id="{4C99319D-16AA-8E35-1677-4CF8A0767EF1}"/>
              </a:ext>
            </a:extLst>
          </p:cNvPr>
          <p:cNvSpPr>
            <a:spLocks noChangeArrowheads="1"/>
          </p:cNvSpPr>
          <p:nvPr/>
        </p:nvSpPr>
        <p:spPr bwMode="auto">
          <a:xfrm>
            <a:off x="1956607" y="1617206"/>
            <a:ext cx="9909465" cy="4493538"/>
          </a:xfrm>
          <a:prstGeom prst="rect">
            <a:avLst/>
          </a:prstGeom>
          <a:noFill/>
          <a:ln w="9525">
            <a:noFill/>
            <a:miter lim="800000"/>
            <a:headEnd/>
            <a:tailEnd/>
          </a:ln>
        </p:spPr>
        <p:txBody>
          <a:bodyPr wrap="square">
            <a:spAutoFit/>
          </a:bodyPr>
          <a:lstStyle/>
          <a:p>
            <a:pPr marL="342900" indent="-342900">
              <a:buFontTx/>
              <a:buChar char="•"/>
            </a:pPr>
            <a:r>
              <a:rPr lang="en-US" altLang="en-US" sz="2200" dirty="0" err="1">
                <a:solidFill>
                  <a:schemeClr val="bg1"/>
                </a:solidFill>
              </a:rPr>
              <a:t>Rugman</a:t>
            </a:r>
            <a:r>
              <a:rPr lang="en-US" altLang="en-US" sz="2200" dirty="0">
                <a:solidFill>
                  <a:schemeClr val="bg1"/>
                </a:solidFill>
              </a:rPr>
              <a:t>, A. M., &amp; </a:t>
            </a:r>
            <a:r>
              <a:rPr lang="en-US" altLang="en-US" sz="2200" dirty="0" err="1">
                <a:solidFill>
                  <a:schemeClr val="bg1"/>
                </a:solidFill>
              </a:rPr>
              <a:t>Verbeke</a:t>
            </a:r>
            <a:r>
              <a:rPr lang="en-US" altLang="en-US" sz="2200" dirty="0">
                <a:solidFill>
                  <a:schemeClr val="bg1"/>
                </a:solidFill>
              </a:rPr>
              <a:t>, A. (2004). A perspective on regional and global strategies of multinational enterprises. </a:t>
            </a:r>
            <a:r>
              <a:rPr lang="en-US" altLang="en-US" sz="2200" i="1" dirty="0">
                <a:solidFill>
                  <a:schemeClr val="bg1"/>
                </a:solidFill>
              </a:rPr>
              <a:t>Journal of International Business Studies</a:t>
            </a:r>
            <a:r>
              <a:rPr lang="en-US" altLang="en-US" sz="2200" dirty="0">
                <a:solidFill>
                  <a:schemeClr val="bg1"/>
                </a:solidFill>
              </a:rPr>
              <a:t>, 35: 3–18. </a:t>
            </a:r>
            <a:endParaRPr lang="en-US" altLang="en-US" sz="2200" b="1" dirty="0">
              <a:solidFill>
                <a:schemeClr val="bg1"/>
              </a:solidFill>
            </a:endParaRPr>
          </a:p>
          <a:p>
            <a:pPr marL="342900" indent="-342900">
              <a:buFontTx/>
              <a:buChar char="•"/>
            </a:pPr>
            <a:r>
              <a:rPr lang="en-US" altLang="en-US" sz="2200" dirty="0">
                <a:solidFill>
                  <a:schemeClr val="bg1"/>
                </a:solidFill>
              </a:rPr>
              <a:t>Lopez, L. E., Kundu, S. K., &amp; </a:t>
            </a:r>
            <a:r>
              <a:rPr lang="en-US" altLang="en-US" sz="2200" dirty="0" err="1">
                <a:solidFill>
                  <a:schemeClr val="bg1"/>
                </a:solidFill>
              </a:rPr>
              <a:t>Ciravegna</a:t>
            </a:r>
            <a:r>
              <a:rPr lang="en-US" altLang="en-US" sz="2200" dirty="0">
                <a:solidFill>
                  <a:schemeClr val="bg1"/>
                </a:solidFill>
              </a:rPr>
              <a:t>, L. (2009). Born global or born regional? Evidence from an exploratory study in the Costa Rican software industry. </a:t>
            </a:r>
            <a:r>
              <a:rPr lang="en-US" altLang="en-US" sz="2200" i="1" dirty="0">
                <a:solidFill>
                  <a:schemeClr val="bg1"/>
                </a:solidFill>
              </a:rPr>
              <a:t>Journal of International Business Studies</a:t>
            </a:r>
            <a:r>
              <a:rPr lang="en-US" altLang="en-US" sz="2200" dirty="0">
                <a:solidFill>
                  <a:schemeClr val="bg1"/>
                </a:solidFill>
              </a:rPr>
              <a:t>, 40: 1228–1238. </a:t>
            </a:r>
            <a:endParaRPr lang="en-US" altLang="en-US" sz="2200" b="1" dirty="0">
              <a:solidFill>
                <a:schemeClr val="bg1"/>
              </a:solidFill>
            </a:endParaRPr>
          </a:p>
          <a:p>
            <a:pPr marL="342900" indent="-342900">
              <a:buFontTx/>
              <a:buChar char="•"/>
            </a:pPr>
            <a:r>
              <a:rPr lang="en-US" sz="2200" dirty="0">
                <a:solidFill>
                  <a:schemeClr val="bg1"/>
                </a:solidFill>
              </a:rPr>
              <a:t>Meyer, K.E., Li, C. &amp; </a:t>
            </a:r>
            <a:r>
              <a:rPr lang="en-US" sz="2200" dirty="0" err="1">
                <a:solidFill>
                  <a:schemeClr val="bg1"/>
                </a:solidFill>
              </a:rPr>
              <a:t>Schotter</a:t>
            </a:r>
            <a:r>
              <a:rPr lang="en-US" sz="2200" dirty="0">
                <a:solidFill>
                  <a:schemeClr val="bg1"/>
                </a:solidFill>
              </a:rPr>
              <a:t>, A.P.J. (2020). Managing the MNE subsidiary: Advancing a multi-level and dynamic research agenda. </a:t>
            </a:r>
            <a:r>
              <a:rPr lang="en-US" sz="2200" i="1" dirty="0">
                <a:solidFill>
                  <a:schemeClr val="bg1"/>
                </a:solidFill>
              </a:rPr>
              <a:t>Journal of International Business Studies,</a:t>
            </a:r>
            <a:r>
              <a:rPr lang="en-US" sz="2200" dirty="0">
                <a:solidFill>
                  <a:schemeClr val="bg1"/>
                </a:solidFill>
              </a:rPr>
              <a:t> 51:</a:t>
            </a:r>
            <a:r>
              <a:rPr lang="en-US" sz="2200" b="1" dirty="0">
                <a:solidFill>
                  <a:schemeClr val="bg1"/>
                </a:solidFill>
              </a:rPr>
              <a:t> </a:t>
            </a:r>
            <a:r>
              <a:rPr lang="en-US" sz="2200" dirty="0">
                <a:solidFill>
                  <a:schemeClr val="bg1"/>
                </a:solidFill>
              </a:rPr>
              <a:t>538–576.</a:t>
            </a:r>
          </a:p>
          <a:p>
            <a:pPr marL="342900" indent="-342900">
              <a:buFontTx/>
              <a:buChar char="•"/>
            </a:pPr>
            <a:r>
              <a:rPr lang="en-US" sz="2200" dirty="0">
                <a:solidFill>
                  <a:schemeClr val="bg1"/>
                </a:solidFill>
                <a:ea typeface="Calibri" panose="020F0502020204030204" pitchFamily="34" charset="0"/>
              </a:rPr>
              <a:t>Zeng et al. (2023). Navigating MNE control and coordination: A critical review and directions for future research. </a:t>
            </a:r>
            <a:r>
              <a:rPr lang="en-US" sz="2200" i="1" dirty="0">
                <a:solidFill>
                  <a:schemeClr val="bg1"/>
                </a:solidFill>
                <a:ea typeface="Calibri" panose="020F0502020204030204" pitchFamily="34" charset="0"/>
              </a:rPr>
              <a:t>Journal of International Business Studies,</a:t>
            </a:r>
            <a:r>
              <a:rPr lang="en-US" sz="2200" dirty="0">
                <a:solidFill>
                  <a:schemeClr val="bg1"/>
                </a:solidFill>
                <a:ea typeface="Calibri" panose="020F0502020204030204" pitchFamily="34" charset="0"/>
              </a:rPr>
              <a:t> 54: 1599–1622.</a:t>
            </a:r>
          </a:p>
          <a:p>
            <a:pPr marL="342900" indent="-342900">
              <a:buFontTx/>
              <a:buChar char="•"/>
            </a:pPr>
            <a:endParaRPr lang="en-US" sz="2200" dirty="0">
              <a:solidFill>
                <a:schemeClr val="bg1"/>
              </a:solidFill>
            </a:endParaRPr>
          </a:p>
        </p:txBody>
      </p:sp>
      <p:sp>
        <p:nvSpPr>
          <p:cNvPr id="3" name="Footer Placeholder 3">
            <a:extLst>
              <a:ext uri="{FF2B5EF4-FFF2-40B4-BE49-F238E27FC236}">
                <a16:creationId xmlns:a16="http://schemas.microsoft.com/office/drawing/2014/main" id="{E05CE881-51D9-135C-D87A-74D7D9CFC49F}"/>
              </a:ext>
            </a:extLst>
          </p:cNvPr>
          <p:cNvSpPr>
            <a:spLocks noGrp="1"/>
          </p:cNvSpPr>
          <p:nvPr>
            <p:ph type="ftr" sz="quarter" idx="11"/>
          </p:nvPr>
        </p:nvSpPr>
        <p:spPr>
          <a:xfrm>
            <a:off x="4853940" y="6356350"/>
            <a:ext cx="4114800" cy="365125"/>
          </a:xfrm>
        </p:spPr>
        <p:txBody>
          <a:bodyPr/>
          <a:lstStyle>
            <a:lvl1pPr>
              <a:defRPr sz="4400">
                <a:solidFill>
                  <a:schemeClr val="accent2"/>
                </a:solidFill>
                <a:latin typeface="Arial" panose="020B0604020202020204" pitchFamily="34" charset="0"/>
                <a:ea typeface="ＭＳ Ｐゴシック" panose="020B0600070205080204" pitchFamily="34" charset="-128"/>
              </a:defRPr>
            </a:lvl1pPr>
            <a:lvl2pPr marL="742950" indent="-285750">
              <a:defRPr sz="4400">
                <a:solidFill>
                  <a:schemeClr val="accent2"/>
                </a:solidFill>
                <a:latin typeface="Arial" panose="020B0604020202020204" pitchFamily="34" charset="0"/>
                <a:ea typeface="ＭＳ Ｐゴシック" panose="020B0600070205080204" pitchFamily="34" charset="-128"/>
              </a:defRPr>
            </a:lvl2pPr>
            <a:lvl3pPr marL="1143000" indent="-228600">
              <a:defRPr sz="4400">
                <a:solidFill>
                  <a:schemeClr val="accent2"/>
                </a:solidFill>
                <a:latin typeface="Arial" panose="020B0604020202020204" pitchFamily="34" charset="0"/>
                <a:ea typeface="ＭＳ Ｐゴシック" panose="020B0600070205080204" pitchFamily="34" charset="-128"/>
              </a:defRPr>
            </a:lvl3pPr>
            <a:lvl4pPr marL="1600200" indent="-228600">
              <a:defRPr sz="4400">
                <a:solidFill>
                  <a:schemeClr val="accent2"/>
                </a:solidFill>
                <a:latin typeface="Arial" panose="020B0604020202020204" pitchFamily="34" charset="0"/>
                <a:ea typeface="ＭＳ Ｐゴシック" panose="020B0600070205080204" pitchFamily="34" charset="-128"/>
              </a:defRPr>
            </a:lvl4pPr>
            <a:lvl5pPr marL="2057400" indent="-228600">
              <a:defRPr sz="4400">
                <a:solidFill>
                  <a:schemeClr val="accent2"/>
                </a:solidFill>
                <a:latin typeface="Arial" panose="020B0604020202020204" pitchFamily="34" charset="0"/>
                <a:ea typeface="ＭＳ Ｐゴシック" panose="020B0600070205080204" pitchFamily="34" charset="-128"/>
              </a:defRPr>
            </a:lvl5pPr>
            <a:lvl6pPr marL="25146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defRPr/>
            </a:pPr>
            <a:r>
              <a:rPr lang="en-US" altLang="en-US" sz="1200" dirty="0">
                <a:solidFill>
                  <a:schemeClr val="bg1"/>
                </a:solidFill>
              </a:rPr>
              <a:t>Newburry 2026 DBA International Business</a:t>
            </a:r>
          </a:p>
        </p:txBody>
      </p:sp>
    </p:spTree>
    <p:extLst>
      <p:ext uri="{BB962C8B-B14F-4D97-AF65-F5344CB8AC3E}">
        <p14:creationId xmlns:p14="http://schemas.microsoft.com/office/powerpoint/2010/main" val="9756071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1314" y="282907"/>
            <a:ext cx="9475596" cy="1143000"/>
          </a:xfrm>
        </p:spPr>
        <p:txBody>
          <a:bodyPr>
            <a:normAutofit/>
          </a:bodyPr>
          <a:lstStyle/>
          <a:p>
            <a:r>
              <a:rPr lang="en-US" altLang="en-US" sz="2400" dirty="0"/>
              <a:t>Rugman &amp; Verbeke (2004). A perspective on regional and global strategies of multinational enterprises. </a:t>
            </a:r>
            <a:r>
              <a:rPr lang="en-US" altLang="en-US" sz="2400" i="1" dirty="0"/>
              <a:t>Journal of International Business Studies</a:t>
            </a:r>
            <a:r>
              <a:rPr lang="en-US" altLang="en-US" sz="2400" dirty="0"/>
              <a:t>, 35: 3–18. </a:t>
            </a:r>
            <a:endParaRPr lang="en-US" sz="2400" dirty="0"/>
          </a:p>
        </p:txBody>
      </p:sp>
      <p:sp>
        <p:nvSpPr>
          <p:cNvPr id="4" name="Footer Placeholder 3"/>
          <p:cNvSpPr>
            <a:spLocks noGrp="1"/>
          </p:cNvSpPr>
          <p:nvPr>
            <p:ph type="ftr" sz="quarter" idx="11"/>
          </p:nvPr>
        </p:nvSpPr>
        <p:spPr/>
        <p:txBody>
          <a:bodyPr/>
          <a:lstStyle/>
          <a:p>
            <a:r>
              <a:rPr lang="en-US" altLang="en-US" dirty="0">
                <a:solidFill>
                  <a:schemeClr val="bg1"/>
                </a:solidFill>
              </a:rPr>
              <a:t>Newburry 2026 DBA International Business</a:t>
            </a:r>
          </a:p>
        </p:txBody>
      </p:sp>
      <p:pic>
        <p:nvPicPr>
          <p:cNvPr id="8194" name="Picture 2" descr="Table 1. Classification of the top 500 MNEs"/>
          <p:cNvPicPr>
            <a:picLocks noChangeAspect="1" noChangeArrowheads="1"/>
          </p:cNvPicPr>
          <p:nvPr/>
        </p:nvPicPr>
        <p:blipFill>
          <a:blip r:embed="rId2" cstate="print"/>
          <a:srcRect/>
          <a:stretch>
            <a:fillRect/>
          </a:stretch>
        </p:blipFill>
        <p:spPr bwMode="auto">
          <a:xfrm>
            <a:off x="4502248" y="1640393"/>
            <a:ext cx="4964170" cy="4256840"/>
          </a:xfrm>
          <a:prstGeom prst="rect">
            <a:avLst/>
          </a:prstGeom>
          <a:noFill/>
          <a:ln w="9525">
            <a:noFill/>
            <a:miter lim="800000"/>
            <a:headEnd/>
            <a:tailEnd/>
          </a:ln>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3"/>
          <p:cNvSpPr>
            <a:spLocks noGrp="1"/>
          </p:cNvSpPr>
          <p:nvPr>
            <p:ph type="title" idx="4294967295"/>
          </p:nvPr>
        </p:nvSpPr>
        <p:spPr>
          <a:xfrm>
            <a:off x="2044701" y="319088"/>
            <a:ext cx="8043863" cy="762000"/>
          </a:xfrm>
          <a:noFill/>
          <a:ln/>
        </p:spPr>
        <p:txBody>
          <a:bodyPr/>
          <a:lstStyle/>
          <a:p>
            <a:r>
              <a:rPr lang="en-US" sz="3900" b="1"/>
              <a:t>Triad Power</a:t>
            </a:r>
          </a:p>
        </p:txBody>
      </p:sp>
      <p:sp>
        <p:nvSpPr>
          <p:cNvPr id="88067" name="Content Placeholder 4"/>
          <p:cNvSpPr>
            <a:spLocks noGrp="1"/>
          </p:cNvSpPr>
          <p:nvPr>
            <p:ph sz="quarter" idx="4294967295"/>
          </p:nvPr>
        </p:nvSpPr>
        <p:spPr>
          <a:xfrm>
            <a:off x="1946310" y="1369909"/>
            <a:ext cx="6735466" cy="4951412"/>
          </a:xfrm>
          <a:ln/>
        </p:spPr>
        <p:txBody>
          <a:bodyPr/>
          <a:lstStyle/>
          <a:p>
            <a:pPr marL="169863" indent="-169863" defTabSz="684213"/>
            <a:r>
              <a:rPr lang="en-US" sz="2800" dirty="0"/>
              <a:t>Title of a 1985 book by Kenichi Ohmae who is a Japanese organizational theorist and management consultant.</a:t>
            </a:r>
          </a:p>
          <a:p>
            <a:pPr marL="169863" indent="-169863" defTabSz="684213"/>
            <a:r>
              <a:rPr lang="en-US" sz="2800" dirty="0"/>
              <a:t>Ohmae defined the triad as the geographic space consisting of the United States, the EU and Japan.</a:t>
            </a:r>
          </a:p>
          <a:p>
            <a:pPr marL="512763" lvl="1" indent="-169863" defTabSz="684213"/>
            <a:r>
              <a:rPr lang="en-US" sz="2400" dirty="0"/>
              <a:t>Commonalities included low macroeconomic growth, similar technological infrastructure, presence of large (capital and knowledge intensive) firms and relative homogenization of demand and protectionist pressures.</a:t>
            </a:r>
          </a:p>
        </p:txBody>
      </p:sp>
      <p:pic>
        <p:nvPicPr>
          <p:cNvPr id="88068" name="Picture 1" descr="Triad Power Book Cover"/>
          <p:cNvPicPr>
            <a:picLocks noChangeAspect="1"/>
          </p:cNvPicPr>
          <p:nvPr/>
        </p:nvPicPr>
        <p:blipFill>
          <a:blip r:embed="rId2" cstate="print"/>
          <a:srcRect l="19423" t="37637" r="64055" b="15854"/>
          <a:stretch>
            <a:fillRect/>
          </a:stretch>
        </p:blipFill>
        <p:spPr bwMode="auto">
          <a:xfrm>
            <a:off x="9169400" y="1779116"/>
            <a:ext cx="2032000" cy="3098800"/>
          </a:xfrm>
          <a:prstGeom prst="rect">
            <a:avLst/>
          </a:prstGeom>
          <a:noFill/>
          <a:ln w="9525">
            <a:noFill/>
            <a:miter lim="800000"/>
            <a:headEnd/>
            <a:tailEnd/>
          </a:ln>
        </p:spPr>
      </p:pic>
      <p:sp>
        <p:nvSpPr>
          <p:cNvPr id="2" name="Footer Placeholder 3">
            <a:extLst>
              <a:ext uri="{FF2B5EF4-FFF2-40B4-BE49-F238E27FC236}">
                <a16:creationId xmlns:a16="http://schemas.microsoft.com/office/drawing/2014/main" id="{28D74EC5-614D-FE94-9A46-2532AA7D6F7F}"/>
              </a:ext>
            </a:extLst>
          </p:cNvPr>
          <p:cNvSpPr>
            <a:spLocks noGrp="1"/>
          </p:cNvSpPr>
          <p:nvPr>
            <p:ph type="ftr" sz="quarter" idx="11"/>
          </p:nvPr>
        </p:nvSpPr>
        <p:spPr>
          <a:xfrm>
            <a:off x="4962351" y="6310312"/>
            <a:ext cx="3963237" cy="457200"/>
          </a:xfrm>
        </p:spPr>
        <p:txBody>
          <a:bodyPr/>
          <a:lstStyle/>
          <a:p>
            <a:r>
              <a:rPr lang="en-US" altLang="en-US" dirty="0">
                <a:solidFill>
                  <a:schemeClr val="bg1"/>
                </a:solidFill>
              </a:rPr>
              <a:t>Newburry 2026 DBA International Business</a:t>
            </a:r>
          </a:p>
        </p:txBody>
      </p:sp>
    </p:spTree>
    <p:extLst>
      <p:ext uri="{BB962C8B-B14F-4D97-AF65-F5344CB8AC3E}">
        <p14:creationId xmlns:p14="http://schemas.microsoft.com/office/powerpoint/2010/main" val="22629075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8992" y="228600"/>
            <a:ext cx="10018208" cy="1143000"/>
          </a:xfrm>
        </p:spPr>
        <p:txBody>
          <a:bodyPr>
            <a:normAutofit/>
          </a:bodyPr>
          <a:lstStyle/>
          <a:p>
            <a:r>
              <a:rPr lang="en-US" altLang="en-US" sz="2400" dirty="0"/>
              <a:t>Rugman &amp; Verbeke (2004). A perspective on regional and global strategies of multinational enterprises. </a:t>
            </a:r>
            <a:r>
              <a:rPr lang="en-US" altLang="en-US" sz="2400" i="1" dirty="0"/>
              <a:t>Journal of International Business Studies</a:t>
            </a:r>
            <a:r>
              <a:rPr lang="en-US" altLang="en-US" sz="2400" dirty="0"/>
              <a:t>, 35: 3–18.</a:t>
            </a:r>
            <a:endParaRPr lang="en-US" sz="2400" dirty="0"/>
          </a:p>
        </p:txBody>
      </p:sp>
      <p:sp>
        <p:nvSpPr>
          <p:cNvPr id="4" name="Footer Placeholder 3"/>
          <p:cNvSpPr>
            <a:spLocks noGrp="1"/>
          </p:cNvSpPr>
          <p:nvPr>
            <p:ph type="ftr" sz="quarter" idx="11"/>
          </p:nvPr>
        </p:nvSpPr>
        <p:spPr/>
        <p:txBody>
          <a:bodyPr/>
          <a:lstStyle/>
          <a:p>
            <a:r>
              <a:rPr lang="en-US" altLang="en-US" dirty="0">
                <a:solidFill>
                  <a:schemeClr val="bg1"/>
                </a:solidFill>
              </a:rPr>
              <a:t>Newburry 2026 DBA International Business</a:t>
            </a:r>
          </a:p>
        </p:txBody>
      </p:sp>
      <p:pic>
        <p:nvPicPr>
          <p:cNvPr id="9218" name="Picture 2" descr="Table 2. Global MNEs"/>
          <p:cNvPicPr>
            <a:picLocks noChangeAspect="1" noChangeArrowheads="1"/>
          </p:cNvPicPr>
          <p:nvPr/>
        </p:nvPicPr>
        <p:blipFill>
          <a:blip r:embed="rId2" cstate="print"/>
          <a:srcRect/>
          <a:stretch>
            <a:fillRect/>
          </a:stretch>
        </p:blipFill>
        <p:spPr bwMode="auto">
          <a:xfrm>
            <a:off x="3012256" y="1560007"/>
            <a:ext cx="7516813" cy="4324350"/>
          </a:xfrm>
          <a:prstGeom prst="rect">
            <a:avLst/>
          </a:prstGeom>
          <a:noFill/>
          <a:ln w="9525">
            <a:noFill/>
            <a:miter lim="800000"/>
            <a:headEnd/>
            <a:tailEnd/>
          </a:ln>
          <a:effec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4538" y="288890"/>
            <a:ext cx="9963193" cy="1143000"/>
          </a:xfrm>
        </p:spPr>
        <p:txBody>
          <a:bodyPr>
            <a:normAutofit/>
          </a:bodyPr>
          <a:lstStyle/>
          <a:p>
            <a:r>
              <a:rPr lang="en-US" altLang="en-US" sz="2400" dirty="0"/>
              <a:t>Rugman &amp; Verbeke (2004). A perspective on regional and global strategies of multinational enterprises. </a:t>
            </a:r>
            <a:r>
              <a:rPr lang="en-US" altLang="en-US" sz="2400" i="1" dirty="0"/>
              <a:t>Journal of International Business Studies</a:t>
            </a:r>
            <a:r>
              <a:rPr lang="en-US" altLang="en-US" sz="2400" dirty="0"/>
              <a:t>, 35: 3–18. Table 3.</a:t>
            </a:r>
            <a:endParaRPr lang="en-US" sz="2400" dirty="0"/>
          </a:p>
        </p:txBody>
      </p:sp>
      <p:sp>
        <p:nvSpPr>
          <p:cNvPr id="4" name="Footer Placeholder 3"/>
          <p:cNvSpPr>
            <a:spLocks noGrp="1"/>
          </p:cNvSpPr>
          <p:nvPr>
            <p:ph type="ftr" sz="quarter" idx="11"/>
          </p:nvPr>
        </p:nvSpPr>
        <p:spPr/>
        <p:txBody>
          <a:bodyPr/>
          <a:lstStyle/>
          <a:p>
            <a:r>
              <a:rPr lang="en-US" altLang="en-US" dirty="0">
                <a:solidFill>
                  <a:schemeClr val="bg1"/>
                </a:solidFill>
              </a:rPr>
              <a:t>Newburry 2026 DBA International Business</a:t>
            </a:r>
          </a:p>
        </p:txBody>
      </p:sp>
      <p:pic>
        <p:nvPicPr>
          <p:cNvPr id="10242" name="Picture 2" descr="Table 3. Bi-regional MNEs"/>
          <p:cNvPicPr>
            <a:picLocks noChangeAspect="1" noChangeArrowheads="1"/>
          </p:cNvPicPr>
          <p:nvPr/>
        </p:nvPicPr>
        <p:blipFill>
          <a:blip r:embed="rId2" cstate="print"/>
          <a:srcRect/>
          <a:stretch>
            <a:fillRect/>
          </a:stretch>
        </p:blipFill>
        <p:spPr bwMode="auto">
          <a:xfrm>
            <a:off x="3935314" y="1349311"/>
            <a:ext cx="5952051" cy="5007039"/>
          </a:xfrm>
          <a:prstGeom prst="rect">
            <a:avLst/>
          </a:prstGeom>
          <a:noFill/>
          <a:ln w="9525">
            <a:noFill/>
            <a:miter lim="800000"/>
            <a:headEnd/>
            <a:tailEnd/>
          </a:ln>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0056" y="228600"/>
            <a:ext cx="9807191" cy="1143000"/>
          </a:xfrm>
        </p:spPr>
        <p:txBody>
          <a:bodyPr>
            <a:normAutofit/>
          </a:bodyPr>
          <a:lstStyle/>
          <a:p>
            <a:r>
              <a:rPr lang="en-US" altLang="en-US" sz="2400" dirty="0"/>
              <a:t>Rugman &amp; Verbeke (2004). A perspective on regional and global strategies of multinational enterprises. </a:t>
            </a:r>
            <a:r>
              <a:rPr lang="en-US" altLang="en-US" sz="2400" i="1" dirty="0"/>
              <a:t>Journal of International Business Studies</a:t>
            </a:r>
            <a:r>
              <a:rPr lang="en-US" altLang="en-US" sz="2400" dirty="0"/>
              <a:t>, 35: 3–18. Table 4.</a:t>
            </a:r>
            <a:endParaRPr lang="en-US" sz="2400" dirty="0"/>
          </a:p>
        </p:txBody>
      </p:sp>
      <p:sp>
        <p:nvSpPr>
          <p:cNvPr id="4" name="Footer Placeholder 3"/>
          <p:cNvSpPr>
            <a:spLocks noGrp="1"/>
          </p:cNvSpPr>
          <p:nvPr>
            <p:ph type="ftr" sz="quarter" idx="11"/>
          </p:nvPr>
        </p:nvSpPr>
        <p:spPr/>
        <p:txBody>
          <a:bodyPr/>
          <a:lstStyle/>
          <a:p>
            <a:r>
              <a:rPr lang="en-US" altLang="en-US" dirty="0">
                <a:solidFill>
                  <a:schemeClr val="bg1"/>
                </a:solidFill>
              </a:rPr>
              <a:t>Newburry 2026 DBA International Business</a:t>
            </a:r>
          </a:p>
        </p:txBody>
      </p:sp>
      <p:pic>
        <p:nvPicPr>
          <p:cNvPr id="11266" name="Picture 2" descr="Table 4. Host region-based MNEs"/>
          <p:cNvPicPr>
            <a:picLocks noChangeAspect="1" noChangeArrowheads="1"/>
          </p:cNvPicPr>
          <p:nvPr/>
        </p:nvPicPr>
        <p:blipFill>
          <a:blip r:embed="rId2" cstate="print"/>
          <a:srcRect/>
          <a:stretch>
            <a:fillRect/>
          </a:stretch>
        </p:blipFill>
        <p:spPr bwMode="auto">
          <a:xfrm>
            <a:off x="3152933" y="1825625"/>
            <a:ext cx="7516813" cy="4076700"/>
          </a:xfrm>
          <a:prstGeom prst="rect">
            <a:avLst/>
          </a:prstGeom>
          <a:noFill/>
          <a:ln w="9525">
            <a:noFill/>
            <a:miter lim="800000"/>
            <a:headEnd/>
            <a:tailEnd/>
          </a:ln>
          <a:effec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5459" y="228600"/>
            <a:ext cx="9371762" cy="1143000"/>
          </a:xfrm>
        </p:spPr>
        <p:txBody>
          <a:bodyPr>
            <a:normAutofit/>
          </a:bodyPr>
          <a:lstStyle/>
          <a:p>
            <a:r>
              <a:rPr lang="en-US" altLang="en-US" sz="2400" dirty="0"/>
              <a:t>Rugman &amp; Verbeke (2004). A perspective on regional and global strategies of multinational enterprises. </a:t>
            </a:r>
            <a:r>
              <a:rPr lang="en-US" altLang="en-US" sz="2400" i="1" dirty="0"/>
              <a:t>Journal of International Business Studies</a:t>
            </a:r>
            <a:r>
              <a:rPr lang="en-US" altLang="en-US" sz="2400" dirty="0"/>
              <a:t>, 35: 3–18. Table 5.</a:t>
            </a:r>
            <a:endParaRPr lang="en-US" sz="2400" dirty="0"/>
          </a:p>
        </p:txBody>
      </p:sp>
      <p:sp>
        <p:nvSpPr>
          <p:cNvPr id="4" name="Footer Placeholder 3"/>
          <p:cNvSpPr>
            <a:spLocks noGrp="1"/>
          </p:cNvSpPr>
          <p:nvPr>
            <p:ph type="ftr" sz="quarter" idx="11"/>
          </p:nvPr>
        </p:nvSpPr>
        <p:spPr/>
        <p:txBody>
          <a:bodyPr/>
          <a:lstStyle/>
          <a:p>
            <a:r>
              <a:rPr lang="en-US" altLang="en-US" dirty="0">
                <a:solidFill>
                  <a:schemeClr val="bg1"/>
                </a:solidFill>
              </a:rPr>
              <a:t>Newburry 2026 DBA International Business</a:t>
            </a:r>
          </a:p>
        </p:txBody>
      </p:sp>
      <p:pic>
        <p:nvPicPr>
          <p:cNvPr id="12290" name="Picture 2" descr="Table 5. Top 25 Home Region-Based Companies"/>
          <p:cNvPicPr>
            <a:picLocks noChangeAspect="1" noChangeArrowheads="1"/>
          </p:cNvPicPr>
          <p:nvPr/>
        </p:nvPicPr>
        <p:blipFill>
          <a:blip r:embed="rId2" cstate="print"/>
          <a:srcRect/>
          <a:stretch>
            <a:fillRect/>
          </a:stretch>
        </p:blipFill>
        <p:spPr bwMode="auto">
          <a:xfrm>
            <a:off x="3729069" y="1418566"/>
            <a:ext cx="6364542" cy="4890818"/>
          </a:xfrm>
          <a:prstGeom prst="rect">
            <a:avLst/>
          </a:prstGeom>
          <a:noFill/>
          <a:ln w="9525">
            <a:noFill/>
            <a:miter lim="800000"/>
            <a:headEnd/>
            <a:tailEnd/>
          </a:ln>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0637" y="228600"/>
            <a:ext cx="9807191" cy="1143000"/>
          </a:xfrm>
        </p:spPr>
        <p:txBody>
          <a:bodyPr>
            <a:normAutofit/>
          </a:bodyPr>
          <a:lstStyle/>
          <a:p>
            <a:r>
              <a:rPr lang="en-US" altLang="en-US" sz="2400" dirty="0"/>
              <a:t>Rugman &amp; Verbeke (2004). A perspective on regional and global strategies of multinational enterprises. </a:t>
            </a:r>
            <a:r>
              <a:rPr lang="en-US" altLang="en-US" sz="2400" i="1" dirty="0"/>
              <a:t>Journal of International Business Studies</a:t>
            </a:r>
            <a:r>
              <a:rPr lang="en-US" altLang="en-US" sz="2400" dirty="0"/>
              <a:t>, 35: 3–18. Figure 1.</a:t>
            </a:r>
            <a:endParaRPr lang="en-US" sz="2400" dirty="0"/>
          </a:p>
        </p:txBody>
      </p:sp>
      <p:sp>
        <p:nvSpPr>
          <p:cNvPr id="4" name="Footer Placeholder 3"/>
          <p:cNvSpPr>
            <a:spLocks noGrp="1"/>
          </p:cNvSpPr>
          <p:nvPr>
            <p:ph type="ftr" sz="quarter" idx="11"/>
          </p:nvPr>
        </p:nvSpPr>
        <p:spPr/>
        <p:txBody>
          <a:bodyPr/>
          <a:lstStyle/>
          <a:p>
            <a:r>
              <a:rPr lang="en-US" altLang="en-US" dirty="0">
                <a:solidFill>
                  <a:schemeClr val="bg1"/>
                </a:solidFill>
              </a:rPr>
              <a:t>Newburry 2026 DBA International Business</a:t>
            </a:r>
          </a:p>
        </p:txBody>
      </p:sp>
      <p:pic>
        <p:nvPicPr>
          <p:cNvPr id="13314" name="Picture 2" descr="Figure 1. Old and New Perspectives on the Largest 500 Companies"/>
          <p:cNvPicPr>
            <a:picLocks noChangeAspect="1" noChangeArrowheads="1"/>
          </p:cNvPicPr>
          <p:nvPr/>
        </p:nvPicPr>
        <p:blipFill>
          <a:blip r:embed="rId2" cstate="print"/>
          <a:srcRect/>
          <a:stretch>
            <a:fillRect/>
          </a:stretch>
        </p:blipFill>
        <p:spPr bwMode="auto">
          <a:xfrm>
            <a:off x="3426488" y="1620298"/>
            <a:ext cx="6767504" cy="4241123"/>
          </a:xfrm>
          <a:prstGeom prst="rect">
            <a:avLst/>
          </a:prstGeom>
          <a:noFill/>
          <a:ln w="9525">
            <a:noFill/>
            <a:miter lim="800000"/>
            <a:headEnd/>
            <a:tailEnd/>
          </a:ln>
          <a:effec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1266" y="152400"/>
            <a:ext cx="9535886" cy="1143000"/>
          </a:xfrm>
        </p:spPr>
        <p:txBody>
          <a:bodyPr>
            <a:normAutofit/>
          </a:bodyPr>
          <a:lstStyle/>
          <a:p>
            <a:r>
              <a:rPr lang="en-US" altLang="en-US" sz="2000" dirty="0"/>
              <a:t>Lopez, Kundu, &amp; </a:t>
            </a:r>
            <a:r>
              <a:rPr lang="en-US" altLang="en-US" sz="2000" dirty="0" err="1"/>
              <a:t>Ciravegna</a:t>
            </a:r>
            <a:r>
              <a:rPr lang="en-US" altLang="en-US" sz="2000" dirty="0"/>
              <a:t> (2009). Born global or born regional? Evidence from an exploratory study in the Costa Rican software industry. </a:t>
            </a:r>
            <a:r>
              <a:rPr lang="en-US" altLang="en-US" sz="2000" i="1" dirty="0"/>
              <a:t>Journal of International Business Studies</a:t>
            </a:r>
            <a:r>
              <a:rPr lang="en-US" altLang="en-US" sz="2000" dirty="0"/>
              <a:t>, 40: 1228–1238. </a:t>
            </a:r>
            <a:endParaRPr lang="en-US" sz="2000" dirty="0"/>
          </a:p>
        </p:txBody>
      </p:sp>
      <p:sp>
        <p:nvSpPr>
          <p:cNvPr id="4" name="Footer Placeholder 3"/>
          <p:cNvSpPr>
            <a:spLocks noGrp="1"/>
          </p:cNvSpPr>
          <p:nvPr>
            <p:ph type="ftr" sz="quarter" idx="11"/>
          </p:nvPr>
        </p:nvSpPr>
        <p:spPr/>
        <p:txBody>
          <a:bodyPr/>
          <a:lstStyle/>
          <a:p>
            <a:r>
              <a:rPr lang="en-US" altLang="en-US" dirty="0">
                <a:solidFill>
                  <a:schemeClr val="bg1"/>
                </a:solidFill>
              </a:rPr>
              <a:t>Newburry 2026 DBA International Business</a:t>
            </a:r>
          </a:p>
        </p:txBody>
      </p:sp>
      <p:pic>
        <p:nvPicPr>
          <p:cNvPr id="7170" name="Picture 2" descr="Cluster Means for Each Variable"/>
          <p:cNvPicPr>
            <a:picLocks noChangeAspect="1" noChangeArrowheads="1"/>
          </p:cNvPicPr>
          <p:nvPr/>
        </p:nvPicPr>
        <p:blipFill>
          <a:blip r:embed="rId2" cstate="print"/>
          <a:srcRect/>
          <a:stretch>
            <a:fillRect/>
          </a:stretch>
        </p:blipFill>
        <p:spPr bwMode="auto">
          <a:xfrm>
            <a:off x="2739014" y="3952353"/>
            <a:ext cx="8388886" cy="2340143"/>
          </a:xfrm>
          <a:prstGeom prst="rect">
            <a:avLst/>
          </a:prstGeom>
          <a:noFill/>
          <a:ln w="9525">
            <a:noFill/>
            <a:miter lim="800000"/>
            <a:headEnd/>
            <a:tailEnd/>
          </a:ln>
          <a:effectLst/>
        </p:spPr>
      </p:pic>
      <p:pic>
        <p:nvPicPr>
          <p:cNvPr id="7171" name="Picture 3" descr="Basic Statistics on Software and Information Technology Firms in Costa Rica"/>
          <p:cNvPicPr>
            <a:picLocks noChangeAspect="1" noChangeArrowheads="1"/>
          </p:cNvPicPr>
          <p:nvPr/>
        </p:nvPicPr>
        <p:blipFill>
          <a:blip r:embed="rId3" cstate="print"/>
          <a:srcRect/>
          <a:stretch>
            <a:fillRect/>
          </a:stretch>
        </p:blipFill>
        <p:spPr bwMode="auto">
          <a:xfrm>
            <a:off x="4644014" y="1209152"/>
            <a:ext cx="4201112" cy="2674994"/>
          </a:xfrm>
          <a:prstGeom prst="rect">
            <a:avLst/>
          </a:prstGeom>
          <a:noFill/>
          <a:ln w="9525">
            <a:noFill/>
            <a:miter lim="800000"/>
            <a:headEnd/>
            <a:tailEnd/>
          </a:ln>
          <a:effec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0541" y="228600"/>
            <a:ext cx="9515789" cy="1143000"/>
          </a:xfrm>
        </p:spPr>
        <p:txBody>
          <a:bodyPr>
            <a:normAutofit/>
          </a:bodyPr>
          <a:lstStyle/>
          <a:p>
            <a:r>
              <a:rPr lang="en-US" altLang="en-US" sz="2000" dirty="0"/>
              <a:t>Lopez, Kundu, &amp; </a:t>
            </a:r>
            <a:r>
              <a:rPr lang="en-US" altLang="en-US" sz="2000" dirty="0" err="1"/>
              <a:t>Ciravegna</a:t>
            </a:r>
            <a:r>
              <a:rPr lang="en-US" altLang="en-US" sz="2000" dirty="0"/>
              <a:t> (2009). Born global or born regional? Evidence from an exploratory study in the Costa Rican software industry. Journal of International Business Studies, 40: 1228–1238. Tables 4 and 5.</a:t>
            </a:r>
            <a:endParaRPr lang="en-US" sz="2000" dirty="0"/>
          </a:p>
        </p:txBody>
      </p:sp>
      <p:pic>
        <p:nvPicPr>
          <p:cNvPr id="6147" name="Picture 3" descr="Table 4 Percentage of Sales by Geographic Distance"/>
          <p:cNvPicPr>
            <a:picLocks noChangeAspect="1" noChangeArrowheads="1"/>
          </p:cNvPicPr>
          <p:nvPr/>
        </p:nvPicPr>
        <p:blipFill>
          <a:blip r:embed="rId2" cstate="print"/>
          <a:srcRect/>
          <a:stretch>
            <a:fillRect/>
          </a:stretch>
        </p:blipFill>
        <p:spPr bwMode="auto">
          <a:xfrm>
            <a:off x="2560655" y="2743201"/>
            <a:ext cx="4415454" cy="1663297"/>
          </a:xfrm>
          <a:prstGeom prst="rect">
            <a:avLst/>
          </a:prstGeom>
          <a:noFill/>
          <a:ln w="9525">
            <a:noFill/>
            <a:miter lim="800000"/>
            <a:headEnd/>
            <a:tailEnd/>
          </a:ln>
          <a:effectLst/>
        </p:spPr>
      </p:pic>
      <p:pic>
        <p:nvPicPr>
          <p:cNvPr id="6146" name="Picture 2" descr="Firms in Sample that Exported Within 3 Years of Founding"/>
          <p:cNvPicPr>
            <a:picLocks noChangeAspect="1" noChangeArrowheads="1"/>
          </p:cNvPicPr>
          <p:nvPr/>
        </p:nvPicPr>
        <p:blipFill>
          <a:blip r:embed="rId3" cstate="print"/>
          <a:srcRect/>
          <a:stretch>
            <a:fillRect/>
          </a:stretch>
        </p:blipFill>
        <p:spPr bwMode="auto">
          <a:xfrm>
            <a:off x="7132656" y="1371600"/>
            <a:ext cx="4145859" cy="4761260"/>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altLang="en-US" dirty="0">
                <a:solidFill>
                  <a:schemeClr val="bg1"/>
                </a:solidFill>
              </a:rPr>
              <a:t>Newburry 2026 DBA International Business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152400"/>
            <a:ext cx="10134600" cy="1143000"/>
          </a:xfrm>
        </p:spPr>
        <p:txBody>
          <a:bodyPr/>
          <a:lstStyle/>
          <a:p>
            <a:r>
              <a:rPr lang="en-US" sz="2000" dirty="0"/>
              <a:t>Meyer, K.E., Li, C. &amp; </a:t>
            </a:r>
            <a:r>
              <a:rPr lang="en-US" sz="2000" dirty="0" err="1"/>
              <a:t>Schotter</a:t>
            </a:r>
            <a:r>
              <a:rPr lang="en-US" sz="2000" dirty="0"/>
              <a:t>, A.P.J. (2020). Managing the MNE subsidiary: Advancing a multi-level and dynamic research agenda. </a:t>
            </a:r>
            <a:r>
              <a:rPr lang="en-US" sz="2000" i="1" dirty="0"/>
              <a:t>Journal of International Business Studies,</a:t>
            </a:r>
            <a:r>
              <a:rPr lang="en-US" sz="2000" dirty="0"/>
              <a:t> 51:</a:t>
            </a:r>
            <a:r>
              <a:rPr lang="en-US" sz="2000" b="1" dirty="0"/>
              <a:t> </a:t>
            </a:r>
            <a:r>
              <a:rPr lang="en-US" sz="2000" dirty="0"/>
              <a:t>538–576. </a:t>
            </a:r>
          </a:p>
        </p:txBody>
      </p:sp>
      <p:sp>
        <p:nvSpPr>
          <p:cNvPr id="4" name="Footer Placeholder 3"/>
          <p:cNvSpPr>
            <a:spLocks noGrp="1"/>
          </p:cNvSpPr>
          <p:nvPr>
            <p:ph type="ftr" sz="quarter" idx="11"/>
          </p:nvPr>
        </p:nvSpPr>
        <p:spPr/>
        <p:txBody>
          <a:bodyPr/>
          <a:lstStyle/>
          <a:p>
            <a:r>
              <a:rPr lang="en-US" altLang="en-US" dirty="0">
                <a:solidFill>
                  <a:schemeClr val="bg1"/>
                </a:solidFill>
              </a:rPr>
              <a:t>Newburry 2026 DBA International Business</a:t>
            </a:r>
          </a:p>
        </p:txBody>
      </p:sp>
      <p:pic>
        <p:nvPicPr>
          <p:cNvPr id="1026" name="Picture 2" descr="Important typologies of subsidiary roles"/>
          <p:cNvPicPr>
            <a:picLocks noChangeAspect="1" noChangeArrowheads="1"/>
          </p:cNvPicPr>
          <p:nvPr/>
        </p:nvPicPr>
        <p:blipFill>
          <a:blip r:embed="rId2" cstate="print"/>
          <a:srcRect/>
          <a:stretch>
            <a:fillRect/>
          </a:stretch>
        </p:blipFill>
        <p:spPr bwMode="auto">
          <a:xfrm>
            <a:off x="3294185" y="1432384"/>
            <a:ext cx="6901826" cy="4786981"/>
          </a:xfrm>
          <a:prstGeom prst="rect">
            <a:avLst/>
          </a:prstGeom>
          <a:noFill/>
          <a:ln w="9525">
            <a:noFill/>
            <a:miter lim="800000"/>
            <a:headEnd/>
            <a:tailEnd/>
          </a:ln>
          <a:effec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981200" y="228600"/>
            <a:ext cx="9855758" cy="1143000"/>
          </a:xfrm>
        </p:spPr>
        <p:txBody>
          <a:bodyPr/>
          <a:lstStyle/>
          <a:p>
            <a:r>
              <a:rPr lang="en-US" sz="2000" dirty="0"/>
              <a:t>Meyer, K.E., Li, C. &amp; </a:t>
            </a:r>
            <a:r>
              <a:rPr lang="en-US" sz="2000" dirty="0" err="1"/>
              <a:t>Schotter</a:t>
            </a:r>
            <a:r>
              <a:rPr lang="en-US" sz="2000" dirty="0"/>
              <a:t>, A.P.J. (2020). Managing the MNE subsidiary: Advancing a multi-level and dynamic research agenda. </a:t>
            </a:r>
            <a:r>
              <a:rPr lang="en-US" sz="2000" i="1" dirty="0"/>
              <a:t>Journal of International Business Studies,</a:t>
            </a:r>
            <a:r>
              <a:rPr lang="en-US" sz="2000" dirty="0"/>
              <a:t> 51:</a:t>
            </a:r>
            <a:r>
              <a:rPr lang="en-US" sz="2000" b="1" dirty="0"/>
              <a:t> </a:t>
            </a:r>
            <a:r>
              <a:rPr lang="en-US" sz="2000" dirty="0"/>
              <a:t>538–576. Figure 1.</a:t>
            </a:r>
          </a:p>
        </p:txBody>
      </p:sp>
      <p:pic>
        <p:nvPicPr>
          <p:cNvPr id="2050" name="Picture 2" descr="Number of Articles published in a year on subsidiary management"/>
          <p:cNvPicPr>
            <a:picLocks noChangeAspect="1" noChangeArrowheads="1"/>
          </p:cNvPicPr>
          <p:nvPr/>
        </p:nvPicPr>
        <p:blipFill>
          <a:blip r:embed="rId2" cstate="print"/>
          <a:srcRect/>
          <a:stretch>
            <a:fillRect/>
          </a:stretch>
        </p:blipFill>
        <p:spPr bwMode="auto">
          <a:xfrm>
            <a:off x="2795117" y="1519068"/>
            <a:ext cx="8016407" cy="4689813"/>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altLang="en-US" dirty="0">
                <a:solidFill>
                  <a:schemeClr val="bg1"/>
                </a:solidFill>
              </a:rPr>
              <a:t>Newburry 2026 DBA International Business</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981199" y="228600"/>
            <a:ext cx="9926097" cy="1143000"/>
          </a:xfrm>
        </p:spPr>
        <p:txBody>
          <a:bodyPr/>
          <a:lstStyle/>
          <a:p>
            <a:r>
              <a:rPr lang="en-US" sz="2000" dirty="0"/>
              <a:t>Meyer, K.E., Li, C. &amp; </a:t>
            </a:r>
            <a:r>
              <a:rPr lang="en-US" sz="2000" dirty="0" err="1"/>
              <a:t>Schotter</a:t>
            </a:r>
            <a:r>
              <a:rPr lang="en-US" sz="2000" dirty="0"/>
              <a:t>, A.P.J. (2020). Managing the MNE subsidiary: Advancing a multi-level and dynamic research agenda. </a:t>
            </a:r>
            <a:r>
              <a:rPr lang="en-US" sz="2000" i="1" dirty="0"/>
              <a:t>Journal of International Business Studies,</a:t>
            </a:r>
            <a:r>
              <a:rPr lang="en-US" sz="2000" dirty="0"/>
              <a:t> 51:</a:t>
            </a:r>
            <a:r>
              <a:rPr lang="en-US" sz="2000" b="1" dirty="0"/>
              <a:t> </a:t>
            </a:r>
            <a:r>
              <a:rPr lang="en-US" sz="2000" dirty="0"/>
              <a:t>538–576. Figure 2.</a:t>
            </a:r>
          </a:p>
        </p:txBody>
      </p:sp>
      <p:pic>
        <p:nvPicPr>
          <p:cNvPr id="3074" name="Picture 2" descr="Figure 2. Conceptual Framework for Subsidiary Management."/>
          <p:cNvPicPr>
            <a:picLocks noChangeAspect="1" noChangeArrowheads="1"/>
          </p:cNvPicPr>
          <p:nvPr/>
        </p:nvPicPr>
        <p:blipFill>
          <a:blip r:embed="rId2" cstate="print"/>
          <a:srcRect/>
          <a:stretch>
            <a:fillRect/>
          </a:stretch>
        </p:blipFill>
        <p:spPr bwMode="auto">
          <a:xfrm>
            <a:off x="2785068" y="1519068"/>
            <a:ext cx="8042128" cy="4689813"/>
          </a:xfrm>
          <a:prstGeom prst="rect">
            <a:avLst/>
          </a:prstGeom>
          <a:noFill/>
          <a:ln w="9525">
            <a:noFill/>
            <a:miter lim="800000"/>
            <a:headEnd/>
            <a:tailEnd/>
          </a:ln>
          <a:effectLst/>
        </p:spPr>
      </p:pic>
      <p:sp>
        <p:nvSpPr>
          <p:cNvPr id="4" name="Footer Placeholder 3"/>
          <p:cNvSpPr>
            <a:spLocks noGrp="1"/>
          </p:cNvSpPr>
          <p:nvPr>
            <p:ph type="ftr" sz="quarter" idx="11"/>
          </p:nvPr>
        </p:nvSpPr>
        <p:spPr>
          <a:xfrm>
            <a:off x="4886847" y="6356349"/>
            <a:ext cx="4114800" cy="365125"/>
          </a:xfrm>
        </p:spPr>
        <p:txBody>
          <a:bodyPr/>
          <a:lstStyle/>
          <a:p>
            <a:r>
              <a:rPr lang="en-US" altLang="en-US" dirty="0">
                <a:solidFill>
                  <a:schemeClr val="bg1"/>
                </a:solidFill>
              </a:rPr>
              <a:t>Newburry 2026 DBA International Business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70D38-84E7-2C7B-D384-033B73652D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8701A4-1EA2-EB92-A112-C58A2CBDCE6A}"/>
              </a:ext>
            </a:extLst>
          </p:cNvPr>
          <p:cNvSpPr>
            <a:spLocks noGrp="1"/>
          </p:cNvSpPr>
          <p:nvPr>
            <p:ph type="title"/>
          </p:nvPr>
        </p:nvSpPr>
        <p:spPr>
          <a:xfrm>
            <a:off x="2117834" y="228600"/>
            <a:ext cx="9464566" cy="1143000"/>
          </a:xfrm>
        </p:spPr>
        <p:txBody>
          <a:bodyPr>
            <a:noAutofit/>
          </a:bodyPr>
          <a:lstStyle/>
          <a:p>
            <a:r>
              <a:rPr lang="en-US" sz="2400" dirty="0"/>
              <a:t>Zeng et al. (2023). Navigating MNE control and coordination: A critical review and directions for future research. Journal of International Business Studies, 54: 1599–1622.</a:t>
            </a:r>
          </a:p>
        </p:txBody>
      </p:sp>
      <p:sp>
        <p:nvSpPr>
          <p:cNvPr id="4" name="Footer Placeholder 3">
            <a:extLst>
              <a:ext uri="{FF2B5EF4-FFF2-40B4-BE49-F238E27FC236}">
                <a16:creationId xmlns:a16="http://schemas.microsoft.com/office/drawing/2014/main" id="{D9DF5B8C-0D22-87BD-F829-91F93CA7FB1D}"/>
              </a:ext>
            </a:extLst>
          </p:cNvPr>
          <p:cNvSpPr>
            <a:spLocks noGrp="1"/>
          </p:cNvSpPr>
          <p:nvPr>
            <p:ph type="ftr" sz="quarter" idx="11"/>
          </p:nvPr>
        </p:nvSpPr>
        <p:spPr/>
        <p:txBody>
          <a:bodyPr/>
          <a:lstStyle/>
          <a:p>
            <a:pPr>
              <a:defRPr/>
            </a:pPr>
            <a:r>
              <a:rPr lang="en-US" altLang="en-US" dirty="0">
                <a:solidFill>
                  <a:schemeClr val="bg1"/>
                </a:solidFill>
              </a:rPr>
              <a:t>Newburry 2026 DBA International Business</a:t>
            </a:r>
          </a:p>
        </p:txBody>
      </p:sp>
      <p:pic>
        <p:nvPicPr>
          <p:cNvPr id="5" name="Picture 4" descr="Zeng et al. (2023) Figure 1">
            <a:extLst>
              <a:ext uri="{FF2B5EF4-FFF2-40B4-BE49-F238E27FC236}">
                <a16:creationId xmlns:a16="http://schemas.microsoft.com/office/drawing/2014/main" id="{7EEAF480-B65C-D533-DA35-D5A0B4A746AF}"/>
              </a:ext>
            </a:extLst>
          </p:cNvPr>
          <p:cNvPicPr>
            <a:picLocks noChangeAspect="1"/>
          </p:cNvPicPr>
          <p:nvPr/>
        </p:nvPicPr>
        <p:blipFill>
          <a:blip r:embed="rId2"/>
          <a:stretch>
            <a:fillRect/>
          </a:stretch>
        </p:blipFill>
        <p:spPr>
          <a:xfrm>
            <a:off x="2164080" y="1529557"/>
            <a:ext cx="9418320" cy="4668836"/>
          </a:xfrm>
          <a:prstGeom prst="rect">
            <a:avLst/>
          </a:prstGeom>
        </p:spPr>
      </p:pic>
    </p:spTree>
    <p:extLst>
      <p:ext uri="{BB962C8B-B14F-4D97-AF65-F5344CB8AC3E}">
        <p14:creationId xmlns:p14="http://schemas.microsoft.com/office/powerpoint/2010/main" val="24261904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F5A60-6C55-E178-D1CE-8FD5747922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662BCE-2A49-1C5E-E786-0F133706739F}"/>
              </a:ext>
            </a:extLst>
          </p:cNvPr>
          <p:cNvSpPr>
            <a:spLocks noGrp="1"/>
          </p:cNvSpPr>
          <p:nvPr>
            <p:ph type="title"/>
          </p:nvPr>
        </p:nvSpPr>
        <p:spPr>
          <a:xfrm>
            <a:off x="1981200" y="228600"/>
            <a:ext cx="9601200" cy="1143000"/>
          </a:xfrm>
        </p:spPr>
        <p:txBody>
          <a:bodyPr>
            <a:noAutofit/>
          </a:bodyPr>
          <a:lstStyle/>
          <a:p>
            <a:r>
              <a:rPr lang="en-US" sz="2400" dirty="0"/>
              <a:t>Zeng et al. (2023). Navigating MNE control and coordination: A critical review and directions for future research. Journal of International Business Studies, 54: 1599–1622. Table 3.</a:t>
            </a:r>
          </a:p>
        </p:txBody>
      </p:sp>
      <p:sp>
        <p:nvSpPr>
          <p:cNvPr id="4" name="Footer Placeholder 3">
            <a:extLst>
              <a:ext uri="{FF2B5EF4-FFF2-40B4-BE49-F238E27FC236}">
                <a16:creationId xmlns:a16="http://schemas.microsoft.com/office/drawing/2014/main" id="{5DF5D511-4798-9F81-33E8-70B49B8889B3}"/>
              </a:ext>
            </a:extLst>
          </p:cNvPr>
          <p:cNvSpPr>
            <a:spLocks noGrp="1"/>
          </p:cNvSpPr>
          <p:nvPr>
            <p:ph type="ftr" sz="quarter" idx="11"/>
          </p:nvPr>
        </p:nvSpPr>
        <p:spPr/>
        <p:txBody>
          <a:bodyPr/>
          <a:lstStyle/>
          <a:p>
            <a:pPr>
              <a:defRPr/>
            </a:pPr>
            <a:r>
              <a:rPr lang="en-US" altLang="en-US" dirty="0">
                <a:solidFill>
                  <a:schemeClr val="bg1"/>
                </a:solidFill>
              </a:rPr>
              <a:t>Newburry 2026 DBA International Business</a:t>
            </a:r>
          </a:p>
        </p:txBody>
      </p:sp>
      <p:pic>
        <p:nvPicPr>
          <p:cNvPr id="5" name="Picture 4" descr="Zeng et al. (2023) Table 3">
            <a:extLst>
              <a:ext uri="{FF2B5EF4-FFF2-40B4-BE49-F238E27FC236}">
                <a16:creationId xmlns:a16="http://schemas.microsoft.com/office/drawing/2014/main" id="{AD6E825A-10BA-8E68-CB25-57F82F5E206D}"/>
              </a:ext>
            </a:extLst>
          </p:cNvPr>
          <p:cNvPicPr>
            <a:picLocks noChangeAspect="1"/>
          </p:cNvPicPr>
          <p:nvPr/>
        </p:nvPicPr>
        <p:blipFill>
          <a:blip r:embed="rId2"/>
          <a:stretch>
            <a:fillRect/>
          </a:stretch>
        </p:blipFill>
        <p:spPr>
          <a:xfrm>
            <a:off x="1882140" y="1521809"/>
            <a:ext cx="10058400" cy="4765845"/>
          </a:xfrm>
          <a:prstGeom prst="rect">
            <a:avLst/>
          </a:prstGeom>
        </p:spPr>
      </p:pic>
    </p:spTree>
    <p:extLst>
      <p:ext uri="{BB962C8B-B14F-4D97-AF65-F5344CB8AC3E}">
        <p14:creationId xmlns:p14="http://schemas.microsoft.com/office/powerpoint/2010/main" val="298267093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BF4D5-27C7-1F49-CD43-B143F9610533}"/>
              </a:ext>
            </a:extLst>
          </p:cNvPr>
          <p:cNvSpPr>
            <a:spLocks noGrp="1"/>
          </p:cNvSpPr>
          <p:nvPr>
            <p:ph type="title"/>
          </p:nvPr>
        </p:nvSpPr>
        <p:spPr>
          <a:xfrm>
            <a:off x="1981200" y="228600"/>
            <a:ext cx="9601200" cy="1143000"/>
          </a:xfrm>
        </p:spPr>
        <p:txBody>
          <a:bodyPr>
            <a:noAutofit/>
          </a:bodyPr>
          <a:lstStyle/>
          <a:p>
            <a:r>
              <a:rPr lang="en-US" sz="2400" dirty="0"/>
              <a:t>Zeng et al. (2023). Navigating MNE control and coordination: A critical review and directions for future research. Journal of International Business Studies, 54: 1599–1622. Figure 2.</a:t>
            </a:r>
          </a:p>
        </p:txBody>
      </p:sp>
      <p:sp>
        <p:nvSpPr>
          <p:cNvPr id="4" name="Footer Placeholder 3">
            <a:extLst>
              <a:ext uri="{FF2B5EF4-FFF2-40B4-BE49-F238E27FC236}">
                <a16:creationId xmlns:a16="http://schemas.microsoft.com/office/drawing/2014/main" id="{029ACA9F-2D58-DE41-3DAD-B9E8C6CB5D73}"/>
              </a:ext>
            </a:extLst>
          </p:cNvPr>
          <p:cNvSpPr>
            <a:spLocks noGrp="1"/>
          </p:cNvSpPr>
          <p:nvPr>
            <p:ph type="ftr" sz="quarter" idx="11"/>
          </p:nvPr>
        </p:nvSpPr>
        <p:spPr/>
        <p:txBody>
          <a:bodyPr/>
          <a:lstStyle/>
          <a:p>
            <a:pPr>
              <a:defRPr/>
            </a:pPr>
            <a:r>
              <a:rPr lang="en-US" altLang="en-US" dirty="0">
                <a:solidFill>
                  <a:schemeClr val="bg1"/>
                </a:solidFill>
              </a:rPr>
              <a:t>Newburry 2026 DBA International Business</a:t>
            </a:r>
          </a:p>
        </p:txBody>
      </p:sp>
      <p:pic>
        <p:nvPicPr>
          <p:cNvPr id="6" name="Picture 5" descr="Zeng et al. (2023) Figure 2">
            <a:extLst>
              <a:ext uri="{FF2B5EF4-FFF2-40B4-BE49-F238E27FC236}">
                <a16:creationId xmlns:a16="http://schemas.microsoft.com/office/drawing/2014/main" id="{F26596EB-D0C3-7697-F40B-41D8FB5B0610}"/>
              </a:ext>
            </a:extLst>
          </p:cNvPr>
          <p:cNvPicPr>
            <a:picLocks noChangeAspect="1"/>
          </p:cNvPicPr>
          <p:nvPr/>
        </p:nvPicPr>
        <p:blipFill>
          <a:blip r:embed="rId2"/>
          <a:stretch>
            <a:fillRect/>
          </a:stretch>
        </p:blipFill>
        <p:spPr>
          <a:xfrm>
            <a:off x="2001166" y="1760219"/>
            <a:ext cx="9820347" cy="3743352"/>
          </a:xfrm>
          <a:prstGeom prst="rect">
            <a:avLst/>
          </a:prstGeom>
        </p:spPr>
      </p:pic>
    </p:spTree>
    <p:extLst>
      <p:ext uri="{BB962C8B-B14F-4D97-AF65-F5344CB8AC3E}">
        <p14:creationId xmlns:p14="http://schemas.microsoft.com/office/powerpoint/2010/main" val="36747132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30381-F0B0-DA28-F517-50BEB44CC3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7070CC-305D-59AA-A428-0BDD87DCBC99}"/>
              </a:ext>
            </a:extLst>
          </p:cNvPr>
          <p:cNvSpPr>
            <a:spLocks noGrp="1"/>
          </p:cNvSpPr>
          <p:nvPr>
            <p:ph type="title"/>
          </p:nvPr>
        </p:nvSpPr>
        <p:spPr>
          <a:xfrm>
            <a:off x="2133023" y="451139"/>
            <a:ext cx="9535968" cy="1143000"/>
          </a:xfrm>
        </p:spPr>
        <p:txBody>
          <a:bodyPr/>
          <a:lstStyle/>
          <a:p>
            <a:pPr>
              <a:defRPr/>
            </a:pPr>
            <a:r>
              <a:rPr lang="en-US" altLang="en-US" dirty="0"/>
              <a:t>Next Week: September 18/19 (Residency) – Institutions and Culture</a:t>
            </a:r>
          </a:p>
        </p:txBody>
      </p:sp>
      <p:sp>
        <p:nvSpPr>
          <p:cNvPr id="33796" name="Rectangle 4">
            <a:extLst>
              <a:ext uri="{FF2B5EF4-FFF2-40B4-BE49-F238E27FC236}">
                <a16:creationId xmlns:a16="http://schemas.microsoft.com/office/drawing/2014/main" id="{2CCBC5A3-93D5-15E8-913B-47CF04F9AB6E}"/>
              </a:ext>
            </a:extLst>
          </p:cNvPr>
          <p:cNvSpPr>
            <a:spLocks noChangeArrowheads="1"/>
          </p:cNvSpPr>
          <p:nvPr/>
        </p:nvSpPr>
        <p:spPr bwMode="auto">
          <a:xfrm>
            <a:off x="1878445" y="1594139"/>
            <a:ext cx="10045123" cy="5940088"/>
          </a:xfrm>
          <a:prstGeom prst="rect">
            <a:avLst/>
          </a:prstGeom>
          <a:noFill/>
          <a:ln w="9525">
            <a:noFill/>
            <a:miter lim="800000"/>
            <a:headEnd/>
            <a:tailEnd/>
          </a:ln>
        </p:spPr>
        <p:txBody>
          <a:bodyPr wrap="square">
            <a:spAutoFit/>
          </a:bodyPr>
          <a:lstStyle/>
          <a:p>
            <a:pPr marL="342900" indent="-342900">
              <a:buFontTx/>
              <a:buChar char="•"/>
            </a:pPr>
            <a:r>
              <a:rPr lang="en-US" altLang="en-US" sz="2000" dirty="0" err="1">
                <a:solidFill>
                  <a:schemeClr val="bg1"/>
                </a:solidFill>
              </a:rPr>
              <a:t>Deephouse</a:t>
            </a:r>
            <a:r>
              <a:rPr lang="en-US" altLang="en-US" sz="2000" dirty="0">
                <a:solidFill>
                  <a:schemeClr val="bg1"/>
                </a:solidFill>
              </a:rPr>
              <a:t>, D., </a:t>
            </a:r>
            <a:r>
              <a:rPr lang="en-US" altLang="en-US" sz="2000" dirty="0" err="1">
                <a:solidFill>
                  <a:schemeClr val="bg1"/>
                </a:solidFill>
              </a:rPr>
              <a:t>Newburry</a:t>
            </a:r>
            <a:r>
              <a:rPr lang="en-US" altLang="en-US" sz="2000" dirty="0">
                <a:solidFill>
                  <a:schemeClr val="bg1"/>
                </a:solidFill>
              </a:rPr>
              <a:t>, W., &amp; </a:t>
            </a:r>
            <a:r>
              <a:rPr lang="en-US" altLang="en-US" sz="2000" dirty="0" err="1">
                <a:solidFill>
                  <a:schemeClr val="bg1"/>
                </a:solidFill>
              </a:rPr>
              <a:t>Soleimani</a:t>
            </a:r>
            <a:r>
              <a:rPr lang="en-US" altLang="en-US" sz="2000" dirty="0">
                <a:solidFill>
                  <a:schemeClr val="bg1"/>
                </a:solidFill>
              </a:rPr>
              <a:t>, A. (2016). The importance of national contexts and institutions for cross-national differences in corporate reputation. </a:t>
            </a:r>
            <a:r>
              <a:rPr lang="en-US" altLang="en-US" sz="2000" i="1" dirty="0">
                <a:solidFill>
                  <a:schemeClr val="bg1"/>
                </a:solidFill>
              </a:rPr>
              <a:t>Journal of World Business</a:t>
            </a:r>
            <a:r>
              <a:rPr lang="en-US" altLang="en-US" sz="2000" dirty="0">
                <a:solidFill>
                  <a:schemeClr val="bg1"/>
                </a:solidFill>
              </a:rPr>
              <a:t>, 51: 463–473.</a:t>
            </a:r>
          </a:p>
          <a:p>
            <a:pPr marL="342900" indent="-342900">
              <a:buFontTx/>
              <a:buChar char="•"/>
            </a:pPr>
            <a:r>
              <a:rPr lang="en-US" altLang="en-US" sz="2000" dirty="0">
                <a:solidFill>
                  <a:schemeClr val="bg1"/>
                </a:solidFill>
              </a:rPr>
              <a:t>House, R., Javidan, M., Hanges, P., &amp; Dorfman, P. (2002). Understanding cultures and </a:t>
            </a:r>
            <a:r>
              <a:rPr lang="en-US" altLang="en-US" sz="2000" dirty="0" err="1">
                <a:solidFill>
                  <a:schemeClr val="bg1"/>
                </a:solidFill>
              </a:rPr>
              <a:t>implicity</a:t>
            </a:r>
            <a:r>
              <a:rPr lang="en-US" altLang="en-US" sz="2000" dirty="0">
                <a:solidFill>
                  <a:schemeClr val="bg1"/>
                </a:solidFill>
              </a:rPr>
              <a:t> leadership theories across the globe: An introduction to project GLOBE. </a:t>
            </a:r>
            <a:r>
              <a:rPr lang="en-US" altLang="en-US" sz="2000" i="1" dirty="0">
                <a:solidFill>
                  <a:schemeClr val="bg1"/>
                </a:solidFill>
              </a:rPr>
              <a:t>Journal of World Business</a:t>
            </a:r>
            <a:r>
              <a:rPr lang="en-US" altLang="en-US" sz="2000" dirty="0">
                <a:solidFill>
                  <a:schemeClr val="bg1"/>
                </a:solidFill>
              </a:rPr>
              <a:t>, 37: 3-10.</a:t>
            </a:r>
          </a:p>
          <a:p>
            <a:pPr marL="342900" indent="-342900">
              <a:buFontTx/>
              <a:buChar char="•"/>
            </a:pPr>
            <a:r>
              <a:rPr lang="en-US" sz="2000" dirty="0">
                <a:solidFill>
                  <a:schemeClr val="bg1"/>
                </a:solidFill>
              </a:rPr>
              <a:t>Cuervo-</a:t>
            </a:r>
            <a:r>
              <a:rPr lang="en-US" sz="2000" dirty="0" err="1">
                <a:solidFill>
                  <a:schemeClr val="bg1"/>
                </a:solidFill>
              </a:rPr>
              <a:t>Cazurra</a:t>
            </a:r>
            <a:r>
              <a:rPr lang="en-US" sz="2000" dirty="0">
                <a:solidFill>
                  <a:schemeClr val="bg1"/>
                </a:solidFill>
              </a:rPr>
              <a:t>, A., Gaur, A. &amp; Singh, D. (2019). Pro-market institutions and global strategy: The pendulum of pro-market reforms and reversals. </a:t>
            </a:r>
            <a:r>
              <a:rPr lang="en-US" sz="2000" i="1" dirty="0">
                <a:solidFill>
                  <a:schemeClr val="bg1"/>
                </a:solidFill>
              </a:rPr>
              <a:t>Journal of International Business Studies,</a:t>
            </a:r>
            <a:r>
              <a:rPr lang="en-US" sz="2000" dirty="0">
                <a:solidFill>
                  <a:schemeClr val="bg1"/>
                </a:solidFill>
              </a:rPr>
              <a:t> 50: 598–632.</a:t>
            </a:r>
          </a:p>
          <a:p>
            <a:pPr marL="342900" indent="-342900">
              <a:buFontTx/>
              <a:buChar char="•"/>
            </a:pPr>
            <a:r>
              <a:rPr lang="en-US" sz="2000" dirty="0" err="1">
                <a:solidFill>
                  <a:schemeClr val="bg1"/>
                </a:solidFill>
                <a:ea typeface="Calibri" panose="020F0502020204030204" pitchFamily="34" charset="0"/>
              </a:rPr>
              <a:t>Samiee</a:t>
            </a:r>
            <a:r>
              <a:rPr lang="en-US" sz="2000" dirty="0">
                <a:solidFill>
                  <a:schemeClr val="bg1"/>
                </a:solidFill>
                <a:ea typeface="Calibri" panose="020F0502020204030204" pitchFamily="34" charset="0"/>
              </a:rPr>
              <a:t> et al. (2024). Research on country-of-origin perceptions: review, critical assessment, and the path forward. </a:t>
            </a:r>
            <a:r>
              <a:rPr lang="en-US" sz="2000" i="1" dirty="0">
                <a:solidFill>
                  <a:schemeClr val="bg1"/>
                </a:solidFill>
                <a:ea typeface="Calibri" panose="020F0502020204030204" pitchFamily="34" charset="0"/>
              </a:rPr>
              <a:t>Journal of International Business Studies</a:t>
            </a:r>
            <a:r>
              <a:rPr lang="en-US" sz="2000" dirty="0">
                <a:solidFill>
                  <a:schemeClr val="bg1"/>
                </a:solidFill>
                <a:ea typeface="Calibri" panose="020F0502020204030204" pitchFamily="34" charset="0"/>
              </a:rPr>
              <a:t>, 55: 285–302. </a:t>
            </a:r>
          </a:p>
          <a:p>
            <a:pPr marL="342900" indent="-342900">
              <a:buFontTx/>
              <a:buChar char="•"/>
            </a:pPr>
            <a:r>
              <a:rPr lang="en-US" sz="2000" dirty="0" err="1">
                <a:solidFill>
                  <a:schemeClr val="bg1"/>
                </a:solidFill>
                <a:ea typeface="Calibri" panose="020F0502020204030204" pitchFamily="34" charset="0"/>
              </a:rPr>
              <a:t>Fainshmidt</a:t>
            </a:r>
            <a:r>
              <a:rPr lang="en-US" sz="2000" dirty="0">
                <a:solidFill>
                  <a:schemeClr val="bg1"/>
                </a:solidFill>
                <a:ea typeface="Calibri" panose="020F0502020204030204" pitchFamily="34" charset="0"/>
              </a:rPr>
              <a:t>, S., Judge, W.Q., Aguilera, R.V., &amp; Smith, A. (2018). Varieties of institutional systems: A contextual taxonomy of understudied countries. Journal of World Business, 53: 307-322.</a:t>
            </a:r>
          </a:p>
          <a:p>
            <a:pPr marL="342900" indent="-342900">
              <a:buFontTx/>
              <a:buChar char="•"/>
            </a:pPr>
            <a:endParaRPr lang="en-US" sz="2000" dirty="0">
              <a:solidFill>
                <a:schemeClr val="bg1"/>
              </a:solidFill>
              <a:ea typeface="Calibri" panose="020F0502020204030204" pitchFamily="34" charset="0"/>
            </a:endParaRPr>
          </a:p>
          <a:p>
            <a:pPr marL="342900" indent="-342900">
              <a:buFontTx/>
              <a:buChar char="•"/>
            </a:pPr>
            <a:endParaRPr lang="en-US" sz="2000" dirty="0">
              <a:solidFill>
                <a:schemeClr val="bg1"/>
              </a:solidFill>
              <a:ea typeface="Calibri" panose="020F0502020204030204" pitchFamily="34" charset="0"/>
            </a:endParaRPr>
          </a:p>
          <a:p>
            <a:pPr marL="342900" indent="-342900">
              <a:buFontTx/>
              <a:buChar char="•"/>
            </a:pPr>
            <a:endParaRPr lang="en-US" sz="2000" dirty="0">
              <a:solidFill>
                <a:schemeClr val="bg1"/>
              </a:solidFill>
            </a:endParaRPr>
          </a:p>
          <a:p>
            <a:pPr marL="342900" indent="-342900">
              <a:buFontTx/>
              <a:buChar char="•"/>
            </a:pPr>
            <a:endParaRPr lang="en-US" altLang="en-US" sz="2000" b="1" dirty="0">
              <a:solidFill>
                <a:schemeClr val="bg1"/>
              </a:solidFill>
            </a:endParaRPr>
          </a:p>
        </p:txBody>
      </p:sp>
      <p:sp>
        <p:nvSpPr>
          <p:cNvPr id="3" name="Footer Placeholder 3">
            <a:extLst>
              <a:ext uri="{FF2B5EF4-FFF2-40B4-BE49-F238E27FC236}">
                <a16:creationId xmlns:a16="http://schemas.microsoft.com/office/drawing/2014/main" id="{BD398076-BFE2-B146-6910-44BC7CA9234E}"/>
              </a:ext>
            </a:extLst>
          </p:cNvPr>
          <p:cNvSpPr>
            <a:spLocks noGrp="1"/>
          </p:cNvSpPr>
          <p:nvPr>
            <p:ph type="ftr" sz="quarter" idx="11"/>
          </p:nvPr>
        </p:nvSpPr>
        <p:spPr>
          <a:xfrm>
            <a:off x="4853940" y="6356350"/>
            <a:ext cx="4114800" cy="365125"/>
          </a:xfrm>
        </p:spPr>
        <p:txBody>
          <a:bodyPr/>
          <a:lstStyle>
            <a:lvl1pPr>
              <a:defRPr sz="4400">
                <a:solidFill>
                  <a:schemeClr val="accent2"/>
                </a:solidFill>
                <a:latin typeface="Arial" panose="020B0604020202020204" pitchFamily="34" charset="0"/>
                <a:ea typeface="ＭＳ Ｐゴシック" panose="020B0600070205080204" pitchFamily="34" charset="-128"/>
              </a:defRPr>
            </a:lvl1pPr>
            <a:lvl2pPr marL="742950" indent="-285750">
              <a:defRPr sz="4400">
                <a:solidFill>
                  <a:schemeClr val="accent2"/>
                </a:solidFill>
                <a:latin typeface="Arial" panose="020B0604020202020204" pitchFamily="34" charset="0"/>
                <a:ea typeface="ＭＳ Ｐゴシック" panose="020B0600070205080204" pitchFamily="34" charset="-128"/>
              </a:defRPr>
            </a:lvl2pPr>
            <a:lvl3pPr marL="1143000" indent="-228600">
              <a:defRPr sz="4400">
                <a:solidFill>
                  <a:schemeClr val="accent2"/>
                </a:solidFill>
                <a:latin typeface="Arial" panose="020B0604020202020204" pitchFamily="34" charset="0"/>
                <a:ea typeface="ＭＳ Ｐゴシック" panose="020B0600070205080204" pitchFamily="34" charset="-128"/>
              </a:defRPr>
            </a:lvl3pPr>
            <a:lvl4pPr marL="1600200" indent="-228600">
              <a:defRPr sz="4400">
                <a:solidFill>
                  <a:schemeClr val="accent2"/>
                </a:solidFill>
                <a:latin typeface="Arial" panose="020B0604020202020204" pitchFamily="34" charset="0"/>
                <a:ea typeface="ＭＳ Ｐゴシック" panose="020B0600070205080204" pitchFamily="34" charset="-128"/>
              </a:defRPr>
            </a:lvl4pPr>
            <a:lvl5pPr marL="2057400" indent="-228600">
              <a:defRPr sz="4400">
                <a:solidFill>
                  <a:schemeClr val="accent2"/>
                </a:solidFill>
                <a:latin typeface="Arial" panose="020B0604020202020204" pitchFamily="34" charset="0"/>
                <a:ea typeface="ＭＳ Ｐゴシック" panose="020B0600070205080204" pitchFamily="34" charset="-128"/>
              </a:defRPr>
            </a:lvl5pPr>
            <a:lvl6pPr marL="25146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6pPr>
            <a:lvl7pPr marL="29718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7pPr>
            <a:lvl8pPr marL="34290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8pPr>
            <a:lvl9pPr marL="3886200" indent="-228600" fontAlgn="base">
              <a:spcBef>
                <a:spcPct val="0"/>
              </a:spcBef>
              <a:spcAft>
                <a:spcPct val="0"/>
              </a:spcAft>
              <a:defRPr sz="4400">
                <a:solidFill>
                  <a:schemeClr val="accent2"/>
                </a:solidFill>
                <a:latin typeface="Arial" panose="020B0604020202020204" pitchFamily="34" charset="0"/>
                <a:ea typeface="ＭＳ Ｐゴシック" panose="020B0600070205080204" pitchFamily="34" charset="-128"/>
              </a:defRPr>
            </a:lvl9pPr>
          </a:lstStyle>
          <a:p>
            <a:pPr>
              <a:defRPr/>
            </a:pPr>
            <a:r>
              <a:rPr lang="en-US" altLang="en-US" sz="1200" dirty="0">
                <a:solidFill>
                  <a:schemeClr val="bg1"/>
                </a:solidFill>
              </a:rPr>
              <a:t>Newburry 2026 DBA International Business</a:t>
            </a:r>
          </a:p>
        </p:txBody>
      </p:sp>
    </p:spTree>
    <p:extLst>
      <p:ext uri="{BB962C8B-B14F-4D97-AF65-F5344CB8AC3E}">
        <p14:creationId xmlns:p14="http://schemas.microsoft.com/office/powerpoint/2010/main" val="3396768170"/>
      </p:ext>
    </p:extLst>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44546A"/>
      </a:dk2>
      <a:lt2>
        <a:srgbClr val="E7E6E6"/>
      </a:lt2>
      <a:accent1>
        <a:srgbClr val="071F3E"/>
      </a:accent1>
      <a:accent2>
        <a:srgbClr val="C4960B"/>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CBF305E6E409946AD1DA7014EE1833A" ma:contentTypeVersion="9" ma:contentTypeDescription="Create a new document." ma:contentTypeScope="" ma:versionID="623fd3ea028e4035c42c27315594877b">
  <xsd:schema xmlns:xsd="http://www.w3.org/2001/XMLSchema" xmlns:xs="http://www.w3.org/2001/XMLSchema" xmlns:p="http://schemas.microsoft.com/office/2006/metadata/properties" xmlns:ns2="1f55ec82-a505-4936-99e5-d41b25147da0" xmlns:ns3="f1f308d3-4c92-402a-ab04-f7497706f561" targetNamespace="http://schemas.microsoft.com/office/2006/metadata/properties" ma:root="true" ma:fieldsID="f5474a88bd76eea6e2ad2fc24fd1116a" ns2:_="" ns3:_="">
    <xsd:import namespace="1f55ec82-a505-4936-99e5-d41b25147da0"/>
    <xsd:import namespace="f1f308d3-4c92-402a-ab04-f7497706f561"/>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55ec82-a505-4936-99e5-d41b25147da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1f308d3-4c92-402a-ab04-f7497706f561"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CC15244-6FF3-46F0-8281-63B63B937A69}">
  <ds:schemaRefs>
    <ds:schemaRef ds:uri="http://schemas.microsoft.com/sharepoint/v3/contenttype/forms"/>
  </ds:schemaRefs>
</ds:datastoreItem>
</file>

<file path=customXml/itemProps2.xml><?xml version="1.0" encoding="utf-8"?>
<ds:datastoreItem xmlns:ds="http://schemas.openxmlformats.org/officeDocument/2006/customXml" ds:itemID="{37899C4F-194D-47FC-918D-4EED357B8EAD}">
  <ds:schemaRefs>
    <ds:schemaRef ds:uri="http://schemas.microsoft.com/office/2006/documentManagement/types"/>
    <ds:schemaRef ds:uri="http://purl.org/dc/dcmitype/"/>
    <ds:schemaRef ds:uri="http://schemas.microsoft.com/office/2006/metadata/properties"/>
    <ds:schemaRef ds:uri="http://schemas.microsoft.com/office/infopath/2007/PartnerControls"/>
    <ds:schemaRef ds:uri="http://www.w3.org/XML/1998/namespace"/>
    <ds:schemaRef ds:uri="http://schemas.openxmlformats.org/package/2006/metadata/core-properties"/>
    <ds:schemaRef ds:uri="http://purl.org/dc/terms/"/>
    <ds:schemaRef ds:uri="f1f308d3-4c92-402a-ab04-f7497706f561"/>
    <ds:schemaRef ds:uri="1f55ec82-a505-4936-99e5-d41b25147da0"/>
    <ds:schemaRef ds:uri="http://purl.org/dc/elements/1.1/"/>
  </ds:schemaRefs>
</ds:datastoreItem>
</file>

<file path=customXml/itemProps3.xml><?xml version="1.0" encoding="utf-8"?>
<ds:datastoreItem xmlns:ds="http://schemas.openxmlformats.org/officeDocument/2006/customXml" ds:itemID="{F1CC054F-E3B7-4B58-A230-3383DD1878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55ec82-a505-4936-99e5-d41b25147da0"/>
    <ds:schemaRef ds:uri="f1f308d3-4c92-402a-ab04-f7497706f5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1470</TotalTime>
  <Words>4555</Words>
  <Application>Microsoft Office PowerPoint</Application>
  <PresentationFormat>Widescreen</PresentationFormat>
  <Paragraphs>526</Paragraphs>
  <Slides>76</Slides>
  <Notes>8</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4</vt:i4>
      </vt:variant>
      <vt:variant>
        <vt:lpstr>Slide Titles</vt:lpstr>
      </vt:variant>
      <vt:variant>
        <vt:i4>76</vt:i4>
      </vt:variant>
    </vt:vector>
  </HeadingPairs>
  <TitlesOfParts>
    <vt:vector size="88" baseType="lpstr">
      <vt:lpstr>MS PGothic</vt:lpstr>
      <vt:lpstr>MS PGothic</vt:lpstr>
      <vt:lpstr>Arial</vt:lpstr>
      <vt:lpstr>Calibri</vt:lpstr>
      <vt:lpstr>Symbol</vt:lpstr>
      <vt:lpstr>Tahoma</vt:lpstr>
      <vt:lpstr>Times New Roman</vt:lpstr>
      <vt:lpstr>Office Theme</vt:lpstr>
      <vt:lpstr>MS Org Chart</vt:lpstr>
      <vt:lpstr>Organization Chart</vt:lpstr>
      <vt:lpstr>MS Organization Chart 2.0</vt:lpstr>
      <vt:lpstr>Bitmap Image</vt:lpstr>
      <vt:lpstr>Welcome to  International Business Theory and Practice (GEB 7365)</vt:lpstr>
      <vt:lpstr>Today’s Plan of Action</vt:lpstr>
      <vt:lpstr>September 8 – 10 – Structuring the MNC</vt:lpstr>
      <vt:lpstr>September 18/19 (Residency) – Institutions and Culture</vt:lpstr>
      <vt:lpstr>September 22/24 – Emerging Markets: What are They and Why are They Important?</vt:lpstr>
      <vt:lpstr>September 29/October 1 – Emerging Markets and their Impact on International Business Theories</vt:lpstr>
      <vt:lpstr> October 6/8 – Nonmarket Strategies in International Business</vt:lpstr>
      <vt:lpstr>Course Focus and Evaluation</vt:lpstr>
      <vt:lpstr>Class Participation</vt:lpstr>
      <vt:lpstr>Class Participation Rubric</vt:lpstr>
      <vt:lpstr>Missed Class or Extra Participation Credit</vt:lpstr>
      <vt:lpstr>Topic Area Written Analysis and Presentation</vt:lpstr>
      <vt:lpstr>Research Project</vt:lpstr>
      <vt:lpstr>Project Presentation (September 18/19)</vt:lpstr>
      <vt:lpstr>Project Presentation – Grading Expectations</vt:lpstr>
      <vt:lpstr>Written Project Report (October 7/9)</vt:lpstr>
      <vt:lpstr>Example Paper Format</vt:lpstr>
      <vt:lpstr>Introduction Section</vt:lpstr>
      <vt:lpstr>Establish a Relevant Contribution (Adapted from Steve Tallman)</vt:lpstr>
      <vt:lpstr>Example Approach from Jay Barney</vt:lpstr>
      <vt:lpstr>Common Errors in Introduction (From Jay Barney)</vt:lpstr>
      <vt:lpstr>Literature Review</vt:lpstr>
      <vt:lpstr>Hypotheses Section</vt:lpstr>
      <vt:lpstr>Methodology Section</vt:lpstr>
      <vt:lpstr>Results Section (not for this project)</vt:lpstr>
      <vt:lpstr>Discussion and Conclusion (Discuss in terms of expected contributions for this project)</vt:lpstr>
      <vt:lpstr>Additional Paper Elements</vt:lpstr>
      <vt:lpstr>Academy of International Business (AIB) 2027 Conferences</vt:lpstr>
      <vt:lpstr>AIB 2027 Conferences</vt:lpstr>
      <vt:lpstr>Organizational Structure</vt:lpstr>
      <vt:lpstr>Vertical Differentiation</vt:lpstr>
      <vt:lpstr>Vertical Differentiation (Cont.)</vt:lpstr>
      <vt:lpstr>Horizontal Differentiation</vt:lpstr>
      <vt:lpstr>Formal Organizational Structures</vt:lpstr>
      <vt:lpstr>Domestic Functional + Export</vt:lpstr>
      <vt:lpstr>Domestic Divisional + Export</vt:lpstr>
      <vt:lpstr>Integration-Responsiveness Framework - International</vt:lpstr>
      <vt:lpstr>International Strategy</vt:lpstr>
      <vt:lpstr>International Division Structure</vt:lpstr>
      <vt:lpstr>Anheuser-Busch</vt:lpstr>
      <vt:lpstr>Organizational Structure </vt:lpstr>
      <vt:lpstr>Integration-Responsiveness Framework – Multi-Domestic</vt:lpstr>
      <vt:lpstr>Multidomestic Strategy</vt:lpstr>
      <vt:lpstr>Geographic Structure</vt:lpstr>
      <vt:lpstr>AFLAC Organizational Structure</vt:lpstr>
      <vt:lpstr>Integration-Responsiveness Framework - Global</vt:lpstr>
      <vt:lpstr>Global Strategy</vt:lpstr>
      <vt:lpstr>Global Functional Structure</vt:lpstr>
      <vt:lpstr>Global Functional Design</vt:lpstr>
      <vt:lpstr>MLB Organizational Structure  is a simple Functional one...</vt:lpstr>
      <vt:lpstr>Global Product Division Structure</vt:lpstr>
      <vt:lpstr>Structure of Reed-Elsevier</vt:lpstr>
      <vt:lpstr>Thales Structure</vt:lpstr>
      <vt:lpstr>Integration-Responsiveness Framework - Transnational</vt:lpstr>
      <vt:lpstr>Transnational Strategy</vt:lpstr>
      <vt:lpstr>Global Matrix</vt:lpstr>
      <vt:lpstr>McDonnell Douglas Corporation (when I worked there)</vt:lpstr>
      <vt:lpstr>Ciba-Geigy Before Early 1990’s Reorganization</vt:lpstr>
      <vt:lpstr>Stages of International Structure</vt:lpstr>
      <vt:lpstr>September 8 / 10 – Structuring the MNC</vt:lpstr>
      <vt:lpstr>Rugman &amp; Verbeke (2004). A perspective on regional and global strategies of multinational enterprises. Journal of International Business Studies, 35: 3–18. </vt:lpstr>
      <vt:lpstr>Triad Power</vt:lpstr>
      <vt:lpstr>Rugman &amp; Verbeke (2004). A perspective on regional and global strategies of multinational enterprises. Journal of International Business Studies, 35: 3–18.</vt:lpstr>
      <vt:lpstr>Rugman &amp; Verbeke (2004). A perspective on regional and global strategies of multinational enterprises. Journal of International Business Studies, 35: 3–18. Table 3.</vt:lpstr>
      <vt:lpstr>Rugman &amp; Verbeke (2004). A perspective on regional and global strategies of multinational enterprises. Journal of International Business Studies, 35: 3–18. Table 4.</vt:lpstr>
      <vt:lpstr>Rugman &amp; Verbeke (2004). A perspective on regional and global strategies of multinational enterprises. Journal of International Business Studies, 35: 3–18. Table 5.</vt:lpstr>
      <vt:lpstr>Rugman &amp; Verbeke (2004). A perspective on regional and global strategies of multinational enterprises. Journal of International Business Studies, 35: 3–18. Figure 1.</vt:lpstr>
      <vt:lpstr>Lopez, Kundu, &amp; Ciravegna (2009). Born global or born regional? Evidence from an exploratory study in the Costa Rican software industry. Journal of International Business Studies, 40: 1228–1238. </vt:lpstr>
      <vt:lpstr>Lopez, Kundu, &amp; Ciravegna (2009). Born global or born regional? Evidence from an exploratory study in the Costa Rican software industry. Journal of International Business Studies, 40: 1228–1238. Tables 4 and 5.</vt:lpstr>
      <vt:lpstr>Meyer, K.E., Li, C. &amp; Schotter, A.P.J. (2020). Managing the MNE subsidiary: Advancing a multi-level and dynamic research agenda. Journal of International Business Studies, 51: 538–576. </vt:lpstr>
      <vt:lpstr>Meyer, K.E., Li, C. &amp; Schotter, A.P.J. (2020). Managing the MNE subsidiary: Advancing a multi-level and dynamic research agenda. Journal of International Business Studies, 51: 538–576. Figure 1.</vt:lpstr>
      <vt:lpstr>Meyer, K.E., Li, C. &amp; Schotter, A.P.J. (2020). Managing the MNE subsidiary: Advancing a multi-level and dynamic research agenda. Journal of International Business Studies, 51: 538–576. Figure 2.</vt:lpstr>
      <vt:lpstr>Zeng et al. (2023). Navigating MNE control and coordination: A critical review and directions for future research. Journal of International Business Studies, 54: 1599–1622.</vt:lpstr>
      <vt:lpstr>Zeng et al. (2023). Navigating MNE control and coordination: A critical review and directions for future research. Journal of International Business Studies, 54: 1599–1622. Table 3.</vt:lpstr>
      <vt:lpstr>Zeng et al. (2023). Navigating MNE control and coordination: A critical review and directions for future research. Journal of International Business Studies, 54: 1599–1622. Figure 2.</vt:lpstr>
      <vt:lpstr>Next Week: September 18/19 (Residency) – Institutions and Culture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Oscar Negret</dc:creator>
  <cp:lastModifiedBy>William Newburry</cp:lastModifiedBy>
  <cp:revision>73</cp:revision>
  <dcterms:created xsi:type="dcterms:W3CDTF">2019-06-25T19:12:02Z</dcterms:created>
  <dcterms:modified xsi:type="dcterms:W3CDTF">2026-09-04T17:03:39Z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0x010100CCBF305E6E409946AD1DA7014EE1833A</vt:lpwstr>
  </property>
</Properties>
</file>