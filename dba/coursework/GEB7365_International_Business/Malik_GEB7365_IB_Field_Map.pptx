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Run map (a) with management fanned: strategy sits deep inside IB, HR partly, OB barely. One circle per discipline is too coarse. Run map (b): the crossbars are between SUB-FIELDS, and OB flowed back into management from IB rather than out of it. Both maps treat integration as topical. Method is a third, structural integration point.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microscope objection is the one that matters. Answer: it is not a shared tool, it is a shared definition — comparison across countries requires comparable populations, so the constraint sits at the definition of the field. Do not overclaim past that: this is a second axis, not a replacement.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0E22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2801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2A7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Audit </a:t>
            </a:r>
            <a:pPr indent="0" marL="0">
              <a:buNone/>
            </a:pPr>
            <a:r>
              <a:rPr lang="en-US" sz="900" i="1" dirty="0">
                <a:solidFill>
                  <a:srgbClr val="8C949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</a:t>
            </a:r>
            <a:pPr indent="0" marL="0">
              <a:buNone/>
            </a:pPr>
            <a:r>
              <a:rPr lang="en-US" sz="1100" b="1" dirty="0">
                <a:solidFill>
                  <a:srgbClr val="D2A7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Algorithm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402336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D2A7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GEB 7365  ·  after Chandra &amp; Newburry (1997), Figure 1, p. 397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621792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Field Never Integrated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7452360" y="384048"/>
            <a:ext cx="27432" cy="658368"/>
          </a:xfrm>
          <a:prstGeom prst="rect">
            <a:avLst/>
          </a:prstGeom>
          <a:solidFill>
            <a:srgbClr val="D2A7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635240" y="384048"/>
            <a:ext cx="4114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DCE3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 the maps with management split into its sub-fields and two things break — then a third integration point appears.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" y="1417320"/>
            <a:ext cx="5074920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4C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499616"/>
            <a:ext cx="347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1F4E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(A)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1060704" y="1481328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7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circle is too coarse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1481328" y="1938528"/>
            <a:ext cx="731520" cy="1783080"/>
          </a:xfrm>
          <a:prstGeom prst="ellipse">
            <a:avLst/>
          </a:prstGeom>
          <a:solidFill>
            <a:srgbClr val="FFFFFF">
              <a:alpha val="0"/>
            </a:srgbClr>
          </a:solidFill>
          <a:ln w="15875">
            <a:solidFill>
              <a:srgbClr val="1F4E7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847088" y="1847088"/>
            <a:ext cx="960120" cy="960120"/>
          </a:xfrm>
          <a:prstGeom prst="ellipse">
            <a:avLst/>
          </a:prstGeom>
          <a:solidFill>
            <a:srgbClr val="FFFFFF">
              <a:alpha val="0"/>
            </a:srgbClr>
          </a:solidFill>
          <a:ln w="15875">
            <a:solidFill>
              <a:srgbClr val="1F4E7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26080" y="1920240"/>
            <a:ext cx="960120" cy="960120"/>
          </a:xfrm>
          <a:prstGeom prst="ellipse">
            <a:avLst/>
          </a:prstGeom>
          <a:solidFill>
            <a:srgbClr val="FFFFFF">
              <a:alpha val="0"/>
            </a:srgbClr>
          </a:solidFill>
          <a:ln w="15875">
            <a:solidFill>
              <a:srgbClr val="1F4E7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572768" y="2999232"/>
            <a:ext cx="914400" cy="914400"/>
          </a:xfrm>
          <a:prstGeom prst="ellipse">
            <a:avLst/>
          </a:prstGeom>
          <a:solidFill>
            <a:srgbClr val="FFFFFF">
              <a:alpha val="0"/>
            </a:srgbClr>
          </a:solidFill>
          <a:ln w="15875">
            <a:solidFill>
              <a:srgbClr val="1F4E7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965960" y="2148840"/>
            <a:ext cx="1783080" cy="1783080"/>
          </a:xfrm>
          <a:prstGeom prst="ellipse">
            <a:avLst/>
          </a:prstGeom>
          <a:solidFill>
            <a:srgbClr val="E9EFF6">
              <a:alpha val="78000"/>
            </a:srgbClr>
          </a:solidFill>
          <a:ln w="25400">
            <a:solidFill>
              <a:srgbClr val="1F4E7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965960" y="2670048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4E7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IB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2788920" y="3017520"/>
            <a:ext cx="713232" cy="713232"/>
          </a:xfrm>
          <a:prstGeom prst="ellipse">
            <a:avLst/>
          </a:prstGeom>
          <a:solidFill>
            <a:srgbClr val="FFFFFF">
              <a:alpha val="0"/>
            </a:srgbClr>
          </a:solidFill>
          <a:ln w="15875">
            <a:solidFill>
              <a:srgbClr val="1C6B6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401568" y="3182112"/>
            <a:ext cx="621792" cy="621792"/>
          </a:xfrm>
          <a:prstGeom prst="ellipse">
            <a:avLst/>
          </a:prstGeom>
          <a:solidFill>
            <a:srgbClr val="FFFFFF">
              <a:alpha val="0"/>
            </a:srgbClr>
          </a:solidFill>
          <a:ln w="15875">
            <a:solidFill>
              <a:srgbClr val="1C6B6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950208" y="3291840"/>
            <a:ext cx="530352" cy="530352"/>
          </a:xfrm>
          <a:prstGeom prst="ellipse">
            <a:avLst/>
          </a:prstGeom>
          <a:solidFill>
            <a:srgbClr val="FFFFFF">
              <a:alpha val="0"/>
            </a:srgbClr>
          </a:solidFill>
          <a:ln w="15875">
            <a:solidFill>
              <a:srgbClr val="1C6B6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77824" y="210312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54B5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Economics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874520" y="176479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54B5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Finance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2971800" y="176479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54B5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Accounting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33856" y="393192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54B5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Marketing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2871216" y="3785616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C6B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STRAT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3529584" y="3877056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C6B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HR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4078224" y="3968496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C6B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4590288" y="325526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80" kern="0" dirty="0">
                <a:solidFill>
                  <a:srgbClr val="1C6B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MANAGEMENT</a:t>
            </a:r>
            <a:endParaRPr lang="en-US" sz="850" dirty="0"/>
          </a:p>
          <a:p>
            <a:pPr indent="0" marL="0">
              <a:buNone/>
            </a:pPr>
            <a:r>
              <a:rPr lang="en-US" sz="850" b="1" spc="80" kern="0" dirty="0">
                <a:solidFill>
                  <a:srgbClr val="1C6B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fanned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658368" y="4187952"/>
            <a:ext cx="4663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B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circle per discipline hides the real picture: strategy sits deep inside IB, HR partly, OB barely touches it.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742432" y="1417320"/>
            <a:ext cx="5989320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4C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943600" y="1499616"/>
            <a:ext cx="347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1F4E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(B)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6345936" y="1481328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7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crossbars run both ways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6016752" y="1773936"/>
            <a:ext cx="7680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4E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ECON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6400800" y="2011680"/>
            <a:ext cx="0" cy="1901952"/>
          </a:xfrm>
          <a:prstGeom prst="line">
            <a:avLst/>
          </a:prstGeom>
          <a:noFill/>
          <a:ln w="28575">
            <a:solidFill>
              <a:srgbClr val="1F4E79"/>
            </a:solidFill>
            <a:prstDash val="solid"/>
            <a:tailEnd type="triangle"/>
          </a:ln>
        </p:spPr>
      </p:sp>
      <p:sp>
        <p:nvSpPr>
          <p:cNvPr id="34" name="Text 32"/>
          <p:cNvSpPr/>
          <p:nvPr/>
        </p:nvSpPr>
        <p:spPr>
          <a:xfrm>
            <a:off x="6931152" y="1901952"/>
            <a:ext cx="7680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4E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7315200" y="2139696"/>
            <a:ext cx="0" cy="1773936"/>
          </a:xfrm>
          <a:prstGeom prst="line">
            <a:avLst/>
          </a:prstGeom>
          <a:noFill/>
          <a:ln w="28575">
            <a:solidFill>
              <a:srgbClr val="1F4E79"/>
            </a:solidFill>
            <a:prstDash val="solid"/>
            <a:tailEnd type="triangle"/>
          </a:ln>
        </p:spPr>
      </p:sp>
      <p:sp>
        <p:nvSpPr>
          <p:cNvPr id="36" name="Text 34"/>
          <p:cNvSpPr/>
          <p:nvPr/>
        </p:nvSpPr>
        <p:spPr>
          <a:xfrm>
            <a:off x="7845552" y="2084832"/>
            <a:ext cx="7680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4E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ACCT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8229600" y="2322576"/>
            <a:ext cx="0" cy="1591056"/>
          </a:xfrm>
          <a:prstGeom prst="line">
            <a:avLst/>
          </a:prstGeom>
          <a:noFill/>
          <a:ln w="28575">
            <a:solidFill>
              <a:srgbClr val="1F4E79"/>
            </a:solidFill>
            <a:prstDash val="solid"/>
            <a:tailEnd type="triangle"/>
          </a:ln>
        </p:spPr>
      </p:sp>
      <p:sp>
        <p:nvSpPr>
          <p:cNvPr id="38" name="Text 36"/>
          <p:cNvSpPr/>
          <p:nvPr/>
        </p:nvSpPr>
        <p:spPr>
          <a:xfrm>
            <a:off x="10634472" y="2157984"/>
            <a:ext cx="7680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4E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MKTG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11018520" y="2395728"/>
            <a:ext cx="0" cy="1517904"/>
          </a:xfrm>
          <a:prstGeom prst="line">
            <a:avLst/>
          </a:prstGeom>
          <a:noFill/>
          <a:ln w="28575">
            <a:solidFill>
              <a:srgbClr val="1F4E79"/>
            </a:solidFill>
            <a:prstDash val="solid"/>
            <a:tailEnd type="triangle"/>
          </a:ln>
        </p:spPr>
      </p:sp>
      <p:sp>
        <p:nvSpPr>
          <p:cNvPr id="40" name="Text 38"/>
          <p:cNvSpPr/>
          <p:nvPr/>
        </p:nvSpPr>
        <p:spPr>
          <a:xfrm>
            <a:off x="9052560" y="1792224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C6B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MGMT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9125712" y="1975104"/>
            <a:ext cx="1408176" cy="0"/>
          </a:xfrm>
          <a:prstGeom prst="line">
            <a:avLst/>
          </a:prstGeom>
          <a:noFill/>
          <a:ln w="12700">
            <a:solidFill>
              <a:srgbClr val="1C6B63"/>
            </a:solidFill>
            <a:prstDash val="dash"/>
          </a:ln>
        </p:spPr>
      </p:sp>
      <p:sp>
        <p:nvSpPr>
          <p:cNvPr id="42" name="Shape 40"/>
          <p:cNvSpPr/>
          <p:nvPr/>
        </p:nvSpPr>
        <p:spPr>
          <a:xfrm>
            <a:off x="9189720" y="2066544"/>
            <a:ext cx="0" cy="1847088"/>
          </a:xfrm>
          <a:prstGeom prst="line">
            <a:avLst/>
          </a:prstGeom>
          <a:noFill/>
          <a:ln w="28575">
            <a:solidFill>
              <a:srgbClr val="1C6B63"/>
            </a:solidFill>
            <a:prstDash val="solid"/>
            <a:tailEnd type="triangle"/>
          </a:ln>
        </p:spPr>
      </p:sp>
      <p:sp>
        <p:nvSpPr>
          <p:cNvPr id="43" name="Shape 41"/>
          <p:cNvSpPr/>
          <p:nvPr/>
        </p:nvSpPr>
        <p:spPr>
          <a:xfrm>
            <a:off x="9829800" y="2761488"/>
            <a:ext cx="0" cy="1152144"/>
          </a:xfrm>
          <a:prstGeom prst="line">
            <a:avLst/>
          </a:prstGeom>
          <a:noFill/>
          <a:ln w="25400">
            <a:solidFill>
              <a:srgbClr val="1C6B63"/>
            </a:solidFill>
            <a:prstDash val="solid"/>
            <a:tailEnd type="triangle"/>
          </a:ln>
        </p:spPr>
      </p:sp>
      <p:sp>
        <p:nvSpPr>
          <p:cNvPr id="44" name="Shape 42"/>
          <p:cNvSpPr/>
          <p:nvPr/>
        </p:nvSpPr>
        <p:spPr>
          <a:xfrm>
            <a:off x="10469880" y="3877056"/>
            <a:ext cx="0" cy="-969264"/>
          </a:xfrm>
          <a:prstGeom prst="line">
            <a:avLst/>
          </a:prstGeom>
          <a:noFill/>
          <a:ln w="25400">
            <a:solidFill>
              <a:srgbClr val="1C6B63"/>
            </a:solidFill>
            <a:prstDash val="dash"/>
            <a:tailEnd type="triangle"/>
          </a:ln>
        </p:spPr>
      </p:sp>
      <p:sp>
        <p:nvSpPr>
          <p:cNvPr id="45" name="Text 43"/>
          <p:cNvSpPr/>
          <p:nvPr/>
        </p:nvSpPr>
        <p:spPr>
          <a:xfrm>
            <a:off x="8887968" y="3950208"/>
            <a:ext cx="6035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C6B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strat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9555480" y="395020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C6B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HR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10195560" y="395020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C6B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6400800" y="2596896"/>
            <a:ext cx="914400" cy="109728"/>
          </a:xfrm>
          <a:prstGeom prst="rect">
            <a:avLst/>
          </a:prstGeom>
          <a:solidFill>
            <a:srgbClr val="1F4E79">
              <a:alpha val="45000"/>
            </a:srgbClr>
          </a:solidFill>
          <a:ln w="9525">
            <a:solidFill>
              <a:srgbClr val="1F4E79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7315200" y="2926080"/>
            <a:ext cx="914400" cy="109728"/>
          </a:xfrm>
          <a:prstGeom prst="rect">
            <a:avLst/>
          </a:prstGeom>
          <a:solidFill>
            <a:srgbClr val="1F4E79">
              <a:alpha val="45000"/>
            </a:srgbClr>
          </a:solidFill>
          <a:ln w="9525">
            <a:solidFill>
              <a:srgbClr val="1F4E79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9189720" y="3255264"/>
            <a:ext cx="1828800" cy="109728"/>
          </a:xfrm>
          <a:prstGeom prst="rect">
            <a:avLst/>
          </a:prstGeom>
          <a:solidFill>
            <a:srgbClr val="1C6B63">
              <a:alpha val="45000"/>
            </a:srgbClr>
          </a:solidFill>
          <a:ln w="9525">
            <a:solidFill>
              <a:srgbClr val="1C6B63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9692640" y="243230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C6B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 flows back INTO management (Hofstede, GLOBE)</a:t>
            </a:r>
            <a:endParaRPr lang="en-US" sz="750" dirty="0"/>
          </a:p>
        </p:txBody>
      </p:sp>
      <p:sp>
        <p:nvSpPr>
          <p:cNvPr id="52" name="Shape 50"/>
          <p:cNvSpPr/>
          <p:nvPr/>
        </p:nvSpPr>
        <p:spPr>
          <a:xfrm>
            <a:off x="6035040" y="4169664"/>
            <a:ext cx="4754880" cy="292608"/>
          </a:xfrm>
          <a:prstGeom prst="rect">
            <a:avLst/>
          </a:prstGeom>
          <a:solidFill>
            <a:srgbClr val="FFFFFF">
              <a:alpha val="0"/>
            </a:srgbClr>
          </a:solidFill>
          <a:ln w="15875">
            <a:solidFill>
              <a:srgbClr val="1F4E79"/>
            </a:solidFill>
            <a:prstDash val="dash"/>
          </a:ln>
        </p:spPr>
      </p:sp>
      <p:sp>
        <p:nvSpPr>
          <p:cNvPr id="53" name="Text 51"/>
          <p:cNvSpPr/>
          <p:nvPr/>
        </p:nvSpPr>
        <p:spPr>
          <a:xfrm>
            <a:off x="6035040" y="4224528"/>
            <a:ext cx="4754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F4E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Minor IB field integration — only on strategy issues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11356848" y="3474720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67D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time</a:t>
            </a:r>
            <a:endParaRPr lang="en-US" sz="800" dirty="0"/>
          </a:p>
        </p:txBody>
      </p:sp>
      <p:sp>
        <p:nvSpPr>
          <p:cNvPr id="55" name="Shape 53"/>
          <p:cNvSpPr/>
          <p:nvPr/>
        </p:nvSpPr>
        <p:spPr>
          <a:xfrm>
            <a:off x="457200" y="4736592"/>
            <a:ext cx="11274552" cy="1591056"/>
          </a:xfrm>
          <a:prstGeom prst="rect">
            <a:avLst/>
          </a:prstGeom>
          <a:solidFill>
            <a:srgbClr val="FBF6EA"/>
          </a:solidFill>
          <a:ln w="25400">
            <a:solidFill>
              <a:srgbClr val="8A6410"/>
            </a:solidFill>
            <a:prstDash val="dash"/>
          </a:ln>
        </p:spPr>
      </p:sp>
      <p:sp>
        <p:nvSpPr>
          <p:cNvPr id="56" name="Text 54"/>
          <p:cNvSpPr/>
          <p:nvPr/>
        </p:nvSpPr>
        <p:spPr>
          <a:xfrm>
            <a:off x="713232" y="4864608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30" kern="0" dirty="0">
                <a:solidFill>
                  <a:srgbClr val="8A64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THIRD INTEGRATION POINT</a:t>
            </a:r>
            <a:endParaRPr lang="en-US" sz="900" dirty="0"/>
          </a:p>
        </p:txBody>
      </p:sp>
      <p:sp>
        <p:nvSpPr>
          <p:cNvPr id="57" name="Text 55"/>
          <p:cNvSpPr/>
          <p:nvPr/>
        </p:nvSpPr>
        <p:spPr>
          <a:xfrm>
            <a:off x="713232" y="5084064"/>
            <a:ext cx="8778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7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Management gave IB the integral plan for operations. Nobody has written the integral plan for evidence.</a:t>
            </a:r>
            <a:endParaRPr lang="en-US" sz="1700" dirty="0"/>
          </a:p>
        </p:txBody>
      </p:sp>
      <p:sp>
        <p:nvSpPr>
          <p:cNvPr id="58" name="Text 56"/>
          <p:cNvSpPr/>
          <p:nvPr/>
        </p:nvSpPr>
        <p:spPr>
          <a:xfrm>
            <a:off x="713232" y="5449824"/>
            <a:ext cx="87782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54B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Both maps describe integration as TOPICAL — disciplines meet where their subject matter overlaps, which is rare and accidental. There is a second kind. Every sub-field above becomes international at the same moment: when it must collect comparable evidence from specialists in more than one country. That is structural, and field-wide by construction.</a:t>
            </a:r>
            <a:endParaRPr lang="en-US" sz="1150" dirty="0"/>
          </a:p>
        </p:txBody>
      </p:sp>
      <p:sp>
        <p:nvSpPr>
          <p:cNvPr id="59" name="Shape 57"/>
          <p:cNvSpPr/>
          <p:nvPr/>
        </p:nvSpPr>
        <p:spPr>
          <a:xfrm>
            <a:off x="9710928" y="4937760"/>
            <a:ext cx="0" cy="1188720"/>
          </a:xfrm>
          <a:prstGeom prst="line">
            <a:avLst/>
          </a:prstGeom>
          <a:noFill/>
          <a:ln w="12700">
            <a:solidFill>
              <a:srgbClr val="E4D3A8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9921240" y="5010912"/>
            <a:ext cx="10972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8A641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4000" dirty="0"/>
          </a:p>
        </p:txBody>
      </p:sp>
      <p:sp>
        <p:nvSpPr>
          <p:cNvPr id="61" name="Text 59"/>
          <p:cNvSpPr/>
          <p:nvPr/>
        </p:nvSpPr>
        <p:spPr>
          <a:xfrm>
            <a:off x="9921240" y="5614416"/>
            <a:ext cx="1783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67D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eligible per 100,000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767D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measured, before fielding</a:t>
            </a:r>
            <a:endParaRPr lang="en-US" sz="850" dirty="0"/>
          </a:p>
        </p:txBody>
      </p:sp>
      <p:sp>
        <p:nvSpPr>
          <p:cNvPr id="62" name="Text 60"/>
          <p:cNvSpPr/>
          <p:nvPr/>
        </p:nvSpPr>
        <p:spPr>
          <a:xfrm>
            <a:off x="457200" y="641908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50" kern="0" dirty="0">
                <a:solidFill>
                  <a:srgbClr val="767D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Yasir A. Malik   ·   github.com/AuditingAI/Profile   ·   1 / 2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2801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E7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Audit </a:t>
            </a:r>
            <a:pPr indent="0" marL="0">
              <a:buNone/>
            </a:pPr>
            <a:r>
              <a:rPr lang="en-US" sz="900" i="1" dirty="0">
                <a:solidFill>
                  <a:srgbClr val="767D8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</a:t>
            </a:r>
            <a:pPr indent="0" marL="0">
              <a:buNone/>
            </a:pPr>
            <a:r>
              <a:rPr lang="en-US" sz="1100" b="1" dirty="0">
                <a:solidFill>
                  <a:srgbClr val="1F4E7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Algorithm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7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Questions I expect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95097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767D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and the answers I am prepared to defend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444752"/>
            <a:ext cx="5623560" cy="1481328"/>
          </a:xfrm>
          <a:prstGeom prst="rect">
            <a:avLst/>
          </a:prstGeom>
          <a:solidFill>
            <a:srgbClr val="FBFAF7"/>
          </a:solidFill>
          <a:ln w="12700">
            <a:solidFill>
              <a:srgbClr val="D8D4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76656" y="1591056"/>
            <a:ext cx="274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A64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05840" y="1572768"/>
            <a:ext cx="4892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7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Isn't a shared difficulty just a shared tool? Physics and biology both need microscopes.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676656" y="2048256"/>
            <a:ext cx="274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4E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005840" y="2011680"/>
            <a:ext cx="48920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54B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is not a tool, it is a definition. What makes a study international is comparison across countries — and comparison requires comparable populations. The constraint sits at the definition of the field, not at its equipment.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327648" y="1444752"/>
            <a:ext cx="5623560" cy="1481328"/>
          </a:xfrm>
          <a:prstGeom prst="rect">
            <a:avLst/>
          </a:prstGeom>
          <a:solidFill>
            <a:srgbClr val="FBFAF7"/>
          </a:solidFill>
          <a:ln w="12700">
            <a:solidFill>
              <a:srgbClr val="D8D4C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47104" y="1591056"/>
            <a:ext cx="274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A64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876288" y="1572768"/>
            <a:ext cx="4892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7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Doesn't strategy already cover this?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6547104" y="2048256"/>
            <a:ext cx="274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4E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876288" y="2011680"/>
            <a:ext cx="48920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54B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Strategy is topical integration — the disciplines meet because their subject matter overlaps. This is structural: it binds every sub-field the moment it goes cross-national, whether or not the topics have anything in common.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57200" y="3072384"/>
            <a:ext cx="5623560" cy="1481328"/>
          </a:xfrm>
          <a:prstGeom prst="rect">
            <a:avLst/>
          </a:prstGeom>
          <a:solidFill>
            <a:srgbClr val="FBFAF7"/>
          </a:solidFill>
          <a:ln w="12700">
            <a:solidFill>
              <a:srgbClr val="D8D4C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76656" y="3218688"/>
            <a:ext cx="274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A64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005840" y="3200400"/>
            <a:ext cx="4892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7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Where is the evidence?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76656" y="3675888"/>
            <a:ext cx="274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4E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1005840" y="3639312"/>
            <a:ext cx="48920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54B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Screening a commercial research panel of 334,976 members against one specialist professional criterion returned roughly twenty eligible people — near six per hundred thousand. Visible on the platform's own configuration screen before any money was committed.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327648" y="3072384"/>
            <a:ext cx="5623560" cy="1481328"/>
          </a:xfrm>
          <a:prstGeom prst="rect">
            <a:avLst/>
          </a:prstGeom>
          <a:solidFill>
            <a:srgbClr val="FBFAF7"/>
          </a:solidFill>
          <a:ln w="12700">
            <a:solidFill>
              <a:srgbClr val="D8D4C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547104" y="3218688"/>
            <a:ext cx="274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A64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876288" y="3200400"/>
            <a:ext cx="4892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7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Which discipline does this belong to?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6547104" y="3675888"/>
            <a:ext cx="274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4E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876288" y="3639312"/>
            <a:ext cx="48920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54B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None of them, and that is the argument. It is a constraint on the act of comparing, so it sits between the circles rather than inside one.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57200" y="4700016"/>
            <a:ext cx="5623560" cy="1481328"/>
          </a:xfrm>
          <a:prstGeom prst="rect">
            <a:avLst/>
          </a:prstGeom>
          <a:solidFill>
            <a:srgbClr val="FBFAF7"/>
          </a:solidFill>
          <a:ln w="12700">
            <a:solidFill>
              <a:srgbClr val="D8D4C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76656" y="4846320"/>
            <a:ext cx="274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A64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1005840" y="4828032"/>
            <a:ext cx="4892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7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would you test it?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676656" y="5303520"/>
            <a:ext cx="274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4E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1005840" y="5266944"/>
            <a:ext cx="48920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54B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Replicate the prevalence check across countries for the same specialist role, and report the distribution. If reachability varies sharply by country, comparative designs in every one of these sub-fields are resting on an assumption nobody states.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6327648" y="4700016"/>
            <a:ext cx="5623560" cy="1481328"/>
          </a:xfrm>
          <a:prstGeom prst="rect">
            <a:avLst/>
          </a:prstGeom>
          <a:solidFill>
            <a:srgbClr val="FBFAF7"/>
          </a:solidFill>
          <a:ln w="12700">
            <a:solidFill>
              <a:srgbClr val="D8D4C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547104" y="4846320"/>
            <a:ext cx="274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A64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876288" y="4828032"/>
            <a:ext cx="4892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7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Are you claiming the existing maps are wrong?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6547104" y="5303520"/>
            <a:ext cx="274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4E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876288" y="5266944"/>
            <a:ext cx="48920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54B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No. They are right about topical integration and honest that neither map resolves every classification difficulty. I am proposing a second axis they do not draw — not replacing theirs.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457200" y="641908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50" kern="0" dirty="0">
                <a:solidFill>
                  <a:srgbClr val="767D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Yasir A. Malik   ·   github.com/AuditingAI/Profile   ·   2 / 2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 Map of the International Business Field</dc:title>
  <dc:subject>PptxGenJS Presentation</dc:subject>
  <dc:creator>Yasir A. Malik</dc:creator>
  <cp:lastModifiedBy>Yasir A. Malik</cp:lastModifiedBy>
  <cp:revision>1</cp:revision>
  <dcterms:created xsi:type="dcterms:W3CDTF">2026-08-22T15:32:58Z</dcterms:created>
  <dcterms:modified xsi:type="dcterms:W3CDTF">2026-08-22T15:32:58Z</dcterms:modified>
</cp:coreProperties>
</file>