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[0:00 - 0:25]   OPENING   Block 1 of 6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DO NOT START WITH YOUR NAME. Start with the number.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"I screened three hundred and thirty four thousand people."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   ... hold two full seconds. Look at one face. 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"I got four."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"That is not bad luck. That is arithmetic, and every bit of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was visible before I spent a cent."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ROADMAP: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"Five elements. The topic. The model. Five hypotheses and why each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one follows. How I would test it. And my evidence, which is that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failure."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stand still. Hands at your sides. The pause is the hook.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arithmetic, not bad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[0:25 - 1:15]   OPENING   Element 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"To compare something across countries you have to reach the same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people in every country, at the same time, with an instrument that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means the same thing in each place. Nobody writes that down as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requirement. It just sits there."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"For a general population it is a fieldwork problem. Money and effort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turn into responses. The rate differs by country, but it is always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positive and always improvable."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"For a rare population it is not a fieldwork problem at all. It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arithmetic that was fixed before the first contact. And it does not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add across borders. It compounds, in one direction."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point left box, then right box. Two gestures, no more.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fieldwork problem on the left, design parameter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[1:15 - 1:55]   OPENING ends here   Element 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"Received wisdom says sampling difficulty is an execution problem.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It belongs to budget and local partners, and it shows up in print as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 limitation paragraph at the end."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"The gap is that nobody asked what happens when the population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rare. The quantities that decide it are observable before you field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anything."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THE QUESTION, read it slowly off the slide: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"Under what conditions is a comparative multi-country design on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narrow specialist population feasible at all, and where must a survey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give way to another method?"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THE CONTRIBUTION, land this one: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"To move feasibility from a limitation to a parameter."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SIGNPOST OUT LOUD: "That is the topic. Now the model."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parameter, not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[1:55 - 3:10]   BODY 1   Element 2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"Reachable usable sample is a product, not a sum. Four terms."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Walk them left to right, one breath each: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"Frame size. How many people the panel has.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Times prevalence. How rare the specialty is.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Times response rate. Who answers.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Times screen survival. Who gets through eligibility."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"And here is the part that matters. Each of those is decided at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different level. Frame size is population. Prevalence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infrastructure. Response is the instrument. Screen survival is my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own design. Blaming a failed country for all four assigns to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level what another one produced."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"All four are readable on the panel's own interface, free, before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anyone commits a dollar. That is why it is a parameter."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four fingers, then close the hand on "product, not a sum."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four terms, four different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[3:10 - 4:40]   BODY 1   Element 2   *** THE CENTRAL SLIDE ***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ASK THE ROOM FIRST. Then wait. Do not answer your own question.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"How many of you have read a comparative paper that reported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overall response rate?"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   ... wait for hands. Count them out loud if you like. 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"That is the number I am telling you is wrong."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"Add four countries to a design. The mean response rate barely moves,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fifteen point four down to nine point two. Looks survivable."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"But the panel you need in each frame goes from eighteen point eight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million to seventy two point two million. A factor of four."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"The design is priced by its worst frame, not its average one. 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average cannot satisfy a conjunction."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this is where you stand still. Do not walk.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the average hides it, the worst frame decides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SIGNPOST: "That is the model. Now the hypotheses."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[4:40 - 5:20]   BODY 2   Element 3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DO NOT READ ALL FIVE. Name them and move. You have a slide each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for the ones that matter.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"Five hypotheses, and each one takes its logic from one of this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week's four papers, not from my own intuition."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"H1 is the binding frame. H2 and H3 come from regionalization.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H4 is level of analysis. H5 is standardization against response."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NOW THE SIGN COLUMN. Do not skip it, it is the cheapest credibility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in the deck: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"H2 and H3 are positive. H5 is negative. H1 is monotone, not signed,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because it is analytic and there is no coefficient to estimate. And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H4 is a comparison of variance components, not a direction. Which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mode is higher is a different question, and this design does not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answer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"I will take H1 on its own, then H2 and H3 together, then H4 and H5."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IF ASKED why H5's main effect could come out flat: the support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the interaction. A strong frame absorbs standardization. A weak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cannot. A null main effect does not sink H5.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run your hand down the sign column once. Do not read the boxes.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five hypotheses, four papers, two of them deliberately unsigned.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[5:20 - 6:10]   BODY 2   Element 3   H1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"To say a relationship differs between Spain and China is to assert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something about Spain AND something about China. That is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conjunction. It fails if either half fails."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"So a design with one excellent frame and one hopeless frame has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respectable mean and no comparison at all."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"And because a minimum can only fall or stay level when you add 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element, every extra country weakly worsens the design. No extra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country can improve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LAND IT: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"Breadth is treated as a virtue in comparative work. A design covering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more countries has not become more ambitious. It has become more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fragile."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two hands apart on "Spain AND China," then bring them together.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a comparison is a conjunction, not an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[6:10 - 7:10]   BODY 2   Element 3   H2 and H3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THIS IS THE SLIDE THAT MAKES IT INTERNATIONAL BUSINESS. Say so.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"Rugman and Verbeke looked at the three hundred and eighty largest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multinationals with usable sales data. Three hundred and twenty were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home-region oriented, averaging eighty point three percent of sales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at home. Nine were global. Nine."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"Their mechanism is specific. Upstream advantages in technology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travel. Downstream advantages like branding are location-bound."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"Now apply that to a research panel. A panel is a firm whose entire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product is a downstream asset. Its membership, and its standing with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that membership. Survey software is a commodity, so there is almost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no upstream advantage to carry abroad."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"By their own logic a panel should be MORE home-region bound than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manufacturer, not less."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"And it bites harder for specialists. A consumer panel is built by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broad advertising anywhere. A panel of experienced auditors is built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through professional bodies, and those are national by construction."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IF ASKED about the seven institutional types: say you are raising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with the professor rather than quietly revising after the deadline.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a panel is a firm, and its product is entirely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[7:10 - 8:00]   BODY 2   Element 3   H4 and H5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 H4: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"Response is what happens when a person meets a request. Whether that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request arrives by telephone from a human being or by email from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platform is a property of the instrument, not of the country."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"Mode changes the cost of refusing. Country only changes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disposition toward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"My one datum: Harzing's forty seven percent in Korea was telephone,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and it beats the entire country spread in the same project by about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five times. One observation is not evidence. It is why this is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hypothesis and not a finding."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 H5, and be careful here: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"Zeng and colleagues name standardization as a control mechanism,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against coordination by mutual adjustment. They do NOT claim the two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trade off. They say the interaction is understudied."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"Proposing that equivalence and response pull against each other is my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conjecture about a gap they name. It is not a finding I am borrowing."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saying what is yours and what is theirs is the most credible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thing in the talk. Do not rush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SIGNPOST: "That is the why. Now how I would test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[8:00 - 8:45]   BODY 3   Element 4   data sources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"Panel providers expose an audience-configuration interface. You enter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your screening criteria and it returns an estimated reachable count,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before any commitment, at no cost. That single fact is what makes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feasibility a parameter rather than a confession."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"The unit of analysis is one occupation, on one provider, in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national frame. Six occupations by eight frames by three providers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roughly a hundred and forty four cells."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"Providers are chosen to vary on home region, deliberately. H2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unidentifiable otherwise."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"And the validating case is my own study. A model that cannot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reproduce three hundred and thirty four thousand to twenty to four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rejected."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SAY THE DISCLAIMER OUT LOUD, do not let them read it: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"No data has been collected for this project. This is the design."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free, before commitment, on the vendor's own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[8:45 - 9:30]   BODY 3   Element 4   variable measures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THIS SLIDE IS SCORED. The rubric asks for variable measures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explicitly. Walk the table, do not wave at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"Dependent variable is the reachable usable sample, the product of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four terms, read off the interface."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"Second dependent variable for H4 and H5 is the achieved response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rate, taken from published method sections."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"H2 is measured as region concordance, binary, against the triad,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from incorporation and headquarters filings."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"H3 is coverage discrepancy. Stated regional coverage minus achieved."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"H4 is mode, categorical, coded by two readers."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"H5 is a standardization index over wording, length, incentive,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sponsorship and protocol."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"Controls are prevalence, frame size, eligibility strictness as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count of conjunctive screens, incentive at purchasing power parity,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field period and year."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one finger down the left column. Four beats.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every measure has a named source. Nothing is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[9:30 - 10:15]   BODY 3   Element 4   method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"Two different kinds of claim need two different treatments."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"H1 is analytic. It is established by demonstration and probed with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sensitivity analysis across the plausible range, reporting the region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of the parameter space where a comparative design stays viable."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"I am deliberately not putting a p-value on H1. The claim is about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structure of a conjunction. A p-value would present a deductive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result as an empirical one."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"H2 through H5 are inferential. Hierarchical linear models. Cells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nested in frames, frames nested in regions, random intercepts 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frame and provider level."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"The nesting is not a convenience. It is the structure Meyer and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colleagues argue has to be modelled, and ignoring it attributes to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countries the variance that belongs to providers, which is the exact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error this paper is about."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"H5 is supported only by the interaction, not the main effect."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"Software is R with lme4, Stata as a cross-check, everything versioned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in git."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two kinds of claim, two treatments.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[10:15 - 10:45]   BODY 3   Element 4   timeframe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"Nine months, four phases."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"And the thing I want you to notice is what is missing. There is no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recruitment step anywhere on this chart."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"The constraint that ended my qualifying study was recruitment. This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design does not have one. The measurements already exist on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platforms. The work is gathering them systematically rather than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obtaining them."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"No human subjects at any phase. I still intend to confirm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exemption with the IRB office before Phase 1 rather than assume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CUE: trace the timeline left to right once with a flat hand.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SIGNPOST: "That is the design. Now what I actually have."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no recruitment step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[10:45 - 11:40]   EVIDENCE   Element 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SLOW DOWN. This is the most honest slide in the talk and honesty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is what gets remembered.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"No data has been collected for this project. What I have is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qualifying study, which was designed to test something else entirely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and failed for exactly the reason this project is about."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"Three hundred and thirty four thousand nine hundred and seventy six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panel members screened."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   ... pause 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"About twenty eligible."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"Four usable, out of twenty three raw starts."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"That is about six per hundred thousand."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NOW SAY WHAT IT CANNOT DO: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"H1 it bears on directly. It supplies the prevalence and screen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survival terms the whole model runs 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"H2 it says nothing about. One provider, one home region.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comparison H2 needs does not exist in my data."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"H4 only weakly. My instrument was one mode, so mode could not be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separated from anything."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"This is one case, fully documented. It is not evidence that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pattern generalises. That is what the design is for."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say what your evidence 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[11:40 - 12:20]   EVIDENCE   the limits, stated first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PUT THIS BEFORE THE Q AND A ON PURPOSE. Say that out loud.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"I would rather state the limits than be handed them."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"One. Prevalence is held constant across countries in the model.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almost certainly is not. No cross-national prevalence data for these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populations exists, which is why obtaining it is the contribution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rather than an assumption."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"Two. The response rates come from one study. One instrument,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period. Treating them as a general country characteristic would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commit the very level-of-analysis error the paper identifies."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"Three. The rates are treated as independent and they are not. Frames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inside a region share institutional conditions and will correlate."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"Four. The panel estimates are vendor-supplied and unaudited. They are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the same numbers researchers already rely on, so this adds no new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exposure, but estimated against achieved is a validation step that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not in the design yet, and it should be."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the weakest part is the unit, and H1 being analytic.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962400"/>
            <a:ext cx="5486400" cy="48768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[12:20 - 13:00]   CLOSE   Block 6 of 6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NO NEW MATERIAL. Return to the one message and stop.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 parameter is worked out before a design. A limitation is confessed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after it fails."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"Comparative international business has treated who can be reached as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a matter of execution. For general populations that is harmless. For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narrow specialist populations it is not, because the arithmetic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compounds in one direction and the weakest frame decides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"All of these numbers are visible before you field anything."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THE LAST SENTENCE. Land it and stop: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"Making them part of the design instead of part of the confession is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small change in practice and a large change in what we can claim to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have compared."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418"/>
                </a:solidFill>
                <a:latin typeface="Calibri"/>
              </a:rPr>
              <a:t>AND THE SECOND IMPLICATION, if you have the time: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"Where the arithmetic rules out a survey, it does not rule out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study. Twenty reachable participants are a failed survey and a well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> powered phenomenological one."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STOP. Do not say "so, yeah, that's it." Say "Thank you. Questions."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A2E12"/>
                </a:solidFill>
                <a:latin typeface="Calibri"/>
              </a:rPr>
              <a:t>&gt;&gt; KEYWORD: parameter before, limitation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FFFFF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BC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05000"/>
            <a:ext cx="0" cy="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3631"/>
            <a:ext cx="55473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B6862C"/>
                </a:solidFill>
                <a:latin typeface="Consolas"/>
                <a:cs typeface="Consolas"/>
              </a:rPr>
              <a:t>GEB 7365  ·  PROJECT PRESENTATION  ·  INDIVIDUAL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67712"/>
            <a:ext cx="10833100" cy="9723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5016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Times New Roman"/>
                <a:cs typeface="Times New Roman"/>
              </a:rPr>
              <a:t>Feasibility as a Parameter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9552"/>
            <a:ext cx="10833100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9C7D8"/>
                </a:solidFill>
                <a:latin typeface="Times New Roman"/>
                <a:cs typeface="Times New Roman"/>
              </a:rPr>
              <a:t>When comparative research on narrow specialist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0552"/>
            <a:ext cx="10833100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9C7D8"/>
                </a:solidFill>
                <a:latin typeface="Times New Roman"/>
                <a:cs typeface="Times New Roman"/>
              </a:rPr>
              <a:t>populations can and cannot be executed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10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434078"/>
            <a:ext cx="161544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B6862C"/>
                </a:solidFill>
                <a:latin typeface="Consolas"/>
                <a:cs typeface="Consolas"/>
              </a:rPr>
              <a:t>YASIR A. MALIK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81474"/>
            <a:ext cx="3434079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3BC"/>
                </a:solidFill>
                <a:latin typeface="Times New Roman"/>
                <a:cs typeface="Times New Roman"/>
              </a:rPr>
              <a:t>Doctor of Business Administration  ·  Cohort 8.14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935474"/>
            <a:ext cx="3970159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3BC"/>
                </a:solidFill>
                <a:latin typeface="Times New Roman"/>
                <a:cs typeface="Times New Roman"/>
              </a:rPr>
              <a:t>Instructor: Prof. William Newburry  ·  19 September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6200" y="1905000"/>
            <a:ext cx="3810000" cy="3276600"/>
          </a:xfrm>
          <a:prstGeom prst="roundRect">
            <a:avLst>
              <a:gd name="adj" fmla="val 1550"/>
            </a:avLst>
          </a:prstGeom>
          <a:solidFill>
            <a:srgbClr val="0E29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207133"/>
            <a:ext cx="29578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B6862C"/>
                </a:solidFill>
                <a:latin typeface="Consolas"/>
                <a:cs typeface="Consolas"/>
              </a:rPr>
              <a:t>THE EVIDENCE IS MY OWN FAILED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33320"/>
            <a:ext cx="2057400" cy="7620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  <a:cs typeface="Times New Roman"/>
              </a:rPr>
              <a:t>334,976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157474"/>
            <a:ext cx="1755013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9C7D8"/>
                </a:solidFill>
                <a:latin typeface="Times New Roman"/>
                <a:cs typeface="Times New Roman"/>
              </a:rPr>
              <a:t>panel members screened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0" y="3556000"/>
            <a:ext cx="508000" cy="0"/>
          </a:xfrm>
          <a:prstGeom prst="line">
            <a:avLst/>
          </a:prstGeom>
          <a:ln w="20320">
            <a:solidFill>
              <a:srgbClr val="B6862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0" y="3292348"/>
            <a:ext cx="594360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Times New Roman"/>
                <a:cs typeface="Times New Roman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9400" y="3436874"/>
            <a:ext cx="62738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9C7D8"/>
                </a:solidFill>
                <a:latin typeface="Times New Roman"/>
                <a:cs typeface="Times New Roman"/>
              </a:rPr>
              <a:t>eligible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01000" y="3987800"/>
            <a:ext cx="508000" cy="0"/>
          </a:xfrm>
          <a:prstGeom prst="line">
            <a:avLst/>
          </a:prstGeom>
          <a:ln w="20320">
            <a:solidFill>
              <a:srgbClr val="B6862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686800" y="3724148"/>
            <a:ext cx="429259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6862C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6200" y="3868674"/>
            <a:ext cx="1237094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9C7D8"/>
                </a:solidFill>
                <a:latin typeface="Times New Roman"/>
                <a:cs typeface="Times New Roman"/>
              </a:rPr>
              <a:t>usable responses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01000" y="4343400"/>
            <a:ext cx="320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01000" y="4505325"/>
            <a:ext cx="3213100" cy="5016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B9C7D8"/>
                </a:solidFill>
                <a:latin typeface="Times New Roman"/>
                <a:cs typeface="Times New Roman"/>
              </a:rPr>
              <a:t>About six per hundred thousand. Visible on the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B9C7D8"/>
                </a:solidFill>
                <a:latin typeface="Times New Roman"/>
                <a:cs typeface="Times New Roman"/>
              </a:rPr>
              <a:t>panel's own interface before a dollar was spent.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E93A8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E93A8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5473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1  ·  OVERALL RESEARCH TOPIC, AND 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Comparative research has a requirement it never states as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38019"/>
            <a:ext cx="10833100" cy="67691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54B54"/>
                </a:solidFill>
                <a:latin typeface="Times New Roman"/>
                <a:cs typeface="Times New Roman"/>
              </a:rPr>
              <a:t>To compare a phenomenon across countries you must reach the same population in every country, at the same time, with an instrument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54B54"/>
                </a:solidFill>
                <a:latin typeface="Times New Roman"/>
                <a:cs typeface="Times New Roman"/>
              </a:rPr>
              <a:t>that means the same thing in each place.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734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251200"/>
            <a:ext cx="5181600" cy="2184400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02533"/>
            <a:ext cx="254508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767D86"/>
                </a:solidFill>
                <a:latin typeface="Consolas"/>
                <a:cs typeface="Consolas"/>
              </a:rPr>
              <a:t>WHEN THE POPULATION IS GENERAL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67074"/>
            <a:ext cx="4737100" cy="7848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The requirement is demanding but routine. Effort and money convert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into responses at a rate that differs by country and is always positive,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always improvable.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4882"/>
            <a:ext cx="171450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1C6B63"/>
                </a:solidFill>
                <a:latin typeface="Consolas"/>
                <a:cs typeface="Consolas"/>
              </a:rPr>
              <a:t>A FIELDWORK PROBLEM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3251200"/>
            <a:ext cx="5181600" cy="2184400"/>
          </a:xfrm>
          <a:prstGeom prst="roundRect">
            <a:avLst>
              <a:gd name="adj" fmla="val 2325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3200" y="3502533"/>
            <a:ext cx="22974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8A6A1F"/>
                </a:solidFill>
                <a:latin typeface="Consolas"/>
                <a:cs typeface="Consolas"/>
              </a:rPr>
              <a:t>WHEN THE POPULATION IS RARE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767074"/>
            <a:ext cx="4737100" cy="7848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Conversion is governed by arithmetic fixed before the first contact.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That arithmetic does not add across borders. It compounds, and in one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direction only.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5024882"/>
            <a:ext cx="1628139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8C3A1B"/>
                </a:solidFill>
                <a:latin typeface="Consolas"/>
                <a:cs typeface="Consolas"/>
              </a:rPr>
              <a:t>A DESIGN PARAMETER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19623"/>
            <a:ext cx="10833100" cy="5600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A design that is marginal in one country is not four times harder in four. It can be structurally impossible in four while remaining marginal in each one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separately.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5473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1  ·  OVERALL RESEARCH TOPIC, AND 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The gap, and the question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590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59000"/>
            <a:ext cx="50800" cy="7112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9800" y="2256282"/>
            <a:ext cx="8712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081E3F"/>
                </a:solidFill>
                <a:latin typeface="Consolas"/>
                <a:cs typeface="Consolas"/>
              </a:rPr>
              <a:t>THE TOPIC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4385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Reaching a narrow specialist professional population in several national frames at once.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464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EF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946400"/>
            <a:ext cx="50800" cy="711200"/>
          </a:xfrm>
          <a:prstGeom prst="rect">
            <a:avLst/>
          </a:prstGeom>
          <a:solidFill>
            <a:srgbClr val="767D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800" y="3043682"/>
            <a:ext cx="17602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767D86"/>
                </a:solidFill>
                <a:latin typeface="Consolas"/>
                <a:cs typeface="Consolas"/>
              </a:rPr>
              <a:t>THE RECEIVED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32259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Sampling difficulty is an execution problem. It belongs to budget and local partners, and it appears in print as a limitation paragraph.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338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FAF3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33800"/>
            <a:ext cx="50800" cy="7112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831082"/>
            <a:ext cx="6934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B6862C"/>
                </a:solidFill>
                <a:latin typeface="Consolas"/>
                <a:cs typeface="Consolas"/>
              </a:rPr>
              <a:t>THE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40133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Nobody has asked what happens when the population is rare. The quantities that decide it are observable before fielding, and they compound across frames.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5212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521200"/>
            <a:ext cx="50800" cy="7112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800" y="4618482"/>
            <a:ext cx="1938019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081E3F"/>
                </a:solidFill>
                <a:latin typeface="Consolas"/>
                <a:cs typeface="Consolas"/>
              </a:rPr>
              <a:t>THE RESEARCH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" y="48007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Under what conditions is a comparative multi-country design on a narrow specialist population feasible at all, and where must a survey give way to another method?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3086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FAF3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5308600"/>
            <a:ext cx="50800" cy="7112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800" y="5405882"/>
            <a:ext cx="14935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B6862C"/>
                </a:solidFill>
                <a:latin typeface="Consolas"/>
                <a:cs typeface="Consolas"/>
              </a:rPr>
              <a:t>THE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5588127"/>
            <a:ext cx="10274300" cy="4686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To move sampling feasibility from the status of a LIMITATION to the status of a PARAMETER. A parameter is estimated before a design and constrains it. A limitation is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confessed after the design has failed.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193282"/>
            <a:ext cx="11379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C6B63"/>
                </a:solidFill>
                <a:latin typeface="Consolas"/>
                <a:cs typeface="Consolas"/>
              </a:rPr>
              <a:t>WHO BENEFITS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84400" y="6197727"/>
            <a:ext cx="7186828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71C"/>
                </a:solidFill>
                <a:latin typeface="Times New Roman"/>
                <a:cs typeface="Times New Roman"/>
              </a:rPr>
              <a:t>Researchers designing comparative work  ·  doctoral committees assessing feasibility  ·  buyers of multi-country research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290703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2  ·  THE STUDY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The model: four terms, four different levels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65121"/>
            <a:ext cx="10833100" cy="618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Reachable usable sample is a product, not a sum. Each term is decided at a different level, and attributing a failed frame to the country assigns to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one level what another produced.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76600"/>
            <a:ext cx="2571750" cy="16256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276600"/>
            <a:ext cx="2571750" cy="63500"/>
          </a:xfrm>
          <a:prstGeom prst="rect">
            <a:avLst/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3600" y="3545078"/>
            <a:ext cx="1041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FRAME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8211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panel members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4494784"/>
            <a:ext cx="86233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1C6B63"/>
                </a:solidFill>
                <a:latin typeface="Consolas"/>
                <a:cs typeface="Consolas"/>
              </a:rPr>
              <a:t>POPULATION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5350" y="3276600"/>
            <a:ext cx="2571750" cy="16256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7780">
            <a:solidFill>
              <a:srgbClr val="081E3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5350" y="3276600"/>
            <a:ext cx="2571750" cy="635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3150" y="3545078"/>
            <a:ext cx="122936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× PREVALENCE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3150" y="38211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how rare the specialty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3150" y="4494784"/>
            <a:ext cx="118237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081E3F"/>
                </a:solidFill>
                <a:latin typeface="Consolas"/>
                <a:cs typeface="Consolas"/>
              </a:rPr>
              <a:t>INFRASTRUCTURE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4900" y="3276600"/>
            <a:ext cx="2571750" cy="16256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7780">
            <a:solidFill>
              <a:srgbClr val="8C3A1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4900" y="3276600"/>
            <a:ext cx="2571750" cy="635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2700" y="3545078"/>
            <a:ext cx="15113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× RESPONSE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700" y="38211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who answers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4494784"/>
            <a:ext cx="86233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8C3A1B"/>
                </a:solidFill>
                <a:latin typeface="Consolas"/>
                <a:cs typeface="Consolas"/>
              </a:rPr>
              <a:t>INSTRUMENT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4450" y="3276600"/>
            <a:ext cx="2571750" cy="16256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778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4450" y="3276600"/>
            <a:ext cx="2571750" cy="635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2250" y="3545078"/>
            <a:ext cx="169926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× SCREEN SURVIVAL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2250" y="38211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who survives 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2250" y="4494784"/>
            <a:ext cx="54229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B6862C"/>
                </a:solidFill>
                <a:latin typeface="Consolas"/>
                <a:cs typeface="Consolas"/>
              </a:rPr>
              <a:t>DESIGN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7100" y="5130800"/>
            <a:ext cx="0" cy="254000"/>
          </a:xfrm>
          <a:prstGeom prst="line">
            <a:avLst/>
          </a:prstGeom>
          <a:ln w="17780">
            <a:solidFill>
              <a:srgbClr val="9AA4A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5486400"/>
            <a:ext cx="10820400" cy="660400"/>
          </a:xfrm>
          <a:prstGeom prst="roundRect">
            <a:avLst>
              <a:gd name="adj" fmla="val 7692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9800" y="5672074"/>
            <a:ext cx="321564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60">
                <a:solidFill>
                  <a:srgbClr val="FFFFFF"/>
                </a:solidFill>
                <a:latin typeface="Consolas"/>
                <a:cs typeface="Consolas"/>
              </a:rPr>
              <a:t>=  REACHABLE USABLE SAMPLE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0791" y="5699125"/>
            <a:ext cx="4921408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3BC"/>
                </a:solidFill>
                <a:latin typeface="Times New Roman"/>
                <a:cs typeface="Times New Roman"/>
              </a:rPr>
              <a:t>observable before a study is fielded, at no cost, on the panel's own interface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290703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2  ·  THE STUDY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The result that makes this a paper and not a complaint</a:t>
            </a:r>
          </a:p>
        </p:txBody>
      </p:sp>
      <p:pic>
        <p:nvPicPr>
          <p:cNvPr id="10" name="Picture 9" descr="fig1_feasibility_cl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728" y="2362200"/>
            <a:ext cx="5428342" cy="3454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102600" y="2362200"/>
            <a:ext cx="3403600" cy="3454400"/>
          </a:xfrm>
          <a:prstGeom prst="roundRect">
            <a:avLst>
              <a:gd name="adj" fmla="val 1492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1200" y="2613533"/>
            <a:ext cx="15760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8A6A1F"/>
                </a:solidFill>
                <a:latin typeface="Consolas"/>
                <a:cs typeface="Consolas"/>
              </a:rPr>
              <a:t>ADD FOUR COUNTRIES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1200" y="2906776"/>
            <a:ext cx="1306830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Mean response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1200" y="3112262"/>
            <a:ext cx="1879003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67D86"/>
                </a:solidFill>
                <a:latin typeface="Times New Roman"/>
                <a:cs typeface="Times New Roman"/>
              </a:rPr>
              <a:t>15.4%  →  9.2%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1200" y="3467227"/>
            <a:ext cx="89148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67D86"/>
                </a:solidFill>
                <a:latin typeface="Times New Roman"/>
                <a:cs typeface="Times New Roman"/>
              </a:rPr>
              <a:t>barely moves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31200" y="3810000"/>
            <a:ext cx="2946400" cy="0"/>
          </a:xfrm>
          <a:prstGeom prst="line">
            <a:avLst/>
          </a:prstGeom>
          <a:ln w="12700">
            <a:solidFill>
              <a:srgbClr val="E0D2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31200" y="3922776"/>
            <a:ext cx="1539849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Panel needed in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4128262"/>
            <a:ext cx="1972627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8C3A1B"/>
                </a:solidFill>
                <a:latin typeface="Times New Roman"/>
                <a:cs typeface="Times New Roman"/>
              </a:rPr>
              <a:t>18.8M  →  72.2M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1200" y="4483227"/>
            <a:ext cx="1005408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8C3A1B"/>
                </a:solidFill>
                <a:latin typeface="Times New Roman"/>
                <a:cs typeface="Times New Roman"/>
              </a:rPr>
              <a:t>a factor of four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31200" y="4826000"/>
            <a:ext cx="2946400" cy="0"/>
          </a:xfrm>
          <a:prstGeom prst="line">
            <a:avLst/>
          </a:prstGeom>
          <a:ln w="12700">
            <a:solidFill>
              <a:srgbClr val="E0D2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31200" y="4964176"/>
            <a:ext cx="2959100" cy="701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The design is priced by its worst frame, not its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average one. Reporting an overall response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rate reports the wrong statistic.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Five hypotheses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08784"/>
            <a:ext cx="44729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767D86"/>
                </a:solidFill>
                <a:latin typeface="Consolas"/>
                <a:cs typeface="Consolas"/>
              </a:rPr>
              <a:t>EACH TAKES ITS LOGIC FROM ONE OF THIS WEEK'S FOUR PAPERS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2400" y="2389886"/>
            <a:ext cx="33020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67D86"/>
                </a:solidFill>
                <a:latin typeface="Consolas"/>
                <a:cs typeface="Consolas"/>
              </a:rPr>
              <a:t>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14600"/>
            <a:ext cx="10820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2514600"/>
            <a:ext cx="508000" cy="660400"/>
          </a:xfrm>
          <a:prstGeom prst="roundRect">
            <a:avLst>
              <a:gd name="adj" fmla="val 7500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26842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6177" y="2600960"/>
            <a:ext cx="342646" cy="3810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81E3F"/>
                </a:solidFill>
                <a:latin typeface="Times New Roman"/>
                <a:cs typeface="Times New Roman"/>
              </a:rPr>
              <a:t>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800" y="2963037"/>
            <a:ext cx="53340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MONOTONE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2600325"/>
            <a:ext cx="5854700" cy="4889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Joint feasibility is set by the least feasible frame, not the mean. Adding a country can only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weakly decrease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59" y="2754884"/>
            <a:ext cx="33426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081E3F"/>
                </a:solidFill>
                <a:latin typeface="Consolas"/>
                <a:cs typeface="Consolas"/>
              </a:rPr>
              <a:t>ANALYTIC  ·  THE STRUCTURE OF A CONJUNCTION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25800"/>
            <a:ext cx="10820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225800"/>
            <a:ext cx="508000" cy="660400"/>
          </a:xfrm>
          <a:prstGeom prst="roundRect">
            <a:avLst>
              <a:gd name="adj" fmla="val 75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33954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3510" y="3312160"/>
            <a:ext cx="347980" cy="3810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6B63"/>
                </a:solidFill>
                <a:latin typeface="Times New Roman"/>
                <a:cs typeface="Times New Roman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0800" y="3674237"/>
            <a:ext cx="53340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POSITIVE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3311525"/>
            <a:ext cx="5854700" cy="2921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Specialist prevalence on a panel is higher inside the panel provider's home region.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3560" y="3466084"/>
            <a:ext cx="18186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1C6B63"/>
                </a:solidFill>
                <a:latin typeface="Consolas"/>
                <a:cs typeface="Consolas"/>
              </a:rPr>
              <a:t>RUGMAN &amp; VERBEKE (2004)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937000"/>
            <a:ext cx="10820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3937000"/>
            <a:ext cx="508000" cy="660400"/>
          </a:xfrm>
          <a:prstGeom prst="roundRect">
            <a:avLst>
              <a:gd name="adj" fmla="val 75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1066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3510" y="4023360"/>
            <a:ext cx="347980" cy="3810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6B63"/>
                </a:solidFill>
                <a:latin typeface="Times New Roman"/>
                <a:cs typeface="Times New Roman"/>
              </a:rP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0800" y="4385437"/>
            <a:ext cx="53340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POSITIVE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06600" y="4022725"/>
            <a:ext cx="5854700" cy="4889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Studies described as cross-national achieve regionally concentrated coverage, more so as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the population narrows.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4177284"/>
            <a:ext cx="2428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1C6B63"/>
                </a:solidFill>
                <a:latin typeface="Consolas"/>
                <a:cs typeface="Consolas"/>
              </a:rPr>
              <a:t>LOPEZ, KUNDU &amp; CIRAVEGNA (2009)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648200"/>
            <a:ext cx="10820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" y="4648200"/>
            <a:ext cx="508000" cy="660400"/>
          </a:xfrm>
          <a:prstGeom prst="roundRect">
            <a:avLst>
              <a:gd name="adj" fmla="val 75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" y="48178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3510" y="4734560"/>
            <a:ext cx="347980" cy="3810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8C3A1B"/>
                </a:solidFill>
                <a:latin typeface="Times New Roman"/>
                <a:cs typeface="Times New Roman"/>
              </a:rPr>
              <a:t>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50645" y="5096637"/>
            <a:ext cx="47371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GREATER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06600" y="4733925"/>
            <a:ext cx="5854700" cy="2921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Mode explains more variance in response than country does.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760" y="4888484"/>
            <a:ext cx="21234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8C3A1B"/>
                </a:solidFill>
                <a:latin typeface="Consolas"/>
                <a:cs typeface="Consolas"/>
              </a:rPr>
              <a:t>MEYER, LI &amp; SCHOTTER (2020)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359400"/>
            <a:ext cx="10820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" y="5359400"/>
            <a:ext cx="508000" cy="660400"/>
          </a:xfrm>
          <a:prstGeom prst="roundRect">
            <a:avLst>
              <a:gd name="adj" fmla="val 75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2000" y="55290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6177" y="5445760"/>
            <a:ext cx="342646" cy="3810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6862C"/>
                </a:solidFill>
                <a:latin typeface="Times New Roman"/>
                <a:cs typeface="Times New Roman"/>
              </a:rPr>
              <a:t>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0800" y="5807837"/>
            <a:ext cx="53340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NEGATIVE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06600" y="5445125"/>
            <a:ext cx="5854700" cy="4889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Standardization is negatively associated with response, worst in the frames that already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71C"/>
                </a:solidFill>
                <a:latin typeface="Times New Roman"/>
                <a:cs typeface="Times New Roman"/>
              </a:rPr>
              <a:t>bind.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14560" y="5599684"/>
            <a:ext cx="14376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B6862C"/>
                </a:solidFill>
                <a:latin typeface="Consolas"/>
                <a:cs typeface="Consolas"/>
              </a:rPr>
              <a:t>ZENG ET AL. (2023)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069584"/>
            <a:ext cx="155956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8C3A1B"/>
                </a:solidFill>
                <a:latin typeface="Consolas"/>
                <a:cs typeface="Consolas"/>
              </a:rPr>
              <a:t>UNSIGNED ON PURPOSE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90800" y="6072378"/>
            <a:ext cx="6905231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54B54"/>
                </a:solidFill>
                <a:latin typeface="Times New Roman"/>
                <a:cs typeface="Times New Roman"/>
              </a:rPr>
              <a:t>H1 is analytic, so there is no coefficient to estimate. H4 compares variance components rather than predicting a direction.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H1 · A comparison is a conjunction, not an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88870"/>
            <a:ext cx="10833100" cy="6477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To say a relationship differs between Spain and China is to assert something about Spain and something about China. The assertion fails if</a:t>
            </a:r>
          </a:p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either component fails.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75000"/>
            <a:ext cx="10820400" cy="1219200"/>
          </a:xfrm>
          <a:prstGeom prst="roundRect">
            <a:avLst>
              <a:gd name="adj" fmla="val 416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200" y="3423030"/>
            <a:ext cx="37884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081E3F"/>
                </a:solidFill>
                <a:latin typeface="Consolas"/>
                <a:cs typeface="Consolas"/>
              </a:rPr>
              <a:t>AN AVERAGE CANNOT SATISFY A CONJUNCTION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3687572"/>
            <a:ext cx="10274300" cy="3479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71C"/>
                </a:solidFill>
                <a:latin typeface="Times New Roman"/>
                <a:cs typeface="Times New Roman"/>
              </a:rPr>
              <a:t>A design with one excellent frame and one hopeless frame has a respectable mean and no comparison. The requirement is set by the minimum.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98670"/>
            <a:ext cx="10833100" cy="6477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Because a set's minimum can only fall or stay level when an element is added, every additional country weakly worsens the design and no</a:t>
            </a:r>
          </a:p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additional country can improve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359400"/>
            <a:ext cx="10820400" cy="736600"/>
          </a:xfrm>
          <a:prstGeom prst="roundRect">
            <a:avLst>
              <a:gd name="adj" fmla="val 6896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5200" y="5492623"/>
            <a:ext cx="10274300" cy="5346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Breadth is treated in comparative work as a virtue. It is purchased at a price that rises faster than the count of frames. A design covering more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countries has not become more ambitious. It has become more fragile.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H2 and H3 · A research panel is a 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0521"/>
            <a:ext cx="10833100" cy="872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Of the 380 largest multinationals with usable sales data, Rugman and Verbeke found 320 home-region oriented, averaging 80.3 percent of sales at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home. Nine were global. Their mechanism is specific: upstream advantages in technology travel, downstream advantages such as branding are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location-bound.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78200"/>
            <a:ext cx="10820400" cy="1092200"/>
          </a:xfrm>
          <a:prstGeom prst="roundRect">
            <a:avLst>
              <a:gd name="adj" fmla="val 4651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200" y="3536823"/>
            <a:ext cx="10274300" cy="7505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A research panel is a firm whose entire product is a downstream asset: its membership, and its standing with that membership. Survey software is a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commodity, so there is almost no upstream advantage to carry abroad. On their own account it should be MORE home-region bound than a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manufacturer, not less.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4572000"/>
            <a:ext cx="0" cy="203200"/>
          </a:xfrm>
          <a:prstGeom prst="line">
            <a:avLst/>
          </a:prstGeom>
          <a:ln w="17780">
            <a:solidFill>
              <a:srgbClr val="9AA4A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4876800"/>
            <a:ext cx="5181600" cy="1320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02733"/>
            <a:ext cx="29578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1C6B63"/>
                </a:solidFill>
                <a:latin typeface="Consolas"/>
                <a:cs typeface="Consolas"/>
              </a:rPr>
              <a:t>WHY IT BITES HARDER FOR SPECIALISTS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35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 consumer panel is built by broad advertising anywhere. A panel of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experienced auditors is built through professional bodies whose reach is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national by construction.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600" y="4876800"/>
            <a:ext cx="5181600" cy="1320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200" y="5102733"/>
            <a:ext cx="237998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1C6B63"/>
                </a:solidFill>
                <a:latin typeface="Consolas"/>
                <a:cs typeface="Consolas"/>
              </a:rPr>
              <a:t>AND WHY THE SAMPLE COLLAPSES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53435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Of 40 Costa Rican software firms, exactly one had exported from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inception to the market the founders called strategic. The rest sold to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neighbours. The category could not see the difference.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H4 and H5 · Level of analysis, and the price of equivalence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87600"/>
            <a:ext cx="5181600" cy="3403600"/>
          </a:xfrm>
          <a:prstGeom prst="roundRect">
            <a:avLst>
              <a:gd name="adj" fmla="val 1492"/>
            </a:avLst>
          </a:prstGeom>
          <a:solidFill>
            <a:srgbClr val="FFFFFF"/>
          </a:solidFill>
          <a:ln w="17780">
            <a:solidFill>
              <a:srgbClr val="8C3A1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387600"/>
            <a:ext cx="5181600" cy="635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59380"/>
            <a:ext cx="2397760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8C3A1B"/>
                </a:solidFill>
                <a:latin typeface="Consolas"/>
                <a:cs typeface="Consolas"/>
              </a:rPr>
              <a:t>H4  ·  MODE OVER COUNTRY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305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Response is the outcome of an encounter between a person and a request.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Whether it arrives by telephone from a human being or by email from a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platform is a property of the instrument, not of the country.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22725"/>
            <a:ext cx="4737100" cy="5016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4171C"/>
                </a:solidFill>
                <a:latin typeface="Times New Roman"/>
                <a:cs typeface="Times New Roman"/>
              </a:rPr>
              <a:t>Mode changes the cost of refusing. Country changes only the disposition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4171C"/>
                </a:solidFill>
                <a:latin typeface="Times New Roman"/>
                <a:cs typeface="Times New Roman"/>
              </a:rPr>
              <a:t>toward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521200"/>
            <a:ext cx="4724400" cy="1066800"/>
          </a:xfrm>
          <a:prstGeom prst="roundRect">
            <a:avLst>
              <a:gd name="adj" fmla="val 3571"/>
            </a:avLst>
          </a:prstGeom>
          <a:solidFill>
            <a:srgbClr val="FBE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2200" y="4697984"/>
            <a:ext cx="108712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8C3A1B"/>
                </a:solidFill>
                <a:latin typeface="Consolas"/>
                <a:cs typeface="Consolas"/>
              </a:rPr>
              <a:t>THE ONE DATUM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" y="4915027"/>
            <a:ext cx="438150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Harzing's 47% in Korea was telephone. It exceeds the entire country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spread in the same project by about five times. One observation is not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evidence. It is why this is worth testing.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600" y="2387600"/>
            <a:ext cx="5181600" cy="3403600"/>
          </a:xfrm>
          <a:prstGeom prst="roundRect">
            <a:avLst>
              <a:gd name="adj" fmla="val 1492"/>
            </a:avLst>
          </a:prstGeom>
          <a:solidFill>
            <a:srgbClr val="FFFFFF"/>
          </a:solidFill>
          <a:ln w="1778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600" y="2387600"/>
            <a:ext cx="5181600" cy="635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200" y="2659380"/>
            <a:ext cx="345947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8A6A1F"/>
                </a:solidFill>
                <a:latin typeface="Consolas"/>
                <a:cs typeface="Consolas"/>
              </a:rPr>
              <a:t>H5  ·  CONTROL AGAINST COORDINATION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200" y="2930525"/>
            <a:ext cx="47371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Zeng and colleagues name standardization as one of four organizational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mechanisms, on the control side, against coordination by mutual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adjustment. They do NOT claim the two trade off. They say the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interaction is understudied.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3946525"/>
            <a:ext cx="47371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Equivalence needs an identical instrument. Response needs adaptation of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length, channel, sponsorship and register. Proposing that these pull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against each other is my conjecture about a gap they name, not a finding I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am borrowing.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3200" y="4902200"/>
            <a:ext cx="4724400" cy="736600"/>
          </a:xfrm>
          <a:prstGeom prst="roundRect">
            <a:avLst>
              <a:gd name="adj" fmla="val 5172"/>
            </a:avLst>
          </a:prstGeom>
          <a:solidFill>
            <a:srgbClr val="FAF3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1000" y="5014976"/>
            <a:ext cx="43815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A strong frame can afford the loss. A weak frame had no margin, and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under H1 the weak frames bind the design.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23189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DATA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What gets measured, and why it can be measured at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13000"/>
            <a:ext cx="10820400" cy="787400"/>
          </a:xfrm>
          <a:prstGeom prst="roundRect">
            <a:avLst>
              <a:gd name="adj" fmla="val 6451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5200" y="2546223"/>
            <a:ext cx="10274300" cy="5346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Panel providers expose an audience-configuration interface that returns an estimated reachable count once screening criteria are entered, before any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commitment and at no cost. That is what makes feasibility a parameter rather than a limitation.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8200"/>
            <a:ext cx="10820400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40633"/>
            <a:ext cx="14084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UNIT OF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8000" y="3527425"/>
            <a:ext cx="4028757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One occupation, on one panel provider, in one national frame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38600"/>
            <a:ext cx="10820400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01033"/>
            <a:ext cx="9055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THE MATRIX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0" y="4187825"/>
            <a:ext cx="4405153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6+ occupations  ×  8+ national frames  ×  3+ providers  ≈  144 cells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99000"/>
            <a:ext cx="10820400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61433"/>
            <a:ext cx="20789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PROVIDERS CHOSEN TO VARY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0" y="4848225"/>
            <a:ext cx="3984942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On home region, deliberately. H2 is unidentifiable otherwise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359400"/>
            <a:ext cx="10820400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21833"/>
            <a:ext cx="16598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THE VALIDATING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000" y="5508625"/>
            <a:ext cx="5043487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My own study. A model that cannot reproduce 334,976 → 20 → 4 is rejected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20384"/>
            <a:ext cx="6283959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8C3A1B"/>
                </a:solidFill>
                <a:latin typeface="Consolas"/>
                <a:cs typeface="Consolas"/>
              </a:rPr>
              <a:t>NO DATA HAVE BEEN COLLECTED FOR THIS PROJECT. THIS IS THE DESIGN, NOT A RESULT.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72084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VARIABLE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What gets measured, and how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11400"/>
            <a:ext cx="10820400" cy="990600"/>
          </a:xfrm>
          <a:prstGeom prst="roundRect">
            <a:avLst>
              <a:gd name="adj" fmla="val 5128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2510282"/>
            <a:ext cx="16497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DEPENDENT VARIABLE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749423"/>
            <a:ext cx="6285185" cy="2571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Reachable usable sample  =  frame size  x  prevalence  x  response rate  x  screen survival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3037078"/>
            <a:ext cx="9628403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54B54"/>
                </a:solidFill>
                <a:latin typeface="Times New Roman"/>
                <a:cs typeface="Times New Roman"/>
              </a:rPr>
              <a:t>Source: the panel audience-configuration interface, read free before any commitment. Second DV for H4 and H5: achieved response rate, from published method sections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73882"/>
            <a:ext cx="1912619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INDEPENDENT VARIABLES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3505835"/>
            <a:ext cx="64008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767D86"/>
                </a:solidFill>
                <a:latin typeface="Consolas"/>
                <a:cs typeface="Consolas"/>
              </a:rPr>
              <a:t>VARIABLE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6800" y="3505835"/>
            <a:ext cx="92964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767D86"/>
                </a:solidFill>
                <a:latin typeface="Consolas"/>
                <a:cs typeface="Consolas"/>
              </a:rPr>
              <a:t>HOW MEASURED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7800" y="3505835"/>
            <a:ext cx="187071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767D86"/>
                </a:solidFill>
                <a:latin typeface="Consolas"/>
                <a:cs typeface="Consolas"/>
              </a:rPr>
              <a:t>WHERE THE DATA COMES FROM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830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36830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38244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5400" y="3806825"/>
            <a:ext cx="1498282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Region concordance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6800" y="3826129"/>
            <a:ext cx="1517789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Binary, triad classification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97800" y="3826129"/>
            <a:ext cx="2143734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Provider incorporation and HQ filings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2799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42799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4213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5400" y="4403725"/>
            <a:ext cx="1621631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Coverage discrepancy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6800" y="4423029"/>
            <a:ext cx="2536183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Stated minus achieved regional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7800" y="4423029"/>
            <a:ext cx="286609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Method sections of published cross-national studies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8768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48768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50182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5400" y="5000625"/>
            <a:ext cx="514984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6800" y="5019929"/>
            <a:ext cx="2395499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Categorical: phone, email, panel, in person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97800" y="5019929"/>
            <a:ext cx="2188006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Method sections, coded by two readers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4737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" y="54737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56151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597525"/>
            <a:ext cx="1630997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Standardization index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6800" y="5616829"/>
            <a:ext cx="2751277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Wording, length, incentive, sponsorship, protocol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97800" y="5616829"/>
            <a:ext cx="2140134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Published instruments and appendices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142482"/>
            <a:ext cx="7734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CONTROLS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55800" y="6161278"/>
            <a:ext cx="7654302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54B54"/>
                </a:solidFill>
                <a:latin typeface="Times New Roman"/>
                <a:cs typeface="Times New Roman"/>
              </a:rPr>
              <a:t>Prevalence  ·  frame size  ·  eligibility strictness, as the count of conjunctive screening criteria  ·  incentive at PPP  ·  field period  ·  year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64515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Two different kinds of claim, two different treatments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38400"/>
            <a:ext cx="5181600" cy="309880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7780">
            <a:solidFill>
              <a:srgbClr val="081E3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438400"/>
            <a:ext cx="5181600" cy="635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0180"/>
            <a:ext cx="1529080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081E3F"/>
                </a:solidFill>
                <a:latin typeface="Consolas"/>
                <a:cs typeface="Consolas"/>
              </a:rPr>
              <a:t>H1  ·  ANALYTIC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81325"/>
            <a:ext cx="47371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Established by demonstration and probed by sensitivity analysis across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 plausible range of prevalence, response and screen survival, reporting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 region of the parameter space where a comparative design stays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viable.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18000"/>
            <a:ext cx="4724400" cy="1016000"/>
          </a:xfrm>
          <a:prstGeom prst="roundRect">
            <a:avLst>
              <a:gd name="adj" fmla="val 3750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200" y="4481576"/>
            <a:ext cx="4381500" cy="662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The claim is about the structure of a conjunction. It would not be made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more true by a p-value, and reporting one would present a deductive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result as an empirical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2438400"/>
            <a:ext cx="5181600" cy="309880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600" y="2438400"/>
            <a:ext cx="5181600" cy="63500"/>
          </a:xfrm>
          <a:prstGeom prst="rect">
            <a:avLst/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200" y="2710180"/>
            <a:ext cx="2301240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1C6B63"/>
                </a:solidFill>
                <a:latin typeface="Consolas"/>
                <a:cs typeface="Consolas"/>
              </a:rPr>
              <a:t>H2 – H5  ·  INFERENTIAL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2981325"/>
            <a:ext cx="4737100" cy="5016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Hierarchical linear models. Cells nested in national frames, frames nested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in regions, random intercepts at frame and provider level.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37687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 nesting is not a convenience. It is the structure Meyer and colleagues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argue must be modelled, and ignoring it attributes to countries the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variance that belongs to providers.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53200" y="4800600"/>
            <a:ext cx="4724400" cy="533400"/>
          </a:xfrm>
          <a:prstGeom prst="roundRect">
            <a:avLst>
              <a:gd name="adj" fmla="val 7142"/>
            </a:avLst>
          </a:prstGeom>
          <a:solidFill>
            <a:srgbClr val="E8F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31000" y="4977384"/>
            <a:ext cx="46380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1C6B63"/>
                </a:solidFill>
                <a:latin typeface="Consolas"/>
                <a:cs typeface="Consolas"/>
              </a:rPr>
              <a:t>H5 IS SUPPORTED ONLY BY THE INTERACTION, NOT THE MAIN EFFECT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689600"/>
            <a:ext cx="10820400" cy="736600"/>
          </a:xfrm>
          <a:prstGeom prst="roundRect">
            <a:avLst>
              <a:gd name="adj" fmla="val 689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800" y="5812282"/>
            <a:ext cx="7734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6800" y="5804027"/>
            <a:ext cx="4761522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71C"/>
                </a:solidFill>
                <a:latin typeface="Times New Roman"/>
                <a:cs typeface="Times New Roman"/>
              </a:rPr>
              <a:t>R, with lme4 for the hierarchical models and base R for the sensitivity analysis.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6800" y="6058027"/>
            <a:ext cx="508180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71C"/>
                </a:solidFill>
                <a:latin typeface="Times New Roman"/>
                <a:cs typeface="Times New Roman"/>
              </a:rPr>
              <a:t>Stata as a cross-check on the multilevel estimates. All code and data versioned in git.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93852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TIMEFRAME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Nine months, and no recruitment step</a:t>
            </a:r>
          </a:p>
        </p:txBody>
      </p:sp>
      <p:pic>
        <p:nvPicPr>
          <p:cNvPr id="10" name="Picture 9" descr="h2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398" y="2413000"/>
            <a:ext cx="5379203" cy="3022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645023"/>
            <a:ext cx="10833100" cy="5600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The constraint that ended my qualifying study was recruitment. This design has no recruitment step at all. The measurements already exist on the platforms,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so the work is gathering them systematically rather than obtaining them.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339598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5  ·  PRELIMINARY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The evidence I have is my own failed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65121"/>
            <a:ext cx="10833100" cy="618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No data has been collected for this project. What follows is from the qualifying study, which was designed to test something else and failed for the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reason this project is about.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25800"/>
            <a:ext cx="5181600" cy="2616200"/>
          </a:xfrm>
          <a:prstGeom prst="roundRect">
            <a:avLst>
              <a:gd name="adj" fmla="val 1941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00882"/>
            <a:ext cx="121158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WHAT HAPPENED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9924"/>
            <a:ext cx="1954530" cy="7239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81E3F"/>
                </a:solidFill>
                <a:latin typeface="Times New Roman"/>
                <a:cs typeface="Times New Roman"/>
              </a:rPr>
              <a:t>334,976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78325"/>
            <a:ext cx="3557111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panel members screened against the eligibility criteria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4775200"/>
            <a:ext cx="508000" cy="0"/>
          </a:xfrm>
          <a:prstGeom prst="line">
            <a:avLst/>
          </a:prstGeom>
          <a:ln w="20320">
            <a:solidFill>
              <a:srgbClr val="081E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600200" y="4511548"/>
            <a:ext cx="766064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E3F"/>
                </a:solidFill>
                <a:latin typeface="Times New Roman"/>
                <a:cs typeface="Times New Roman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7600" y="4657725"/>
            <a:ext cx="603250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eligible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5207000"/>
            <a:ext cx="508000" cy="0"/>
          </a:xfrm>
          <a:prstGeom prst="line">
            <a:avLst/>
          </a:prstGeom>
          <a:ln w="20320">
            <a:solidFill>
              <a:srgbClr val="081E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600200" y="4943348"/>
            <a:ext cx="429259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C3A1B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5089525"/>
            <a:ext cx="1595120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usable, of 23 raw starts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09133"/>
            <a:ext cx="250825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30">
                <a:solidFill>
                  <a:srgbClr val="8C3A1B"/>
                </a:solidFill>
                <a:latin typeface="Consolas"/>
                <a:cs typeface="Consolas"/>
              </a:rPr>
              <a:t>ABOUT SIX PER HUNDRED THOUSAND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600" y="3225800"/>
            <a:ext cx="5181600" cy="2616200"/>
          </a:xfrm>
          <a:prstGeom prst="roundRect">
            <a:avLst>
              <a:gd name="adj" fmla="val 1941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00882"/>
            <a:ext cx="25260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WHICH HYPOTHESES IT BEARS 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3200" y="3835400"/>
            <a:ext cx="431800" cy="558800"/>
          </a:xfrm>
          <a:prstGeom prst="roundRect">
            <a:avLst>
              <a:gd name="adj" fmla="val 8823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4000" y="3982974"/>
            <a:ext cx="33020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cs typeface="Consolas"/>
              </a:rPr>
              <a:t>H1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2000" y="3846576"/>
            <a:ext cx="37211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Directly. It supplies the prevalence and screen-survival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terms the whole model runs 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53200" y="4470400"/>
            <a:ext cx="431800" cy="558800"/>
          </a:xfrm>
          <a:prstGeom prst="roundRect">
            <a:avLst>
              <a:gd name="adj" fmla="val 8823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4000" y="4617974"/>
            <a:ext cx="33020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cs typeface="Consolas"/>
              </a:rPr>
              <a:t>H2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0" y="4481576"/>
            <a:ext cx="37211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Not yet. One provider, one home region. The comparison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H2 needs does not exist here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3200" y="5105400"/>
            <a:ext cx="431800" cy="558800"/>
          </a:xfrm>
          <a:prstGeom prst="roundRect">
            <a:avLst>
              <a:gd name="adj" fmla="val 8823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4000" y="5252974"/>
            <a:ext cx="33020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cs typeface="Consolas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2000" y="5116576"/>
            <a:ext cx="37211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Weakly. My instrument was one mode, so mode could not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be separated from anything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75223"/>
            <a:ext cx="10833100" cy="3314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This is one case, fully documented, and it is the reason the project exists. It is not evidence that the pattern generalises, which is what the design above is for.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91031"/>
            <a:ext cx="427609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8C3A1B"/>
                </a:solidFill>
                <a:latin typeface="Consolas"/>
                <a:cs typeface="Consolas"/>
              </a:rPr>
              <a:t>BEFORE YOU ASK  ·  THE LIMITS, STATED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What this model does not claim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892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892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800" y="2620772"/>
            <a:ext cx="3455898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Prevalence is held constant across countries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800" y="28797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It almost certainly is not. No cross-national prevalence data for these populations exists, which is why obtaining it is the contribution rather than an assumption.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544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4544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585972"/>
            <a:ext cx="3193999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The response rates come from one 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8449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One instrument, one period. Treating them as a general country characteristic would commit the level-of-analysis error the paper itself identifies.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196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4196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9800" y="4551172"/>
            <a:ext cx="2631084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Rates are treated as independent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" y="48101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They are not. Frames within a region share institutional conditions and will correlate.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848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53848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9800" y="5516372"/>
            <a:ext cx="4029481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Panel estimates are vendor-supplied and unaudited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800" y="57753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They are the same numbers researchers already rely on, so this adds no new exposure, but estimated against achieved is a validation step not yet in the design.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FFFFF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BC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19631"/>
            <a:ext cx="16357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B6862C"/>
                </a:solidFill>
                <a:latin typeface="Consolas"/>
                <a:cs typeface="Consolas"/>
              </a:rPr>
              <a:t>THE CONTRIBUTION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4936"/>
            <a:ext cx="10833100" cy="70713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647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Times New Roman"/>
                <a:cs typeface="Times New Roman"/>
              </a:rPr>
              <a:t>A parameter is estimated before a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6"/>
            <a:ext cx="10833100" cy="70713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647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6862C"/>
                </a:solidFill>
                <a:latin typeface="Times New Roman"/>
                <a:cs typeface="Times New Roman"/>
              </a:rPr>
              <a:t>A limitation is confessed after it fails.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4798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2121"/>
            <a:ext cx="7023100" cy="1126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Comparative international business has treated who can be reached as a matter of execution.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For general populations that is harmless. For narrow specialist populations it is not, because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the arithmetic compounds across frames in one direction and is decided by the weakest frame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rather than the average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30521"/>
            <a:ext cx="7023100" cy="872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FFFFF"/>
                </a:solidFill>
                <a:latin typeface="Times New Roman"/>
                <a:cs typeface="Times New Roman"/>
              </a:rPr>
              <a:t>The quantities are observable before a study is fielded. Making them part of the design, rather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FFFFF"/>
                </a:solidFill>
                <a:latin typeface="Times New Roman"/>
                <a:cs typeface="Times New Roman"/>
              </a:rPr>
              <a:t>than part of the confession, is a small change in practice and a substantial change in what the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FFFFF"/>
                </a:solidFill>
                <a:latin typeface="Times New Roman"/>
                <a:cs typeface="Times New Roman"/>
              </a:rPr>
              <a:t>field can claim to have compared.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2600" y="3810000"/>
            <a:ext cx="3403600" cy="2006600"/>
          </a:xfrm>
          <a:prstGeom prst="roundRect">
            <a:avLst>
              <a:gd name="adj" fmla="val 2531"/>
            </a:avLst>
          </a:prstGeom>
          <a:solidFill>
            <a:srgbClr val="0E29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0" y="4061333"/>
            <a:ext cx="221488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B6862C"/>
                </a:solidFill>
                <a:latin typeface="Consolas"/>
                <a:cs typeface="Consolas"/>
              </a:rPr>
              <a:t>AND THE SECOND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4327525"/>
            <a:ext cx="28575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Where the arithmetic rules out a survey it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does not rule out the study. Twenty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reachable participants are a failed survey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and a well-powered phenomenological 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5409184"/>
            <a:ext cx="28854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B6862C"/>
                </a:solidFill>
                <a:latin typeface="Consolas"/>
                <a:cs typeface="Consolas"/>
              </a:rPr>
              <a:t>THE THRESHOLD IS LOCATABLE IN ADVANCE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E93A8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1645" y="6525133"/>
            <a:ext cx="36487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E93A8"/>
                </a:solidFill>
                <a:latin typeface="Consolas"/>
                <a:cs typeface="Consolas"/>
              </a:rPr>
              <a:t>GEB 7365  ·  Project Presentation  ·  19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Feasibility as a Parameter - GEB 7365 Project Presentation</dc:title>
  <dc:subject/>
  <dc:creator>Yasir A. Malik - FIU DBA Cohort 8.14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