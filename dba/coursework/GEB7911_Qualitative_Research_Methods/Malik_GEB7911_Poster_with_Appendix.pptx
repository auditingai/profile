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39800"/>
          </a:xfrm>
          <a:prstGeom prst="rect">
            <a:avLst/>
          </a:prstGeom>
          <a:solidFill>
            <a:srgbClr val="081E3F"/>
          </a:solidFill>
          <a:ln>
            <a:noFill/>
          </a:ln>
          <a:effectLst/>
        </p:spPr>
        <p:txBody>
          <a:bodyPr rtlCol="0" anchor="ctr"/>
          <a:lstStyle/>
          <a:p>
            <a:pPr algn="ctr"/>
          </a:p>
        </p:txBody>
      </p:sp>
      <p:pic>
        <p:nvPicPr>
          <p:cNvPr id="4" name="Picture 3" descr="fiu-seal.png"/>
          <p:cNvPicPr>
            <a:picLocks noChangeAspect="1"/>
          </p:cNvPicPr>
          <p:nvPr/>
        </p:nvPicPr>
        <p:blipFill>
          <a:blip r:embed="rId2"/>
          <a:stretch>
            <a:fillRect/>
          </a:stretch>
        </p:blipFill>
        <p:spPr>
          <a:xfrm>
            <a:off x="431800" y="177800"/>
            <a:ext cx="558800" cy="558800"/>
          </a:xfrm>
          <a:prstGeom prst="rect">
            <a:avLst/>
          </a:prstGeom>
        </p:spPr>
      </p:pic>
      <p:sp>
        <p:nvSpPr>
          <p:cNvPr id="5" name="TextBox 4"/>
          <p:cNvSpPr txBox="1"/>
          <p:nvPr/>
        </p:nvSpPr>
        <p:spPr>
          <a:xfrm>
            <a:off x="1143000" y="153035"/>
            <a:ext cx="5633720" cy="142875"/>
          </a:xfrm>
          <a:prstGeom prst="rect">
            <a:avLst/>
          </a:prstGeom>
          <a:noFill/>
        </p:spPr>
        <p:txBody>
          <a:bodyPr wrap="none" lIns="0" rIns="0" tIns="0" bIns="0"/>
          <a:lstStyle/>
          <a:p>
            <a:pPr algn="l">
              <a:lnSpc>
                <a:spcPct val="100000"/>
              </a:lnSpc>
              <a:spcBef>
                <a:spcPts val="0"/>
              </a:spcBef>
              <a:spcAft>
                <a:spcPts val="0"/>
              </a:spcAft>
            </a:pPr>
            <a:r>
              <a:rPr sz="750" b="1" i="0" spc="160">
                <a:solidFill>
                  <a:srgbClr val="B6862C"/>
                </a:solidFill>
                <a:latin typeface="Consolas"/>
                <a:cs typeface="Consolas"/>
              </a:rPr>
              <a:t>FLORIDA INTERNATIONAL UNIVERSITY  ·  CHAPMAN GRADUATE SCHOOL OF BUSINESS</a:t>
            </a:r>
          </a:p>
        </p:txBody>
      </p:sp>
      <p:sp>
        <p:nvSpPr>
          <p:cNvPr id="6" name="TextBox 5"/>
          <p:cNvSpPr txBox="1"/>
          <p:nvPr/>
        </p:nvSpPr>
        <p:spPr>
          <a:xfrm>
            <a:off x="1143000" y="247650"/>
            <a:ext cx="3508057" cy="476250"/>
          </a:xfrm>
          <a:prstGeom prst="rect">
            <a:avLst/>
          </a:prstGeom>
          <a:noFill/>
        </p:spPr>
        <p:txBody>
          <a:bodyPr wrap="none" lIns="0" rIns="0" tIns="0" bIns="0"/>
          <a:lstStyle/>
          <a:p>
            <a:pPr algn="l">
              <a:lnSpc>
                <a:spcPct val="100000"/>
              </a:lnSpc>
              <a:spcBef>
                <a:spcPts val="0"/>
              </a:spcBef>
              <a:spcAft>
                <a:spcPts val="0"/>
              </a:spcAft>
            </a:pPr>
            <a:r>
              <a:rPr sz="2500" b="1" i="0">
                <a:solidFill>
                  <a:srgbClr val="FFFFFF"/>
                </a:solidFill>
                <a:latin typeface="Times New Roman"/>
                <a:cs typeface="Times New Roman"/>
              </a:rPr>
              <a:t>Receiving Confirmation</a:t>
            </a:r>
          </a:p>
        </p:txBody>
      </p:sp>
      <p:sp>
        <p:nvSpPr>
          <p:cNvPr id="7" name="TextBox 6"/>
          <p:cNvSpPr txBox="1"/>
          <p:nvPr/>
        </p:nvSpPr>
        <p:spPr>
          <a:xfrm>
            <a:off x="1143000" y="660527"/>
            <a:ext cx="6412179" cy="219075"/>
          </a:xfrm>
          <a:prstGeom prst="rect">
            <a:avLst/>
          </a:prstGeom>
          <a:noFill/>
        </p:spPr>
        <p:txBody>
          <a:bodyPr wrap="none" lIns="0" rIns="0" tIns="0" bIns="0"/>
          <a:lstStyle/>
          <a:p>
            <a:pPr algn="l">
              <a:lnSpc>
                <a:spcPct val="100000"/>
              </a:lnSpc>
              <a:spcBef>
                <a:spcPts val="0"/>
              </a:spcBef>
              <a:spcAft>
                <a:spcPts val="0"/>
              </a:spcAft>
            </a:pPr>
            <a:r>
              <a:rPr sz="1150" b="0" i="1">
                <a:solidFill>
                  <a:srgbClr val="B9C7D8"/>
                </a:solidFill>
                <a:latin typeface="Times New Roman"/>
                <a:cs typeface="Times New Roman"/>
              </a:rPr>
              <a:t>How experienced auditors make sense of AI-generated agreement with a judgment they had already formed</a:t>
            </a:r>
          </a:p>
        </p:txBody>
      </p:sp>
      <p:sp>
        <p:nvSpPr>
          <p:cNvPr id="8" name="TextBox 7"/>
          <p:cNvSpPr txBox="1"/>
          <p:nvPr/>
        </p:nvSpPr>
        <p:spPr>
          <a:xfrm>
            <a:off x="10386060" y="222631"/>
            <a:ext cx="1374139" cy="180975"/>
          </a:xfrm>
          <a:prstGeom prst="rect">
            <a:avLst/>
          </a:prstGeom>
          <a:noFill/>
        </p:spPr>
        <p:txBody>
          <a:bodyPr wrap="none" lIns="0" rIns="0" tIns="0" bIns="0"/>
          <a:lstStyle/>
          <a:p>
            <a:pPr algn="r">
              <a:lnSpc>
                <a:spcPct val="100000"/>
              </a:lnSpc>
              <a:spcBef>
                <a:spcPts val="0"/>
              </a:spcBef>
              <a:spcAft>
                <a:spcPts val="0"/>
              </a:spcAft>
            </a:pPr>
            <a:r>
              <a:rPr sz="950" b="1" i="0" spc="160">
                <a:solidFill>
                  <a:srgbClr val="B6862C"/>
                </a:solidFill>
                <a:latin typeface="Consolas"/>
                <a:cs typeface="Consolas"/>
              </a:rPr>
              <a:t>YASIR A. MALIK</a:t>
            </a:r>
          </a:p>
        </p:txBody>
      </p:sp>
      <p:sp>
        <p:nvSpPr>
          <p:cNvPr id="9" name="TextBox 8"/>
          <p:cNvSpPr txBox="1"/>
          <p:nvPr/>
        </p:nvSpPr>
        <p:spPr>
          <a:xfrm>
            <a:off x="8783701" y="424180"/>
            <a:ext cx="2976499" cy="190500"/>
          </a:xfrm>
          <a:prstGeom prst="rect">
            <a:avLst/>
          </a:prstGeom>
          <a:noFill/>
        </p:spPr>
        <p:txBody>
          <a:bodyPr wrap="none" lIns="0" rIns="0" tIns="0" bIns="0"/>
          <a:lstStyle/>
          <a:p>
            <a:pPr algn="r">
              <a:lnSpc>
                <a:spcPct val="100000"/>
              </a:lnSpc>
              <a:spcBef>
                <a:spcPts val="0"/>
              </a:spcBef>
              <a:spcAft>
                <a:spcPts val="0"/>
              </a:spcAft>
            </a:pPr>
            <a:r>
              <a:rPr sz="1000" b="0" i="0">
                <a:solidFill>
                  <a:srgbClr val="8FA3BC"/>
                </a:solidFill>
                <a:latin typeface="Times New Roman"/>
                <a:cs typeface="Times New Roman"/>
              </a:rPr>
              <a:t>DBA Cohort 8.14  ·  GEB 7911  ·  Dr. Cristina Gonzalez</a:t>
            </a:r>
          </a:p>
        </p:txBody>
      </p:sp>
      <p:sp>
        <p:nvSpPr>
          <p:cNvPr id="10" name="TextBox 9"/>
          <p:cNvSpPr txBox="1"/>
          <p:nvPr/>
        </p:nvSpPr>
        <p:spPr>
          <a:xfrm>
            <a:off x="9294876" y="660704"/>
            <a:ext cx="2465324" cy="144779"/>
          </a:xfrm>
          <a:prstGeom prst="rect">
            <a:avLst/>
          </a:prstGeom>
          <a:noFill/>
        </p:spPr>
        <p:txBody>
          <a:bodyPr wrap="none" lIns="0" rIns="0" tIns="0" bIns="0"/>
          <a:lstStyle/>
          <a:p>
            <a:pPr algn="r">
              <a:lnSpc>
                <a:spcPct val="100000"/>
              </a:lnSpc>
              <a:spcBef>
                <a:spcPts val="0"/>
              </a:spcBef>
              <a:spcAft>
                <a:spcPts val="0"/>
              </a:spcAft>
            </a:pPr>
            <a:r>
              <a:rPr sz="760" b="1" i="0" spc="100">
                <a:solidFill>
                  <a:srgbClr val="B6862C"/>
                </a:solidFill>
                <a:latin typeface="Consolas"/>
                <a:cs typeface="Consolas"/>
              </a:rPr>
              <a:t>WEEK 8 PRESENTATION  ·  6 OCT 2026</a:t>
            </a:r>
          </a:p>
        </p:txBody>
      </p:sp>
      <p:sp>
        <p:nvSpPr>
          <p:cNvPr id="11" name="Rounded Rectangle 10"/>
          <p:cNvSpPr/>
          <p:nvPr/>
        </p:nvSpPr>
        <p:spPr>
          <a:xfrm>
            <a:off x="431800" y="1066800"/>
            <a:ext cx="11328400" cy="558800"/>
          </a:xfrm>
          <a:prstGeom prst="roundRect">
            <a:avLst>
              <a:gd name="adj" fmla="val 6818"/>
            </a:avLst>
          </a:prstGeom>
          <a:solidFill>
            <a:srgbClr val="FAF3E4"/>
          </a:solidFill>
          <a:ln w="12700">
            <a:solidFill>
              <a:srgbClr val="B6862C"/>
            </a:solidFill>
          </a:ln>
          <a:effectLst/>
        </p:spPr>
        <p:txBody>
          <a:bodyPr rtlCol="0" anchor="ctr"/>
          <a:lstStyle/>
          <a:p>
            <a:pPr algn="ctr"/>
          </a:p>
        </p:txBody>
      </p:sp>
      <p:sp>
        <p:nvSpPr>
          <p:cNvPr id="12" name="Rectangle 11"/>
          <p:cNvSpPr/>
          <p:nvPr/>
        </p:nvSpPr>
        <p:spPr>
          <a:xfrm>
            <a:off x="431800" y="1066800"/>
            <a:ext cx="63500" cy="558800"/>
          </a:xfrm>
          <a:prstGeom prst="rect">
            <a:avLst/>
          </a:prstGeom>
          <a:solidFill>
            <a:srgbClr val="B6862C"/>
          </a:solidFill>
          <a:ln>
            <a:noFill/>
          </a:ln>
          <a:effectLst/>
        </p:spPr>
        <p:txBody>
          <a:bodyPr rtlCol="0" anchor="ctr"/>
          <a:lstStyle/>
          <a:p>
            <a:pPr algn="ctr"/>
          </a:p>
        </p:txBody>
      </p:sp>
      <p:sp>
        <p:nvSpPr>
          <p:cNvPr id="13" name="TextBox 12"/>
          <p:cNvSpPr txBox="1"/>
          <p:nvPr/>
        </p:nvSpPr>
        <p:spPr>
          <a:xfrm>
            <a:off x="660400" y="1169035"/>
            <a:ext cx="1352550" cy="142875"/>
          </a:xfrm>
          <a:prstGeom prst="rect">
            <a:avLst/>
          </a:prstGeom>
          <a:noFill/>
        </p:spPr>
        <p:txBody>
          <a:bodyPr wrap="none" lIns="0" rIns="0" tIns="0" bIns="0"/>
          <a:lstStyle/>
          <a:p>
            <a:pPr algn="l">
              <a:lnSpc>
                <a:spcPct val="100000"/>
              </a:lnSpc>
              <a:spcBef>
                <a:spcPts val="0"/>
              </a:spcBef>
              <a:spcAft>
                <a:spcPts val="0"/>
              </a:spcAft>
            </a:pPr>
            <a:r>
              <a:rPr sz="750" b="1" i="0" spc="150">
                <a:solidFill>
                  <a:srgbClr val="8A6A1F"/>
                </a:solidFill>
                <a:latin typeface="Consolas"/>
                <a:cs typeface="Consolas"/>
              </a:rPr>
              <a:t>RESEARCH QUESTION</a:t>
            </a:r>
          </a:p>
        </p:txBody>
      </p:sp>
      <p:sp>
        <p:nvSpPr>
          <p:cNvPr id="14" name="TextBox 13"/>
          <p:cNvSpPr txBox="1"/>
          <p:nvPr/>
        </p:nvSpPr>
        <p:spPr>
          <a:xfrm>
            <a:off x="660400" y="1327023"/>
            <a:ext cx="10441476" cy="257175"/>
          </a:xfrm>
          <a:prstGeom prst="rect">
            <a:avLst/>
          </a:prstGeom>
          <a:noFill/>
        </p:spPr>
        <p:txBody>
          <a:bodyPr wrap="none" lIns="0" rIns="0" tIns="0" bIns="0"/>
          <a:lstStyle/>
          <a:p>
            <a:pPr algn="l">
              <a:lnSpc>
                <a:spcPct val="100000"/>
              </a:lnSpc>
              <a:spcBef>
                <a:spcPts val="0"/>
              </a:spcBef>
              <a:spcAft>
                <a:spcPts val="0"/>
              </a:spcAft>
            </a:pPr>
            <a:r>
              <a:rPr sz="1350" b="0" i="1">
                <a:solidFill>
                  <a:srgbClr val="14171C"/>
                </a:solidFill>
                <a:latin typeface="Times New Roman"/>
                <a:cs typeface="Times New Roman"/>
              </a:rPr>
              <a:t>How do experienced auditors experience and make sense of receiving an AI-generated conclusion that confirms a judgment they had already formed?</a:t>
            </a:r>
          </a:p>
        </p:txBody>
      </p:sp>
      <p:sp>
        <p:nvSpPr>
          <p:cNvPr id="15" name="Rounded Rectangle 14"/>
          <p:cNvSpPr/>
          <p:nvPr/>
        </p:nvSpPr>
        <p:spPr>
          <a:xfrm>
            <a:off x="431800"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16" name="TextBox 15"/>
          <p:cNvSpPr txBox="1"/>
          <p:nvPr/>
        </p:nvSpPr>
        <p:spPr>
          <a:xfrm>
            <a:off x="533400" y="1766925"/>
            <a:ext cx="1530096"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1 · PROBLEM STATEMENT</a:t>
            </a:r>
          </a:p>
        </p:txBody>
      </p:sp>
      <p:sp>
        <p:nvSpPr>
          <p:cNvPr id="17" name="TextBox 16"/>
          <p:cNvSpPr txBox="1"/>
          <p:nvPr/>
        </p:nvSpPr>
        <p:spPr>
          <a:xfrm>
            <a:off x="431800" y="1967483"/>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An auditor on a recurring engagement has always carried a prior</a:t>
            </a:r>
          </a:p>
          <a:p>
            <a:pPr algn="l">
              <a:lnSpc>
                <a:spcPts val="1010"/>
              </a:lnSpc>
              <a:spcBef>
                <a:spcPts val="0"/>
              </a:spcBef>
              <a:spcAft>
                <a:spcPts val="0"/>
              </a:spcAft>
            </a:pPr>
            <a:r>
              <a:rPr sz="800" b="0" i="0">
                <a:solidFill>
                  <a:srgbClr val="3A4048"/>
                </a:solidFill>
                <a:latin typeface="Times New Roman"/>
                <a:cs typeface="Times New Roman"/>
              </a:rPr>
              <a:t>conclusion forward. What is new is that an AI system now</a:t>
            </a:r>
          </a:p>
          <a:p>
            <a:pPr algn="l">
              <a:lnSpc>
                <a:spcPts val="1010"/>
              </a:lnSpc>
              <a:spcBef>
                <a:spcPts val="0"/>
              </a:spcBef>
              <a:spcAft>
                <a:spcPts val="0"/>
              </a:spcAft>
            </a:pPr>
            <a:r>
              <a:rPr sz="800" b="0" i="0">
                <a:solidFill>
                  <a:srgbClr val="3A4048"/>
                </a:solidFill>
                <a:latin typeface="Times New Roman"/>
                <a:cs typeface="Times New Roman"/>
              </a:rPr>
              <a:t>produces a conclusion of its own, and sometimes it agrees.</a:t>
            </a:r>
          </a:p>
        </p:txBody>
      </p:sp>
      <p:sp>
        <p:nvSpPr>
          <p:cNvPr id="18" name="TextBox 17"/>
          <p:cNvSpPr txBox="1"/>
          <p:nvPr/>
        </p:nvSpPr>
        <p:spPr>
          <a:xfrm>
            <a:off x="431800" y="2403094"/>
            <a:ext cx="27400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Research on AI and auditor judgment has focused primarily on the</a:t>
            </a:r>
          </a:p>
          <a:p>
            <a:pPr algn="l">
              <a:lnSpc>
                <a:spcPts val="1010"/>
              </a:lnSpc>
              <a:spcBef>
                <a:spcPts val="0"/>
              </a:spcBef>
              <a:spcAft>
                <a:spcPts val="0"/>
              </a:spcAft>
            </a:pPr>
            <a:r>
              <a:rPr sz="800" b="0" i="0">
                <a:solidFill>
                  <a:srgbClr val="14171C"/>
                </a:solidFill>
                <a:latin typeface="Times New Roman"/>
                <a:cs typeface="Times New Roman"/>
              </a:rPr>
              <a:t>extent of reliance, which a survey can measure. The lived</a:t>
            </a:r>
          </a:p>
          <a:p>
            <a:pPr algn="l">
              <a:lnSpc>
                <a:spcPts val="1010"/>
              </a:lnSpc>
              <a:spcBef>
                <a:spcPts val="0"/>
              </a:spcBef>
              <a:spcAft>
                <a:spcPts val="0"/>
              </a:spcAft>
            </a:pPr>
            <a:r>
              <a:rPr sz="800" b="0" i="0">
                <a:solidFill>
                  <a:srgbClr val="14171C"/>
                </a:solidFill>
                <a:latin typeface="Times New Roman"/>
                <a:cs typeface="Times New Roman"/>
              </a:rPr>
              <a:t>experience of receiving machine agreement with a judgment</a:t>
            </a:r>
          </a:p>
          <a:p>
            <a:pPr algn="l">
              <a:lnSpc>
                <a:spcPts val="1010"/>
              </a:lnSpc>
              <a:spcBef>
                <a:spcPts val="0"/>
              </a:spcBef>
              <a:spcAft>
                <a:spcPts val="0"/>
              </a:spcAft>
            </a:pPr>
            <a:r>
              <a:rPr sz="800" b="0" i="0">
                <a:solidFill>
                  <a:srgbClr val="14171C"/>
                </a:solidFill>
                <a:latin typeface="Times New Roman"/>
                <a:cs typeface="Times New Roman"/>
              </a:rPr>
              <a:t>already formed has received much less attention.</a:t>
            </a:r>
          </a:p>
        </p:txBody>
      </p:sp>
      <p:sp>
        <p:nvSpPr>
          <p:cNvPr id="19" name="TextBox 18"/>
          <p:cNvSpPr txBox="1"/>
          <p:nvPr/>
        </p:nvSpPr>
        <p:spPr>
          <a:xfrm>
            <a:off x="431800" y="2966974"/>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Firms and regulators are writing AI-use policy on the assumption</a:t>
            </a:r>
          </a:p>
          <a:p>
            <a:pPr algn="l">
              <a:lnSpc>
                <a:spcPts val="1010"/>
              </a:lnSpc>
              <a:spcBef>
                <a:spcPts val="0"/>
              </a:spcBef>
              <a:spcAft>
                <a:spcPts val="0"/>
              </a:spcAft>
            </a:pPr>
            <a:r>
              <a:rPr sz="800" b="0" i="0">
                <a:solidFill>
                  <a:srgbClr val="3A4048"/>
                </a:solidFill>
                <a:latin typeface="Times New Roman"/>
                <a:cs typeface="Times New Roman"/>
              </a:rPr>
              <a:t>that a human reviewer still exercises independent judgment.</a:t>
            </a:r>
          </a:p>
        </p:txBody>
      </p:sp>
      <p:sp>
        <p:nvSpPr>
          <p:cNvPr id="20" name="Rounded Rectangle 19"/>
          <p:cNvSpPr/>
          <p:nvPr/>
        </p:nvSpPr>
        <p:spPr>
          <a:xfrm>
            <a:off x="431800" y="3326129"/>
            <a:ext cx="2727325" cy="177800"/>
          </a:xfrm>
          <a:prstGeom prst="roundRect">
            <a:avLst>
              <a:gd name="adj" fmla="val 14285"/>
            </a:avLst>
          </a:prstGeom>
          <a:solidFill>
            <a:srgbClr val="081E3F"/>
          </a:solidFill>
          <a:ln>
            <a:noFill/>
          </a:ln>
          <a:effectLst/>
        </p:spPr>
        <p:txBody>
          <a:bodyPr rtlCol="0" anchor="ctr"/>
          <a:lstStyle/>
          <a:p>
            <a:pPr algn="ctr"/>
          </a:p>
        </p:txBody>
      </p:sp>
      <p:sp>
        <p:nvSpPr>
          <p:cNvPr id="21" name="TextBox 20"/>
          <p:cNvSpPr txBox="1"/>
          <p:nvPr/>
        </p:nvSpPr>
        <p:spPr>
          <a:xfrm>
            <a:off x="533400" y="3340455"/>
            <a:ext cx="1530096"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2 · PURPOSE STATEMENT</a:t>
            </a:r>
          </a:p>
        </p:txBody>
      </p:sp>
      <p:sp>
        <p:nvSpPr>
          <p:cNvPr id="22" name="TextBox 21"/>
          <p:cNvSpPr txBox="1"/>
          <p:nvPr/>
        </p:nvSpPr>
        <p:spPr>
          <a:xfrm>
            <a:off x="533400" y="3604514"/>
            <a:ext cx="25368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The purpose of this phenomenological study is to understand</a:t>
            </a:r>
          </a:p>
          <a:p>
            <a:pPr algn="l">
              <a:lnSpc>
                <a:spcPts val="1010"/>
              </a:lnSpc>
              <a:spcBef>
                <a:spcPts val="0"/>
              </a:spcBef>
              <a:spcAft>
                <a:spcPts val="0"/>
              </a:spcAft>
            </a:pPr>
            <a:r>
              <a:rPr sz="800" b="0" i="0">
                <a:solidFill>
                  <a:srgbClr val="14171C"/>
                </a:solidFill>
                <a:latin typeface="Times New Roman"/>
                <a:cs typeface="Times New Roman"/>
              </a:rPr>
              <a:t>how experienced auditors experience and make sense of</a:t>
            </a:r>
          </a:p>
          <a:p>
            <a:pPr algn="l">
              <a:lnSpc>
                <a:spcPts val="1010"/>
              </a:lnSpc>
              <a:spcBef>
                <a:spcPts val="0"/>
              </a:spcBef>
              <a:spcAft>
                <a:spcPts val="0"/>
              </a:spcAft>
            </a:pPr>
            <a:r>
              <a:rPr sz="800" b="0" i="0">
                <a:solidFill>
                  <a:srgbClr val="14171C"/>
                </a:solidFill>
                <a:latin typeface="Times New Roman"/>
                <a:cs typeface="Times New Roman"/>
              </a:rPr>
              <a:t>receiving an AI-generated conclusion that confirms a</a:t>
            </a:r>
          </a:p>
          <a:p>
            <a:pPr algn="l">
              <a:lnSpc>
                <a:spcPts val="1010"/>
              </a:lnSpc>
              <a:spcBef>
                <a:spcPts val="0"/>
              </a:spcBef>
              <a:spcAft>
                <a:spcPts val="0"/>
              </a:spcAft>
            </a:pPr>
            <a:r>
              <a:rPr sz="800" b="0" i="0">
                <a:solidFill>
                  <a:srgbClr val="14171C"/>
                </a:solidFill>
                <a:latin typeface="Times New Roman"/>
                <a:cs typeface="Times New Roman"/>
              </a:rPr>
              <a:t>judgment they had already formed.</a:t>
            </a:r>
          </a:p>
        </p:txBody>
      </p:sp>
      <p:sp>
        <p:nvSpPr>
          <p:cNvPr id="23" name="Rounded Rectangle 22"/>
          <p:cNvSpPr/>
          <p:nvPr/>
        </p:nvSpPr>
        <p:spPr>
          <a:xfrm>
            <a:off x="431800" y="3542029"/>
            <a:ext cx="2727325" cy="678179"/>
          </a:xfrm>
          <a:prstGeom prst="roundRect">
            <a:avLst>
              <a:gd name="adj" fmla="val 5617"/>
            </a:avLst>
          </a:prstGeom>
          <a:solidFill>
            <a:srgbClr val="E8EDF4"/>
          </a:solidFill>
          <a:ln>
            <a:noFill/>
          </a:ln>
          <a:effectLst/>
        </p:spPr>
        <p:txBody>
          <a:bodyPr rtlCol="0" anchor="ctr"/>
          <a:lstStyle/>
          <a:p>
            <a:pPr algn="ctr"/>
          </a:p>
        </p:txBody>
      </p:sp>
      <p:sp>
        <p:nvSpPr>
          <p:cNvPr id="24" name="TextBox 23"/>
          <p:cNvSpPr txBox="1"/>
          <p:nvPr/>
        </p:nvSpPr>
        <p:spPr>
          <a:xfrm>
            <a:off x="533400" y="3604514"/>
            <a:ext cx="25368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The purpose of this phenomenological study is to understand</a:t>
            </a:r>
          </a:p>
          <a:p>
            <a:pPr algn="l">
              <a:lnSpc>
                <a:spcPts val="1010"/>
              </a:lnSpc>
              <a:spcBef>
                <a:spcPts val="0"/>
              </a:spcBef>
              <a:spcAft>
                <a:spcPts val="0"/>
              </a:spcAft>
            </a:pPr>
            <a:r>
              <a:rPr sz="800" b="0" i="0">
                <a:solidFill>
                  <a:srgbClr val="14171C"/>
                </a:solidFill>
                <a:latin typeface="Times New Roman"/>
                <a:cs typeface="Times New Roman"/>
              </a:rPr>
              <a:t>how experienced auditors experience and make sense of</a:t>
            </a:r>
          </a:p>
          <a:p>
            <a:pPr algn="l">
              <a:lnSpc>
                <a:spcPts val="1010"/>
              </a:lnSpc>
              <a:spcBef>
                <a:spcPts val="0"/>
              </a:spcBef>
              <a:spcAft>
                <a:spcPts val="0"/>
              </a:spcAft>
            </a:pPr>
            <a:r>
              <a:rPr sz="800" b="0" i="0">
                <a:solidFill>
                  <a:srgbClr val="14171C"/>
                </a:solidFill>
                <a:latin typeface="Times New Roman"/>
                <a:cs typeface="Times New Roman"/>
              </a:rPr>
              <a:t>receiving an AI-generated conclusion that confirms a</a:t>
            </a:r>
          </a:p>
          <a:p>
            <a:pPr algn="l">
              <a:lnSpc>
                <a:spcPts val="1010"/>
              </a:lnSpc>
              <a:spcBef>
                <a:spcPts val="0"/>
              </a:spcBef>
              <a:spcAft>
                <a:spcPts val="0"/>
              </a:spcAft>
            </a:pPr>
            <a:r>
              <a:rPr sz="800" b="0" i="0">
                <a:solidFill>
                  <a:srgbClr val="14171C"/>
                </a:solidFill>
                <a:latin typeface="Times New Roman"/>
                <a:cs typeface="Times New Roman"/>
              </a:rPr>
              <a:t>judgment they had already formed.</a:t>
            </a:r>
          </a:p>
        </p:txBody>
      </p:sp>
      <p:sp>
        <p:nvSpPr>
          <p:cNvPr id="25" name="Rounded Rectangle 24"/>
          <p:cNvSpPr/>
          <p:nvPr/>
        </p:nvSpPr>
        <p:spPr>
          <a:xfrm>
            <a:off x="3298825"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26" name="TextBox 25"/>
          <p:cNvSpPr txBox="1"/>
          <p:nvPr/>
        </p:nvSpPr>
        <p:spPr>
          <a:xfrm>
            <a:off x="3400425" y="1766925"/>
            <a:ext cx="2090928"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3 · PHILOSOPHICAL ASSUMPTIONS</a:t>
            </a:r>
          </a:p>
        </p:txBody>
      </p:sp>
      <p:sp>
        <p:nvSpPr>
          <p:cNvPr id="27" name="TextBox 26"/>
          <p:cNvSpPr txBox="1"/>
          <p:nvPr/>
        </p:nvSpPr>
        <p:spPr>
          <a:xfrm>
            <a:off x="3298825" y="1943735"/>
            <a:ext cx="2551430" cy="142875"/>
          </a:xfrm>
          <a:prstGeom prst="rect">
            <a:avLst/>
          </a:prstGeom>
          <a:noFill/>
        </p:spPr>
        <p:txBody>
          <a:bodyPr wrap="none" lIns="0" rIns="0" tIns="0" bIns="0"/>
          <a:lstStyle/>
          <a:p>
            <a:pPr algn="l">
              <a:lnSpc>
                <a:spcPct val="100000"/>
              </a:lnSpc>
              <a:spcBef>
                <a:spcPts val="0"/>
              </a:spcBef>
              <a:spcAft>
                <a:spcPts val="0"/>
              </a:spcAft>
            </a:pPr>
            <a:r>
              <a:rPr sz="750" b="1" i="0" spc="110">
                <a:solidFill>
                  <a:srgbClr val="1C6B63"/>
                </a:solidFill>
                <a:latin typeface="Consolas"/>
                <a:cs typeface="Consolas"/>
              </a:rPr>
              <a:t>SOCIAL CONSTRUCTIVIST  ·  INDUCTIVE</a:t>
            </a:r>
          </a:p>
        </p:txBody>
      </p:sp>
      <p:sp>
        <p:nvSpPr>
          <p:cNvPr id="28" name="TextBox 27"/>
          <p:cNvSpPr txBox="1"/>
          <p:nvPr/>
        </p:nvSpPr>
        <p:spPr>
          <a:xfrm>
            <a:off x="3298825" y="2110486"/>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ONTOLOGICAL</a:t>
            </a:r>
          </a:p>
        </p:txBody>
      </p:sp>
      <p:sp>
        <p:nvSpPr>
          <p:cNvPr id="29" name="TextBox 28"/>
          <p:cNvSpPr txBox="1"/>
          <p:nvPr/>
        </p:nvSpPr>
        <p:spPr>
          <a:xfrm>
            <a:off x="3298825" y="2221814"/>
            <a:ext cx="27400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Multiple realities. Auditors' accounts of the experience are the data,</a:t>
            </a:r>
          </a:p>
          <a:p>
            <a:pPr algn="l">
              <a:lnSpc>
                <a:spcPts val="990"/>
              </a:lnSpc>
              <a:spcBef>
                <a:spcPts val="0"/>
              </a:spcBef>
              <a:spcAft>
                <a:spcPts val="0"/>
              </a:spcAft>
            </a:pPr>
            <a:r>
              <a:rPr sz="790" b="0" i="0">
                <a:solidFill>
                  <a:srgbClr val="3A4048"/>
                </a:solidFill>
                <a:latin typeface="Times New Roman"/>
                <a:cs typeface="Times New Roman"/>
              </a:rPr>
              <a:t>not a proxy for one correct account.</a:t>
            </a:r>
          </a:p>
        </p:txBody>
      </p:sp>
      <p:sp>
        <p:nvSpPr>
          <p:cNvPr id="30" name="TextBox 29"/>
          <p:cNvSpPr txBox="1"/>
          <p:nvPr/>
        </p:nvSpPr>
        <p:spPr>
          <a:xfrm>
            <a:off x="3298825" y="2527046"/>
            <a:ext cx="104902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EPISTEMOLOGICAL</a:t>
            </a:r>
          </a:p>
        </p:txBody>
      </p:sp>
      <p:sp>
        <p:nvSpPr>
          <p:cNvPr id="31" name="TextBox 30"/>
          <p:cNvSpPr txBox="1"/>
          <p:nvPr/>
        </p:nvSpPr>
        <p:spPr>
          <a:xfrm>
            <a:off x="3298825" y="2638374"/>
            <a:ext cx="27400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Knowledge comes from first-person accounts in semi-structured</a:t>
            </a:r>
          </a:p>
          <a:p>
            <a:pPr algn="l">
              <a:lnSpc>
                <a:spcPts val="990"/>
              </a:lnSpc>
              <a:spcBef>
                <a:spcPts val="0"/>
              </a:spcBef>
              <a:spcAft>
                <a:spcPts val="0"/>
              </a:spcAft>
            </a:pPr>
            <a:r>
              <a:rPr sz="790" b="0" i="0">
                <a:solidFill>
                  <a:srgbClr val="3A4048"/>
                </a:solidFill>
                <a:latin typeface="Times New Roman"/>
                <a:cs typeface="Times New Roman"/>
              </a:rPr>
              <a:t>interviews.</a:t>
            </a:r>
          </a:p>
        </p:txBody>
      </p:sp>
      <p:sp>
        <p:nvSpPr>
          <p:cNvPr id="32" name="TextBox 31"/>
          <p:cNvSpPr txBox="1"/>
          <p:nvPr/>
        </p:nvSpPr>
        <p:spPr>
          <a:xfrm>
            <a:off x="3298825" y="2943606"/>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AXIOLOGICAL</a:t>
            </a:r>
          </a:p>
        </p:txBody>
      </p:sp>
      <p:sp>
        <p:nvSpPr>
          <p:cNvPr id="33" name="TextBox 32"/>
          <p:cNvSpPr txBox="1"/>
          <p:nvPr/>
        </p:nvSpPr>
        <p:spPr>
          <a:xfrm>
            <a:off x="3298825" y="3054934"/>
            <a:ext cx="2740025" cy="43738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The researcher is a career auditor who built an AI review tool:</a:t>
            </a:r>
          </a:p>
          <a:p>
            <a:pPr algn="l">
              <a:lnSpc>
                <a:spcPts val="990"/>
              </a:lnSpc>
              <a:spcBef>
                <a:spcPts val="0"/>
              </a:spcBef>
              <a:spcAft>
                <a:spcPts val="0"/>
              </a:spcAft>
            </a:pPr>
            <a:r>
              <a:rPr sz="790" b="0" i="0">
                <a:solidFill>
                  <a:srgbClr val="3A4048"/>
                </a:solidFill>
                <a:latin typeface="Times New Roman"/>
                <a:cs typeface="Times New Roman"/>
              </a:rPr>
              <a:t>insider access and insider bias, managed through reflexive memos</a:t>
            </a:r>
          </a:p>
          <a:p>
            <a:pPr algn="l">
              <a:lnSpc>
                <a:spcPts val="990"/>
              </a:lnSpc>
              <a:spcBef>
                <a:spcPts val="0"/>
              </a:spcBef>
              <a:spcAft>
                <a:spcPts val="0"/>
              </a:spcAft>
            </a:pPr>
            <a:r>
              <a:rPr sz="790" b="0" i="0">
                <a:solidFill>
                  <a:srgbClr val="3A4048"/>
                </a:solidFill>
                <a:latin typeface="Times New Roman"/>
                <a:cs typeface="Times New Roman"/>
              </a:rPr>
              <a:t>and a confirmation hazard log.</a:t>
            </a:r>
          </a:p>
        </p:txBody>
      </p:sp>
      <p:sp>
        <p:nvSpPr>
          <p:cNvPr id="34" name="TextBox 33"/>
          <p:cNvSpPr txBox="1"/>
          <p:nvPr/>
        </p:nvSpPr>
        <p:spPr>
          <a:xfrm>
            <a:off x="3298825" y="3485896"/>
            <a:ext cx="98298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METHODOLOGICAL</a:t>
            </a:r>
          </a:p>
        </p:txBody>
      </p:sp>
      <p:sp>
        <p:nvSpPr>
          <p:cNvPr id="35" name="TextBox 34"/>
          <p:cNvSpPr txBox="1"/>
          <p:nvPr/>
        </p:nvSpPr>
        <p:spPr>
          <a:xfrm>
            <a:off x="3298825" y="3597224"/>
            <a:ext cx="2740025" cy="18592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Inductive phenomenology across individuals at different firms.</a:t>
            </a:r>
          </a:p>
        </p:txBody>
      </p:sp>
      <p:sp>
        <p:nvSpPr>
          <p:cNvPr id="36" name="Rounded Rectangle 35"/>
          <p:cNvSpPr/>
          <p:nvPr/>
        </p:nvSpPr>
        <p:spPr>
          <a:xfrm>
            <a:off x="3298825" y="3812540"/>
            <a:ext cx="2727325" cy="177800"/>
          </a:xfrm>
          <a:prstGeom prst="roundRect">
            <a:avLst>
              <a:gd name="adj" fmla="val 14285"/>
            </a:avLst>
          </a:prstGeom>
          <a:solidFill>
            <a:srgbClr val="081E3F"/>
          </a:solidFill>
          <a:ln>
            <a:noFill/>
          </a:ln>
          <a:effectLst/>
        </p:spPr>
        <p:txBody>
          <a:bodyPr rtlCol="0" anchor="ctr"/>
          <a:lstStyle/>
          <a:p>
            <a:pPr algn="ctr"/>
          </a:p>
        </p:txBody>
      </p:sp>
      <p:sp>
        <p:nvSpPr>
          <p:cNvPr id="37" name="TextBox 36"/>
          <p:cNvSpPr txBox="1"/>
          <p:nvPr/>
        </p:nvSpPr>
        <p:spPr>
          <a:xfrm>
            <a:off x="3400425" y="382686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4 · METHODOLOGY: APPROACH</a:t>
            </a:r>
          </a:p>
        </p:txBody>
      </p:sp>
      <p:sp>
        <p:nvSpPr>
          <p:cNvPr id="38" name="TextBox 37"/>
          <p:cNvSpPr txBox="1"/>
          <p:nvPr/>
        </p:nvSpPr>
        <p:spPr>
          <a:xfrm>
            <a:off x="3298825" y="4027424"/>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Phenomenology (Creswell &amp; Poth, 2024). The question asks about</a:t>
            </a:r>
          </a:p>
          <a:p>
            <a:pPr algn="l">
              <a:lnSpc>
                <a:spcPts val="1010"/>
              </a:lnSpc>
              <a:spcBef>
                <a:spcPts val="0"/>
              </a:spcBef>
              <a:spcAft>
                <a:spcPts val="0"/>
              </a:spcAft>
            </a:pPr>
            <a:r>
              <a:rPr sz="800" b="0" i="0">
                <a:solidFill>
                  <a:srgbClr val="14171C"/>
                </a:solidFill>
                <a:latin typeface="Times New Roman"/>
                <a:cs typeface="Times New Roman"/>
              </a:rPr>
              <a:t>experience and meaning making across individuals, which is what</a:t>
            </a:r>
          </a:p>
          <a:p>
            <a:pPr algn="l">
              <a:lnSpc>
                <a:spcPts val="1010"/>
              </a:lnSpc>
              <a:spcBef>
                <a:spcPts val="0"/>
              </a:spcBef>
              <a:spcAft>
                <a:spcPts val="0"/>
              </a:spcAft>
            </a:pPr>
            <a:r>
              <a:rPr sz="800" b="0" i="0">
                <a:solidFill>
                  <a:srgbClr val="14171C"/>
                </a:solidFill>
                <a:latin typeface="Times New Roman"/>
                <a:cs typeface="Times New Roman"/>
              </a:rPr>
              <a:t>phenomenology is for.</a:t>
            </a:r>
          </a:p>
        </p:txBody>
      </p:sp>
      <p:sp>
        <p:nvSpPr>
          <p:cNvPr id="39" name="Rounded Rectangle 38"/>
          <p:cNvSpPr/>
          <p:nvPr/>
        </p:nvSpPr>
        <p:spPr>
          <a:xfrm>
            <a:off x="3311525" y="4527550"/>
            <a:ext cx="40640" cy="40640"/>
          </a:xfrm>
          <a:prstGeom prst="roundRect">
            <a:avLst>
              <a:gd name="adj" fmla="val 50000"/>
            </a:avLst>
          </a:prstGeom>
          <a:solidFill>
            <a:srgbClr val="8C3A1B"/>
          </a:solidFill>
          <a:ln>
            <a:noFill/>
          </a:ln>
          <a:effectLst/>
        </p:spPr>
        <p:txBody>
          <a:bodyPr rtlCol="0" anchor="ctr"/>
          <a:lstStyle/>
          <a:p>
            <a:pPr algn="ctr"/>
          </a:p>
        </p:txBody>
      </p:sp>
      <p:sp>
        <p:nvSpPr>
          <p:cNvPr id="40" name="TextBox 39"/>
          <p:cNvSpPr txBox="1"/>
          <p:nvPr/>
        </p:nvSpPr>
        <p:spPr>
          <a:xfrm>
            <a:off x="3413125" y="446303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Not case study: the phenomenon crosses firms, with no</a:t>
            </a:r>
          </a:p>
          <a:p>
            <a:pPr algn="l">
              <a:lnSpc>
                <a:spcPts val="1010"/>
              </a:lnSpc>
              <a:spcBef>
                <a:spcPts val="0"/>
              </a:spcBef>
              <a:spcAft>
                <a:spcPts val="0"/>
              </a:spcAft>
            </a:pPr>
            <a:r>
              <a:rPr sz="800" b="0" i="0">
                <a:solidFill>
                  <a:srgbClr val="3A4048"/>
                </a:solidFill>
                <a:latin typeface="Times New Roman"/>
                <a:cs typeface="Times New Roman"/>
              </a:rPr>
              <a:t>bounded site</a:t>
            </a:r>
          </a:p>
        </p:txBody>
      </p:sp>
      <p:sp>
        <p:nvSpPr>
          <p:cNvPr id="41" name="Rounded Rectangle 40"/>
          <p:cNvSpPr/>
          <p:nvPr/>
        </p:nvSpPr>
        <p:spPr>
          <a:xfrm>
            <a:off x="3311525" y="4822190"/>
            <a:ext cx="40640" cy="40640"/>
          </a:xfrm>
          <a:prstGeom prst="roundRect">
            <a:avLst>
              <a:gd name="adj" fmla="val 50000"/>
            </a:avLst>
          </a:prstGeom>
          <a:solidFill>
            <a:srgbClr val="8C3A1B"/>
          </a:solidFill>
          <a:ln>
            <a:noFill/>
          </a:ln>
          <a:effectLst/>
        </p:spPr>
        <p:txBody>
          <a:bodyPr rtlCol="0" anchor="ctr"/>
          <a:lstStyle/>
          <a:p>
            <a:pPr algn="ctr"/>
          </a:p>
        </p:txBody>
      </p:sp>
      <p:sp>
        <p:nvSpPr>
          <p:cNvPr id="42" name="TextBox 41"/>
          <p:cNvSpPr txBox="1"/>
          <p:nvPr/>
        </p:nvSpPr>
        <p:spPr>
          <a:xfrm>
            <a:off x="3413125" y="475767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Not grounded theory: the question is about experience, not</a:t>
            </a:r>
          </a:p>
          <a:p>
            <a:pPr algn="l">
              <a:lnSpc>
                <a:spcPts val="1010"/>
              </a:lnSpc>
              <a:spcBef>
                <a:spcPts val="0"/>
              </a:spcBef>
              <a:spcAft>
                <a:spcPts val="0"/>
              </a:spcAft>
            </a:pPr>
            <a:r>
              <a:rPr sz="800" b="0" i="0">
                <a:solidFill>
                  <a:srgbClr val="3A4048"/>
                </a:solidFill>
                <a:latin typeface="Times New Roman"/>
                <a:cs typeface="Times New Roman"/>
              </a:rPr>
              <a:t>process</a:t>
            </a:r>
          </a:p>
        </p:txBody>
      </p:sp>
      <p:sp>
        <p:nvSpPr>
          <p:cNvPr id="43" name="Rounded Rectangle 42"/>
          <p:cNvSpPr/>
          <p:nvPr/>
        </p:nvSpPr>
        <p:spPr>
          <a:xfrm>
            <a:off x="6165850"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44" name="TextBox 43"/>
          <p:cNvSpPr txBox="1"/>
          <p:nvPr/>
        </p:nvSpPr>
        <p:spPr>
          <a:xfrm>
            <a:off x="6267450" y="1766925"/>
            <a:ext cx="2301240"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5 · METHODOLOGY: DATA COLLECTION</a:t>
            </a:r>
          </a:p>
        </p:txBody>
      </p:sp>
      <p:sp>
        <p:nvSpPr>
          <p:cNvPr id="45" name="TextBox 44"/>
          <p:cNvSpPr txBox="1"/>
          <p:nvPr/>
        </p:nvSpPr>
        <p:spPr>
          <a:xfrm>
            <a:off x="6165850" y="1944725"/>
            <a:ext cx="2019808" cy="137160"/>
          </a:xfrm>
          <a:prstGeom prst="rect">
            <a:avLst/>
          </a:prstGeom>
          <a:noFill/>
        </p:spPr>
        <p:txBody>
          <a:bodyPr wrap="none" lIns="0" rIns="0" tIns="0" bIns="0"/>
          <a:lstStyle/>
          <a:p>
            <a:pPr algn="l">
              <a:lnSpc>
                <a:spcPct val="100000"/>
              </a:lnSpc>
              <a:spcBef>
                <a:spcPts val="0"/>
              </a:spcBef>
              <a:spcAft>
                <a:spcPts val="0"/>
              </a:spcAft>
            </a:pPr>
            <a:r>
              <a:rPr sz="720" b="1" i="0" spc="100">
                <a:solidFill>
                  <a:srgbClr val="8C3A1B"/>
                </a:solidFill>
                <a:latin typeface="Consolas"/>
                <a:cs typeface="Consolas"/>
              </a:rPr>
              <a:t>ELIGIBILITY IS THE PHENOMENON</a:t>
            </a:r>
          </a:p>
        </p:txBody>
      </p:sp>
      <p:sp>
        <p:nvSpPr>
          <p:cNvPr id="46" name="TextBox 45"/>
          <p:cNvSpPr txBox="1"/>
          <p:nvPr/>
        </p:nvSpPr>
        <p:spPr>
          <a:xfrm>
            <a:off x="6165850" y="2094483"/>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Participants can recall a specific time AI output agreed with a</a:t>
            </a:r>
          </a:p>
          <a:p>
            <a:pPr algn="l">
              <a:lnSpc>
                <a:spcPts val="1010"/>
              </a:lnSpc>
              <a:spcBef>
                <a:spcPts val="0"/>
              </a:spcBef>
              <a:spcAft>
                <a:spcPts val="0"/>
              </a:spcAft>
            </a:pPr>
            <a:r>
              <a:rPr sz="800" b="0" i="0">
                <a:solidFill>
                  <a:srgbClr val="14171C"/>
                </a:solidFill>
                <a:latin typeface="Times New Roman"/>
                <a:cs typeface="Times New Roman"/>
              </a:rPr>
              <a:t>judgment they had already formed. They do not need to have</a:t>
            </a:r>
          </a:p>
          <a:p>
            <a:pPr algn="l">
              <a:lnSpc>
                <a:spcPts val="1010"/>
              </a:lnSpc>
              <a:spcBef>
                <a:spcPts val="0"/>
              </a:spcBef>
              <a:spcAft>
                <a:spcPts val="0"/>
              </a:spcAft>
            </a:pPr>
            <a:r>
              <a:rPr sz="800" b="0" i="0">
                <a:solidFill>
                  <a:srgbClr val="14171C"/>
                </a:solidFill>
                <a:latin typeface="Times New Roman"/>
                <a:cs typeface="Times New Roman"/>
              </a:rPr>
              <a:t>interpreted it in any particular way.</a:t>
            </a:r>
          </a:p>
        </p:txBody>
      </p:sp>
      <p:sp>
        <p:nvSpPr>
          <p:cNvPr id="47" name="Rounded Rectangle 46"/>
          <p:cNvSpPr/>
          <p:nvPr/>
        </p:nvSpPr>
        <p:spPr>
          <a:xfrm>
            <a:off x="6178550" y="2594610"/>
            <a:ext cx="40640" cy="40640"/>
          </a:xfrm>
          <a:prstGeom prst="roundRect">
            <a:avLst>
              <a:gd name="adj" fmla="val 50000"/>
            </a:avLst>
          </a:prstGeom>
          <a:solidFill>
            <a:srgbClr val="1C6B63"/>
          </a:solidFill>
          <a:ln>
            <a:noFill/>
          </a:ln>
          <a:effectLst/>
        </p:spPr>
        <p:txBody>
          <a:bodyPr rtlCol="0" anchor="ctr"/>
          <a:lstStyle/>
          <a:p>
            <a:pPr algn="ctr"/>
          </a:p>
        </p:txBody>
      </p:sp>
      <p:sp>
        <p:nvSpPr>
          <p:cNvPr id="48" name="TextBox 47"/>
          <p:cNvSpPr txBox="1"/>
          <p:nvPr/>
        </p:nvSpPr>
        <p:spPr>
          <a:xfrm>
            <a:off x="6280150" y="253009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Five or more years in audit or risk assurance, recurring</a:t>
            </a:r>
          </a:p>
          <a:p>
            <a:pPr algn="l">
              <a:lnSpc>
                <a:spcPts val="1010"/>
              </a:lnSpc>
              <a:spcBef>
                <a:spcPts val="0"/>
              </a:spcBef>
              <a:spcAft>
                <a:spcPts val="0"/>
              </a:spcAft>
            </a:pPr>
            <a:r>
              <a:rPr sz="800" b="0" i="0">
                <a:solidFill>
                  <a:srgbClr val="3A4048"/>
                </a:solidFill>
                <a:latin typeface="Times New Roman"/>
                <a:cs typeface="Times New Roman"/>
              </a:rPr>
              <a:t>engagements</a:t>
            </a:r>
          </a:p>
        </p:txBody>
      </p:sp>
      <p:sp>
        <p:nvSpPr>
          <p:cNvPr id="49" name="Rounded Rectangle 48"/>
          <p:cNvSpPr/>
          <p:nvPr/>
        </p:nvSpPr>
        <p:spPr>
          <a:xfrm>
            <a:off x="6178550" y="2889250"/>
            <a:ext cx="40640" cy="40640"/>
          </a:xfrm>
          <a:prstGeom prst="roundRect">
            <a:avLst>
              <a:gd name="adj" fmla="val 50000"/>
            </a:avLst>
          </a:prstGeom>
          <a:solidFill>
            <a:srgbClr val="1C6B63"/>
          </a:solidFill>
          <a:ln>
            <a:noFill/>
          </a:ln>
          <a:effectLst/>
        </p:spPr>
        <p:txBody>
          <a:bodyPr rtlCol="0" anchor="ctr"/>
          <a:lstStyle/>
          <a:p>
            <a:pPr algn="ctr"/>
          </a:p>
        </p:txBody>
      </p:sp>
      <p:sp>
        <p:nvSpPr>
          <p:cNvPr id="50" name="TextBox 49"/>
          <p:cNvSpPr txBox="1"/>
          <p:nvPr/>
        </p:nvSpPr>
        <p:spPr>
          <a:xfrm>
            <a:off x="6280150" y="282473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Criterion sampling plus referrals, all screened the same way; a</a:t>
            </a:r>
          </a:p>
          <a:p>
            <a:pPr algn="l">
              <a:lnSpc>
                <a:spcPts val="1010"/>
              </a:lnSpc>
              <a:spcBef>
                <a:spcPts val="0"/>
              </a:spcBef>
              <a:spcAft>
                <a:spcPts val="0"/>
              </a:spcAft>
            </a:pPr>
            <a:r>
              <a:rPr sz="800" b="0" i="0">
                <a:solidFill>
                  <a:srgbClr val="3A4048"/>
                </a:solidFill>
                <a:latin typeface="Times New Roman"/>
                <a:cs typeface="Times New Roman"/>
              </a:rPr>
              <a:t>short screening question tested first</a:t>
            </a:r>
          </a:p>
        </p:txBody>
      </p:sp>
      <p:sp>
        <p:nvSpPr>
          <p:cNvPr id="51" name="Rounded Rectangle 50"/>
          <p:cNvSpPr/>
          <p:nvPr/>
        </p:nvSpPr>
        <p:spPr>
          <a:xfrm>
            <a:off x="6178550" y="3183890"/>
            <a:ext cx="40640" cy="40640"/>
          </a:xfrm>
          <a:prstGeom prst="roundRect">
            <a:avLst>
              <a:gd name="adj" fmla="val 50000"/>
            </a:avLst>
          </a:prstGeom>
          <a:solidFill>
            <a:srgbClr val="1C6B63"/>
          </a:solidFill>
          <a:ln>
            <a:noFill/>
          </a:ln>
          <a:effectLst/>
        </p:spPr>
        <p:txBody>
          <a:bodyPr rtlCol="0" anchor="ctr"/>
          <a:lstStyle/>
          <a:p>
            <a:pPr algn="ctr"/>
          </a:p>
        </p:txBody>
      </p:sp>
      <p:sp>
        <p:nvSpPr>
          <p:cNvPr id="52" name="TextBox 51"/>
          <p:cNvSpPr txBox="1"/>
          <p:nvPr/>
        </p:nvSpPr>
        <p:spPr>
          <a:xfrm>
            <a:off x="6280150" y="311937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About 10 to 15, guided by the depth and richness of accounts</a:t>
            </a:r>
          </a:p>
        </p:txBody>
      </p:sp>
      <p:sp>
        <p:nvSpPr>
          <p:cNvPr id="53" name="Rounded Rectangle 52"/>
          <p:cNvSpPr/>
          <p:nvPr/>
        </p:nvSpPr>
        <p:spPr>
          <a:xfrm>
            <a:off x="6178550" y="3350260"/>
            <a:ext cx="40640" cy="40640"/>
          </a:xfrm>
          <a:prstGeom prst="roundRect">
            <a:avLst>
              <a:gd name="adj" fmla="val 50000"/>
            </a:avLst>
          </a:prstGeom>
          <a:solidFill>
            <a:srgbClr val="1C6B63"/>
          </a:solidFill>
          <a:ln>
            <a:noFill/>
          </a:ln>
          <a:effectLst/>
        </p:spPr>
        <p:txBody>
          <a:bodyPr rtlCol="0" anchor="ctr"/>
          <a:lstStyle/>
          <a:p>
            <a:pPr algn="ctr"/>
          </a:p>
        </p:txBody>
      </p:sp>
      <p:sp>
        <p:nvSpPr>
          <p:cNvPr id="54" name="TextBox 53"/>
          <p:cNvSpPr txBox="1"/>
          <p:nvPr/>
        </p:nvSpPr>
        <p:spPr>
          <a:xfrm>
            <a:off x="6280150" y="3285744"/>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Semi-structured, recorded interviews; protocol piloted first</a:t>
            </a:r>
          </a:p>
        </p:txBody>
      </p:sp>
      <p:sp>
        <p:nvSpPr>
          <p:cNvPr id="55" name="Rounded Rectangle 54"/>
          <p:cNvSpPr/>
          <p:nvPr/>
        </p:nvSpPr>
        <p:spPr>
          <a:xfrm>
            <a:off x="6165850" y="3503930"/>
            <a:ext cx="2727325" cy="177800"/>
          </a:xfrm>
          <a:prstGeom prst="roundRect">
            <a:avLst>
              <a:gd name="adj" fmla="val 14285"/>
            </a:avLst>
          </a:prstGeom>
          <a:solidFill>
            <a:srgbClr val="081E3F"/>
          </a:solidFill>
          <a:ln>
            <a:noFill/>
          </a:ln>
          <a:effectLst/>
        </p:spPr>
        <p:txBody>
          <a:bodyPr rtlCol="0" anchor="ctr"/>
          <a:lstStyle/>
          <a:p>
            <a:pPr algn="ctr"/>
          </a:p>
        </p:txBody>
      </p:sp>
      <p:sp>
        <p:nvSpPr>
          <p:cNvPr id="56" name="TextBox 55"/>
          <p:cNvSpPr txBox="1"/>
          <p:nvPr/>
        </p:nvSpPr>
        <p:spPr>
          <a:xfrm>
            <a:off x="6267450" y="3518255"/>
            <a:ext cx="2161031"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6 · METHODOLOGY: DATA ANALYSIS</a:t>
            </a:r>
          </a:p>
        </p:txBody>
      </p:sp>
      <p:sp>
        <p:nvSpPr>
          <p:cNvPr id="57" name="TextBox 56"/>
          <p:cNvSpPr txBox="1"/>
          <p:nvPr/>
        </p:nvSpPr>
        <p:spPr>
          <a:xfrm>
            <a:off x="6165850" y="3696716"/>
            <a:ext cx="1678939" cy="133350"/>
          </a:xfrm>
          <a:prstGeom prst="rect">
            <a:avLst/>
          </a:prstGeom>
          <a:noFill/>
        </p:spPr>
        <p:txBody>
          <a:bodyPr wrap="none" lIns="0" rIns="0" tIns="0" bIns="0"/>
          <a:lstStyle/>
          <a:p>
            <a:pPr algn="l">
              <a:lnSpc>
                <a:spcPct val="100000"/>
              </a:lnSpc>
              <a:spcBef>
                <a:spcPts val="0"/>
              </a:spcBef>
              <a:spcAft>
                <a:spcPts val="0"/>
              </a:spcAft>
            </a:pPr>
            <a:r>
              <a:rPr sz="700" b="1" i="0" spc="90">
                <a:solidFill>
                  <a:srgbClr val="1C6B63"/>
                </a:solidFill>
                <a:latin typeface="Consolas"/>
                <a:cs typeface="Consolas"/>
              </a:rPr>
              <a:t>FIVE ACTIVITIES  ·  NVIVO</a:t>
            </a:r>
          </a:p>
        </p:txBody>
      </p:sp>
      <p:sp>
        <p:nvSpPr>
          <p:cNvPr id="58" name="TextBox 57"/>
          <p:cNvSpPr txBox="1"/>
          <p:nvPr/>
        </p:nvSpPr>
        <p:spPr>
          <a:xfrm>
            <a:off x="6191250" y="384581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1</a:t>
            </a:r>
          </a:p>
        </p:txBody>
      </p:sp>
      <p:sp>
        <p:nvSpPr>
          <p:cNvPr id="59" name="TextBox 58"/>
          <p:cNvSpPr txBox="1"/>
          <p:nvPr/>
        </p:nvSpPr>
        <p:spPr>
          <a:xfrm>
            <a:off x="6305550" y="384614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Managing and organising. NVivo, named file plan, secure</a:t>
            </a:r>
          </a:p>
          <a:p>
            <a:pPr algn="l">
              <a:lnSpc>
                <a:spcPts val="990"/>
              </a:lnSpc>
              <a:spcBef>
                <a:spcPts val="0"/>
              </a:spcBef>
              <a:spcAft>
                <a:spcPts val="0"/>
              </a:spcAft>
            </a:pPr>
            <a:r>
              <a:rPr sz="790" b="0" i="0">
                <a:solidFill>
                  <a:srgbClr val="3A4048"/>
                </a:solidFill>
                <a:latin typeface="Times New Roman"/>
                <a:cs typeface="Times New Roman"/>
              </a:rPr>
              <a:t>storage.</a:t>
            </a:r>
          </a:p>
        </p:txBody>
      </p:sp>
      <p:sp>
        <p:nvSpPr>
          <p:cNvPr id="60" name="TextBox 59"/>
          <p:cNvSpPr txBox="1"/>
          <p:nvPr/>
        </p:nvSpPr>
        <p:spPr>
          <a:xfrm>
            <a:off x="6191250" y="412267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2</a:t>
            </a:r>
          </a:p>
        </p:txBody>
      </p:sp>
      <p:sp>
        <p:nvSpPr>
          <p:cNvPr id="61" name="TextBox 60"/>
          <p:cNvSpPr txBox="1"/>
          <p:nvPr/>
        </p:nvSpPr>
        <p:spPr>
          <a:xfrm>
            <a:off x="6305550" y="412300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Reading and memoing. A dated reflexive journal, kept as</a:t>
            </a:r>
          </a:p>
          <a:p>
            <a:pPr algn="l">
              <a:lnSpc>
                <a:spcPts val="990"/>
              </a:lnSpc>
              <a:spcBef>
                <a:spcPts val="0"/>
              </a:spcBef>
              <a:spcAft>
                <a:spcPts val="0"/>
              </a:spcAft>
            </a:pPr>
            <a:r>
              <a:rPr sz="790" b="0" i="0">
                <a:solidFill>
                  <a:srgbClr val="3A4048"/>
                </a:solidFill>
                <a:latin typeface="Times New Roman"/>
                <a:cs typeface="Times New Roman"/>
              </a:rPr>
              <a:t>evidence.</a:t>
            </a:r>
          </a:p>
        </p:txBody>
      </p:sp>
      <p:sp>
        <p:nvSpPr>
          <p:cNvPr id="62" name="TextBox 61"/>
          <p:cNvSpPr txBox="1"/>
          <p:nvPr/>
        </p:nvSpPr>
        <p:spPr>
          <a:xfrm>
            <a:off x="6191250" y="439953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3</a:t>
            </a:r>
          </a:p>
        </p:txBody>
      </p:sp>
      <p:sp>
        <p:nvSpPr>
          <p:cNvPr id="63" name="TextBox 62"/>
          <p:cNvSpPr txBox="1"/>
          <p:nvPr/>
        </p:nvSpPr>
        <p:spPr>
          <a:xfrm>
            <a:off x="6305550" y="439986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Describing and classifying. Horizontalisation, meaning units,</a:t>
            </a:r>
          </a:p>
          <a:p>
            <a:pPr algn="l">
              <a:lnSpc>
                <a:spcPts val="990"/>
              </a:lnSpc>
              <a:spcBef>
                <a:spcPts val="0"/>
              </a:spcBef>
              <a:spcAft>
                <a:spcPts val="0"/>
              </a:spcAft>
            </a:pPr>
            <a:r>
              <a:rPr sz="790" b="0" i="0">
                <a:solidFill>
                  <a:srgbClr val="3A4048"/>
                </a:solidFill>
                <a:latin typeface="Times New Roman"/>
                <a:cs typeface="Times New Roman"/>
              </a:rPr>
              <a:t>clusters.</a:t>
            </a:r>
          </a:p>
        </p:txBody>
      </p:sp>
      <p:sp>
        <p:nvSpPr>
          <p:cNvPr id="64" name="TextBox 63"/>
          <p:cNvSpPr txBox="1"/>
          <p:nvPr/>
        </p:nvSpPr>
        <p:spPr>
          <a:xfrm>
            <a:off x="6191250" y="467639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4</a:t>
            </a:r>
          </a:p>
        </p:txBody>
      </p:sp>
      <p:sp>
        <p:nvSpPr>
          <p:cNvPr id="65" name="TextBox 64"/>
          <p:cNvSpPr txBox="1"/>
          <p:nvPr/>
        </p:nvSpPr>
        <p:spPr>
          <a:xfrm>
            <a:off x="6305550" y="467672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Developing interpretations. Textural and structural, then a</a:t>
            </a:r>
          </a:p>
          <a:p>
            <a:pPr algn="l">
              <a:lnSpc>
                <a:spcPts val="990"/>
              </a:lnSpc>
              <a:spcBef>
                <a:spcPts val="0"/>
              </a:spcBef>
              <a:spcAft>
                <a:spcPts val="0"/>
              </a:spcAft>
            </a:pPr>
            <a:r>
              <a:rPr sz="790" b="0" i="0">
                <a:solidFill>
                  <a:srgbClr val="3A4048"/>
                </a:solidFill>
                <a:latin typeface="Times New Roman"/>
                <a:cs typeface="Times New Roman"/>
              </a:rPr>
              <a:t>composite.</a:t>
            </a:r>
          </a:p>
        </p:txBody>
      </p:sp>
      <p:sp>
        <p:nvSpPr>
          <p:cNvPr id="66" name="TextBox 65"/>
          <p:cNvSpPr txBox="1"/>
          <p:nvPr/>
        </p:nvSpPr>
        <p:spPr>
          <a:xfrm>
            <a:off x="6191250" y="495325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5</a:t>
            </a:r>
          </a:p>
        </p:txBody>
      </p:sp>
      <p:sp>
        <p:nvSpPr>
          <p:cNvPr id="67" name="TextBox 66"/>
          <p:cNvSpPr txBox="1"/>
          <p:nvPr/>
        </p:nvSpPr>
        <p:spPr>
          <a:xfrm>
            <a:off x="6305550" y="4953584"/>
            <a:ext cx="2600325" cy="18592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Representing. A thematic map and a composite narrative.</a:t>
            </a:r>
          </a:p>
        </p:txBody>
      </p:sp>
      <p:sp>
        <p:nvSpPr>
          <p:cNvPr id="68" name="Rounded Rectangle 67"/>
          <p:cNvSpPr/>
          <p:nvPr/>
        </p:nvSpPr>
        <p:spPr>
          <a:xfrm>
            <a:off x="9032875"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69" name="TextBox 68"/>
          <p:cNvSpPr txBox="1"/>
          <p:nvPr/>
        </p:nvSpPr>
        <p:spPr>
          <a:xfrm>
            <a:off x="9134475" y="176692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7 · ETHICS AND VALIDATION</a:t>
            </a:r>
          </a:p>
        </p:txBody>
      </p:sp>
      <p:sp>
        <p:nvSpPr>
          <p:cNvPr id="70" name="Rounded Rectangle 69"/>
          <p:cNvSpPr/>
          <p:nvPr/>
        </p:nvSpPr>
        <p:spPr>
          <a:xfrm>
            <a:off x="9045575" y="2032000"/>
            <a:ext cx="40640" cy="40640"/>
          </a:xfrm>
          <a:prstGeom prst="roundRect">
            <a:avLst>
              <a:gd name="adj" fmla="val 50000"/>
            </a:avLst>
          </a:prstGeom>
          <a:solidFill>
            <a:srgbClr val="8C3A1B"/>
          </a:solidFill>
          <a:ln>
            <a:noFill/>
          </a:ln>
          <a:effectLst/>
        </p:spPr>
        <p:txBody>
          <a:bodyPr rtlCol="0" anchor="ctr"/>
          <a:lstStyle/>
          <a:p>
            <a:pPr algn="ctr"/>
          </a:p>
        </p:txBody>
      </p:sp>
      <p:sp>
        <p:nvSpPr>
          <p:cNvPr id="71" name="TextBox 70"/>
          <p:cNvSpPr txBox="1"/>
          <p:nvPr/>
        </p:nvSpPr>
        <p:spPr>
          <a:xfrm>
            <a:off x="9147175" y="196748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Informed consent and IRB determination before any contact;</a:t>
            </a:r>
          </a:p>
          <a:p>
            <a:pPr algn="l">
              <a:lnSpc>
                <a:spcPts val="1010"/>
              </a:lnSpc>
              <a:spcBef>
                <a:spcPts val="0"/>
              </a:spcBef>
              <a:spcAft>
                <a:spcPts val="0"/>
              </a:spcAft>
            </a:pPr>
            <a:r>
              <a:rPr sz="800" b="0" i="0">
                <a:solidFill>
                  <a:srgbClr val="3A4048"/>
                </a:solidFill>
                <a:latin typeface="Times New Roman"/>
                <a:cs typeface="Times New Roman"/>
              </a:rPr>
              <a:t>pseudonyms, no firm detail</a:t>
            </a:r>
          </a:p>
        </p:txBody>
      </p:sp>
      <p:sp>
        <p:nvSpPr>
          <p:cNvPr id="72" name="Rounded Rectangle 71"/>
          <p:cNvSpPr/>
          <p:nvPr/>
        </p:nvSpPr>
        <p:spPr>
          <a:xfrm>
            <a:off x="9045575" y="2326640"/>
            <a:ext cx="40640" cy="40640"/>
          </a:xfrm>
          <a:prstGeom prst="roundRect">
            <a:avLst>
              <a:gd name="adj" fmla="val 50000"/>
            </a:avLst>
          </a:prstGeom>
          <a:solidFill>
            <a:srgbClr val="8C3A1B"/>
          </a:solidFill>
          <a:ln>
            <a:noFill/>
          </a:ln>
          <a:effectLst/>
        </p:spPr>
        <p:txBody>
          <a:bodyPr rtlCol="0" anchor="ctr"/>
          <a:lstStyle/>
          <a:p>
            <a:pPr algn="ctr"/>
          </a:p>
        </p:txBody>
      </p:sp>
      <p:sp>
        <p:nvSpPr>
          <p:cNvPr id="73" name="TextBox 72"/>
          <p:cNvSpPr txBox="1"/>
          <p:nvPr/>
        </p:nvSpPr>
        <p:spPr>
          <a:xfrm>
            <a:off x="9147175" y="226212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Member checking of each participant's own textural description</a:t>
            </a:r>
          </a:p>
        </p:txBody>
      </p:sp>
      <p:sp>
        <p:nvSpPr>
          <p:cNvPr id="74" name="Rounded Rectangle 73"/>
          <p:cNvSpPr/>
          <p:nvPr/>
        </p:nvSpPr>
        <p:spPr>
          <a:xfrm>
            <a:off x="9045575" y="2493010"/>
            <a:ext cx="40640" cy="40640"/>
          </a:xfrm>
          <a:prstGeom prst="roundRect">
            <a:avLst>
              <a:gd name="adj" fmla="val 50000"/>
            </a:avLst>
          </a:prstGeom>
          <a:solidFill>
            <a:srgbClr val="8C3A1B"/>
          </a:solidFill>
          <a:ln>
            <a:noFill/>
          </a:ln>
          <a:effectLst/>
        </p:spPr>
        <p:txBody>
          <a:bodyPr rtlCol="0" anchor="ctr"/>
          <a:lstStyle/>
          <a:p>
            <a:pPr algn="ctr"/>
          </a:p>
        </p:txBody>
      </p:sp>
      <p:sp>
        <p:nvSpPr>
          <p:cNvPr id="75" name="TextBox 74"/>
          <p:cNvSpPr txBox="1"/>
          <p:nvPr/>
        </p:nvSpPr>
        <p:spPr>
          <a:xfrm>
            <a:off x="9147175" y="242849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External reviewer reads purposefully chosen transcripts,</a:t>
            </a:r>
          </a:p>
          <a:p>
            <a:pPr algn="l">
              <a:lnSpc>
                <a:spcPts val="1010"/>
              </a:lnSpc>
              <a:spcBef>
                <a:spcPts val="0"/>
              </a:spcBef>
              <a:spcAft>
                <a:spcPts val="0"/>
              </a:spcAft>
            </a:pPr>
            <a:r>
              <a:rPr sz="800" b="0" i="0">
                <a:solidFill>
                  <a:srgbClr val="3A4048"/>
                </a:solidFill>
                <a:latin typeface="Times New Roman"/>
                <a:cs typeface="Times New Roman"/>
              </a:rPr>
              <a:t>including a disconfirming one, with the analytic memos</a:t>
            </a:r>
          </a:p>
        </p:txBody>
      </p:sp>
      <p:sp>
        <p:nvSpPr>
          <p:cNvPr id="76" name="Rounded Rectangle 75"/>
          <p:cNvSpPr/>
          <p:nvPr/>
        </p:nvSpPr>
        <p:spPr>
          <a:xfrm>
            <a:off x="9045575" y="2787649"/>
            <a:ext cx="40640" cy="40640"/>
          </a:xfrm>
          <a:prstGeom prst="roundRect">
            <a:avLst>
              <a:gd name="adj" fmla="val 50000"/>
            </a:avLst>
          </a:prstGeom>
          <a:solidFill>
            <a:srgbClr val="8C3A1B"/>
          </a:solidFill>
          <a:ln>
            <a:noFill/>
          </a:ln>
          <a:effectLst/>
        </p:spPr>
        <p:txBody>
          <a:bodyPr rtlCol="0" anchor="ctr"/>
          <a:lstStyle/>
          <a:p>
            <a:pPr algn="ctr"/>
          </a:p>
        </p:txBody>
      </p:sp>
      <p:sp>
        <p:nvSpPr>
          <p:cNvPr id="77" name="TextBox 76"/>
          <p:cNvSpPr txBox="1"/>
          <p:nvPr/>
        </p:nvSpPr>
        <p:spPr>
          <a:xfrm>
            <a:off x="9147175" y="272313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Confirmation hazard log entries tied to specific analytic</a:t>
            </a:r>
          </a:p>
          <a:p>
            <a:pPr algn="l">
              <a:lnSpc>
                <a:spcPts val="1010"/>
              </a:lnSpc>
              <a:spcBef>
                <a:spcPts val="0"/>
              </a:spcBef>
              <a:spcAft>
                <a:spcPts val="0"/>
              </a:spcAft>
            </a:pPr>
            <a:r>
              <a:rPr sz="800" b="0" i="0">
                <a:solidFill>
                  <a:srgbClr val="3A4048"/>
                </a:solidFill>
                <a:latin typeface="Times New Roman"/>
                <a:cs typeface="Times New Roman"/>
              </a:rPr>
              <a:t>decisions in the audit trail</a:t>
            </a:r>
          </a:p>
        </p:txBody>
      </p:sp>
      <p:sp>
        <p:nvSpPr>
          <p:cNvPr id="78" name="Rounded Rectangle 77"/>
          <p:cNvSpPr/>
          <p:nvPr/>
        </p:nvSpPr>
        <p:spPr>
          <a:xfrm>
            <a:off x="9032875" y="3069589"/>
            <a:ext cx="2727325" cy="177800"/>
          </a:xfrm>
          <a:prstGeom prst="roundRect">
            <a:avLst>
              <a:gd name="adj" fmla="val 14285"/>
            </a:avLst>
          </a:prstGeom>
          <a:solidFill>
            <a:srgbClr val="081E3F"/>
          </a:solidFill>
          <a:ln>
            <a:noFill/>
          </a:ln>
          <a:effectLst/>
        </p:spPr>
        <p:txBody>
          <a:bodyPr rtlCol="0" anchor="ctr"/>
          <a:lstStyle/>
          <a:p>
            <a:pPr algn="ctr"/>
          </a:p>
        </p:txBody>
      </p:sp>
      <p:sp>
        <p:nvSpPr>
          <p:cNvPr id="79" name="TextBox 78"/>
          <p:cNvSpPr txBox="1"/>
          <p:nvPr/>
        </p:nvSpPr>
        <p:spPr>
          <a:xfrm>
            <a:off x="9134475" y="308391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8 · DESIRED CONTRIBUTIONS</a:t>
            </a:r>
          </a:p>
        </p:txBody>
      </p:sp>
      <p:sp>
        <p:nvSpPr>
          <p:cNvPr id="80" name="TextBox 79"/>
          <p:cNvSpPr txBox="1"/>
          <p:nvPr/>
        </p:nvSpPr>
        <p:spPr>
          <a:xfrm>
            <a:off x="9032875" y="3262375"/>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TO PRACTICE</a:t>
            </a:r>
          </a:p>
        </p:txBody>
      </p:sp>
      <p:sp>
        <p:nvSpPr>
          <p:cNvPr id="81" name="TextBox 80"/>
          <p:cNvSpPr txBox="1"/>
          <p:nvPr/>
        </p:nvSpPr>
        <p:spPr>
          <a:xfrm>
            <a:off x="9032875" y="3398773"/>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Shows what human review of AI output is actually like, for firms</a:t>
            </a:r>
          </a:p>
          <a:p>
            <a:pPr algn="l">
              <a:lnSpc>
                <a:spcPts val="1010"/>
              </a:lnSpc>
              <a:spcBef>
                <a:spcPts val="0"/>
              </a:spcBef>
              <a:spcAft>
                <a:spcPts val="0"/>
              </a:spcAft>
            </a:pPr>
            <a:r>
              <a:rPr sz="800" b="0" i="0">
                <a:solidFill>
                  <a:srgbClr val="3A4048"/>
                </a:solidFill>
                <a:latin typeface="Times New Roman"/>
                <a:cs typeface="Times New Roman"/>
              </a:rPr>
              <a:t>and regulators relying on it.</a:t>
            </a:r>
          </a:p>
        </p:txBody>
      </p:sp>
      <p:sp>
        <p:nvSpPr>
          <p:cNvPr id="82" name="TextBox 81"/>
          <p:cNvSpPr txBox="1"/>
          <p:nvPr/>
        </p:nvSpPr>
        <p:spPr>
          <a:xfrm>
            <a:off x="9032875" y="3684015"/>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TO ACADEMIA</a:t>
            </a:r>
          </a:p>
        </p:txBody>
      </p:sp>
      <p:sp>
        <p:nvSpPr>
          <p:cNvPr id="83" name="TextBox 82"/>
          <p:cNvSpPr txBox="1"/>
          <p:nvPr/>
        </p:nvSpPr>
        <p:spPr>
          <a:xfrm>
            <a:off x="9032875" y="3820413"/>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Distinguishes the auditor's experience of agreement from measures</a:t>
            </a:r>
          </a:p>
          <a:p>
            <a:pPr algn="l">
              <a:lnSpc>
                <a:spcPts val="1010"/>
              </a:lnSpc>
              <a:spcBef>
                <a:spcPts val="0"/>
              </a:spcBef>
              <a:spcAft>
                <a:spcPts val="0"/>
              </a:spcAft>
            </a:pPr>
            <a:r>
              <a:rPr sz="800" b="0" i="0">
                <a:solidFill>
                  <a:srgbClr val="3A4048"/>
                </a:solidFill>
                <a:latin typeface="Times New Roman"/>
                <a:cs typeface="Times New Roman"/>
              </a:rPr>
              <a:t>of reliance.</a:t>
            </a:r>
          </a:p>
        </p:txBody>
      </p:sp>
      <p:sp>
        <p:nvSpPr>
          <p:cNvPr id="84" name="Rounded Rectangle 83"/>
          <p:cNvSpPr/>
          <p:nvPr/>
        </p:nvSpPr>
        <p:spPr>
          <a:xfrm>
            <a:off x="9032875" y="4154169"/>
            <a:ext cx="2727325" cy="177800"/>
          </a:xfrm>
          <a:prstGeom prst="roundRect">
            <a:avLst>
              <a:gd name="adj" fmla="val 14285"/>
            </a:avLst>
          </a:prstGeom>
          <a:solidFill>
            <a:srgbClr val="081E3F"/>
          </a:solidFill>
          <a:ln>
            <a:noFill/>
          </a:ln>
          <a:effectLst/>
        </p:spPr>
        <p:txBody>
          <a:bodyPr rtlCol="0" anchor="ctr"/>
          <a:lstStyle/>
          <a:p>
            <a:pPr algn="ctr"/>
          </a:p>
        </p:txBody>
      </p:sp>
      <p:sp>
        <p:nvSpPr>
          <p:cNvPr id="85" name="TextBox 84"/>
          <p:cNvSpPr txBox="1"/>
          <p:nvPr/>
        </p:nvSpPr>
        <p:spPr>
          <a:xfrm>
            <a:off x="9134475" y="416849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9 · POTENTIAL LIMITATIONS</a:t>
            </a:r>
          </a:p>
        </p:txBody>
      </p:sp>
      <p:sp>
        <p:nvSpPr>
          <p:cNvPr id="86" name="Rounded Rectangle 85"/>
          <p:cNvSpPr/>
          <p:nvPr/>
        </p:nvSpPr>
        <p:spPr>
          <a:xfrm>
            <a:off x="9045575" y="4433569"/>
            <a:ext cx="40640" cy="40640"/>
          </a:xfrm>
          <a:prstGeom prst="roundRect">
            <a:avLst>
              <a:gd name="adj" fmla="val 50000"/>
            </a:avLst>
          </a:prstGeom>
          <a:solidFill>
            <a:srgbClr val="8C3A1B"/>
          </a:solidFill>
          <a:ln>
            <a:noFill/>
          </a:ln>
          <a:effectLst/>
        </p:spPr>
        <p:txBody>
          <a:bodyPr rtlCol="0" anchor="ctr"/>
          <a:lstStyle/>
          <a:p>
            <a:pPr algn="ctr"/>
          </a:p>
        </p:txBody>
      </p:sp>
      <p:sp>
        <p:nvSpPr>
          <p:cNvPr id="87" name="TextBox 86"/>
          <p:cNvSpPr txBox="1"/>
          <p:nvPr/>
        </p:nvSpPr>
        <p:spPr>
          <a:xfrm>
            <a:off x="9147175" y="436905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Retrospective accounts of a past experience</a:t>
            </a:r>
          </a:p>
        </p:txBody>
      </p:sp>
      <p:sp>
        <p:nvSpPr>
          <p:cNvPr id="88" name="Rounded Rectangle 87"/>
          <p:cNvSpPr/>
          <p:nvPr/>
        </p:nvSpPr>
        <p:spPr>
          <a:xfrm>
            <a:off x="9045575" y="4599939"/>
            <a:ext cx="40640" cy="40640"/>
          </a:xfrm>
          <a:prstGeom prst="roundRect">
            <a:avLst>
              <a:gd name="adj" fmla="val 50000"/>
            </a:avLst>
          </a:prstGeom>
          <a:solidFill>
            <a:srgbClr val="8C3A1B"/>
          </a:solidFill>
          <a:ln>
            <a:noFill/>
          </a:ln>
          <a:effectLst/>
        </p:spPr>
        <p:txBody>
          <a:bodyPr rtlCol="0" anchor="ctr"/>
          <a:lstStyle/>
          <a:p>
            <a:pPr algn="ctr"/>
          </a:p>
        </p:txBody>
      </p:sp>
      <p:sp>
        <p:nvSpPr>
          <p:cNvPr id="89" name="TextBox 88"/>
          <p:cNvSpPr txBox="1"/>
          <p:nvPr/>
        </p:nvSpPr>
        <p:spPr>
          <a:xfrm>
            <a:off x="9147175" y="453542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Insider researcher: bias managed, not eliminated</a:t>
            </a:r>
          </a:p>
        </p:txBody>
      </p:sp>
      <p:sp>
        <p:nvSpPr>
          <p:cNvPr id="90" name="Rounded Rectangle 89"/>
          <p:cNvSpPr/>
          <p:nvPr/>
        </p:nvSpPr>
        <p:spPr>
          <a:xfrm>
            <a:off x="9045575" y="4766309"/>
            <a:ext cx="40640" cy="40640"/>
          </a:xfrm>
          <a:prstGeom prst="roundRect">
            <a:avLst>
              <a:gd name="adj" fmla="val 50000"/>
            </a:avLst>
          </a:prstGeom>
          <a:solidFill>
            <a:srgbClr val="8C3A1B"/>
          </a:solidFill>
          <a:ln>
            <a:noFill/>
          </a:ln>
          <a:effectLst/>
        </p:spPr>
        <p:txBody>
          <a:bodyPr rtlCol="0" anchor="ctr"/>
          <a:lstStyle/>
          <a:p>
            <a:pPr algn="ctr"/>
          </a:p>
        </p:txBody>
      </p:sp>
      <p:sp>
        <p:nvSpPr>
          <p:cNvPr id="91" name="TextBox 90"/>
          <p:cNvSpPr txBox="1"/>
          <p:nvPr/>
        </p:nvSpPr>
        <p:spPr>
          <a:xfrm>
            <a:off x="9147175" y="4701794"/>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Small purposive sample; not intended to generalise</a:t>
            </a:r>
          </a:p>
        </p:txBody>
      </p:sp>
      <p:sp>
        <p:nvSpPr>
          <p:cNvPr id="92" name="Rounded Rectangle 91"/>
          <p:cNvSpPr/>
          <p:nvPr/>
        </p:nvSpPr>
        <p:spPr>
          <a:xfrm>
            <a:off x="431800" y="5740400"/>
            <a:ext cx="11328400" cy="330200"/>
          </a:xfrm>
          <a:prstGeom prst="roundRect">
            <a:avLst>
              <a:gd name="adj" fmla="val 11538"/>
            </a:avLst>
          </a:prstGeom>
          <a:solidFill>
            <a:srgbClr val="E8EDF4"/>
          </a:solidFill>
          <a:ln>
            <a:noFill/>
          </a:ln>
          <a:effectLst/>
        </p:spPr>
        <p:txBody>
          <a:bodyPr rtlCol="0" anchor="ctr"/>
          <a:lstStyle/>
          <a:p>
            <a:pPr algn="ctr"/>
          </a:p>
        </p:txBody>
      </p:sp>
      <p:sp>
        <p:nvSpPr>
          <p:cNvPr id="93" name="TextBox 92"/>
          <p:cNvSpPr txBox="1"/>
          <p:nvPr/>
        </p:nvSpPr>
        <p:spPr>
          <a:xfrm>
            <a:off x="558800" y="5818225"/>
            <a:ext cx="969264"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081E3F"/>
                </a:solidFill>
                <a:latin typeface="Consolas"/>
                <a:cs typeface="Consolas"/>
              </a:rPr>
              <a:t>AI DISCLOSURE</a:t>
            </a:r>
          </a:p>
        </p:txBody>
      </p:sp>
      <p:sp>
        <p:nvSpPr>
          <p:cNvPr id="94" name="TextBox 93"/>
          <p:cNvSpPr txBox="1"/>
          <p:nvPr/>
        </p:nvSpPr>
        <p:spPr>
          <a:xfrm>
            <a:off x="1600200" y="5780125"/>
            <a:ext cx="9817100" cy="166624"/>
          </a:xfrm>
          <a:prstGeom prst="rect">
            <a:avLst/>
          </a:prstGeom>
          <a:noFill/>
        </p:spPr>
        <p:txBody>
          <a:bodyPr wrap="square" lIns="0" rIns="0" tIns="0" bIns="0"/>
          <a:lstStyle/>
          <a:p>
            <a:pPr algn="l">
              <a:lnSpc>
                <a:spcPts val="880"/>
              </a:lnSpc>
              <a:spcBef>
                <a:spcPts val="0"/>
              </a:spcBef>
              <a:spcAft>
                <a:spcPts val="0"/>
              </a:spcAft>
            </a:pPr>
            <a:r>
              <a:rPr sz="720" b="0" i="0">
                <a:solidFill>
                  <a:srgbClr val="3A4048"/>
                </a:solidFill>
                <a:latin typeface="Times New Roman"/>
                <a:cs typeface="Times New Roman"/>
              </a:rPr>
              <a:t>Generative AI (Claude, Anthropic) helped draft and lay out this poster from the author's proposal and protocol, and checked clarity. The research question, design decisions and interpretations are the author's (FIU Graduate School AI policy).</a:t>
            </a:r>
          </a:p>
        </p:txBody>
      </p:sp>
      <p:cxnSp>
        <p:nvCxnSpPr>
          <p:cNvPr id="95" name="Connector 94"/>
          <p:cNvCxnSpPr/>
          <p:nvPr/>
        </p:nvCxnSpPr>
        <p:spPr>
          <a:xfrm>
            <a:off x="685800" y="6172200"/>
            <a:ext cx="10820400" cy="0"/>
          </a:xfrm>
          <a:prstGeom prst="line">
            <a:avLst/>
          </a:prstGeom>
          <a:ln w="12700">
            <a:solidFill>
              <a:srgbClr val="D8D4CB"/>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431800" y="6211925"/>
            <a:ext cx="75895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081E3F"/>
                </a:solidFill>
                <a:latin typeface="Consolas"/>
                <a:cs typeface="Consolas"/>
              </a:rPr>
              <a:t>REFERENCES</a:t>
            </a:r>
          </a:p>
        </p:txBody>
      </p:sp>
      <p:sp>
        <p:nvSpPr>
          <p:cNvPr id="97" name="TextBox 96"/>
          <p:cNvSpPr txBox="1"/>
          <p:nvPr/>
        </p:nvSpPr>
        <p:spPr>
          <a:xfrm>
            <a:off x="431800" y="6340906"/>
            <a:ext cx="742309" cy="125729"/>
          </a:xfrm>
          <a:prstGeom prst="rect">
            <a:avLst/>
          </a:prstGeom>
          <a:noFill/>
        </p:spPr>
        <p:txBody>
          <a:bodyPr wrap="none" lIns="0" rIns="0" tIns="0" bIns="0"/>
          <a:lstStyle/>
          <a:p>
            <a:pPr algn="l">
              <a:lnSpc>
                <a:spcPct val="100000"/>
              </a:lnSpc>
              <a:spcBef>
                <a:spcPts val="0"/>
              </a:spcBef>
              <a:spcAft>
                <a:spcPts val="0"/>
              </a:spcAft>
            </a:pPr>
            <a:r>
              <a:rPr sz="660" b="0" i="0">
                <a:solidFill>
                  <a:srgbClr val="767D86"/>
                </a:solidFill>
                <a:latin typeface="Times New Roman"/>
                <a:cs typeface="Times New Roman"/>
              </a:rPr>
              <a:t>Full list in the paper</a:t>
            </a:r>
          </a:p>
        </p:txBody>
      </p:sp>
      <p:sp>
        <p:nvSpPr>
          <p:cNvPr id="98" name="TextBox 97"/>
          <p:cNvSpPr txBox="1"/>
          <p:nvPr/>
        </p:nvSpPr>
        <p:spPr>
          <a:xfrm>
            <a:off x="1447800" y="62031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Commerford, B. P., Dennis, S. A., Joe, J. R., &amp; Ulla, J. W. (2022). Man versus</a:t>
            </a:r>
          </a:p>
          <a:p>
            <a:pPr algn="l">
              <a:lnSpc>
                <a:spcPts val="630"/>
              </a:lnSpc>
              <a:spcBef>
                <a:spcPts val="0"/>
              </a:spcBef>
              <a:spcAft>
                <a:spcPts val="0"/>
              </a:spcAft>
            </a:pPr>
            <a:r>
              <a:rPr sz="600" b="0" i="0">
                <a:solidFill>
                  <a:srgbClr val="767D86"/>
                </a:solidFill>
                <a:latin typeface="Times New Roman"/>
                <a:cs typeface="Times New Roman"/>
              </a:rPr>
              <a:t>machine: Complex estimates and auditor reliance on artificial intelligence.</a:t>
            </a:r>
          </a:p>
          <a:p>
            <a:pPr algn="l">
              <a:lnSpc>
                <a:spcPts val="630"/>
              </a:lnSpc>
              <a:spcBef>
                <a:spcPts val="0"/>
              </a:spcBef>
              <a:spcAft>
                <a:spcPts val="0"/>
              </a:spcAft>
            </a:pPr>
            <a:r>
              <a:rPr sz="600" b="0" i="0">
                <a:solidFill>
                  <a:srgbClr val="767D86"/>
                </a:solidFill>
                <a:latin typeface="Times New Roman"/>
                <a:cs typeface="Times New Roman"/>
              </a:rPr>
              <a:t>Journal of Accounting Research, 60(1), 171-201.</a:t>
            </a:r>
          </a:p>
        </p:txBody>
      </p:sp>
      <p:sp>
        <p:nvSpPr>
          <p:cNvPr id="99" name="TextBox 98"/>
          <p:cNvSpPr txBox="1"/>
          <p:nvPr/>
        </p:nvSpPr>
        <p:spPr>
          <a:xfrm>
            <a:off x="4025900" y="62031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Creswell, J. W., &amp; Poth, C. N. (2024). Qualitative inquiry and research design:</a:t>
            </a:r>
          </a:p>
          <a:p>
            <a:pPr algn="l">
              <a:lnSpc>
                <a:spcPts val="630"/>
              </a:lnSpc>
              <a:spcBef>
                <a:spcPts val="0"/>
              </a:spcBef>
              <a:spcAft>
                <a:spcPts val="0"/>
              </a:spcAft>
            </a:pPr>
            <a:r>
              <a:rPr sz="600" b="0" i="0">
                <a:solidFill>
                  <a:srgbClr val="767D86"/>
                </a:solidFill>
                <a:latin typeface="Times New Roman"/>
                <a:cs typeface="Times New Roman"/>
              </a:rPr>
              <a:t>Choosing among five approaches (5th ed.). SAGE.</a:t>
            </a:r>
          </a:p>
        </p:txBody>
      </p:sp>
      <p:sp>
        <p:nvSpPr>
          <p:cNvPr id="100" name="TextBox 99"/>
          <p:cNvSpPr txBox="1"/>
          <p:nvPr/>
        </p:nvSpPr>
        <p:spPr>
          <a:xfrm>
            <a:off x="6604000" y="62031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Fotoh, L. E., &amp; Mugwira, T. (2025). Exploring large language models in</a:t>
            </a:r>
          </a:p>
          <a:p>
            <a:pPr algn="l">
              <a:lnSpc>
                <a:spcPts val="630"/>
              </a:lnSpc>
              <a:spcBef>
                <a:spcPts val="0"/>
              </a:spcBef>
              <a:spcAft>
                <a:spcPts val="0"/>
              </a:spcAft>
            </a:pPr>
            <a:r>
              <a:rPr sz="600" b="0" i="0">
                <a:solidFill>
                  <a:srgbClr val="767D86"/>
                </a:solidFill>
                <a:latin typeface="Times New Roman"/>
                <a:cs typeface="Times New Roman"/>
              </a:rPr>
              <a:t>external audits: Implications and ethical considerations. International Journal of</a:t>
            </a:r>
          </a:p>
          <a:p>
            <a:pPr algn="l">
              <a:lnSpc>
                <a:spcPts val="630"/>
              </a:lnSpc>
              <a:spcBef>
                <a:spcPts val="0"/>
              </a:spcBef>
              <a:spcAft>
                <a:spcPts val="0"/>
              </a:spcAft>
            </a:pPr>
            <a:r>
              <a:rPr sz="600" b="0" i="0">
                <a:solidFill>
                  <a:srgbClr val="767D86"/>
                </a:solidFill>
                <a:latin typeface="Times New Roman"/>
                <a:cs typeface="Times New Roman"/>
              </a:rPr>
              <a:t>Accounting Information Systems, 56, 100748.</a:t>
            </a:r>
          </a:p>
        </p:txBody>
      </p:sp>
      <p:sp>
        <p:nvSpPr>
          <p:cNvPr id="101" name="TextBox 100"/>
          <p:cNvSpPr txBox="1"/>
          <p:nvPr/>
        </p:nvSpPr>
        <p:spPr>
          <a:xfrm>
            <a:off x="9182100" y="62031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Glickman, M., &amp; Sharot, T. (2025). How human-AI feedback loops alter human</a:t>
            </a:r>
          </a:p>
          <a:p>
            <a:pPr algn="l">
              <a:lnSpc>
                <a:spcPts val="630"/>
              </a:lnSpc>
              <a:spcBef>
                <a:spcPts val="0"/>
              </a:spcBef>
              <a:spcAft>
                <a:spcPts val="0"/>
              </a:spcAft>
            </a:pPr>
            <a:r>
              <a:rPr sz="600" b="0" i="0">
                <a:solidFill>
                  <a:srgbClr val="767D86"/>
                </a:solidFill>
                <a:latin typeface="Times New Roman"/>
                <a:cs typeface="Times New Roman"/>
              </a:rPr>
              <a:t>perceptual, emotional and social judgements. Nature Human Behaviour, 9(2),</a:t>
            </a:r>
          </a:p>
          <a:p>
            <a:pPr algn="l">
              <a:lnSpc>
                <a:spcPts val="630"/>
              </a:lnSpc>
              <a:spcBef>
                <a:spcPts val="0"/>
              </a:spcBef>
              <a:spcAft>
                <a:spcPts val="0"/>
              </a:spcAft>
            </a:pPr>
            <a:r>
              <a:rPr sz="600" b="0" i="0">
                <a:solidFill>
                  <a:srgbClr val="767D86"/>
                </a:solidFill>
                <a:latin typeface="Times New Roman"/>
                <a:cs typeface="Times New Roman"/>
              </a:rPr>
              <a:t>345-359.</a:t>
            </a:r>
          </a:p>
        </p:txBody>
      </p:sp>
      <p:sp>
        <p:nvSpPr>
          <p:cNvPr id="102" name="TextBox 101"/>
          <p:cNvSpPr txBox="1"/>
          <p:nvPr/>
        </p:nvSpPr>
        <p:spPr>
          <a:xfrm>
            <a:off x="1447800" y="65079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Kokina, J., Blanchette, S., Davenport, T. H., &amp; Pachamanova, D. (2025).</a:t>
            </a:r>
          </a:p>
          <a:p>
            <a:pPr algn="l">
              <a:lnSpc>
                <a:spcPts val="630"/>
              </a:lnSpc>
              <a:spcBef>
                <a:spcPts val="0"/>
              </a:spcBef>
              <a:spcAft>
                <a:spcPts val="0"/>
              </a:spcAft>
            </a:pPr>
            <a:r>
              <a:rPr sz="600" b="0" i="0">
                <a:solidFill>
                  <a:srgbClr val="767D86"/>
                </a:solidFill>
                <a:latin typeface="Times New Roman"/>
                <a:cs typeface="Times New Roman"/>
              </a:rPr>
              <a:t>Challenges and opportunities for artificial intelligence in auditing. International</a:t>
            </a:r>
          </a:p>
          <a:p>
            <a:pPr algn="l">
              <a:lnSpc>
                <a:spcPts val="630"/>
              </a:lnSpc>
              <a:spcBef>
                <a:spcPts val="0"/>
              </a:spcBef>
              <a:spcAft>
                <a:spcPts val="0"/>
              </a:spcAft>
            </a:pPr>
            <a:r>
              <a:rPr sz="600" b="0" i="0">
                <a:solidFill>
                  <a:srgbClr val="767D86"/>
                </a:solidFill>
                <a:latin typeface="Times New Roman"/>
                <a:cs typeface="Times New Roman"/>
              </a:rPr>
              <a:t>Journal of Accounting Information Systems, 56, 100734.</a:t>
            </a:r>
          </a:p>
        </p:txBody>
      </p:sp>
      <p:sp>
        <p:nvSpPr>
          <p:cNvPr id="103" name="TextBox 102"/>
          <p:cNvSpPr txBox="1"/>
          <p:nvPr/>
        </p:nvSpPr>
        <p:spPr>
          <a:xfrm>
            <a:off x="40259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Murikah, W., Nthenge, J. K., &amp; Musyoka, F. M. (2024). Bias and ethics of AI</a:t>
            </a:r>
          </a:p>
          <a:p>
            <a:pPr algn="l">
              <a:lnSpc>
                <a:spcPts val="630"/>
              </a:lnSpc>
              <a:spcBef>
                <a:spcPts val="0"/>
              </a:spcBef>
              <a:spcAft>
                <a:spcPts val="0"/>
              </a:spcAft>
            </a:pPr>
            <a:r>
              <a:rPr sz="600" b="0" i="0">
                <a:solidFill>
                  <a:srgbClr val="767D86"/>
                </a:solidFill>
                <a:latin typeface="Times New Roman"/>
                <a:cs typeface="Times New Roman"/>
              </a:rPr>
              <a:t>systems applied in auditing: A systematic review. Scientific African, 25, e02281.</a:t>
            </a:r>
          </a:p>
        </p:txBody>
      </p:sp>
      <p:sp>
        <p:nvSpPr>
          <p:cNvPr id="104" name="TextBox 103"/>
          <p:cNvSpPr txBox="1"/>
          <p:nvPr/>
        </p:nvSpPr>
        <p:spPr>
          <a:xfrm>
            <a:off x="66040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Parasuraman, R., &amp; Manzey, D. H. (2010). Complacency and bias in human use</a:t>
            </a:r>
          </a:p>
          <a:p>
            <a:pPr algn="l">
              <a:lnSpc>
                <a:spcPts val="630"/>
              </a:lnSpc>
              <a:spcBef>
                <a:spcPts val="0"/>
              </a:spcBef>
              <a:spcAft>
                <a:spcPts val="0"/>
              </a:spcAft>
            </a:pPr>
            <a:r>
              <a:rPr sz="600" b="0" i="0">
                <a:solidFill>
                  <a:srgbClr val="767D86"/>
                </a:solidFill>
                <a:latin typeface="Times New Roman"/>
                <a:cs typeface="Times New Roman"/>
              </a:rPr>
              <a:t>of automation. Human Factors, 52(3), 381-410.</a:t>
            </a:r>
          </a:p>
        </p:txBody>
      </p:sp>
      <p:sp>
        <p:nvSpPr>
          <p:cNvPr id="105" name="TextBox 104"/>
          <p:cNvSpPr txBox="1"/>
          <p:nvPr/>
        </p:nvSpPr>
        <p:spPr>
          <a:xfrm>
            <a:off x="91821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Tversky, A., &amp; Kahneman, D. (1974). Judgment under uncertainty: Heuristics</a:t>
            </a:r>
          </a:p>
          <a:p>
            <a:pPr algn="l">
              <a:lnSpc>
                <a:spcPts val="630"/>
              </a:lnSpc>
              <a:spcBef>
                <a:spcPts val="0"/>
              </a:spcBef>
              <a:spcAft>
                <a:spcPts val="0"/>
              </a:spcAft>
            </a:pPr>
            <a:r>
              <a:rPr sz="600" b="0" i="0">
                <a:solidFill>
                  <a:srgbClr val="767D86"/>
                </a:solidFill>
                <a:latin typeface="Times New Roman"/>
                <a:cs typeface="Times New Roman"/>
              </a:rPr>
              <a:t>and biases. Science, 185(4157), 1124-1131.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87400"/>
          </a:xfrm>
          <a:prstGeom prst="rect">
            <a:avLst/>
          </a:prstGeom>
          <a:solidFill>
            <a:srgbClr val="081E3F"/>
          </a:solidFill>
          <a:ln>
            <a:noFill/>
          </a:ln>
          <a:effectLst/>
        </p:spPr>
        <p:txBody>
          <a:bodyPr rtlCol="0" anchor="ctr"/>
          <a:lstStyle/>
          <a:p>
            <a:pPr algn="ctr"/>
          </a:p>
        </p:txBody>
      </p:sp>
      <p:sp>
        <p:nvSpPr>
          <p:cNvPr id="4" name="TextBox 3"/>
          <p:cNvSpPr txBox="1"/>
          <p:nvPr/>
        </p:nvSpPr>
        <p:spPr>
          <a:xfrm>
            <a:off x="431800" y="127635"/>
            <a:ext cx="4254500" cy="142875"/>
          </a:xfrm>
          <a:prstGeom prst="rect">
            <a:avLst/>
          </a:prstGeom>
          <a:noFill/>
        </p:spPr>
        <p:txBody>
          <a:bodyPr wrap="none" lIns="0" rIns="0" tIns="0" bIns="0"/>
          <a:lstStyle/>
          <a:p>
            <a:pPr algn="l">
              <a:lnSpc>
                <a:spcPct val="100000"/>
              </a:lnSpc>
              <a:spcBef>
                <a:spcPts val="0"/>
              </a:spcBef>
              <a:spcAft>
                <a:spcPts val="0"/>
              </a:spcAft>
            </a:pPr>
            <a:r>
              <a:rPr sz="750" b="1" i="0" spc="140">
                <a:solidFill>
                  <a:srgbClr val="B6862C"/>
                </a:solidFill>
                <a:latin typeface="Consolas"/>
                <a:cs typeface="Consolas"/>
              </a:rPr>
              <a:t>APPENDIX A  ·  NOT PRESENTED  ·  DETAIL FOR DR. GONZALEZ</a:t>
            </a:r>
          </a:p>
        </p:txBody>
      </p:sp>
      <p:sp>
        <p:nvSpPr>
          <p:cNvPr id="5" name="TextBox 4"/>
          <p:cNvSpPr txBox="1"/>
          <p:nvPr/>
        </p:nvSpPr>
        <p:spPr>
          <a:xfrm>
            <a:off x="431800" y="235458"/>
            <a:ext cx="3347351" cy="400050"/>
          </a:xfrm>
          <a:prstGeom prst="rect">
            <a:avLst/>
          </a:prstGeom>
          <a:noFill/>
        </p:spPr>
        <p:txBody>
          <a:bodyPr wrap="none" lIns="0" rIns="0" tIns="0" bIns="0"/>
          <a:lstStyle/>
          <a:p>
            <a:pPr algn="l">
              <a:lnSpc>
                <a:spcPct val="100000"/>
              </a:lnSpc>
              <a:spcBef>
                <a:spcPts val="0"/>
              </a:spcBef>
              <a:spcAft>
                <a:spcPts val="0"/>
              </a:spcAft>
            </a:pPr>
            <a:r>
              <a:rPr sz="2100" b="1" i="0">
                <a:solidFill>
                  <a:srgbClr val="FFFFFF"/>
                </a:solidFill>
                <a:latin typeface="Times New Roman"/>
                <a:cs typeface="Times New Roman"/>
              </a:rPr>
              <a:t>Sampling and the interview</a:t>
            </a:r>
          </a:p>
        </p:txBody>
      </p:sp>
      <p:sp>
        <p:nvSpPr>
          <p:cNvPr id="6" name="TextBox 5"/>
          <p:cNvSpPr txBox="1"/>
          <p:nvPr/>
        </p:nvSpPr>
        <p:spPr>
          <a:xfrm>
            <a:off x="9248095" y="149733"/>
            <a:ext cx="2512104" cy="161925"/>
          </a:xfrm>
          <a:prstGeom prst="rect">
            <a:avLst/>
          </a:prstGeom>
          <a:noFill/>
        </p:spPr>
        <p:txBody>
          <a:bodyPr wrap="none" lIns="0" rIns="0" tIns="0" bIns="0"/>
          <a:lstStyle/>
          <a:p>
            <a:pPr algn="r">
              <a:lnSpc>
                <a:spcPct val="100000"/>
              </a:lnSpc>
              <a:spcBef>
                <a:spcPts val="0"/>
              </a:spcBef>
              <a:spcAft>
                <a:spcPts val="0"/>
              </a:spcAft>
            </a:pPr>
            <a:r>
              <a:rPr sz="850" b="0" i="0">
                <a:solidFill>
                  <a:srgbClr val="B9C7D8"/>
                </a:solidFill>
                <a:latin typeface="Times New Roman"/>
                <a:cs typeface="Times New Roman"/>
              </a:rPr>
              <a:t>Receiving Confirmation  ·  Yasir A. Malik  ·  GEB 7911</a:t>
            </a:r>
          </a:p>
        </p:txBody>
      </p:sp>
      <p:sp>
        <p:nvSpPr>
          <p:cNvPr id="7" name="TextBox 6"/>
          <p:cNvSpPr txBox="1"/>
          <p:nvPr/>
        </p:nvSpPr>
        <p:spPr>
          <a:xfrm>
            <a:off x="431800" y="878078"/>
            <a:ext cx="4744631" cy="209550"/>
          </a:xfrm>
          <a:prstGeom prst="rect">
            <a:avLst/>
          </a:prstGeom>
          <a:noFill/>
        </p:spPr>
        <p:txBody>
          <a:bodyPr wrap="none" lIns="0" rIns="0" tIns="0" bIns="0"/>
          <a:lstStyle/>
          <a:p>
            <a:pPr algn="l">
              <a:lnSpc>
                <a:spcPct val="100000"/>
              </a:lnSpc>
              <a:spcBef>
                <a:spcPts val="0"/>
              </a:spcBef>
              <a:spcAft>
                <a:spcPts val="0"/>
              </a:spcAft>
            </a:pPr>
            <a:r>
              <a:rPr sz="1100" b="0" i="1">
                <a:solidFill>
                  <a:srgbClr val="3A4048"/>
                </a:solidFill>
                <a:latin typeface="Times New Roman"/>
                <a:cs typeface="Times New Roman"/>
              </a:rPr>
              <a:t>Every participant must have lived the phenomenon, not merely hold views about it.</a:t>
            </a:r>
          </a:p>
        </p:txBody>
      </p:sp>
      <p:sp>
        <p:nvSpPr>
          <p:cNvPr id="8" name="TextBox 7"/>
          <p:cNvSpPr txBox="1"/>
          <p:nvPr/>
        </p:nvSpPr>
        <p:spPr>
          <a:xfrm>
            <a:off x="431800" y="1166723"/>
            <a:ext cx="1751330"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ELIGIBILITY · ALL FOUR</a:t>
            </a:r>
          </a:p>
        </p:txBody>
      </p:sp>
      <p:cxnSp>
        <p:nvCxnSpPr>
          <p:cNvPr id="9" name="Connector 8"/>
          <p:cNvCxnSpPr/>
          <p:nvPr/>
        </p:nvCxnSpPr>
        <p:spPr>
          <a:xfrm>
            <a:off x="431800" y="1346200"/>
            <a:ext cx="3640666"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1800"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1. Five or more years</a:t>
            </a:r>
          </a:p>
        </p:txBody>
      </p:sp>
      <p:sp>
        <p:nvSpPr>
          <p:cNvPr id="11" name="TextBox 10"/>
          <p:cNvSpPr txBox="1"/>
          <p:nvPr/>
        </p:nvSpPr>
        <p:spPr>
          <a:xfrm>
            <a:off x="431800" y="1632966"/>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in audit, internal audit or risk assurance</a:t>
            </a:r>
          </a:p>
        </p:txBody>
      </p:sp>
      <p:sp>
        <p:nvSpPr>
          <p:cNvPr id="12" name="TextBox 11"/>
          <p:cNvSpPr txBox="1"/>
          <p:nvPr/>
        </p:nvSpPr>
        <p:spPr>
          <a:xfrm>
            <a:off x="431800" y="1894890"/>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2. Recurring or multi-year engagements</a:t>
            </a:r>
          </a:p>
        </p:txBody>
      </p:sp>
      <p:sp>
        <p:nvSpPr>
          <p:cNvPr id="13" name="TextBox 12"/>
          <p:cNvSpPr txBox="1"/>
          <p:nvPr/>
        </p:nvSpPr>
        <p:spPr>
          <a:xfrm>
            <a:off x="431800" y="2091639"/>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where prior-period work is the anchoring context</a:t>
            </a:r>
          </a:p>
        </p:txBody>
      </p:sp>
      <p:sp>
        <p:nvSpPr>
          <p:cNvPr id="14" name="TextBox 13"/>
          <p:cNvSpPr txBox="1"/>
          <p:nvPr/>
        </p:nvSpPr>
        <p:spPr>
          <a:xfrm>
            <a:off x="431800" y="2353564"/>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3. Uses or has used AI or analytics tools</a:t>
            </a:r>
          </a:p>
        </p:txBody>
      </p:sp>
      <p:sp>
        <p:nvSpPr>
          <p:cNvPr id="15" name="TextBox 14"/>
          <p:cNvSpPr txBox="1"/>
          <p:nvPr/>
        </p:nvSpPr>
        <p:spPr>
          <a:xfrm>
            <a:off x="431800" y="2550312"/>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that produce conclusions, findings or risk ratings</a:t>
            </a:r>
          </a:p>
        </p:txBody>
      </p:sp>
      <p:sp>
        <p:nvSpPr>
          <p:cNvPr id="16" name="TextBox 15"/>
          <p:cNvSpPr txBox="1"/>
          <p:nvPr/>
        </p:nvSpPr>
        <p:spPr>
          <a:xfrm>
            <a:off x="431800" y="281223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4. Can recall a specific occasion</a:t>
            </a:r>
          </a:p>
        </p:txBody>
      </p:sp>
      <p:sp>
        <p:nvSpPr>
          <p:cNvPr id="17" name="TextBox 16"/>
          <p:cNvSpPr txBox="1"/>
          <p:nvPr/>
        </p:nvSpPr>
        <p:spPr>
          <a:xfrm>
            <a:off x="431800" y="3008985"/>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when such a tool reached a conclusion they had already reached</a:t>
            </a:r>
          </a:p>
        </p:txBody>
      </p:sp>
      <p:sp>
        <p:nvSpPr>
          <p:cNvPr id="18" name="TextBox 17"/>
          <p:cNvSpPr txBox="1"/>
          <p:nvPr/>
        </p:nvSpPr>
        <p:spPr>
          <a:xfrm>
            <a:off x="431800" y="3272891"/>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Criterion 4 is the study. A candidate who meets 1 to 3 and fails 4</a:t>
            </a:r>
          </a:p>
          <a:p>
            <a:pPr algn="l">
              <a:lnSpc>
                <a:spcPts val="1378"/>
              </a:lnSpc>
              <a:spcBef>
                <a:spcPts val="0"/>
              </a:spcBef>
              <a:spcAft>
                <a:spcPts val="0"/>
              </a:spcAft>
            </a:pPr>
            <a:r>
              <a:rPr sz="1060" b="0" i="0">
                <a:solidFill>
                  <a:srgbClr val="3A4048"/>
                </a:solidFill>
                <a:latin typeface="Times New Roman"/>
                <a:cs typeface="Times New Roman"/>
              </a:rPr>
              <a:t>has not lived the phenomenon, and their data would be opinion.</a:t>
            </a:r>
          </a:p>
        </p:txBody>
      </p:sp>
      <p:sp>
        <p:nvSpPr>
          <p:cNvPr id="19" name="TextBox 18"/>
          <p:cNvSpPr txBox="1"/>
          <p:nvPr/>
        </p:nvSpPr>
        <p:spPr>
          <a:xfrm>
            <a:off x="431800" y="3709822"/>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Maximum variation within the criterion:</a:t>
            </a:r>
          </a:p>
        </p:txBody>
      </p:sp>
      <p:sp>
        <p:nvSpPr>
          <p:cNvPr id="20" name="TextBox 19"/>
          <p:cNvSpPr txBox="1"/>
          <p:nvPr/>
        </p:nvSpPr>
        <p:spPr>
          <a:xfrm>
            <a:off x="431800" y="3906570"/>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Big Four, mid-tier and in-house internal audit; external and</a:t>
            </a:r>
          </a:p>
          <a:p>
            <a:pPr algn="l">
              <a:lnSpc>
                <a:spcPts val="1378"/>
              </a:lnSpc>
              <a:spcBef>
                <a:spcPts val="0"/>
              </a:spcBef>
              <a:spcAft>
                <a:spcPts val="0"/>
              </a:spcAft>
            </a:pPr>
            <a:r>
              <a:rPr sz="1060" b="0" i="0">
                <a:solidFill>
                  <a:srgbClr val="3A4048"/>
                </a:solidFill>
                <a:latin typeface="Times New Roman"/>
                <a:cs typeface="Times New Roman"/>
              </a:rPr>
              <a:t>internal; senior associate to partner or CAE; several industries.</a:t>
            </a:r>
          </a:p>
        </p:txBody>
      </p:sp>
      <p:sp>
        <p:nvSpPr>
          <p:cNvPr id="21" name="TextBox 20"/>
          <p:cNvSpPr txBox="1"/>
          <p:nvPr/>
        </p:nvSpPr>
        <p:spPr>
          <a:xfrm>
            <a:off x="4275666" y="1166723"/>
            <a:ext cx="2057145"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HOW MANY, AND WHEN TO STOP</a:t>
            </a:r>
          </a:p>
        </p:txBody>
      </p:sp>
      <p:cxnSp>
        <p:nvCxnSpPr>
          <p:cNvPr id="22" name="Connector 21"/>
          <p:cNvCxnSpPr/>
          <p:nvPr/>
        </p:nvCxnSpPr>
        <p:spPr>
          <a:xfrm>
            <a:off x="4275666"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75666"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Criterion sample of 10 to 15.</a:t>
            </a:r>
          </a:p>
        </p:txBody>
      </p:sp>
      <p:sp>
        <p:nvSpPr>
          <p:cNvPr id="24" name="TextBox 23"/>
          <p:cNvSpPr txBox="1"/>
          <p:nvPr/>
        </p:nvSpPr>
        <p:spPr>
          <a:xfrm>
            <a:off x="4275666" y="163296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Guided by the depth and richness of the accounts, not saturation as</a:t>
            </a:r>
          </a:p>
          <a:p>
            <a:pPr algn="l">
              <a:lnSpc>
                <a:spcPts val="1378"/>
              </a:lnSpc>
              <a:spcBef>
                <a:spcPts val="0"/>
              </a:spcBef>
              <a:spcAft>
                <a:spcPts val="0"/>
              </a:spcAft>
            </a:pPr>
            <a:r>
              <a:rPr sz="1060" b="0" i="0">
                <a:solidFill>
                  <a:srgbClr val="3A4048"/>
                </a:solidFill>
                <a:latin typeface="Times New Roman"/>
                <a:cs typeface="Times New Roman"/>
              </a:rPr>
              <a:t>an automatic rule (revised 1 Oct).</a:t>
            </a:r>
          </a:p>
        </p:txBody>
      </p:sp>
      <p:sp>
        <p:nvSpPr>
          <p:cNvPr id="25" name="TextBox 24"/>
          <p:cNvSpPr txBox="1"/>
          <p:nvPr/>
        </p:nvSpPr>
        <p:spPr>
          <a:xfrm>
            <a:off x="4275666" y="2071878"/>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Screening question tested in the networks first; referrals screened</a:t>
            </a:r>
          </a:p>
          <a:p>
            <a:pPr algn="l">
              <a:lnSpc>
                <a:spcPts val="1378"/>
              </a:lnSpc>
              <a:spcBef>
                <a:spcPts val="0"/>
              </a:spcBef>
              <a:spcAft>
                <a:spcPts val="0"/>
              </a:spcAft>
            </a:pPr>
            <a:r>
              <a:rPr sz="1060" b="0" i="0">
                <a:solidFill>
                  <a:srgbClr val="3A4048"/>
                </a:solidFill>
                <a:latin typeface="Times New Roman"/>
                <a:cs typeface="Times New Roman"/>
              </a:rPr>
              <a:t>the same way. Participants recall the occasion; they need not have</a:t>
            </a:r>
          </a:p>
          <a:p>
            <a:pPr algn="l">
              <a:lnSpc>
                <a:spcPts val="1378"/>
              </a:lnSpc>
              <a:spcBef>
                <a:spcPts val="0"/>
              </a:spcBef>
              <a:spcAft>
                <a:spcPts val="0"/>
              </a:spcAft>
            </a:pPr>
            <a:r>
              <a:rPr sz="1060" b="0" i="0">
                <a:solidFill>
                  <a:srgbClr val="3A4048"/>
                </a:solidFill>
                <a:latin typeface="Times New Roman"/>
                <a:cs typeface="Times New Roman"/>
              </a:rPr>
              <a:t>interpreted it.</a:t>
            </a:r>
          </a:p>
        </p:txBody>
      </p:sp>
      <p:sp>
        <p:nvSpPr>
          <p:cNvPr id="26" name="TextBox 25"/>
          <p:cNvSpPr txBox="1"/>
          <p:nvPr/>
        </p:nvSpPr>
        <p:spPr>
          <a:xfrm>
            <a:off x="4275666" y="268579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The stop decision, and its reasons, recorded in the audit trail on the</a:t>
            </a:r>
          </a:p>
          <a:p>
            <a:pPr algn="l">
              <a:lnSpc>
                <a:spcPts val="1378"/>
              </a:lnSpc>
              <a:spcBef>
                <a:spcPts val="0"/>
              </a:spcBef>
              <a:spcAft>
                <a:spcPts val="0"/>
              </a:spcAft>
            </a:pPr>
            <a:r>
              <a:rPr sz="1060" b="0" i="0">
                <a:solidFill>
                  <a:srgbClr val="3A4048"/>
                </a:solidFill>
                <a:latin typeface="Times New Roman"/>
                <a:cs typeface="Times New Roman"/>
              </a:rPr>
              <a:t>day it is made.</a:t>
            </a:r>
          </a:p>
        </p:txBody>
      </p:sp>
      <p:sp>
        <p:nvSpPr>
          <p:cNvPr id="27" name="TextBox 26"/>
          <p:cNvSpPr txBox="1"/>
          <p:nvPr/>
        </p:nvSpPr>
        <p:spPr>
          <a:xfrm>
            <a:off x="4275666" y="312272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Pilot first.</a:t>
            </a:r>
          </a:p>
        </p:txBody>
      </p:sp>
      <p:sp>
        <p:nvSpPr>
          <p:cNvPr id="28" name="TextBox 27"/>
          <p:cNvSpPr txBox="1"/>
          <p:nvPr/>
        </p:nvSpPr>
        <p:spPr>
          <a:xfrm>
            <a:off x="4275666" y="3319475"/>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The protocol is piloted, and pilot testers cannot become</a:t>
            </a:r>
          </a:p>
          <a:p>
            <a:pPr algn="l">
              <a:lnSpc>
                <a:spcPts val="1378"/>
              </a:lnSpc>
              <a:spcBef>
                <a:spcPts val="0"/>
              </a:spcBef>
              <a:spcAft>
                <a:spcPts val="0"/>
              </a:spcAft>
            </a:pPr>
            <a:r>
              <a:rPr sz="1060" b="0" i="0">
                <a:solidFill>
                  <a:srgbClr val="3A4048"/>
                </a:solidFill>
                <a:latin typeface="Times New Roman"/>
                <a:cs typeface="Times New Roman"/>
              </a:rPr>
              <a:t>participants.</a:t>
            </a:r>
          </a:p>
        </p:txBody>
      </p:sp>
      <p:sp>
        <p:nvSpPr>
          <p:cNvPr id="29" name="TextBox 28"/>
          <p:cNvSpPr txBox="1"/>
          <p:nvPr/>
        </p:nvSpPr>
        <p:spPr>
          <a:xfrm>
            <a:off x="4275666" y="375640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Channel:</a:t>
            </a:r>
          </a:p>
        </p:txBody>
      </p:sp>
      <p:sp>
        <p:nvSpPr>
          <p:cNvPr id="30" name="TextBox 29"/>
          <p:cNvSpPr txBox="1"/>
          <p:nvPr/>
        </p:nvSpPr>
        <p:spPr>
          <a:xfrm>
            <a:off x="4275666" y="3953154"/>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professional networks, association chapters and referral chains, not</a:t>
            </a:r>
          </a:p>
          <a:p>
            <a:pPr algn="l">
              <a:lnSpc>
                <a:spcPts val="1378"/>
              </a:lnSpc>
              <a:spcBef>
                <a:spcPts val="0"/>
              </a:spcBef>
              <a:spcAft>
                <a:spcPts val="0"/>
              </a:spcAft>
            </a:pPr>
            <a:r>
              <a:rPr sz="1060" b="0" i="0">
                <a:solidFill>
                  <a:srgbClr val="3A4048"/>
                </a:solidFill>
                <a:latin typeface="Times New Roman"/>
                <a:cs typeface="Times New Roman"/>
              </a:rPr>
              <a:t>general research panels, which held about 6 eligible auditors per</a:t>
            </a:r>
          </a:p>
          <a:p>
            <a:pPr algn="l">
              <a:lnSpc>
                <a:spcPts val="1378"/>
              </a:lnSpc>
              <a:spcBef>
                <a:spcPts val="0"/>
              </a:spcBef>
              <a:spcAft>
                <a:spcPts val="0"/>
              </a:spcAft>
            </a:pPr>
            <a:r>
              <a:rPr sz="1060" b="0" i="0">
                <a:solidFill>
                  <a:srgbClr val="3A4048"/>
                </a:solidFill>
                <a:latin typeface="Times New Roman"/>
                <a:cs typeface="Times New Roman"/>
              </a:rPr>
              <a:t>100,000 in the author's prior study.</a:t>
            </a:r>
          </a:p>
        </p:txBody>
      </p:sp>
      <p:sp>
        <p:nvSpPr>
          <p:cNvPr id="31" name="TextBox 30"/>
          <p:cNvSpPr txBox="1"/>
          <p:nvPr/>
        </p:nvSpPr>
        <p:spPr>
          <a:xfrm>
            <a:off x="8119533" y="1166723"/>
            <a:ext cx="2057145"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INTERVIEW · 60 MINUTES</a:t>
            </a:r>
          </a:p>
        </p:txBody>
      </p:sp>
      <p:cxnSp>
        <p:nvCxnSpPr>
          <p:cNvPr id="32" name="Connector 31"/>
          <p:cNvCxnSpPr/>
          <p:nvPr/>
        </p:nvCxnSpPr>
        <p:spPr>
          <a:xfrm>
            <a:off x="8119533"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19533"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Q1 (textural):</a:t>
            </a:r>
          </a:p>
        </p:txBody>
      </p:sp>
      <p:sp>
        <p:nvSpPr>
          <p:cNvPr id="34" name="TextBox 33"/>
          <p:cNvSpPr txBox="1"/>
          <p:nvPr/>
        </p:nvSpPr>
        <p:spPr>
          <a:xfrm>
            <a:off x="8119533" y="163296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What have you experienced when an AI tool reached the same</a:t>
            </a:r>
          </a:p>
          <a:p>
            <a:pPr algn="l">
              <a:lnSpc>
                <a:spcPts val="1378"/>
              </a:lnSpc>
              <a:spcBef>
                <a:spcPts val="0"/>
              </a:spcBef>
              <a:spcAft>
                <a:spcPts val="0"/>
              </a:spcAft>
            </a:pPr>
            <a:r>
              <a:rPr sz="1060" b="0" i="0">
                <a:solidFill>
                  <a:srgbClr val="3A4048"/>
                </a:solidFill>
                <a:latin typeface="Times New Roman"/>
                <a:cs typeface="Times New Roman"/>
              </a:rPr>
              <a:t>conclusion you had already reached?</a:t>
            </a:r>
          </a:p>
        </p:txBody>
      </p:sp>
      <p:sp>
        <p:nvSpPr>
          <p:cNvPr id="35" name="TextBox 34"/>
          <p:cNvSpPr txBox="1"/>
          <p:nvPr/>
        </p:nvSpPr>
        <p:spPr>
          <a:xfrm>
            <a:off x="8119533" y="206989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Q2 (structural):</a:t>
            </a:r>
          </a:p>
        </p:txBody>
      </p:sp>
      <p:sp>
        <p:nvSpPr>
          <p:cNvPr id="36" name="TextBox 35"/>
          <p:cNvSpPr txBox="1"/>
          <p:nvPr/>
        </p:nvSpPr>
        <p:spPr>
          <a:xfrm>
            <a:off x="8119533" y="2266645"/>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What situations or circumstances have typically influenced how</a:t>
            </a:r>
          </a:p>
          <a:p>
            <a:pPr algn="l">
              <a:lnSpc>
                <a:spcPts val="1378"/>
              </a:lnSpc>
              <a:spcBef>
                <a:spcPts val="0"/>
              </a:spcBef>
              <a:spcAft>
                <a:spcPts val="0"/>
              </a:spcAft>
            </a:pPr>
            <a:r>
              <a:rPr sz="1060" b="0" i="0">
                <a:solidFill>
                  <a:srgbClr val="3A4048"/>
                </a:solidFill>
                <a:latin typeface="Times New Roman"/>
                <a:cs typeface="Times New Roman"/>
              </a:rPr>
              <a:t>you experienced that?</a:t>
            </a:r>
          </a:p>
        </p:txBody>
      </p:sp>
      <p:sp>
        <p:nvSpPr>
          <p:cNvPr id="37" name="TextBox 36"/>
          <p:cNvSpPr txBox="1"/>
          <p:nvPr/>
        </p:nvSpPr>
        <p:spPr>
          <a:xfrm>
            <a:off x="8119533" y="270357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Grounding move:</a:t>
            </a:r>
          </a:p>
        </p:txBody>
      </p:sp>
      <p:sp>
        <p:nvSpPr>
          <p:cNvPr id="38" name="TextBox 37"/>
          <p:cNvSpPr txBox="1"/>
          <p:nvPr/>
        </p:nvSpPr>
        <p:spPr>
          <a:xfrm>
            <a:off x="8119533" y="2900324"/>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before anything else, the participant silently recalls one specific</a:t>
            </a:r>
          </a:p>
          <a:p>
            <a:pPr algn="l">
              <a:lnSpc>
                <a:spcPts val="1378"/>
              </a:lnSpc>
              <a:spcBef>
                <a:spcPts val="0"/>
              </a:spcBef>
              <a:spcAft>
                <a:spcPts val="0"/>
              </a:spcAft>
            </a:pPr>
            <a:r>
              <a:rPr sz="1060" b="0" i="0">
                <a:solidFill>
                  <a:srgbClr val="3A4048"/>
                </a:solidFill>
                <a:latin typeface="Times New Roman"/>
                <a:cs typeface="Times New Roman"/>
              </a:rPr>
              <a:t>occasion. If none comes, the screen failed and the interview ends</a:t>
            </a:r>
          </a:p>
          <a:p>
            <a:pPr algn="l">
              <a:lnSpc>
                <a:spcPts val="1378"/>
              </a:lnSpc>
              <a:spcBef>
                <a:spcPts val="0"/>
              </a:spcBef>
              <a:spcAft>
                <a:spcPts val="0"/>
              </a:spcAft>
            </a:pPr>
            <a:r>
              <a:rPr sz="1060" b="0" i="0">
                <a:solidFill>
                  <a:srgbClr val="3A4048"/>
                </a:solidFill>
                <a:latin typeface="Times New Roman"/>
                <a:cs typeface="Times New Roman"/>
              </a:rPr>
              <a:t>courteously.</a:t>
            </a:r>
          </a:p>
        </p:txBody>
      </p:sp>
      <p:sp>
        <p:nvSpPr>
          <p:cNvPr id="39" name="TextBox 38"/>
          <p:cNvSpPr txBox="1"/>
          <p:nvPr/>
        </p:nvSpPr>
        <p:spPr>
          <a:xfrm>
            <a:off x="8119533" y="3514242"/>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Body: the occasion (20 min) · prior-year conclusion versus AI</a:t>
            </a:r>
          </a:p>
          <a:p>
            <a:pPr algn="l">
              <a:lnSpc>
                <a:spcPts val="1378"/>
              </a:lnSpc>
              <a:spcBef>
                <a:spcPts val="0"/>
              </a:spcBef>
              <a:spcAft>
                <a:spcPts val="0"/>
              </a:spcAft>
            </a:pPr>
            <a:r>
              <a:rPr sz="1060" b="0" i="0">
                <a:solidFill>
                  <a:srgbClr val="3A4048"/>
                </a:solidFill>
                <a:latin typeface="Times New Roman"/>
                <a:cs typeface="Times New Roman"/>
              </a:rPr>
              <a:t>answer (10) · confirmation as evidence (10) · when to stop looking</a:t>
            </a:r>
          </a:p>
          <a:p>
            <a:pPr algn="l">
              <a:lnSpc>
                <a:spcPts val="1378"/>
              </a:lnSpc>
              <a:spcBef>
                <a:spcPts val="0"/>
              </a:spcBef>
              <a:spcAft>
                <a:spcPts val="0"/>
              </a:spcAft>
            </a:pPr>
            <a:r>
              <a:rPr sz="1060" b="0" i="0">
                <a:solidFill>
                  <a:srgbClr val="3A4048"/>
                </a:solidFill>
                <a:latin typeface="Times New Roman"/>
                <a:cs typeface="Times New Roman"/>
              </a:rPr>
              <a:t>(8) · under review (5).</a:t>
            </a:r>
          </a:p>
        </p:txBody>
      </p:sp>
      <p:sp>
        <p:nvSpPr>
          <p:cNvPr id="40" name="TextBox 39"/>
          <p:cNvSpPr txBox="1"/>
          <p:nvPr/>
        </p:nvSpPr>
        <p:spPr>
          <a:xfrm>
            <a:off x="8119533" y="4126179"/>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Never asked:</a:t>
            </a:r>
          </a:p>
        </p:txBody>
      </p:sp>
      <p:sp>
        <p:nvSpPr>
          <p:cNvPr id="41" name="TextBox 40"/>
          <p:cNvSpPr txBox="1"/>
          <p:nvPr/>
        </p:nvSpPr>
        <p:spPr>
          <a:xfrm>
            <a:off x="8119533" y="4322927"/>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"Why did you...?" (produces a defence) · "Would you say you were</a:t>
            </a:r>
          </a:p>
          <a:p>
            <a:pPr algn="l">
              <a:lnSpc>
                <a:spcPts val="1378"/>
              </a:lnSpc>
              <a:spcBef>
                <a:spcPts val="0"/>
              </a:spcBef>
              <a:spcAft>
                <a:spcPts val="0"/>
              </a:spcAft>
            </a:pPr>
            <a:r>
              <a:rPr sz="1060" b="0" i="0">
                <a:solidFill>
                  <a:srgbClr val="3A4048"/>
                </a:solidFill>
                <a:latin typeface="Times New Roman"/>
                <a:cs typeface="Times New Roman"/>
              </a:rPr>
              <a:t>anchored?" (supplies the construct).</a:t>
            </a:r>
          </a:p>
        </p:txBody>
      </p:sp>
      <p:sp>
        <p:nvSpPr>
          <p:cNvPr id="42" name="Rounded Rectangle 41"/>
          <p:cNvSpPr/>
          <p:nvPr/>
        </p:nvSpPr>
        <p:spPr>
          <a:xfrm>
            <a:off x="431800" y="5105400"/>
            <a:ext cx="11328400" cy="1092200"/>
          </a:xfrm>
          <a:prstGeom prst="roundRect">
            <a:avLst>
              <a:gd name="adj" fmla="val 3488"/>
            </a:avLst>
          </a:prstGeom>
          <a:solidFill>
            <a:srgbClr val="FAF3E4"/>
          </a:solidFill>
          <a:ln w="12700">
            <a:solidFill>
              <a:srgbClr val="B6862C"/>
            </a:solidFill>
          </a:ln>
          <a:effectLst/>
        </p:spPr>
        <p:txBody>
          <a:bodyPr rtlCol="0" anchor="ctr"/>
          <a:lstStyle/>
          <a:p>
            <a:pPr algn="ctr"/>
          </a:p>
        </p:txBody>
      </p:sp>
      <p:sp>
        <p:nvSpPr>
          <p:cNvPr id="43" name="Rectangle 42"/>
          <p:cNvSpPr/>
          <p:nvPr/>
        </p:nvSpPr>
        <p:spPr>
          <a:xfrm>
            <a:off x="431800" y="5105400"/>
            <a:ext cx="63500" cy="1092200"/>
          </a:xfrm>
          <a:prstGeom prst="rect">
            <a:avLst/>
          </a:prstGeom>
          <a:solidFill>
            <a:srgbClr val="B6862C"/>
          </a:solidFill>
          <a:ln>
            <a:noFill/>
          </a:ln>
          <a:effectLst/>
        </p:spPr>
        <p:txBody>
          <a:bodyPr rtlCol="0" anchor="ctr"/>
          <a:lstStyle/>
          <a:p>
            <a:pPr algn="ctr"/>
          </a:p>
        </p:txBody>
      </p:sp>
      <p:sp>
        <p:nvSpPr>
          <p:cNvPr id="44" name="TextBox 43"/>
          <p:cNvSpPr txBox="1"/>
          <p:nvPr/>
        </p:nvSpPr>
        <p:spPr>
          <a:xfrm>
            <a:off x="660400" y="5206644"/>
            <a:ext cx="1809496" cy="148590"/>
          </a:xfrm>
          <a:prstGeom prst="rect">
            <a:avLst/>
          </a:prstGeom>
          <a:noFill/>
        </p:spPr>
        <p:txBody>
          <a:bodyPr wrap="none" lIns="0" rIns="0" tIns="0" bIns="0"/>
          <a:lstStyle/>
          <a:p>
            <a:pPr algn="l">
              <a:lnSpc>
                <a:spcPct val="100000"/>
              </a:lnSpc>
              <a:spcBef>
                <a:spcPts val="0"/>
              </a:spcBef>
              <a:spcAft>
                <a:spcPts val="0"/>
              </a:spcAft>
            </a:pPr>
            <a:r>
              <a:rPr sz="780" b="1" i="0" spc="130">
                <a:solidFill>
                  <a:srgbClr val="8A6A1F"/>
                </a:solidFill>
                <a:latin typeface="Consolas"/>
                <a:cs typeface="Consolas"/>
              </a:rPr>
              <a:t>A NOTE FOR DR. GONZALEZ</a:t>
            </a:r>
          </a:p>
        </p:txBody>
      </p:sp>
      <p:sp>
        <p:nvSpPr>
          <p:cNvPr id="45" name="TextBox 44"/>
          <p:cNvSpPr txBox="1"/>
          <p:nvPr/>
        </p:nvSpPr>
        <p:spPr>
          <a:xfrm>
            <a:off x="660400" y="5401259"/>
            <a:ext cx="10883900" cy="424688"/>
          </a:xfrm>
          <a:prstGeom prst="rect">
            <a:avLst/>
          </a:prstGeom>
          <a:noFill/>
        </p:spPr>
        <p:txBody>
          <a:bodyPr wrap="square" lIns="0" rIns="0" tIns="0" bIns="0"/>
          <a:lstStyle/>
          <a:p>
            <a:pPr algn="l">
              <a:lnSpc>
                <a:spcPts val="1360"/>
              </a:lnSpc>
              <a:spcBef>
                <a:spcPts val="0"/>
              </a:spcBef>
              <a:spcAft>
                <a:spcPts val="0"/>
              </a:spcAft>
            </a:pPr>
            <a:r>
              <a:rPr sz="1040" b="0" i="0">
                <a:solidFill>
                  <a:srgbClr val="14171C"/>
                </a:solidFill>
                <a:latin typeface="Times New Roman"/>
                <a:cs typeface="Times New Roman"/>
              </a:rPr>
              <a:t>Dr. Gonzalez, slide 1 is the poster I am presenting in Week 8, simplified as you suggested. These three appendix slides are for you only and are not presented; they set out the sampling, analysis and</a:t>
            </a:r>
          </a:p>
          <a:p>
            <a:pPr algn="l">
              <a:lnSpc>
                <a:spcPts val="1360"/>
              </a:lnSpc>
              <a:spcBef>
                <a:spcPts val="0"/>
              </a:spcBef>
              <a:spcAft>
                <a:spcPts val="0"/>
              </a:spcAft>
            </a:pPr>
            <a:r>
              <a:rPr sz="1040" b="0" i="0">
                <a:solidFill>
                  <a:srgbClr val="14171C"/>
                </a:solidFill>
                <a:latin typeface="Times New Roman"/>
                <a:cs typeface="Times New Roman"/>
              </a:rPr>
              <a:t>validation behind it, and slide 4 shows how I applied your 1 October feedback. The full detail is in the proposal paper. Thank you. Yasir Malik</a:t>
            </a:r>
          </a:p>
        </p:txBody>
      </p:sp>
      <p:cxnSp>
        <p:nvCxnSpPr>
          <p:cNvPr id="46" name="Connector 45"/>
          <p:cNvCxnSpPr/>
          <p:nvPr/>
        </p:nvCxnSpPr>
        <p:spPr>
          <a:xfrm>
            <a:off x="431800" y="6527800"/>
            <a:ext cx="11328400" cy="0"/>
          </a:xfrm>
          <a:prstGeom prst="line">
            <a:avLst/>
          </a:prstGeom>
          <a:ln w="12700">
            <a:solidFill>
              <a:srgbClr val="D8D4CB"/>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31800" y="6594246"/>
            <a:ext cx="7402779" cy="129539"/>
          </a:xfrm>
          <a:prstGeom prst="rect">
            <a:avLst/>
          </a:prstGeom>
          <a:noFill/>
        </p:spPr>
        <p:txBody>
          <a:bodyPr wrap="none" lIns="0" rIns="0" tIns="0" bIns="0"/>
          <a:lstStyle/>
          <a:p>
            <a:pPr algn="l">
              <a:lnSpc>
                <a:spcPct val="100000"/>
              </a:lnSpc>
              <a:spcBef>
                <a:spcPts val="0"/>
              </a:spcBef>
              <a:spcAft>
                <a:spcPts val="0"/>
              </a:spcAft>
            </a:pPr>
            <a:r>
              <a:rPr sz="680" b="0" i="0">
                <a:solidFill>
                  <a:srgbClr val="767D86"/>
                </a:solidFill>
                <a:latin typeface="Times New Roman"/>
                <a:cs typeface="Times New Roman"/>
              </a:rPr>
              <a:t>Source: the author's protocol files, dba/QUALITATIVE/INTERVIEW_GUIDE.md and SAMPLING_AND_RECRUITMENT.md. Nothing has been fielded; zero participants; IRB modification not yet submitted.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87400"/>
          </a:xfrm>
          <a:prstGeom prst="rect">
            <a:avLst/>
          </a:prstGeom>
          <a:solidFill>
            <a:srgbClr val="081E3F"/>
          </a:solidFill>
          <a:ln>
            <a:noFill/>
          </a:ln>
          <a:effectLst/>
        </p:spPr>
        <p:txBody>
          <a:bodyPr rtlCol="0" anchor="ctr"/>
          <a:lstStyle/>
          <a:p>
            <a:pPr algn="ctr"/>
          </a:p>
        </p:txBody>
      </p:sp>
      <p:sp>
        <p:nvSpPr>
          <p:cNvPr id="4" name="TextBox 3"/>
          <p:cNvSpPr txBox="1"/>
          <p:nvPr/>
        </p:nvSpPr>
        <p:spPr>
          <a:xfrm>
            <a:off x="431800" y="127635"/>
            <a:ext cx="4254500" cy="142875"/>
          </a:xfrm>
          <a:prstGeom prst="rect">
            <a:avLst/>
          </a:prstGeom>
          <a:noFill/>
        </p:spPr>
        <p:txBody>
          <a:bodyPr wrap="none" lIns="0" rIns="0" tIns="0" bIns="0"/>
          <a:lstStyle/>
          <a:p>
            <a:pPr algn="l">
              <a:lnSpc>
                <a:spcPct val="100000"/>
              </a:lnSpc>
              <a:spcBef>
                <a:spcPts val="0"/>
              </a:spcBef>
              <a:spcAft>
                <a:spcPts val="0"/>
              </a:spcAft>
            </a:pPr>
            <a:r>
              <a:rPr sz="750" b="1" i="0" spc="140">
                <a:solidFill>
                  <a:srgbClr val="B6862C"/>
                </a:solidFill>
                <a:latin typeface="Consolas"/>
                <a:cs typeface="Consolas"/>
              </a:rPr>
              <a:t>APPENDIX B  ·  NOT PRESENTED  ·  DETAIL FOR DR. GONZALEZ</a:t>
            </a:r>
          </a:p>
        </p:txBody>
      </p:sp>
      <p:sp>
        <p:nvSpPr>
          <p:cNvPr id="5" name="TextBox 4"/>
          <p:cNvSpPr txBox="1"/>
          <p:nvPr/>
        </p:nvSpPr>
        <p:spPr>
          <a:xfrm>
            <a:off x="431800" y="235458"/>
            <a:ext cx="1732216" cy="400050"/>
          </a:xfrm>
          <a:prstGeom prst="rect">
            <a:avLst/>
          </a:prstGeom>
          <a:noFill/>
        </p:spPr>
        <p:txBody>
          <a:bodyPr wrap="none" lIns="0" rIns="0" tIns="0" bIns="0"/>
          <a:lstStyle/>
          <a:p>
            <a:pPr algn="l">
              <a:lnSpc>
                <a:spcPct val="100000"/>
              </a:lnSpc>
              <a:spcBef>
                <a:spcPts val="0"/>
              </a:spcBef>
              <a:spcAft>
                <a:spcPts val="0"/>
              </a:spcAft>
            </a:pPr>
            <a:r>
              <a:rPr sz="2100" b="1" i="0">
                <a:solidFill>
                  <a:srgbClr val="FFFFFF"/>
                </a:solidFill>
                <a:latin typeface="Times New Roman"/>
                <a:cs typeface="Times New Roman"/>
              </a:rPr>
              <a:t>Data analysis</a:t>
            </a:r>
          </a:p>
        </p:txBody>
      </p:sp>
      <p:sp>
        <p:nvSpPr>
          <p:cNvPr id="6" name="TextBox 5"/>
          <p:cNvSpPr txBox="1"/>
          <p:nvPr/>
        </p:nvSpPr>
        <p:spPr>
          <a:xfrm>
            <a:off x="9248095" y="149733"/>
            <a:ext cx="2512104" cy="161925"/>
          </a:xfrm>
          <a:prstGeom prst="rect">
            <a:avLst/>
          </a:prstGeom>
          <a:noFill/>
        </p:spPr>
        <p:txBody>
          <a:bodyPr wrap="none" lIns="0" rIns="0" tIns="0" bIns="0"/>
          <a:lstStyle/>
          <a:p>
            <a:pPr algn="r">
              <a:lnSpc>
                <a:spcPct val="100000"/>
              </a:lnSpc>
              <a:spcBef>
                <a:spcPts val="0"/>
              </a:spcBef>
              <a:spcAft>
                <a:spcPts val="0"/>
              </a:spcAft>
            </a:pPr>
            <a:r>
              <a:rPr sz="850" b="0" i="0">
                <a:solidFill>
                  <a:srgbClr val="B9C7D8"/>
                </a:solidFill>
                <a:latin typeface="Times New Roman"/>
                <a:cs typeface="Times New Roman"/>
              </a:rPr>
              <a:t>Receiving Confirmation  ·  Yasir A. Malik  ·  GEB 7911</a:t>
            </a:r>
          </a:p>
        </p:txBody>
      </p:sp>
      <p:sp>
        <p:nvSpPr>
          <p:cNvPr id="7" name="TextBox 6"/>
          <p:cNvSpPr txBox="1"/>
          <p:nvPr/>
        </p:nvSpPr>
        <p:spPr>
          <a:xfrm>
            <a:off x="431800" y="878078"/>
            <a:ext cx="6563804" cy="209550"/>
          </a:xfrm>
          <a:prstGeom prst="rect">
            <a:avLst/>
          </a:prstGeom>
          <a:noFill/>
        </p:spPr>
        <p:txBody>
          <a:bodyPr wrap="none" lIns="0" rIns="0" tIns="0" bIns="0"/>
          <a:lstStyle/>
          <a:p>
            <a:pPr algn="l">
              <a:lnSpc>
                <a:spcPct val="100000"/>
              </a:lnSpc>
              <a:spcBef>
                <a:spcPts val="0"/>
              </a:spcBef>
              <a:spcAft>
                <a:spcPts val="0"/>
              </a:spcAft>
            </a:pPr>
            <a:r>
              <a:rPr sz="1100" b="0" i="1">
                <a:solidFill>
                  <a:srgbClr val="3A4048"/>
                </a:solidFill>
                <a:latin typeface="Times New Roman"/>
                <a:cs typeface="Times New Roman"/>
              </a:rPr>
              <a:t>Creswell and Poth's five analysis activities, carried out through Moustakas-style phenomenological steps in NVivo.</a:t>
            </a:r>
          </a:p>
        </p:txBody>
      </p:sp>
      <p:sp>
        <p:nvSpPr>
          <p:cNvPr id="8" name="TextBox 7"/>
          <p:cNvSpPr txBox="1"/>
          <p:nvPr/>
        </p:nvSpPr>
        <p:spPr>
          <a:xfrm>
            <a:off x="431800" y="1166723"/>
            <a:ext cx="1521967"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FIVE ACTIVITIES</a:t>
            </a:r>
          </a:p>
        </p:txBody>
      </p:sp>
      <p:cxnSp>
        <p:nvCxnSpPr>
          <p:cNvPr id="9" name="Connector 8"/>
          <p:cNvCxnSpPr/>
          <p:nvPr/>
        </p:nvCxnSpPr>
        <p:spPr>
          <a:xfrm>
            <a:off x="431800" y="1346200"/>
            <a:ext cx="3640666"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1800"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1. Managing and organising the data.</a:t>
            </a:r>
          </a:p>
        </p:txBody>
      </p:sp>
      <p:sp>
        <p:nvSpPr>
          <p:cNvPr id="11" name="TextBox 10"/>
          <p:cNvSpPr txBox="1"/>
          <p:nvPr/>
        </p:nvSpPr>
        <p:spPr>
          <a:xfrm>
            <a:off x="431800" y="163296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Verbatim transcripts, pseudonyms at transcription, encrypted</a:t>
            </a:r>
          </a:p>
          <a:p>
            <a:pPr algn="l">
              <a:lnSpc>
                <a:spcPts val="1378"/>
              </a:lnSpc>
              <a:spcBef>
                <a:spcPts val="0"/>
              </a:spcBef>
              <a:spcAft>
                <a:spcPts val="0"/>
              </a:spcAft>
            </a:pPr>
            <a:r>
              <a:rPr sz="1060" b="0" i="0">
                <a:solidFill>
                  <a:srgbClr val="3A4048"/>
                </a:solidFill>
                <a:latin typeface="Times New Roman"/>
                <a:cs typeface="Times New Roman"/>
              </a:rPr>
              <a:t>storage, one NVivo project.</a:t>
            </a:r>
          </a:p>
        </p:txBody>
      </p:sp>
      <p:sp>
        <p:nvSpPr>
          <p:cNvPr id="12" name="TextBox 11"/>
          <p:cNvSpPr txBox="1"/>
          <p:nvPr/>
        </p:nvSpPr>
        <p:spPr>
          <a:xfrm>
            <a:off x="431800" y="206989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2. Reading and memoing.</a:t>
            </a:r>
          </a:p>
        </p:txBody>
      </p:sp>
      <p:sp>
        <p:nvSpPr>
          <p:cNvPr id="13" name="TextBox 12"/>
          <p:cNvSpPr txBox="1"/>
          <p:nvPr/>
        </p:nvSpPr>
        <p:spPr>
          <a:xfrm>
            <a:off x="431800" y="2266645"/>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 reflexive memo before each listen-back, and emergent ideas</a:t>
            </a:r>
          </a:p>
          <a:p>
            <a:pPr algn="l">
              <a:lnSpc>
                <a:spcPts val="1378"/>
              </a:lnSpc>
              <a:spcBef>
                <a:spcPts val="0"/>
              </a:spcBef>
              <a:spcAft>
                <a:spcPts val="0"/>
              </a:spcAft>
            </a:pPr>
            <a:r>
              <a:rPr sz="1060" b="0" i="0">
                <a:solidFill>
                  <a:srgbClr val="3A4048"/>
                </a:solidFill>
                <a:latin typeface="Times New Roman"/>
                <a:cs typeface="Times New Roman"/>
              </a:rPr>
              <a:t>memoed from the first transcript.</a:t>
            </a:r>
          </a:p>
        </p:txBody>
      </p:sp>
      <p:sp>
        <p:nvSpPr>
          <p:cNvPr id="14" name="TextBox 13"/>
          <p:cNvSpPr txBox="1"/>
          <p:nvPr/>
        </p:nvSpPr>
        <p:spPr>
          <a:xfrm>
            <a:off x="431800" y="270357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3. Describing and classifying codes into themes.</a:t>
            </a:r>
          </a:p>
        </p:txBody>
      </p:sp>
      <p:sp>
        <p:nvSpPr>
          <p:cNvPr id="15" name="TextBox 14"/>
          <p:cNvSpPr txBox="1"/>
          <p:nvPr/>
        </p:nvSpPr>
        <p:spPr>
          <a:xfrm>
            <a:off x="431800" y="2900324"/>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Horizontalisation, then meaning units, then clusters.</a:t>
            </a:r>
          </a:p>
        </p:txBody>
      </p:sp>
      <p:sp>
        <p:nvSpPr>
          <p:cNvPr id="16" name="TextBox 15"/>
          <p:cNvSpPr txBox="1"/>
          <p:nvPr/>
        </p:nvSpPr>
        <p:spPr>
          <a:xfrm>
            <a:off x="431800" y="3162249"/>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4. Developing and assessing interpretations.</a:t>
            </a:r>
          </a:p>
        </p:txBody>
      </p:sp>
      <p:sp>
        <p:nvSpPr>
          <p:cNvPr id="17" name="TextBox 16"/>
          <p:cNvSpPr txBox="1"/>
          <p:nvPr/>
        </p:nvSpPr>
        <p:spPr>
          <a:xfrm>
            <a:off x="431800" y="3358997"/>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 mandatory disconfirming pass before anything is written up.</a:t>
            </a:r>
          </a:p>
        </p:txBody>
      </p:sp>
      <p:sp>
        <p:nvSpPr>
          <p:cNvPr id="18" name="TextBox 17"/>
          <p:cNvSpPr txBox="1"/>
          <p:nvPr/>
        </p:nvSpPr>
        <p:spPr>
          <a:xfrm>
            <a:off x="431800" y="3620922"/>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5. Representing the data.</a:t>
            </a:r>
          </a:p>
        </p:txBody>
      </p:sp>
      <p:sp>
        <p:nvSpPr>
          <p:cNvPr id="19" name="TextBox 18"/>
          <p:cNvSpPr txBox="1"/>
          <p:nvPr/>
        </p:nvSpPr>
        <p:spPr>
          <a:xfrm>
            <a:off x="431800" y="3817670"/>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Textural, structural and composite descriptions, quoting rather than</a:t>
            </a:r>
          </a:p>
          <a:p>
            <a:pPr algn="l">
              <a:lnSpc>
                <a:spcPts val="1378"/>
              </a:lnSpc>
              <a:spcBef>
                <a:spcPts val="0"/>
              </a:spcBef>
              <a:spcAft>
                <a:spcPts val="0"/>
              </a:spcAft>
            </a:pPr>
            <a:r>
              <a:rPr sz="1060" b="0" i="0">
                <a:solidFill>
                  <a:srgbClr val="3A4048"/>
                </a:solidFill>
                <a:latin typeface="Times New Roman"/>
                <a:cs typeface="Times New Roman"/>
              </a:rPr>
              <a:t>paraphrasing.</a:t>
            </a:r>
          </a:p>
        </p:txBody>
      </p:sp>
      <p:sp>
        <p:nvSpPr>
          <p:cNvPr id="20" name="TextBox 19"/>
          <p:cNvSpPr txBox="1"/>
          <p:nvPr/>
        </p:nvSpPr>
        <p:spPr>
          <a:xfrm>
            <a:off x="4275666" y="1166723"/>
            <a:ext cx="2057145"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PHENOMENOLOGICAL STEPS</a:t>
            </a:r>
          </a:p>
        </p:txBody>
      </p:sp>
      <p:cxnSp>
        <p:nvCxnSpPr>
          <p:cNvPr id="21" name="Connector 20"/>
          <p:cNvCxnSpPr/>
          <p:nvPr/>
        </p:nvCxnSpPr>
        <p:spPr>
          <a:xfrm>
            <a:off x="4275666"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75666"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Epoché first.</a:t>
            </a:r>
          </a:p>
        </p:txBody>
      </p:sp>
      <p:sp>
        <p:nvSpPr>
          <p:cNvPr id="23" name="TextBox 22"/>
          <p:cNvSpPr txBox="1"/>
          <p:nvPr/>
        </p:nvSpPr>
        <p:spPr>
          <a:xfrm>
            <a:off x="4275666" y="163296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Four written commitments, including the author's stake in the</a:t>
            </a:r>
          </a:p>
          <a:p>
            <a:pPr algn="l">
              <a:lnSpc>
                <a:spcPts val="1378"/>
              </a:lnSpc>
              <a:spcBef>
                <a:spcPts val="0"/>
              </a:spcBef>
              <a:spcAft>
                <a:spcPts val="0"/>
              </a:spcAft>
            </a:pPr>
            <a:r>
              <a:rPr sz="1060" b="0" i="0">
                <a:solidFill>
                  <a:srgbClr val="3A4048"/>
                </a:solidFill>
                <a:latin typeface="Times New Roman"/>
                <a:cs typeface="Times New Roman"/>
              </a:rPr>
              <a:t>answer, set down before the first interview.</a:t>
            </a:r>
          </a:p>
        </p:txBody>
      </p:sp>
      <p:sp>
        <p:nvSpPr>
          <p:cNvPr id="24" name="TextBox 23"/>
          <p:cNvSpPr txBox="1"/>
          <p:nvPr/>
        </p:nvSpPr>
        <p:spPr>
          <a:xfrm>
            <a:off x="4275666" y="206989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Horizontalisation.</a:t>
            </a:r>
          </a:p>
        </p:txBody>
      </p:sp>
      <p:sp>
        <p:nvSpPr>
          <p:cNvPr id="25" name="TextBox 24"/>
          <p:cNvSpPr txBox="1"/>
          <p:nvPr/>
        </p:nvSpPr>
        <p:spPr>
          <a:xfrm>
            <a:off x="4275666" y="2266645"/>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Every significant statement listed, each given equal weight.</a:t>
            </a:r>
          </a:p>
        </p:txBody>
      </p:sp>
      <p:sp>
        <p:nvSpPr>
          <p:cNvPr id="26" name="TextBox 25"/>
          <p:cNvSpPr txBox="1"/>
          <p:nvPr/>
        </p:nvSpPr>
        <p:spPr>
          <a:xfrm>
            <a:off x="4275666" y="2528570"/>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Meaning units and themes.</a:t>
            </a:r>
          </a:p>
        </p:txBody>
      </p:sp>
      <p:sp>
        <p:nvSpPr>
          <p:cNvPr id="27" name="TextBox 26"/>
          <p:cNvSpPr txBox="1"/>
          <p:nvPr/>
        </p:nvSpPr>
        <p:spPr>
          <a:xfrm>
            <a:off x="4275666" y="2725318"/>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Statements reduced to non-overlapping units, then clustered.</a:t>
            </a:r>
          </a:p>
        </p:txBody>
      </p:sp>
      <p:sp>
        <p:nvSpPr>
          <p:cNvPr id="28" name="TextBox 27"/>
          <p:cNvSpPr txBox="1"/>
          <p:nvPr/>
        </p:nvSpPr>
        <p:spPr>
          <a:xfrm>
            <a:off x="4275666" y="2987243"/>
            <a:ext cx="3653366" cy="449478"/>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Textural (what) and structural (how, in what context)</a:t>
            </a:r>
          </a:p>
          <a:p>
            <a:pPr algn="l">
              <a:lnSpc>
                <a:spcPts val="1433"/>
              </a:lnSpc>
              <a:spcBef>
                <a:spcPts val="0"/>
              </a:spcBef>
              <a:spcAft>
                <a:spcPts val="0"/>
              </a:spcAft>
            </a:pPr>
            <a:r>
              <a:rPr sz="1120" b="1" i="0">
                <a:solidFill>
                  <a:srgbClr val="14171C"/>
                </a:solidFill>
                <a:latin typeface="Times New Roman"/>
                <a:cs typeface="Times New Roman"/>
              </a:rPr>
              <a:t>descriptions,</a:t>
            </a:r>
          </a:p>
        </p:txBody>
      </p:sp>
      <p:sp>
        <p:nvSpPr>
          <p:cNvPr id="29" name="TextBox 28"/>
          <p:cNvSpPr txBox="1"/>
          <p:nvPr/>
        </p:nvSpPr>
        <p:spPr>
          <a:xfrm>
            <a:off x="4275666" y="3366058"/>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for each participant and then across all of them.</a:t>
            </a:r>
          </a:p>
        </p:txBody>
      </p:sp>
      <p:sp>
        <p:nvSpPr>
          <p:cNvPr id="30" name="TextBox 29"/>
          <p:cNvSpPr txBox="1"/>
          <p:nvPr/>
        </p:nvSpPr>
        <p:spPr>
          <a:xfrm>
            <a:off x="4275666" y="3627983"/>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Composite essence.</a:t>
            </a:r>
          </a:p>
        </p:txBody>
      </p:sp>
      <p:sp>
        <p:nvSpPr>
          <p:cNvPr id="31" name="TextBox 30"/>
          <p:cNvSpPr txBox="1"/>
          <p:nvPr/>
        </p:nvSpPr>
        <p:spPr>
          <a:xfrm>
            <a:off x="4275666" y="3824732"/>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Two rules: no causal language, and no frequency claims such as</a:t>
            </a:r>
          </a:p>
          <a:p>
            <a:pPr algn="l">
              <a:lnSpc>
                <a:spcPts val="1378"/>
              </a:lnSpc>
              <a:spcBef>
                <a:spcPts val="0"/>
              </a:spcBef>
              <a:spcAft>
                <a:spcPts val="0"/>
              </a:spcAft>
            </a:pPr>
            <a:r>
              <a:rPr sz="1060" b="0" i="0">
                <a:solidFill>
                  <a:srgbClr val="3A4048"/>
                </a:solidFill>
                <a:latin typeface="Times New Roman"/>
                <a:cs typeface="Times New Roman"/>
              </a:rPr>
              <a:t>"most participants".</a:t>
            </a:r>
          </a:p>
        </p:txBody>
      </p:sp>
      <p:sp>
        <p:nvSpPr>
          <p:cNvPr id="32" name="TextBox 31"/>
          <p:cNvSpPr txBox="1"/>
          <p:nvPr/>
        </p:nvSpPr>
        <p:spPr>
          <a:xfrm>
            <a:off x="8119533" y="1166723"/>
            <a:ext cx="1216152"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AI BOUNDARY</a:t>
            </a:r>
          </a:p>
        </p:txBody>
      </p:sp>
      <p:cxnSp>
        <p:nvCxnSpPr>
          <p:cNvPr id="33" name="Connector 32"/>
          <p:cNvCxnSpPr/>
          <p:nvPr/>
        </p:nvCxnSpPr>
        <p:spPr>
          <a:xfrm>
            <a:off x="8119533"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119533"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AI may:</a:t>
            </a:r>
          </a:p>
        </p:txBody>
      </p:sp>
      <p:sp>
        <p:nvSpPr>
          <p:cNvPr id="35" name="TextBox 34"/>
          <p:cNvSpPr txBox="1"/>
          <p:nvPr/>
        </p:nvSpPr>
        <p:spPr>
          <a:xfrm>
            <a:off x="8119533" y="1632966"/>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transcribe audio · format and tabulate what the author has already</a:t>
            </a:r>
          </a:p>
          <a:p>
            <a:pPr algn="l">
              <a:lnSpc>
                <a:spcPts val="1378"/>
              </a:lnSpc>
              <a:spcBef>
                <a:spcPts val="0"/>
              </a:spcBef>
              <a:spcAft>
                <a:spcPts val="0"/>
              </a:spcAft>
            </a:pPr>
            <a:r>
              <a:rPr sz="1060" b="0" i="0">
                <a:solidFill>
                  <a:srgbClr val="3A4048"/>
                </a:solidFill>
                <a:latin typeface="Times New Roman"/>
                <a:cs typeface="Times New Roman"/>
              </a:rPr>
              <a:t>coded · check prose for clarity and grammar · act as an adversary</a:t>
            </a:r>
          </a:p>
          <a:p>
            <a:pPr algn="l">
              <a:lnSpc>
                <a:spcPts val="1378"/>
              </a:lnSpc>
              <a:spcBef>
                <a:spcPts val="0"/>
              </a:spcBef>
              <a:spcAft>
                <a:spcPts val="0"/>
              </a:spcAft>
            </a:pPr>
            <a:r>
              <a:rPr sz="1060" b="0" i="0">
                <a:solidFill>
                  <a:srgbClr val="3A4048"/>
                </a:solidFill>
                <a:latin typeface="Times New Roman"/>
                <a:cs typeface="Times New Roman"/>
              </a:rPr>
              <a:t>("what have I missed?") · find literature.</a:t>
            </a:r>
          </a:p>
        </p:txBody>
      </p:sp>
      <p:sp>
        <p:nvSpPr>
          <p:cNvPr id="36" name="TextBox 35"/>
          <p:cNvSpPr txBox="1"/>
          <p:nvPr/>
        </p:nvSpPr>
        <p:spPr>
          <a:xfrm>
            <a:off x="8119533" y="2244902"/>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AI may not:</a:t>
            </a:r>
          </a:p>
        </p:txBody>
      </p:sp>
      <p:sp>
        <p:nvSpPr>
          <p:cNvPr id="37" name="TextBox 36"/>
          <p:cNvSpPr txBox="1"/>
          <p:nvPr/>
        </p:nvSpPr>
        <p:spPr>
          <a:xfrm>
            <a:off x="8119533" y="2441651"/>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assign a code or meaning unit · name a theme · write any part of a</a:t>
            </a:r>
          </a:p>
          <a:p>
            <a:pPr algn="l">
              <a:lnSpc>
                <a:spcPts val="1378"/>
              </a:lnSpc>
              <a:spcBef>
                <a:spcPts val="0"/>
              </a:spcBef>
              <a:spcAft>
                <a:spcPts val="0"/>
              </a:spcAft>
            </a:pPr>
            <a:r>
              <a:rPr sz="1060" b="0" i="0">
                <a:solidFill>
                  <a:srgbClr val="3A4048"/>
                </a:solidFill>
                <a:latin typeface="Times New Roman"/>
                <a:cs typeface="Times New Roman"/>
              </a:rPr>
              <a:t>description · decide what a participant meant · decide when to stop</a:t>
            </a:r>
          </a:p>
          <a:p>
            <a:pPr algn="l">
              <a:lnSpc>
                <a:spcPts val="1378"/>
              </a:lnSpc>
              <a:spcBef>
                <a:spcPts val="0"/>
              </a:spcBef>
              <a:spcAft>
                <a:spcPts val="0"/>
              </a:spcAft>
            </a:pPr>
            <a:r>
              <a:rPr sz="1060" b="0" i="0">
                <a:solidFill>
                  <a:srgbClr val="3A4048"/>
                </a:solidFill>
                <a:latin typeface="Times New Roman"/>
                <a:cs typeface="Times New Roman"/>
              </a:rPr>
              <a:t>interviewing.</a:t>
            </a:r>
          </a:p>
        </p:txBody>
      </p:sp>
      <p:sp>
        <p:nvSpPr>
          <p:cNvPr id="38" name="TextBox 37"/>
          <p:cNvSpPr txBox="1"/>
          <p:nvPr/>
        </p:nvSpPr>
        <p:spPr>
          <a:xfrm>
            <a:off x="8119533" y="3053588"/>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Why the line sits here:</a:t>
            </a:r>
          </a:p>
        </p:txBody>
      </p:sp>
      <p:sp>
        <p:nvSpPr>
          <p:cNvPr id="39" name="TextBox 38"/>
          <p:cNvSpPr txBox="1"/>
          <p:nvPr/>
        </p:nvSpPr>
        <p:spPr>
          <a:xfrm>
            <a:off x="8119533" y="3250336"/>
            <a:ext cx="3653366" cy="780796"/>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the study examines what happens when a machine reaches a</a:t>
            </a:r>
          </a:p>
          <a:p>
            <a:pPr algn="l">
              <a:lnSpc>
                <a:spcPts val="1378"/>
              </a:lnSpc>
              <a:spcBef>
                <a:spcPts val="0"/>
              </a:spcBef>
              <a:spcAft>
                <a:spcPts val="0"/>
              </a:spcAft>
            </a:pPr>
            <a:r>
              <a:rPr sz="1060" b="0" i="0">
                <a:solidFill>
                  <a:srgbClr val="3A4048"/>
                </a:solidFill>
                <a:latin typeface="Times New Roman"/>
                <a:cs typeface="Times New Roman"/>
              </a:rPr>
              <a:t>conclusion first and a human agrees with it. Letting a model</a:t>
            </a:r>
          </a:p>
          <a:p>
            <a:pPr algn="l">
              <a:lnSpc>
                <a:spcPts val="1378"/>
              </a:lnSpc>
              <a:spcBef>
                <a:spcPts val="0"/>
              </a:spcBef>
              <a:spcAft>
                <a:spcPts val="0"/>
              </a:spcAft>
            </a:pPr>
            <a:r>
              <a:rPr sz="1060" b="0" i="0">
                <a:solidFill>
                  <a:srgbClr val="3A4048"/>
                </a:solidFill>
                <a:latin typeface="Times New Roman"/>
                <a:cs typeface="Times New Roman"/>
              </a:rPr>
              <a:t>propose themes and then agreeing with them would reproduce the</a:t>
            </a:r>
          </a:p>
          <a:p>
            <a:pPr algn="l">
              <a:lnSpc>
                <a:spcPts val="1378"/>
              </a:lnSpc>
              <a:spcBef>
                <a:spcPts val="0"/>
              </a:spcBef>
              <a:spcAft>
                <a:spcPts val="0"/>
              </a:spcAft>
            </a:pPr>
            <a:r>
              <a:rPr sz="1060" b="0" i="0">
                <a:solidFill>
                  <a:srgbClr val="3A4048"/>
                </a:solidFill>
                <a:latin typeface="Times New Roman"/>
                <a:cs typeface="Times New Roman"/>
              </a:rPr>
              <a:t>phenomenon inside its own analysis.</a:t>
            </a:r>
          </a:p>
        </p:txBody>
      </p:sp>
      <p:sp>
        <p:nvSpPr>
          <p:cNvPr id="40" name="TextBox 39"/>
          <p:cNvSpPr txBox="1"/>
          <p:nvPr/>
        </p:nvSpPr>
        <p:spPr>
          <a:xfrm>
            <a:off x="8119533" y="4039260"/>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Every AI use is logged with date, tool, request and outcome (FIU</a:t>
            </a:r>
          </a:p>
          <a:p>
            <a:pPr algn="l">
              <a:lnSpc>
                <a:spcPts val="1378"/>
              </a:lnSpc>
              <a:spcBef>
                <a:spcPts val="0"/>
              </a:spcBef>
              <a:spcAft>
                <a:spcPts val="0"/>
              </a:spcAft>
            </a:pPr>
            <a:r>
              <a:rPr sz="1060" b="0" i="0">
                <a:solidFill>
                  <a:srgbClr val="3A4048"/>
                </a:solidFill>
                <a:latin typeface="Times New Roman"/>
                <a:cs typeface="Times New Roman"/>
              </a:rPr>
              <a:t>Graduate School AI policy; GEB 7911 limits).</a:t>
            </a:r>
          </a:p>
        </p:txBody>
      </p:sp>
      <p:cxnSp>
        <p:nvCxnSpPr>
          <p:cNvPr id="41" name="Connector 40"/>
          <p:cNvCxnSpPr/>
          <p:nvPr/>
        </p:nvCxnSpPr>
        <p:spPr>
          <a:xfrm>
            <a:off x="431800" y="6527800"/>
            <a:ext cx="11328400" cy="0"/>
          </a:xfrm>
          <a:prstGeom prst="line">
            <a:avLst/>
          </a:prstGeom>
          <a:ln w="12700">
            <a:solidFill>
              <a:srgbClr val="D8D4CB"/>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31800" y="6594246"/>
            <a:ext cx="5934227" cy="129539"/>
          </a:xfrm>
          <a:prstGeom prst="rect">
            <a:avLst/>
          </a:prstGeom>
          <a:noFill/>
        </p:spPr>
        <p:txBody>
          <a:bodyPr wrap="none" lIns="0" rIns="0" tIns="0" bIns="0"/>
          <a:lstStyle/>
          <a:p>
            <a:pPr algn="l">
              <a:lnSpc>
                <a:spcPct val="100000"/>
              </a:lnSpc>
              <a:spcBef>
                <a:spcPts val="0"/>
              </a:spcBef>
              <a:spcAft>
                <a:spcPts val="0"/>
              </a:spcAft>
            </a:pPr>
            <a:r>
              <a:rPr sz="680" b="0" i="0">
                <a:solidFill>
                  <a:srgbClr val="767D86"/>
                </a:solidFill>
                <a:latin typeface="Times New Roman"/>
                <a:cs typeface="Times New Roman"/>
              </a:rPr>
              <a:t>Source: dba/QUALITATIVE/CODING_PLAN.md. The analysis plan follows the course's prescribed activities rather than a self-invented procedure, as asked in Week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87400"/>
          </a:xfrm>
          <a:prstGeom prst="rect">
            <a:avLst/>
          </a:prstGeom>
          <a:solidFill>
            <a:srgbClr val="081E3F"/>
          </a:solidFill>
          <a:ln>
            <a:noFill/>
          </a:ln>
          <a:effectLst/>
        </p:spPr>
        <p:txBody>
          <a:bodyPr rtlCol="0" anchor="ctr"/>
          <a:lstStyle/>
          <a:p>
            <a:pPr algn="ctr"/>
          </a:p>
        </p:txBody>
      </p:sp>
      <p:sp>
        <p:nvSpPr>
          <p:cNvPr id="4" name="TextBox 3"/>
          <p:cNvSpPr txBox="1"/>
          <p:nvPr/>
        </p:nvSpPr>
        <p:spPr>
          <a:xfrm>
            <a:off x="431800" y="127635"/>
            <a:ext cx="4254500" cy="142875"/>
          </a:xfrm>
          <a:prstGeom prst="rect">
            <a:avLst/>
          </a:prstGeom>
          <a:noFill/>
        </p:spPr>
        <p:txBody>
          <a:bodyPr wrap="none" lIns="0" rIns="0" tIns="0" bIns="0"/>
          <a:lstStyle/>
          <a:p>
            <a:pPr algn="l">
              <a:lnSpc>
                <a:spcPct val="100000"/>
              </a:lnSpc>
              <a:spcBef>
                <a:spcPts val="0"/>
              </a:spcBef>
              <a:spcAft>
                <a:spcPts val="0"/>
              </a:spcAft>
            </a:pPr>
            <a:r>
              <a:rPr sz="750" b="1" i="0" spc="140">
                <a:solidFill>
                  <a:srgbClr val="B6862C"/>
                </a:solidFill>
                <a:latin typeface="Consolas"/>
                <a:cs typeface="Consolas"/>
              </a:rPr>
              <a:t>APPENDIX C  ·  NOT PRESENTED  ·  DETAIL FOR DR. GONZALEZ</a:t>
            </a:r>
          </a:p>
        </p:txBody>
      </p:sp>
      <p:sp>
        <p:nvSpPr>
          <p:cNvPr id="5" name="TextBox 4"/>
          <p:cNvSpPr txBox="1"/>
          <p:nvPr/>
        </p:nvSpPr>
        <p:spPr>
          <a:xfrm>
            <a:off x="431800" y="235458"/>
            <a:ext cx="4577638" cy="400050"/>
          </a:xfrm>
          <a:prstGeom prst="rect">
            <a:avLst/>
          </a:prstGeom>
          <a:noFill/>
        </p:spPr>
        <p:txBody>
          <a:bodyPr wrap="none" lIns="0" rIns="0" tIns="0" bIns="0"/>
          <a:lstStyle/>
          <a:p>
            <a:pPr algn="l">
              <a:lnSpc>
                <a:spcPct val="100000"/>
              </a:lnSpc>
              <a:spcBef>
                <a:spcPts val="0"/>
              </a:spcBef>
              <a:spcAft>
                <a:spcPts val="0"/>
              </a:spcAft>
            </a:pPr>
            <a:r>
              <a:rPr sz="2100" b="1" i="0">
                <a:solidFill>
                  <a:srgbClr val="FFFFFF"/>
                </a:solidFill>
                <a:latin typeface="Times New Roman"/>
                <a:cs typeface="Times New Roman"/>
              </a:rPr>
              <a:t>Validation, and your feedback applied</a:t>
            </a:r>
          </a:p>
        </p:txBody>
      </p:sp>
      <p:sp>
        <p:nvSpPr>
          <p:cNvPr id="6" name="TextBox 5"/>
          <p:cNvSpPr txBox="1"/>
          <p:nvPr/>
        </p:nvSpPr>
        <p:spPr>
          <a:xfrm>
            <a:off x="9248095" y="149733"/>
            <a:ext cx="2512104" cy="161925"/>
          </a:xfrm>
          <a:prstGeom prst="rect">
            <a:avLst/>
          </a:prstGeom>
          <a:noFill/>
        </p:spPr>
        <p:txBody>
          <a:bodyPr wrap="none" lIns="0" rIns="0" tIns="0" bIns="0"/>
          <a:lstStyle/>
          <a:p>
            <a:pPr algn="r">
              <a:lnSpc>
                <a:spcPct val="100000"/>
              </a:lnSpc>
              <a:spcBef>
                <a:spcPts val="0"/>
              </a:spcBef>
              <a:spcAft>
                <a:spcPts val="0"/>
              </a:spcAft>
            </a:pPr>
            <a:r>
              <a:rPr sz="850" b="0" i="0">
                <a:solidFill>
                  <a:srgbClr val="B9C7D8"/>
                </a:solidFill>
                <a:latin typeface="Times New Roman"/>
                <a:cs typeface="Times New Roman"/>
              </a:rPr>
              <a:t>Receiving Confirmation  ·  Yasir A. Malik  ·  GEB 7911</a:t>
            </a:r>
          </a:p>
        </p:txBody>
      </p:sp>
      <p:sp>
        <p:nvSpPr>
          <p:cNvPr id="7" name="TextBox 6"/>
          <p:cNvSpPr txBox="1"/>
          <p:nvPr/>
        </p:nvSpPr>
        <p:spPr>
          <a:xfrm>
            <a:off x="431800" y="878078"/>
            <a:ext cx="5241823" cy="209550"/>
          </a:xfrm>
          <a:prstGeom prst="rect">
            <a:avLst/>
          </a:prstGeom>
          <a:noFill/>
        </p:spPr>
        <p:txBody>
          <a:bodyPr wrap="none" lIns="0" rIns="0" tIns="0" bIns="0"/>
          <a:lstStyle/>
          <a:p>
            <a:pPr algn="l">
              <a:lnSpc>
                <a:spcPct val="100000"/>
              </a:lnSpc>
              <a:spcBef>
                <a:spcPts val="0"/>
              </a:spcBef>
              <a:spcAft>
                <a:spcPts val="0"/>
              </a:spcAft>
            </a:pPr>
            <a:r>
              <a:rPr sz="1100" b="0" i="1">
                <a:solidFill>
                  <a:srgbClr val="3A4048"/>
                </a:solidFill>
                <a:latin typeface="Times New Roman"/>
                <a:cs typeface="Times New Roman"/>
              </a:rPr>
              <a:t>Chapter 10: at least two strategies, drawn from more than one lens. This design uses seven.</a:t>
            </a:r>
          </a:p>
        </p:txBody>
      </p:sp>
      <p:sp>
        <p:nvSpPr>
          <p:cNvPr id="8" name="TextBox 7"/>
          <p:cNvSpPr txBox="1"/>
          <p:nvPr/>
        </p:nvSpPr>
        <p:spPr>
          <a:xfrm>
            <a:off x="431800" y="1166723"/>
            <a:ext cx="1674876"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RESEARCHER'S LENS</a:t>
            </a:r>
          </a:p>
        </p:txBody>
      </p:sp>
      <p:cxnSp>
        <p:nvCxnSpPr>
          <p:cNvPr id="9" name="Connector 8"/>
          <p:cNvCxnSpPr/>
          <p:nvPr/>
        </p:nvCxnSpPr>
        <p:spPr>
          <a:xfrm>
            <a:off x="431800" y="1346200"/>
            <a:ext cx="3640666"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1800"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Reflexivity and the confirmation hazard log.</a:t>
            </a:r>
          </a:p>
        </p:txBody>
      </p:sp>
      <p:sp>
        <p:nvSpPr>
          <p:cNvPr id="11" name="TextBox 10"/>
          <p:cNvSpPr txBox="1"/>
          <p:nvPr/>
        </p:nvSpPr>
        <p:spPr>
          <a:xfrm>
            <a:off x="431800" y="1632966"/>
            <a:ext cx="3653366" cy="780796"/>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The author is a career auditor who built an AI review tool: insider</a:t>
            </a:r>
          </a:p>
          <a:p>
            <a:pPr algn="l">
              <a:lnSpc>
                <a:spcPts val="1378"/>
              </a:lnSpc>
              <a:spcBef>
                <a:spcPts val="0"/>
              </a:spcBef>
              <a:spcAft>
                <a:spcPts val="0"/>
              </a:spcAft>
            </a:pPr>
            <a:r>
              <a:rPr sz="1060" b="0" i="0">
                <a:solidFill>
                  <a:srgbClr val="3A4048"/>
                </a:solidFill>
                <a:latin typeface="Times New Roman"/>
                <a:cs typeface="Times New Roman"/>
              </a:rPr>
              <a:t>access and insider bias at once. Every moment of feeling</a:t>
            </a:r>
          </a:p>
          <a:p>
            <a:pPr algn="l">
              <a:lnSpc>
                <a:spcPts val="1378"/>
              </a:lnSpc>
              <a:spcBef>
                <a:spcPts val="0"/>
              </a:spcBef>
              <a:spcAft>
                <a:spcPts val="0"/>
              </a:spcAft>
            </a:pPr>
            <a:r>
              <a:rPr sz="1060" b="0" i="0">
                <a:solidFill>
                  <a:srgbClr val="3A4048"/>
                </a:solidFill>
                <a:latin typeface="Times New Roman"/>
                <a:cs typeface="Times New Roman"/>
              </a:rPr>
              <a:t>confirmed by a participant's account is logged, because that is the</a:t>
            </a:r>
          </a:p>
          <a:p>
            <a:pPr algn="l">
              <a:lnSpc>
                <a:spcPts val="1378"/>
              </a:lnSpc>
              <a:spcBef>
                <a:spcPts val="0"/>
              </a:spcBef>
              <a:spcAft>
                <a:spcPts val="0"/>
              </a:spcAft>
            </a:pPr>
            <a:r>
              <a:rPr sz="1060" b="0" i="0">
                <a:solidFill>
                  <a:srgbClr val="3A4048"/>
                </a:solidFill>
                <a:latin typeface="Times New Roman"/>
                <a:cs typeface="Times New Roman"/>
              </a:rPr>
              <a:t>study's own phenomenon happening to the researcher.</a:t>
            </a:r>
          </a:p>
        </p:txBody>
      </p:sp>
      <p:sp>
        <p:nvSpPr>
          <p:cNvPr id="12" name="TextBox 11"/>
          <p:cNvSpPr txBox="1"/>
          <p:nvPr/>
        </p:nvSpPr>
        <p:spPr>
          <a:xfrm>
            <a:off x="431800" y="2419908"/>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Negative case analysis.</a:t>
            </a:r>
          </a:p>
        </p:txBody>
      </p:sp>
      <p:sp>
        <p:nvSpPr>
          <p:cNvPr id="13" name="TextBox 12"/>
          <p:cNvSpPr txBox="1"/>
          <p:nvPr/>
        </p:nvSpPr>
        <p:spPr>
          <a:xfrm>
            <a:off x="431800" y="2616657"/>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Actively seek auditors who distrusted or overrode the AI's</a:t>
            </a:r>
          </a:p>
          <a:p>
            <a:pPr algn="l">
              <a:lnSpc>
                <a:spcPts val="1378"/>
              </a:lnSpc>
              <a:spcBef>
                <a:spcPts val="0"/>
              </a:spcBef>
              <a:spcAft>
                <a:spcPts val="0"/>
              </a:spcAft>
            </a:pPr>
            <a:r>
              <a:rPr sz="1060" b="0" i="0">
                <a:solidFill>
                  <a:srgbClr val="3A4048"/>
                </a:solidFill>
                <a:latin typeface="Times New Roman"/>
                <a:cs typeface="Times New Roman"/>
              </a:rPr>
              <a:t>agreement.</a:t>
            </a:r>
          </a:p>
        </p:txBody>
      </p:sp>
      <p:sp>
        <p:nvSpPr>
          <p:cNvPr id="14" name="TextBox 13"/>
          <p:cNvSpPr txBox="1"/>
          <p:nvPr/>
        </p:nvSpPr>
        <p:spPr>
          <a:xfrm>
            <a:off x="431800" y="3053588"/>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External review.</a:t>
            </a:r>
          </a:p>
        </p:txBody>
      </p:sp>
      <p:sp>
        <p:nvSpPr>
          <p:cNvPr id="15" name="TextBox 14"/>
          <p:cNvSpPr txBox="1"/>
          <p:nvPr/>
        </p:nvSpPr>
        <p:spPr>
          <a:xfrm>
            <a:off x="431800" y="3250336"/>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 few transcripts chosen on purpose, including one that challenges</a:t>
            </a:r>
          </a:p>
          <a:p>
            <a:pPr algn="l">
              <a:lnSpc>
                <a:spcPts val="1378"/>
              </a:lnSpc>
              <a:spcBef>
                <a:spcPts val="0"/>
              </a:spcBef>
              <a:spcAft>
                <a:spcPts val="0"/>
              </a:spcAft>
            </a:pPr>
            <a:r>
              <a:rPr sz="1060" b="0" i="0">
                <a:solidFill>
                  <a:srgbClr val="3A4048"/>
                </a:solidFill>
                <a:latin typeface="Times New Roman"/>
                <a:cs typeface="Times New Roman"/>
              </a:rPr>
              <a:t>an emerging interpretation, read with the matching analytic</a:t>
            </a:r>
          </a:p>
          <a:p>
            <a:pPr algn="l">
              <a:lnSpc>
                <a:spcPts val="1378"/>
              </a:lnSpc>
              <a:spcBef>
                <a:spcPts val="0"/>
              </a:spcBef>
              <a:spcAft>
                <a:spcPts val="0"/>
              </a:spcAft>
            </a:pPr>
            <a:r>
              <a:rPr sz="1060" b="0" i="0">
                <a:solidFill>
                  <a:srgbClr val="3A4048"/>
                </a:solidFill>
                <a:latin typeface="Times New Roman"/>
                <a:cs typeface="Times New Roman"/>
              </a:rPr>
              <a:t>memos.</a:t>
            </a:r>
          </a:p>
        </p:txBody>
      </p:sp>
      <p:sp>
        <p:nvSpPr>
          <p:cNvPr id="16" name="TextBox 15"/>
          <p:cNvSpPr txBox="1"/>
          <p:nvPr/>
        </p:nvSpPr>
        <p:spPr>
          <a:xfrm>
            <a:off x="4275666" y="1166723"/>
            <a:ext cx="3051048"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THE PARTICIPANT'S AND THE READER'S LENS</a:t>
            </a:r>
          </a:p>
        </p:txBody>
      </p:sp>
      <p:cxnSp>
        <p:nvCxnSpPr>
          <p:cNvPr id="17" name="Connector 16"/>
          <p:cNvCxnSpPr/>
          <p:nvPr/>
        </p:nvCxnSpPr>
        <p:spPr>
          <a:xfrm>
            <a:off x="4275666"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5666"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Member checking.</a:t>
            </a:r>
          </a:p>
        </p:txBody>
      </p:sp>
      <p:sp>
        <p:nvSpPr>
          <p:cNvPr id="19" name="TextBox 18"/>
          <p:cNvSpPr txBox="1"/>
          <p:nvPr/>
        </p:nvSpPr>
        <p:spPr>
          <a:xfrm>
            <a:off x="4275666" y="1632966"/>
            <a:ext cx="3653366" cy="780796"/>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Each participant receives their own textural description, not the</a:t>
            </a:r>
          </a:p>
          <a:p>
            <a:pPr algn="l">
              <a:lnSpc>
                <a:spcPts val="1378"/>
              </a:lnSpc>
              <a:spcBef>
                <a:spcPts val="0"/>
              </a:spcBef>
              <a:spcAft>
                <a:spcPts val="0"/>
              </a:spcAft>
            </a:pPr>
            <a:r>
              <a:rPr sz="1060" b="0" i="0">
                <a:solidFill>
                  <a:srgbClr val="3A4048"/>
                </a:solidFill>
                <a:latin typeface="Times New Roman"/>
                <a:cs typeface="Times New Roman"/>
              </a:rPr>
              <a:t>transcript, to consider whether it represents what they experienced.</a:t>
            </a:r>
          </a:p>
          <a:p>
            <a:pPr algn="l">
              <a:lnSpc>
                <a:spcPts val="1378"/>
              </a:lnSpc>
              <a:spcBef>
                <a:spcPts val="0"/>
              </a:spcBef>
              <a:spcAft>
                <a:spcPts val="0"/>
              </a:spcAft>
            </a:pPr>
            <a:r>
              <a:rPr sz="1060" b="0" i="0">
                <a:solidFill>
                  <a:srgbClr val="3A4048"/>
                </a:solidFill>
                <a:latin typeface="Times New Roman"/>
                <a:cs typeface="Times New Roman"/>
              </a:rPr>
              <a:t>Responses and how they were considered are recorded. It informs</a:t>
            </a:r>
          </a:p>
          <a:p>
            <a:pPr algn="l">
              <a:lnSpc>
                <a:spcPts val="1378"/>
              </a:lnSpc>
              <a:spcBef>
                <a:spcPts val="0"/>
              </a:spcBef>
              <a:spcAft>
                <a:spcPts val="0"/>
              </a:spcAft>
            </a:pPr>
            <a:r>
              <a:rPr sz="1060" b="0" i="0">
                <a:solidFill>
                  <a:srgbClr val="3A4048"/>
                </a:solidFill>
                <a:latin typeface="Times New Roman"/>
                <a:cs typeface="Times New Roman"/>
              </a:rPr>
              <a:t>the individual descriptions, not the composite.</a:t>
            </a:r>
          </a:p>
        </p:txBody>
      </p:sp>
      <p:sp>
        <p:nvSpPr>
          <p:cNvPr id="20" name="TextBox 19"/>
          <p:cNvSpPr txBox="1"/>
          <p:nvPr/>
        </p:nvSpPr>
        <p:spPr>
          <a:xfrm>
            <a:off x="4275666" y="2419908"/>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Thick description.</a:t>
            </a:r>
          </a:p>
        </p:txBody>
      </p:sp>
      <p:sp>
        <p:nvSpPr>
          <p:cNvPr id="21" name="TextBox 20"/>
          <p:cNvSpPr txBox="1"/>
          <p:nvPr/>
        </p:nvSpPr>
        <p:spPr>
          <a:xfrm>
            <a:off x="4275666" y="2616657"/>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Firm type, function, engagement, tool category and the moment of</a:t>
            </a:r>
          </a:p>
          <a:p>
            <a:pPr algn="l">
              <a:lnSpc>
                <a:spcPts val="1378"/>
              </a:lnSpc>
              <a:spcBef>
                <a:spcPts val="0"/>
              </a:spcBef>
              <a:spcAft>
                <a:spcPts val="0"/>
              </a:spcAft>
            </a:pPr>
            <a:r>
              <a:rPr sz="1060" b="0" i="0">
                <a:solidFill>
                  <a:srgbClr val="3A4048"/>
                </a:solidFill>
                <a:latin typeface="Times New Roman"/>
                <a:cs typeface="Times New Roman"/>
              </a:rPr>
              <a:t>agreement, so a reader can judge transfer.</a:t>
            </a:r>
          </a:p>
        </p:txBody>
      </p:sp>
      <p:sp>
        <p:nvSpPr>
          <p:cNvPr id="22" name="TextBox 21"/>
          <p:cNvSpPr txBox="1"/>
          <p:nvPr/>
        </p:nvSpPr>
        <p:spPr>
          <a:xfrm>
            <a:off x="4275666" y="3053588"/>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Audit trail.</a:t>
            </a:r>
          </a:p>
        </p:txBody>
      </p:sp>
      <p:sp>
        <p:nvSpPr>
          <p:cNvPr id="23" name="TextBox 22"/>
          <p:cNvSpPr txBox="1"/>
          <p:nvPr/>
        </p:nvSpPr>
        <p:spPr>
          <a:xfrm>
            <a:off x="4275666" y="3250336"/>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Protocol written before data collection, an append-only decision</a:t>
            </a:r>
          </a:p>
          <a:p>
            <a:pPr algn="l">
              <a:lnSpc>
                <a:spcPts val="1378"/>
              </a:lnSpc>
              <a:spcBef>
                <a:spcPts val="0"/>
              </a:spcBef>
              <a:spcAft>
                <a:spcPts val="0"/>
              </a:spcAft>
            </a:pPr>
            <a:r>
              <a:rPr sz="1060" b="0" i="0">
                <a:solidFill>
                  <a:srgbClr val="3A4048"/>
                </a:solidFill>
                <a:latin typeface="Times New Roman"/>
                <a:cs typeface="Times New Roman"/>
              </a:rPr>
              <a:t>log, dated codebook versions and the hazard log: the study's own</a:t>
            </a:r>
          </a:p>
          <a:p>
            <a:pPr algn="l">
              <a:lnSpc>
                <a:spcPts val="1378"/>
              </a:lnSpc>
              <a:spcBef>
                <a:spcPts val="0"/>
              </a:spcBef>
              <a:spcAft>
                <a:spcPts val="0"/>
              </a:spcAft>
            </a:pPr>
            <a:r>
              <a:rPr sz="1060" b="0" i="0">
                <a:solidFill>
                  <a:srgbClr val="3A4048"/>
                </a:solidFill>
                <a:latin typeface="Times New Roman"/>
                <a:cs typeface="Times New Roman"/>
              </a:rPr>
              <a:t>workpapers.</a:t>
            </a:r>
          </a:p>
        </p:txBody>
      </p:sp>
      <p:sp>
        <p:nvSpPr>
          <p:cNvPr id="24" name="TextBox 23"/>
          <p:cNvSpPr txBox="1"/>
          <p:nvPr/>
        </p:nvSpPr>
        <p:spPr>
          <a:xfrm>
            <a:off x="4275666" y="3862273"/>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Falsification conditions</a:t>
            </a:r>
          </a:p>
        </p:txBody>
      </p:sp>
      <p:sp>
        <p:nvSpPr>
          <p:cNvPr id="25" name="TextBox 24"/>
          <p:cNvSpPr txBox="1"/>
          <p:nvPr/>
        </p:nvSpPr>
        <p:spPr>
          <a:xfrm>
            <a:off x="4275666" y="4059021"/>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stated in advance of any participant.</a:t>
            </a:r>
          </a:p>
        </p:txBody>
      </p:sp>
      <p:sp>
        <p:nvSpPr>
          <p:cNvPr id="26" name="Rounded Rectangle 25"/>
          <p:cNvSpPr/>
          <p:nvPr/>
        </p:nvSpPr>
        <p:spPr>
          <a:xfrm>
            <a:off x="8043333" y="1092200"/>
            <a:ext cx="3793066" cy="5181600"/>
          </a:xfrm>
          <a:prstGeom prst="roundRect">
            <a:avLst>
              <a:gd name="adj" fmla="val 1004"/>
            </a:avLst>
          </a:prstGeom>
          <a:solidFill>
            <a:srgbClr val="FAF3E4"/>
          </a:solidFill>
          <a:ln w="12700">
            <a:solidFill>
              <a:srgbClr val="B6862C"/>
            </a:solidFill>
          </a:ln>
          <a:effectLst/>
        </p:spPr>
        <p:txBody>
          <a:bodyPr rtlCol="0" anchor="ctr"/>
          <a:lstStyle/>
          <a:p>
            <a:pPr algn="ctr"/>
          </a:p>
        </p:txBody>
      </p:sp>
      <p:sp>
        <p:nvSpPr>
          <p:cNvPr id="27" name="TextBox 26"/>
          <p:cNvSpPr txBox="1"/>
          <p:nvPr/>
        </p:nvSpPr>
        <p:spPr>
          <a:xfrm>
            <a:off x="8119533" y="1166723"/>
            <a:ext cx="1751330" cy="156210"/>
          </a:xfrm>
          <a:prstGeom prst="rect">
            <a:avLst/>
          </a:prstGeom>
          <a:noFill/>
        </p:spPr>
        <p:txBody>
          <a:bodyPr wrap="none" lIns="0" rIns="0" tIns="0" bIns="0"/>
          <a:lstStyle/>
          <a:p>
            <a:pPr algn="l">
              <a:lnSpc>
                <a:spcPct val="100000"/>
              </a:lnSpc>
              <a:spcBef>
                <a:spcPts val="0"/>
              </a:spcBef>
              <a:spcAft>
                <a:spcPts val="0"/>
              </a:spcAft>
            </a:pPr>
            <a:r>
              <a:rPr sz="819" b="1" i="0" spc="110">
                <a:solidFill>
                  <a:srgbClr val="081E3F"/>
                </a:solidFill>
                <a:latin typeface="Consolas"/>
                <a:cs typeface="Consolas"/>
              </a:rPr>
              <a:t>YOUR FEEDBACK, APPLIED</a:t>
            </a:r>
          </a:p>
        </p:txBody>
      </p:sp>
      <p:cxnSp>
        <p:nvCxnSpPr>
          <p:cNvPr id="28" name="Connector 27"/>
          <p:cNvCxnSpPr/>
          <p:nvPr/>
        </p:nvCxnSpPr>
        <p:spPr>
          <a:xfrm>
            <a:off x="8119533" y="1346200"/>
            <a:ext cx="3640667" cy="0"/>
          </a:xfrm>
          <a:prstGeom prst="line">
            <a:avLst/>
          </a:prstGeom>
          <a:ln w="15240">
            <a:solidFill>
              <a:srgbClr val="B6862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119533" y="1436217"/>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1. Criterion kept.</a:t>
            </a:r>
          </a:p>
        </p:txBody>
      </p:sp>
      <p:sp>
        <p:nvSpPr>
          <p:cNvPr id="30" name="TextBox 29"/>
          <p:cNvSpPr txBox="1"/>
          <p:nvPr/>
        </p:nvSpPr>
        <p:spPr>
          <a:xfrm>
            <a:off x="8119533" y="1632966"/>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Feasibility handled in recruitment: a tested screening question and</a:t>
            </a:r>
          </a:p>
          <a:p>
            <a:pPr algn="l">
              <a:lnSpc>
                <a:spcPts val="1378"/>
              </a:lnSpc>
              <a:spcBef>
                <a:spcPts val="0"/>
              </a:spcBef>
              <a:spcAft>
                <a:spcPts val="0"/>
              </a:spcAft>
            </a:pPr>
            <a:r>
              <a:rPr sz="1060" b="0" i="0">
                <a:solidFill>
                  <a:srgbClr val="3A4048"/>
                </a:solidFill>
                <a:latin typeface="Times New Roman"/>
                <a:cs typeface="Times New Roman"/>
              </a:rPr>
              <a:t>referrals. Recall, not interpretation. Depth, not saturation.</a:t>
            </a:r>
          </a:p>
        </p:txBody>
      </p:sp>
      <p:sp>
        <p:nvSpPr>
          <p:cNvPr id="31" name="TextBox 30"/>
          <p:cNvSpPr txBox="1"/>
          <p:nvPr/>
        </p:nvSpPr>
        <p:spPr>
          <a:xfrm>
            <a:off x="8119533" y="206989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2. Member checking scoped</a:t>
            </a:r>
          </a:p>
        </p:txBody>
      </p:sp>
      <p:sp>
        <p:nvSpPr>
          <p:cNvPr id="32" name="TextBox 31"/>
          <p:cNvSpPr txBox="1"/>
          <p:nvPr/>
        </p:nvSpPr>
        <p:spPr>
          <a:xfrm>
            <a:off x="8119533" y="2266645"/>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to each individual textural description, with responses and their</a:t>
            </a:r>
          </a:p>
          <a:p>
            <a:pPr algn="l">
              <a:lnSpc>
                <a:spcPts val="1378"/>
              </a:lnSpc>
              <a:spcBef>
                <a:spcPts val="0"/>
              </a:spcBef>
              <a:spcAft>
                <a:spcPts val="0"/>
              </a:spcAft>
            </a:pPr>
            <a:r>
              <a:rPr sz="1060" b="0" i="0">
                <a:solidFill>
                  <a:srgbClr val="3A4048"/>
                </a:solidFill>
                <a:latin typeface="Times New Roman"/>
                <a:cs typeface="Times New Roman"/>
              </a:rPr>
              <a:t>handling recorded.</a:t>
            </a:r>
          </a:p>
        </p:txBody>
      </p:sp>
      <p:sp>
        <p:nvSpPr>
          <p:cNvPr id="33" name="TextBox 32"/>
          <p:cNvSpPr txBox="1"/>
          <p:nvPr/>
        </p:nvSpPr>
        <p:spPr>
          <a:xfrm>
            <a:off x="8119533" y="2703576"/>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3. External review purposeful:</a:t>
            </a:r>
          </a:p>
        </p:txBody>
      </p:sp>
      <p:sp>
        <p:nvSpPr>
          <p:cNvPr id="34" name="TextBox 33"/>
          <p:cNvSpPr txBox="1"/>
          <p:nvPr/>
        </p:nvSpPr>
        <p:spPr>
          <a:xfrm>
            <a:off x="8119533" y="2900324"/>
            <a:ext cx="3653366" cy="605790"/>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 few chosen transcripts, one disconfirming, with memos, so the</a:t>
            </a:r>
          </a:p>
          <a:p>
            <a:pPr algn="l">
              <a:lnSpc>
                <a:spcPts val="1378"/>
              </a:lnSpc>
              <a:spcBef>
                <a:spcPts val="0"/>
              </a:spcBef>
              <a:spcAft>
                <a:spcPts val="0"/>
              </a:spcAft>
            </a:pPr>
            <a:r>
              <a:rPr sz="1060" b="0" i="0">
                <a:solidFill>
                  <a:srgbClr val="3A4048"/>
                </a:solidFill>
                <a:latin typeface="Times New Roman"/>
                <a:cs typeface="Times New Roman"/>
              </a:rPr>
              <a:t>reviewer examines the move from accounts to meaning units,</a:t>
            </a:r>
          </a:p>
          <a:p>
            <a:pPr algn="l">
              <a:lnSpc>
                <a:spcPts val="1378"/>
              </a:lnSpc>
              <a:spcBef>
                <a:spcPts val="0"/>
              </a:spcBef>
              <a:spcAft>
                <a:spcPts val="0"/>
              </a:spcAft>
            </a:pPr>
            <a:r>
              <a:rPr sz="1060" b="0" i="0">
                <a:solidFill>
                  <a:srgbClr val="3A4048"/>
                </a:solidFill>
                <a:latin typeface="Times New Roman"/>
                <a:cs typeface="Times New Roman"/>
              </a:rPr>
              <a:t>clusters and interpretations.</a:t>
            </a:r>
          </a:p>
        </p:txBody>
      </p:sp>
      <p:sp>
        <p:nvSpPr>
          <p:cNvPr id="35" name="TextBox 34"/>
          <p:cNvSpPr txBox="1"/>
          <p:nvPr/>
        </p:nvSpPr>
        <p:spPr>
          <a:xfrm>
            <a:off x="8119533" y="3512261"/>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4. Hazard log works:</a:t>
            </a:r>
          </a:p>
        </p:txBody>
      </p:sp>
      <p:sp>
        <p:nvSpPr>
          <p:cNvPr id="36" name="TextBox 35"/>
          <p:cNvSpPr txBox="1"/>
          <p:nvPr/>
        </p:nvSpPr>
        <p:spPr>
          <a:xfrm>
            <a:off x="8119533" y="3709009"/>
            <a:ext cx="3653366" cy="430784"/>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each entry records what I did about it, cross-referenced to the</a:t>
            </a:r>
          </a:p>
          <a:p>
            <a:pPr algn="l">
              <a:lnSpc>
                <a:spcPts val="1378"/>
              </a:lnSpc>
              <a:spcBef>
                <a:spcPts val="0"/>
              </a:spcBef>
              <a:spcAft>
                <a:spcPts val="0"/>
              </a:spcAft>
            </a:pPr>
            <a:r>
              <a:rPr sz="1060" b="0" i="0">
                <a:solidFill>
                  <a:srgbClr val="3A4048"/>
                </a:solidFill>
                <a:latin typeface="Times New Roman"/>
                <a:cs typeface="Times New Roman"/>
              </a:rPr>
              <a:t>decision in the audit trail.</a:t>
            </a:r>
          </a:p>
        </p:txBody>
      </p:sp>
      <p:sp>
        <p:nvSpPr>
          <p:cNvPr id="37" name="TextBox 36"/>
          <p:cNvSpPr txBox="1"/>
          <p:nvPr/>
        </p:nvSpPr>
        <p:spPr>
          <a:xfrm>
            <a:off x="8119533" y="4145940"/>
            <a:ext cx="3653366" cy="267411"/>
          </a:xfrm>
          <a:prstGeom prst="rect">
            <a:avLst/>
          </a:prstGeom>
          <a:noFill/>
        </p:spPr>
        <p:txBody>
          <a:bodyPr wrap="square" lIns="0" rIns="0" tIns="0" bIns="0"/>
          <a:lstStyle/>
          <a:p>
            <a:pPr algn="l">
              <a:lnSpc>
                <a:spcPts val="1433"/>
              </a:lnSpc>
              <a:spcBef>
                <a:spcPts val="0"/>
              </a:spcBef>
              <a:spcAft>
                <a:spcPts val="0"/>
              </a:spcAft>
            </a:pPr>
            <a:r>
              <a:rPr sz="1120" b="1" i="0">
                <a:solidFill>
                  <a:srgbClr val="14171C"/>
                </a:solidFill>
                <a:latin typeface="Times New Roman"/>
                <a:cs typeface="Times New Roman"/>
              </a:rPr>
              <a:t>5. Poster simplified</a:t>
            </a:r>
          </a:p>
        </p:txBody>
      </p:sp>
      <p:sp>
        <p:nvSpPr>
          <p:cNvPr id="38" name="TextBox 37"/>
          <p:cNvSpPr txBox="1"/>
          <p:nvPr/>
        </p:nvSpPr>
        <p:spPr>
          <a:xfrm>
            <a:off x="8119533" y="4342688"/>
            <a:ext cx="3653366" cy="255778"/>
          </a:xfrm>
          <a:prstGeom prst="rect">
            <a:avLst/>
          </a:prstGeom>
          <a:noFill/>
        </p:spPr>
        <p:txBody>
          <a:bodyPr wrap="square" lIns="0" rIns="0" tIns="0" bIns="0"/>
          <a:lstStyle/>
          <a:p>
            <a:pPr algn="l">
              <a:lnSpc>
                <a:spcPts val="1378"/>
              </a:lnSpc>
              <a:spcBef>
                <a:spcPts val="0"/>
              </a:spcBef>
              <a:spcAft>
                <a:spcPts val="0"/>
              </a:spcAft>
            </a:pPr>
            <a:r>
              <a:rPr sz="1060" b="0" i="0">
                <a:solidFill>
                  <a:srgbClr val="3A4048"/>
                </a:solidFill>
                <a:latin typeface="Times New Roman"/>
                <a:cs typeface="Times New Roman"/>
              </a:rPr>
              <a:t>and AI use disclosed on the slide.</a:t>
            </a:r>
          </a:p>
        </p:txBody>
      </p:sp>
      <p:cxnSp>
        <p:nvCxnSpPr>
          <p:cNvPr id="39" name="Connector 38"/>
          <p:cNvCxnSpPr/>
          <p:nvPr/>
        </p:nvCxnSpPr>
        <p:spPr>
          <a:xfrm>
            <a:off x="431800" y="6527800"/>
            <a:ext cx="11328400" cy="0"/>
          </a:xfrm>
          <a:prstGeom prst="line">
            <a:avLst/>
          </a:prstGeom>
          <a:ln w="12700">
            <a:solidFill>
              <a:srgbClr val="D8D4CB"/>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31800" y="6594246"/>
            <a:ext cx="7153198" cy="129539"/>
          </a:xfrm>
          <a:prstGeom prst="rect">
            <a:avLst/>
          </a:prstGeom>
          <a:noFill/>
        </p:spPr>
        <p:txBody>
          <a:bodyPr wrap="none" lIns="0" rIns="0" tIns="0" bIns="0"/>
          <a:lstStyle/>
          <a:p>
            <a:pPr algn="l">
              <a:lnSpc>
                <a:spcPct val="100000"/>
              </a:lnSpc>
              <a:spcBef>
                <a:spcPts val="0"/>
              </a:spcBef>
              <a:spcAft>
                <a:spcPts val="0"/>
              </a:spcAft>
            </a:pPr>
            <a:r>
              <a:rPr sz="680" b="0" i="0">
                <a:solidFill>
                  <a:srgbClr val="767D86"/>
                </a:solidFill>
                <a:latin typeface="Times New Roman"/>
                <a:cs typeface="Times New Roman"/>
              </a:rPr>
              <a:t>Source: dba/QUALITATIVE/TRUSTWORTHINESS.md; Creswell and Poth, Chapter 10. Slides prepared with AI assistance for layout and organisation; the design and every decision in it are the author's.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Receiving Confirmation - GEB 7911 qualitative research proposal</dc:title>
  <dc:subject/>
  <dc:creator>Yasir A. Malik - FIU DBA Cohort 8.14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