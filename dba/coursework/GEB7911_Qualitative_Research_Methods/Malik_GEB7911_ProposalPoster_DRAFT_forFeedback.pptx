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fiu-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177800"/>
            <a:ext cx="558800" cy="55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153035"/>
            <a:ext cx="563372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160">
                <a:solidFill>
                  <a:srgbClr val="B6862C"/>
                </a:solidFill>
                <a:latin typeface="Consolas"/>
                <a:cs typeface="Consolas"/>
              </a:rPr>
              <a:t>FLORIDA INTERNATIONAL UNIVERSITY  ·  CHAPMAN GRADUATE SCHOOL OF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7650"/>
            <a:ext cx="3508057" cy="4762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Times New Roman"/>
                <a:cs typeface="Times New Roman"/>
              </a:rPr>
              <a:t>Receiving Confirmation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660527"/>
            <a:ext cx="6412179" cy="2190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B9C7D8"/>
                </a:solidFill>
                <a:latin typeface="Times New Roman"/>
                <a:cs typeface="Times New Roman"/>
              </a:rPr>
              <a:t>How experienced auditors make sense of AI-generated agreement with a judgment they had already formed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6060" y="222631"/>
            <a:ext cx="1374139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B6862C"/>
                </a:solidFill>
                <a:latin typeface="Consolas"/>
                <a:cs typeface="Consolas"/>
              </a:rPr>
              <a:t>YASIR A. MALIK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83701" y="424180"/>
            <a:ext cx="2976499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A3BC"/>
                </a:solidFill>
                <a:latin typeface="Times New Roman"/>
                <a:cs typeface="Times New Roman"/>
              </a:rPr>
              <a:t>DBA Cohort 8.14  ·  GEB 7911  ·  Dr. Cristina Gonzalez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4876" y="660704"/>
            <a:ext cx="2465324" cy="14477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 spc="100">
                <a:solidFill>
                  <a:srgbClr val="B6862C"/>
                </a:solidFill>
                <a:latin typeface="Consolas"/>
                <a:cs typeface="Consolas"/>
              </a:rPr>
              <a:t>DRAFT FOR FEEDBACK  ·  29 SEP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800" y="1066800"/>
            <a:ext cx="11328400" cy="558800"/>
          </a:xfrm>
          <a:prstGeom prst="roundRect">
            <a:avLst>
              <a:gd name="adj" fmla="val 6818"/>
            </a:avLst>
          </a:prstGeom>
          <a:solidFill>
            <a:srgbClr val="FAF3E4"/>
          </a:solidFill>
          <a:ln w="12700">
            <a:solidFill>
              <a:srgbClr val="B686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800" y="1066800"/>
            <a:ext cx="63500" cy="5588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1169035"/>
            <a:ext cx="19621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150">
                <a:solidFill>
                  <a:srgbClr val="8A6A1F"/>
                </a:solidFill>
                <a:latin typeface="Consolas"/>
                <a:cs typeface="Consolas"/>
              </a:rPr>
              <a:t>CENTRAL RESEARCH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400" y="1327023"/>
            <a:ext cx="10441476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14171C"/>
                </a:solidFill>
                <a:latin typeface="Times New Roman"/>
                <a:cs typeface="Times New Roman"/>
              </a:rPr>
              <a:t>How do experienced auditors experience and make sense of receiving an AI-generated conclusion that confirms a judgment they had already formed?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800" y="1752600"/>
            <a:ext cx="2727325" cy="177800"/>
          </a:xfrm>
          <a:prstGeom prst="roundRect">
            <a:avLst>
              <a:gd name="adj" fmla="val 14285"/>
            </a:avLst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400" y="1766925"/>
            <a:ext cx="2161031" cy="137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20">
                <a:solidFill>
                  <a:srgbClr val="FFFFFF"/>
                </a:solidFill>
                <a:latin typeface="Consolas"/>
                <a:cs typeface="Consolas"/>
              </a:rPr>
              <a:t>1 · FOCUS AND RESEARCH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" y="1967483"/>
            <a:ext cx="2740025" cy="44576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An auditor on a recurring engagement has always carried a prior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conclusion forward. What is new is that an AI system now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produces a conclusion of its own, and sometimes it agrees.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800" y="2403094"/>
            <a:ext cx="2740025" cy="574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Research on AI and auditor judgment has focused primarily on the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extent of reliance, which a survey can measure. What remains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unexplored is the lived experience of receiving machine agreement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with a judgment already formed.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800" y="2966974"/>
            <a:ext cx="2740025" cy="44576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Two things are being conflated: automation bias, a human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tendency, and sycophancy, a property of the system. A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magnitude-of-reliance measure cannot tell them apart.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800" y="3402584"/>
            <a:ext cx="2740025" cy="44576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Standards assume a competent human reviewer sits above the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system. Firms and regulators are writing AI-use policy on that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assumption now.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800" y="3890010"/>
            <a:ext cx="2727325" cy="177800"/>
          </a:xfrm>
          <a:prstGeom prst="roundRect">
            <a:avLst>
              <a:gd name="adj" fmla="val 14285"/>
            </a:avLst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400" y="3904335"/>
            <a:ext cx="1459992" cy="137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20">
                <a:solidFill>
                  <a:srgbClr val="FFFFFF"/>
                </a:solidFill>
                <a:latin typeface="Consolas"/>
                <a:cs typeface="Consolas"/>
              </a:rPr>
              <a:t>2 · RESEARCH PURPOSE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" y="4168394"/>
            <a:ext cx="2536825" cy="8305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The purpose of this phenomenological study is to understand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how experienced auditors experience and make sense of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receiving an AI-generated conclusion that confirms a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judgment they had already formed. The phenomenon under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study is the experience of encountering machine-generated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confirmation of a prior professional judgment.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800" y="4105910"/>
            <a:ext cx="2727325" cy="934719"/>
          </a:xfrm>
          <a:prstGeom prst="roundRect">
            <a:avLst>
              <a:gd name="adj" fmla="val 4076"/>
            </a:avLst>
          </a:prstGeom>
          <a:solidFill>
            <a:srgbClr val="E8ED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3400" y="4168394"/>
            <a:ext cx="2536825" cy="8305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The purpose of this phenomenological study is to understand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how experienced auditors experience and make sense of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receiving an AI-generated conclusion that confirms a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judgment they had already formed. The phenomenon under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study is the experience of encountering machine-generated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confirmation of a prior professional judgment.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8825" y="1752600"/>
            <a:ext cx="2727325" cy="177800"/>
          </a:xfrm>
          <a:prstGeom prst="roundRect">
            <a:avLst>
              <a:gd name="adj" fmla="val 14285"/>
            </a:avLst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00425" y="1766925"/>
            <a:ext cx="2090928" cy="137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20">
                <a:solidFill>
                  <a:srgbClr val="FFFFFF"/>
                </a:solidFill>
                <a:latin typeface="Consolas"/>
                <a:cs typeface="Consolas"/>
              </a:rPr>
              <a:t>3 · FRAMEWORK AND ASSUMPTIONS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8825" y="1943735"/>
            <a:ext cx="255143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110">
                <a:solidFill>
                  <a:srgbClr val="1C6B63"/>
                </a:solidFill>
                <a:latin typeface="Consolas"/>
                <a:cs typeface="Consolas"/>
              </a:rPr>
              <a:t>SOCIAL CONSTRUCTIVIST  ·  INDUCTIVE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8825" y="2110486"/>
            <a:ext cx="7848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0">
                <a:solidFill>
                  <a:srgbClr val="8A6A1F"/>
                </a:solidFill>
                <a:latin typeface="Consolas"/>
                <a:cs typeface="Consolas"/>
              </a:rPr>
              <a:t>ONTOLOGICAL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8825" y="2221814"/>
            <a:ext cx="2740025" cy="31165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Multiple realities. Auditors' accounts of the experience are the data,</a:t>
            </a:r>
          </a:p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not a proxy for one correct account.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8825" y="2527046"/>
            <a:ext cx="10490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0">
                <a:solidFill>
                  <a:srgbClr val="8A6A1F"/>
                </a:solidFill>
                <a:latin typeface="Consolas"/>
                <a:cs typeface="Consolas"/>
              </a:rPr>
              <a:t>EPISTEMOLOGICAL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8825" y="2638374"/>
            <a:ext cx="2740025" cy="31165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First-person accounts, gathered in semi-structured audio-recorded</a:t>
            </a:r>
          </a:p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interviews and read in the participant's own words before coding.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8825" y="2943606"/>
            <a:ext cx="7848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0">
                <a:solidFill>
                  <a:srgbClr val="8A6A1F"/>
                </a:solidFill>
                <a:latin typeface="Consolas"/>
                <a:cs typeface="Consolas"/>
              </a:rPr>
              <a:t>AXIOLOGICAL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8825" y="3054934"/>
            <a:ext cx="2740025" cy="56311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A career in bank examination, regulatory reporting and internal</a:t>
            </a:r>
          </a:p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audit, including building an AI review tool. Insider access and</a:t>
            </a:r>
          </a:p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insider bias at once. Every occasion of feeling confirmed is entered</a:t>
            </a:r>
          </a:p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in a confirmation hazard log.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8825" y="3611626"/>
            <a:ext cx="98298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0">
                <a:solidFill>
                  <a:srgbClr val="8A6A1F"/>
                </a:solidFill>
                <a:latin typeface="Consolas"/>
                <a:cs typeface="Consolas"/>
              </a:rPr>
              <a:t>METHODOLOGICAL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8825" y="3722954"/>
            <a:ext cx="2740025" cy="31165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Phenomenology. A phenomenon shared across individuals at</a:t>
            </a:r>
          </a:p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different firms, with no single site to enter.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8825" y="4064000"/>
            <a:ext cx="2727325" cy="177800"/>
          </a:xfrm>
          <a:prstGeom prst="roundRect">
            <a:avLst>
              <a:gd name="adj" fmla="val 14285"/>
            </a:avLst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00425" y="4078325"/>
            <a:ext cx="1740408" cy="137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20">
                <a:solidFill>
                  <a:srgbClr val="FFFFFF"/>
                </a:solidFill>
                <a:latin typeface="Consolas"/>
                <a:cs typeface="Consolas"/>
              </a:rPr>
              <a:t>4 · QUALITATIVE APPROACH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8825" y="4278884"/>
            <a:ext cx="2740025" cy="44576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Phenomenology (Creswell &amp; Poth, 2024). The question asks about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experience and meaning making across individuals, which is what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phenomenology is for.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11525" y="4779010"/>
            <a:ext cx="40640" cy="40640"/>
          </a:xfrm>
          <a:prstGeom prst="roundRect">
            <a:avLst>
              <a:gd name="adj" fmla="val 50000"/>
            </a:avLst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13125" y="4714494"/>
            <a:ext cx="2625725" cy="317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Case study needs a bounded site; this phenomenon crosses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firms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11525" y="5073650"/>
            <a:ext cx="40640" cy="40640"/>
          </a:xfrm>
          <a:prstGeom prst="roundRect">
            <a:avLst>
              <a:gd name="adj" fmla="val 50000"/>
            </a:avLst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13125" y="5009134"/>
            <a:ext cx="2625725" cy="317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Grounded theory studies process; this study asks about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experience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11525" y="5368290"/>
            <a:ext cx="40640" cy="40640"/>
          </a:xfrm>
          <a:prstGeom prst="roundRect">
            <a:avLst>
              <a:gd name="adj" fmla="val 50000"/>
            </a:avLst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13125" y="5303774"/>
            <a:ext cx="2625725" cy="1892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Ethnography needs embedded access to a firm's review process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65850" y="1752600"/>
            <a:ext cx="2727325" cy="177800"/>
          </a:xfrm>
          <a:prstGeom prst="roundRect">
            <a:avLst>
              <a:gd name="adj" fmla="val 14285"/>
            </a:avLst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7450" y="1766925"/>
            <a:ext cx="1389888" cy="137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20">
                <a:solidFill>
                  <a:srgbClr val="FFFFFF"/>
                </a:solidFill>
                <a:latin typeface="Consolas"/>
                <a:cs typeface="Consolas"/>
              </a:rPr>
              <a:t>5 · DATA COLLECTION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65850" y="1944725"/>
            <a:ext cx="2019808" cy="137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00">
                <a:solidFill>
                  <a:srgbClr val="8C3A1B"/>
                </a:solidFill>
                <a:latin typeface="Consolas"/>
                <a:cs typeface="Consolas"/>
              </a:rPr>
              <a:t>ELIGIBILITY IS THE PHENOMENON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65850" y="2094483"/>
            <a:ext cx="2740025" cy="44576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A participant must have received AI-generated output that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confirmed a judgment they had already formed independently.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General experience of AI-supported audit work does not qualify.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78550" y="2594610"/>
            <a:ext cx="40640" cy="40640"/>
          </a:xfrm>
          <a:prstGeom prst="roundRect">
            <a:avLst>
              <a:gd name="adj" fmla="val 50000"/>
            </a:avLst>
          </a:prstGeom>
          <a:solidFill>
            <a:srgbClr val="1C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80150" y="2530094"/>
            <a:ext cx="2625725" cy="317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Five or more years in audit or risk assurance, with recurring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engagement responsibility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78550" y="2889250"/>
            <a:ext cx="40640" cy="40640"/>
          </a:xfrm>
          <a:prstGeom prst="roundRect">
            <a:avLst>
              <a:gd name="adj" fmla="val 50000"/>
            </a:avLst>
          </a:prstGeom>
          <a:solidFill>
            <a:srgbClr val="1C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80150" y="2824734"/>
            <a:ext cx="2625725" cy="317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Criterion sampling, 10 to 15. Saturation is a stopping rule, not a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target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78550" y="3183890"/>
            <a:ext cx="40640" cy="40640"/>
          </a:xfrm>
          <a:prstGeom prst="roundRect">
            <a:avLst>
              <a:gd name="adj" fmla="val 50000"/>
            </a:avLst>
          </a:prstGeom>
          <a:solidFill>
            <a:srgbClr val="1C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80150" y="3119373"/>
            <a:ext cx="2625725" cy="317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No single site. Professional networks, association chapters,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referral chains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8550" y="3478529"/>
            <a:ext cx="40640" cy="40640"/>
          </a:xfrm>
          <a:prstGeom prst="roundRect">
            <a:avLst>
              <a:gd name="adj" fmla="val 50000"/>
            </a:avLst>
          </a:prstGeom>
          <a:solidFill>
            <a:srgbClr val="1C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80150" y="3414014"/>
            <a:ext cx="2625725" cy="44576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Semi-structured interviews, recorded and transcribed verbatim.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Protocol piloted first, and pilot testers cannot become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participants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78550" y="3901440"/>
            <a:ext cx="40640" cy="40640"/>
          </a:xfrm>
          <a:prstGeom prst="roundRect">
            <a:avLst>
              <a:gd name="adj" fmla="val 50000"/>
            </a:avLst>
          </a:prstGeom>
          <a:solidFill>
            <a:srgbClr val="1C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80150" y="3836924"/>
            <a:ext cx="2625725" cy="317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Encrypted storage, pseudonyms at transcription, named file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plan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65850" y="4183379"/>
            <a:ext cx="2727325" cy="177800"/>
          </a:xfrm>
          <a:prstGeom prst="roundRect">
            <a:avLst>
              <a:gd name="adj" fmla="val 14285"/>
            </a:avLst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67450" y="4197705"/>
            <a:ext cx="1249680" cy="137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20">
                <a:solidFill>
                  <a:srgbClr val="FFFFFF"/>
                </a:solidFill>
                <a:latin typeface="Consolas"/>
                <a:cs typeface="Consolas"/>
              </a:rPr>
              <a:t>6 · DATA ANALYSIS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65850" y="4376166"/>
            <a:ext cx="1678939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90">
                <a:solidFill>
                  <a:srgbClr val="1C6B63"/>
                </a:solidFill>
                <a:latin typeface="Consolas"/>
                <a:cs typeface="Consolas"/>
              </a:rPr>
              <a:t>FIVE ACTIVITIES  ·  NVIVO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91250" y="4525264"/>
            <a:ext cx="14224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6862C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5550" y="4525594"/>
            <a:ext cx="2600325" cy="31165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Managing and organising. NVivo, named file plan, secure</a:t>
            </a:r>
          </a:p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storage.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91250" y="4802124"/>
            <a:ext cx="14224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6862C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05550" y="4802454"/>
            <a:ext cx="2600325" cy="31165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Reading and memoing. A dated reflexive journal, kept as</a:t>
            </a:r>
          </a:p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evidence.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91250" y="5078984"/>
            <a:ext cx="14224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6862C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05550" y="5079314"/>
            <a:ext cx="2600325" cy="31165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Describing and classifying. Horizontalisation, meaning units,</a:t>
            </a:r>
          </a:p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clusters.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91250" y="5355844"/>
            <a:ext cx="14224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6862C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5550" y="5356174"/>
            <a:ext cx="2600325" cy="31165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Developing interpretations. Textural and structural, then a</a:t>
            </a:r>
          </a:p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composite.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91250" y="5632704"/>
            <a:ext cx="14224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6862C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05550" y="5633034"/>
            <a:ext cx="2600325" cy="185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Representing. A thematic map and a composite narrative.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032875" y="1752600"/>
            <a:ext cx="2727325" cy="177800"/>
          </a:xfrm>
          <a:prstGeom prst="roundRect">
            <a:avLst>
              <a:gd name="adj" fmla="val 14285"/>
            </a:avLst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34475" y="1766925"/>
            <a:ext cx="1880615" cy="137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20">
                <a:solidFill>
                  <a:srgbClr val="FFFFFF"/>
                </a:solidFill>
                <a:latin typeface="Consolas"/>
                <a:cs typeface="Consolas"/>
              </a:rPr>
              <a:t>7 · ETHICAL CONSIDERATIONS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045575" y="2032000"/>
            <a:ext cx="40640" cy="40640"/>
          </a:xfrm>
          <a:prstGeom prst="roundRect">
            <a:avLst>
              <a:gd name="adj" fmla="val 50000"/>
            </a:avLst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47175" y="1967483"/>
            <a:ext cx="2625725" cy="1892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Written informed consent before recording begins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045575" y="2198370"/>
            <a:ext cx="40640" cy="40640"/>
          </a:xfrm>
          <a:prstGeom prst="roundRect">
            <a:avLst>
              <a:gd name="adj" fmla="val 50000"/>
            </a:avLst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47175" y="2133854"/>
            <a:ext cx="2625725" cy="1892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IRB determination confirmed before any contact, not assumed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045575" y="2364740"/>
            <a:ext cx="40640" cy="40640"/>
          </a:xfrm>
          <a:prstGeom prst="roundRect">
            <a:avLst>
              <a:gd name="adj" fmla="val 50000"/>
            </a:avLst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147175" y="2300223"/>
            <a:ext cx="2625725" cy="317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Pseudonyms at transcription. No client, engagement or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firm-identifying detail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045575" y="2659379"/>
            <a:ext cx="40640" cy="40640"/>
          </a:xfrm>
          <a:prstGeom prst="roundRect">
            <a:avLst>
              <a:gd name="adj" fmla="val 50000"/>
            </a:avLst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47175" y="2594863"/>
            <a:ext cx="2625725" cy="1892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Withdrawal at any point, data destroyed on request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045575" y="2825749"/>
            <a:ext cx="40640" cy="40640"/>
          </a:xfrm>
          <a:prstGeom prst="roundRect">
            <a:avLst>
              <a:gd name="adj" fmla="val 50000"/>
            </a:avLst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147175" y="2761233"/>
            <a:ext cx="2625725" cy="317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Member checking of the composite description offered to every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participant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045575" y="3120389"/>
            <a:ext cx="40640" cy="40640"/>
          </a:xfrm>
          <a:prstGeom prst="roundRect">
            <a:avLst>
              <a:gd name="adj" fmla="val 50000"/>
            </a:avLst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147175" y="3055873"/>
            <a:ext cx="2625725" cy="317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No confidential data to any public AI platform. AI use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disclosed per FIU policy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032875" y="3402329"/>
            <a:ext cx="2727325" cy="177800"/>
          </a:xfrm>
          <a:prstGeom prst="roundRect">
            <a:avLst>
              <a:gd name="adj" fmla="val 14285"/>
            </a:avLst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134475" y="3416655"/>
            <a:ext cx="1810512" cy="137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20">
                <a:solidFill>
                  <a:srgbClr val="FFFFFF"/>
                </a:solidFill>
                <a:latin typeface="Consolas"/>
                <a:cs typeface="Consolas"/>
              </a:rPr>
              <a:t>8 · EXPECTED CONTRIBUTION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32875" y="3595116"/>
            <a:ext cx="7848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0">
                <a:solidFill>
                  <a:srgbClr val="8A6A1F"/>
                </a:solidFill>
                <a:latin typeface="Consolas"/>
                <a:cs typeface="Consolas"/>
              </a:rPr>
              <a:t>TO PRACTICE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032875" y="3731514"/>
            <a:ext cx="2740025" cy="44576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Firms and regulators are writing AI-use policy on the assumption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that human review is a working control. This describes what that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review is actually like from inside it.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32875" y="4145026"/>
            <a:ext cx="7848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0">
                <a:solidFill>
                  <a:srgbClr val="8A6A1F"/>
                </a:solidFill>
                <a:latin typeface="Consolas"/>
                <a:cs typeface="Consolas"/>
              </a:rPr>
              <a:t>TO ACADEMIA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032875" y="4281424"/>
            <a:ext cx="2740025" cy="317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It separates automation bias from sycophancy, which measures of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how much someone relied on a machine cannot distinguish.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032875" y="4615180"/>
            <a:ext cx="2727325" cy="177800"/>
          </a:xfrm>
          <a:prstGeom prst="roundRect">
            <a:avLst>
              <a:gd name="adj" fmla="val 14285"/>
            </a:avLst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134475" y="4629505"/>
            <a:ext cx="1810512" cy="137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20">
                <a:solidFill>
                  <a:srgbClr val="FFFFFF"/>
                </a:solidFill>
                <a:latin typeface="Consolas"/>
                <a:cs typeface="Consolas"/>
              </a:rPr>
              <a:t>9 · POTENTIAL LIMITATIONS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045575" y="4894580"/>
            <a:ext cx="40640" cy="40640"/>
          </a:xfrm>
          <a:prstGeom prst="roundRect">
            <a:avLst>
              <a:gd name="adj" fmla="val 50000"/>
            </a:avLst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147175" y="4830064"/>
            <a:ext cx="2625725" cy="317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Retrospective self-report. Participants describe an experience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after the fact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045575" y="5189220"/>
            <a:ext cx="40640" cy="40640"/>
          </a:xfrm>
          <a:prstGeom prst="roundRect">
            <a:avLst>
              <a:gd name="adj" fmla="val 50000"/>
            </a:avLst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147175" y="5124704"/>
            <a:ext cx="2625725" cy="317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Insider researcher. Managed by the confirmation hazard log, not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eliminated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045575" y="5483859"/>
            <a:ext cx="40640" cy="40640"/>
          </a:xfrm>
          <a:prstGeom prst="roundRect">
            <a:avLst>
              <a:gd name="adj" fmla="val 50000"/>
            </a:avLst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147175" y="5419344"/>
            <a:ext cx="2625725" cy="1892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Context-dependent. Not intended to generalise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045575" y="5650230"/>
            <a:ext cx="40640" cy="40640"/>
          </a:xfrm>
          <a:prstGeom prst="roundRect">
            <a:avLst>
              <a:gd name="adj" fmla="val 50000"/>
            </a:avLst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47175" y="5585714"/>
            <a:ext cx="2625725" cy="1892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One national standards environment, small purposive sample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31800" y="5791200"/>
            <a:ext cx="11328400" cy="304800"/>
          </a:xfrm>
          <a:prstGeom prst="roundRect">
            <a:avLst>
              <a:gd name="adj" fmla="val 12500"/>
            </a:avLst>
          </a:prstGeom>
          <a:solidFill>
            <a:srgbClr val="E8ED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58800" y="5856325"/>
            <a:ext cx="618744" cy="137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20">
                <a:solidFill>
                  <a:srgbClr val="081E3F"/>
                </a:solidFill>
                <a:latin typeface="Consolas"/>
                <a:cs typeface="Consolas"/>
              </a:rPr>
              <a:t>TIMELINE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320800" y="5806186"/>
            <a:ext cx="18923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90">
                <a:solidFill>
                  <a:srgbClr val="B6862C"/>
                </a:solidFill>
                <a:latin typeface="Consolas"/>
                <a:cs typeface="Consolas"/>
              </a:rPr>
              <a:t>M1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320800" y="5918504"/>
            <a:ext cx="1369522" cy="14477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3A4048"/>
                </a:solidFill>
                <a:latin typeface="Times New Roman"/>
                <a:cs typeface="Times New Roman"/>
              </a:rPr>
              <a:t>IRB determination, protocol pilot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383279" y="5806186"/>
            <a:ext cx="18923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90">
                <a:solidFill>
                  <a:srgbClr val="B6862C"/>
                </a:solidFill>
                <a:latin typeface="Consolas"/>
                <a:cs typeface="Consolas"/>
              </a:rPr>
              <a:t>M2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383279" y="5918504"/>
            <a:ext cx="1036914" cy="14477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3A4048"/>
                </a:solidFill>
                <a:latin typeface="Times New Roman"/>
                <a:cs typeface="Times New Roman"/>
              </a:rPr>
              <a:t>Recruitment and consent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45759" y="5806186"/>
            <a:ext cx="57785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90">
                <a:solidFill>
                  <a:srgbClr val="B6862C"/>
                </a:solidFill>
                <a:latin typeface="Consolas"/>
                <a:cs typeface="Consolas"/>
              </a:rPr>
              <a:t>M3 to M5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445759" y="5918504"/>
            <a:ext cx="1433708" cy="14477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3A4048"/>
                </a:solidFill>
                <a:latin typeface="Times New Roman"/>
                <a:cs typeface="Times New Roman"/>
              </a:rPr>
              <a:t>Interviews, transcription, memoing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508239" y="5806186"/>
            <a:ext cx="57785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90">
                <a:solidFill>
                  <a:srgbClr val="B6862C"/>
                </a:solidFill>
                <a:latin typeface="Consolas"/>
                <a:cs typeface="Consolas"/>
              </a:rPr>
              <a:t>M5 to M7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508239" y="5918504"/>
            <a:ext cx="1235455" cy="14477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3A4048"/>
                </a:solidFill>
                <a:latin typeface="Times New Roman"/>
                <a:cs typeface="Times New Roman"/>
              </a:rPr>
              <a:t>Coding, clustering, composite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570719" y="5806186"/>
            <a:ext cx="18923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90">
                <a:solidFill>
                  <a:srgbClr val="B6862C"/>
                </a:solidFill>
                <a:latin typeface="Consolas"/>
                <a:cs typeface="Consolas"/>
              </a:rPr>
              <a:t>M8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570719" y="5918504"/>
            <a:ext cx="1291437" cy="14477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3A4048"/>
                </a:solidFill>
                <a:latin typeface="Times New Roman"/>
                <a:cs typeface="Times New Roman"/>
              </a:rPr>
              <a:t>Member checking and write-up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685800" y="6172200"/>
            <a:ext cx="10820400" cy="0"/>
          </a:xfrm>
          <a:prstGeom prst="line">
            <a:avLst/>
          </a:prstGeom>
          <a:ln w="12700">
            <a:solidFill>
              <a:srgbClr val="D8D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431800" y="6211925"/>
            <a:ext cx="758952" cy="137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20">
                <a:solidFill>
                  <a:srgbClr val="081E3F"/>
                </a:solidFill>
                <a:latin typeface="Consolas"/>
                <a:cs typeface="Consolas"/>
              </a:rPr>
              <a:t>REFERENCES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31800" y="6340906"/>
            <a:ext cx="742309" cy="12572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767D86"/>
                </a:solidFill>
                <a:latin typeface="Times New Roman"/>
                <a:cs typeface="Times New Roman"/>
              </a:rPr>
              <a:t>Full list in the paper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447800" y="6203188"/>
            <a:ext cx="2489200" cy="28575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Commerford, B. P., Dennis, S. A., Joe, J. R., &amp; Ulla, J. W. (2022). Man versus</a:t>
            </a:r>
          </a:p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machine: Complex estimates and auditor reliance on artificial intelligence.</a:t>
            </a:r>
          </a:p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Journal of Accounting Research, 60(1), 171-201.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025900" y="6203188"/>
            <a:ext cx="2489200" cy="2057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Creswell, J. W., &amp; Poth, C. N. (2024). Qualitative inquiry and research design:</a:t>
            </a:r>
          </a:p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Choosing among five approaches (5th ed.). SAGE.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04000" y="6203188"/>
            <a:ext cx="2489200" cy="2057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Fotoh, L. E., &amp; Mugwira, T. (2025). Exploring the impact of generative AI on</a:t>
            </a:r>
          </a:p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professional skepticism in auditing.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182100" y="6203188"/>
            <a:ext cx="2489200" cy="2057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Glickman, M., &amp; Sharot, T. (2025). How human-AI feedback loops alter human</a:t>
            </a:r>
          </a:p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perceptual, emotional and social judgements.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447800" y="6507988"/>
            <a:ext cx="2489200" cy="28575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Kokina, J., Blanchette, S., Davenport, T. H., &amp; Pachamanova, D. (2025).</a:t>
            </a:r>
          </a:p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Challenges and opportunities for artificial intelligence in auditing. International</a:t>
            </a:r>
          </a:p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Journal of Accounting Information Systems, 56, 100734.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025900" y="6507988"/>
            <a:ext cx="2489200" cy="2057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Murikah, W., Nthenge, J. K., &amp; Musyoka, F. M. (2024). Bias and ethics of AI</a:t>
            </a:r>
          </a:p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systems applied in auditing: A systematic review.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04000" y="6507988"/>
            <a:ext cx="2489200" cy="2057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Parasuraman, R., &amp; Manzey, D. H. (2010). Complacency and bias in human use</a:t>
            </a:r>
          </a:p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of automation. Human Factors, 52(3), 381-410.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182100" y="6507988"/>
            <a:ext cx="2489200" cy="2057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Tversky, A., &amp; Kahneman, D. (1974). Judgment under uncertainty: Heuristics</a:t>
            </a:r>
          </a:p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and biases. Science, 185(4157), 1124-1131.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1800" y="127635"/>
            <a:ext cx="417957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140">
                <a:solidFill>
                  <a:srgbClr val="B6862C"/>
                </a:solidFill>
                <a:latin typeface="Consolas"/>
                <a:cs typeface="Consolas"/>
              </a:rPr>
              <a:t>APPENDIX A  ·  NOT PRESENTED  ·  SUBMITTED FOR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800" y="235458"/>
            <a:ext cx="3347351" cy="4000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Times New Roman"/>
                <a:cs typeface="Times New Roman"/>
              </a:rPr>
              <a:t>Sampling and the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48095" y="149733"/>
            <a:ext cx="2512104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9C7D8"/>
                </a:solidFill>
                <a:latin typeface="Times New Roman"/>
                <a:cs typeface="Times New Roman"/>
              </a:rPr>
              <a:t>Receiving Confirmation  ·  Yasir A. Malik  ·  GEB 7911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" y="878078"/>
            <a:ext cx="4744631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3A4048"/>
                </a:solidFill>
                <a:latin typeface="Times New Roman"/>
                <a:cs typeface="Times New Roman"/>
              </a:rPr>
              <a:t>Every participant must have lived the phenomenon, not merely hold views about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800" y="1166723"/>
            <a:ext cx="1751330" cy="15621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110">
                <a:solidFill>
                  <a:srgbClr val="081E3F"/>
                </a:solidFill>
                <a:latin typeface="Consolas"/>
                <a:cs typeface="Consolas"/>
              </a:rPr>
              <a:t>ELIGIBILITY · ALL FOUR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1800" y="1346200"/>
            <a:ext cx="3640666" cy="0"/>
          </a:xfrm>
          <a:prstGeom prst="line">
            <a:avLst/>
          </a:prstGeom>
          <a:ln w="15240">
            <a:solidFill>
              <a:srgbClr val="B686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1800" y="1436217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1. Five or more 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800" y="1632966"/>
            <a:ext cx="3653366" cy="25577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in audit, internal audit or risk assurance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800" y="1894890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2. Recurring or multi-year engagements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800" y="2091639"/>
            <a:ext cx="3653366" cy="25577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where prior-period work is the anchoring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800" y="2353564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3. Uses or has used AI or analytics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800" y="2550312"/>
            <a:ext cx="3653366" cy="25577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that produce conclusions, findings or risk ratings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800" y="2812237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4. Can recall a specific occasion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" y="3008985"/>
            <a:ext cx="3653366" cy="25577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when such a tool reached a conclusion they had already reached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800" y="3272891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Criterion 4 is the study. A candidate who meets 1 to 3 and fails 4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has not lived the phenomenon, and their data would be opinion.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800" y="3709822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Maximum variation within the criterion: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800" y="3906570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Big Four, mid-tier and in-house internal audit; external and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internal; senior associate to partner or CAE; several industries.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5666" y="1166723"/>
            <a:ext cx="2057145" cy="15621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110">
                <a:solidFill>
                  <a:srgbClr val="081E3F"/>
                </a:solidFill>
                <a:latin typeface="Consolas"/>
                <a:cs typeface="Consolas"/>
              </a:rPr>
              <a:t>HOW MANY, AND WHEN TO STOP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75666" y="1346200"/>
            <a:ext cx="3640667" cy="0"/>
          </a:xfrm>
          <a:prstGeom prst="line">
            <a:avLst/>
          </a:prstGeom>
          <a:ln w="15240">
            <a:solidFill>
              <a:srgbClr val="B686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75666" y="1436217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Criterion sample of 10 to 15.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5666" y="1632966"/>
            <a:ext cx="3653366" cy="25577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Saturation is a stopping rule, not a target.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5666" y="1896872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Stop after three consecutive interviews that add no new surviving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meaning unit.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5666" y="2335784"/>
            <a:ext cx="3653366" cy="60579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Below 10, do not stop regardless of apparent saturation. Above 15,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stop and report why saturation did not arrive, which is itself a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finding.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5666" y="2947720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Pilot first.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5666" y="3144469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The protocol is piloted, and pilot testers cannot become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participants.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5666" y="3581400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Channel: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5666" y="3778148"/>
            <a:ext cx="3653366" cy="60579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professional networks, association chapters and referral chains, not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general research panels, which held about 6 eligible auditors per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100,000 in the author's prior study.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9533" y="1166723"/>
            <a:ext cx="2057145" cy="15621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110">
                <a:solidFill>
                  <a:srgbClr val="081E3F"/>
                </a:solidFill>
                <a:latin typeface="Consolas"/>
                <a:cs typeface="Consolas"/>
              </a:rPr>
              <a:t>THE INTERVIEW · 60 MINUTES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119533" y="1346200"/>
            <a:ext cx="3640667" cy="0"/>
          </a:xfrm>
          <a:prstGeom prst="line">
            <a:avLst/>
          </a:prstGeom>
          <a:ln w="15240">
            <a:solidFill>
              <a:srgbClr val="B686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119533" y="1436217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Q1 (textural):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9533" y="1632966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What have you experienced when an AI tool reached the same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conclusion you had already reached?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9533" y="2069896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Q2 (structural):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9533" y="2266645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What situations or circumstances have typically influenced how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you experienced that?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9533" y="2703576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Grounding move: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19533" y="2900324"/>
            <a:ext cx="3653366" cy="60579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before anything else, the participant silently recalls one specific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occasion. If none comes, the screen failed and the interview ends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courteously.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19533" y="3514242"/>
            <a:ext cx="3653366" cy="60579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Body: the occasion (20 min) · prior-year conclusion versus AI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answer (10) · confirmation as evidence (10) · when to stop looking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(8) · under review (5).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19533" y="4126179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Never asked: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19533" y="4322927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"Why did you...?" (produces a defence) · "Would you say you were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anchored?" (supplies the construct).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1800" y="5105400"/>
            <a:ext cx="11328400" cy="1092200"/>
          </a:xfrm>
          <a:prstGeom prst="roundRect">
            <a:avLst>
              <a:gd name="adj" fmla="val 3488"/>
            </a:avLst>
          </a:prstGeom>
          <a:solidFill>
            <a:srgbClr val="FAF3E4"/>
          </a:solidFill>
          <a:ln w="12700">
            <a:solidFill>
              <a:srgbClr val="B686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1800" y="5105400"/>
            <a:ext cx="63500" cy="10922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400" y="5206644"/>
            <a:ext cx="1809496" cy="14859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 spc="130">
                <a:solidFill>
                  <a:srgbClr val="8A6A1F"/>
                </a:solidFill>
                <a:latin typeface="Consolas"/>
                <a:cs typeface="Consolas"/>
              </a:rPr>
              <a:t>A NOTE FOR DR. GONZALEZ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0400" y="5401259"/>
            <a:ext cx="10883900" cy="5974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4171C"/>
                </a:solidFill>
                <a:latin typeface="Times New Roman"/>
                <a:cs typeface="Times New Roman"/>
              </a:rPr>
              <a:t>Dr. Gonzalez, this is a working draft, shared now so your feedback can shape the final version. Slide 1 is the one-page poster I will present in Week 8. These three appendix slides are not for presentation;</a:t>
            </a:r>
          </a:p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4171C"/>
                </a:solidFill>
                <a:latin typeface="Times New Roman"/>
                <a:cs typeface="Times New Roman"/>
              </a:rPr>
              <a:t>they set out the sampling, analysis and validation behind it, and slide 4 ends with four questions where your guidance would help most. I will send the revised poster and proposal next week. Thank you.</a:t>
            </a:r>
          </a:p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4171C"/>
                </a:solidFill>
                <a:latin typeface="Times New Roman"/>
                <a:cs typeface="Times New Roman"/>
              </a:rPr>
              <a:t>Yasir Malik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31800" y="6527800"/>
            <a:ext cx="11328400" cy="0"/>
          </a:xfrm>
          <a:prstGeom prst="line">
            <a:avLst/>
          </a:prstGeom>
          <a:ln w="12700">
            <a:solidFill>
              <a:srgbClr val="D8D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31800" y="6594246"/>
            <a:ext cx="7402779" cy="12953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67D86"/>
                </a:solidFill>
                <a:latin typeface="Times New Roman"/>
                <a:cs typeface="Times New Roman"/>
              </a:rPr>
              <a:t>Source: the author's protocol files, dba/QUALITATIVE/INTERVIEW_GUIDE.md and SAMPLING_AND_RECRUITMENT.md. Nothing has been fielded; zero participants; IRB modification not yet submitted.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1800" y="127635"/>
            <a:ext cx="417957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140">
                <a:solidFill>
                  <a:srgbClr val="B6862C"/>
                </a:solidFill>
                <a:latin typeface="Consolas"/>
                <a:cs typeface="Consolas"/>
              </a:rPr>
              <a:t>APPENDIX B  ·  NOT PRESENTED  ·  SUBMITTED FOR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800" y="235458"/>
            <a:ext cx="1732216" cy="4000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Times New Roman"/>
                <a:cs typeface="Times New Roman"/>
              </a:rPr>
              <a:t>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48095" y="149733"/>
            <a:ext cx="2512104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9C7D8"/>
                </a:solidFill>
                <a:latin typeface="Times New Roman"/>
                <a:cs typeface="Times New Roman"/>
              </a:rPr>
              <a:t>Receiving Confirmation  ·  Yasir A. Malik  ·  GEB 7911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" y="878078"/>
            <a:ext cx="6563804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3A4048"/>
                </a:solidFill>
                <a:latin typeface="Times New Roman"/>
                <a:cs typeface="Times New Roman"/>
              </a:rPr>
              <a:t>Creswell and Poth's five analysis activities, carried out through Moustakas-style phenomenological steps in NVivo.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800" y="1166723"/>
            <a:ext cx="1521967" cy="15621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110">
                <a:solidFill>
                  <a:srgbClr val="081E3F"/>
                </a:solidFill>
                <a:latin typeface="Consolas"/>
                <a:cs typeface="Consolas"/>
              </a:rPr>
              <a:t>THE FIVE ACTIVITIES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1800" y="1346200"/>
            <a:ext cx="3640666" cy="0"/>
          </a:xfrm>
          <a:prstGeom prst="line">
            <a:avLst/>
          </a:prstGeom>
          <a:ln w="15240">
            <a:solidFill>
              <a:srgbClr val="B686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1800" y="1436217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1. Managing and organising the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800" y="1632966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Verbatim transcripts, pseudonyms at transcription, encrypted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storage, one NVivo project.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800" y="2069896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2. Reading and memoing.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800" y="2266645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A reflexive memo before each listen-back, and emergent ideas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memoed from the first transcript.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800" y="2703576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3. Describing and classifying codes into themes.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800" y="2900324"/>
            <a:ext cx="3653366" cy="25577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Horizontalisation, then meaning units, then clusters.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800" y="3162249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4. Developing and assessing interpretations.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" y="3358997"/>
            <a:ext cx="3653366" cy="25577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A mandatory disconfirming pass before anything is written up.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800" y="3620922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5. Representing the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800" y="3817670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Textural, structural and composite descriptions, quoting rather than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paraphrasing.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5666" y="1166723"/>
            <a:ext cx="2057145" cy="15621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110">
                <a:solidFill>
                  <a:srgbClr val="081E3F"/>
                </a:solidFill>
                <a:latin typeface="Consolas"/>
                <a:cs typeface="Consolas"/>
              </a:rPr>
              <a:t>THE PHENOMENOLOGICAL STEPS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75666" y="1346200"/>
            <a:ext cx="3640667" cy="0"/>
          </a:xfrm>
          <a:prstGeom prst="line">
            <a:avLst/>
          </a:prstGeom>
          <a:ln w="15240">
            <a:solidFill>
              <a:srgbClr val="B686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275666" y="1436217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Epoché first.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5666" y="1632966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Four written commitments, including the author's stake in the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answer, set down before the first interview.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5666" y="2069896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Horizontalisation.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5666" y="2266645"/>
            <a:ext cx="3653366" cy="25577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Every significant statement listed, each given equal weight.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5666" y="2528570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Meaning units and themes.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5666" y="2725318"/>
            <a:ext cx="3653366" cy="25577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Statements reduced to non-overlapping units, then clustered.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5666" y="2987243"/>
            <a:ext cx="3653366" cy="44947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Textural (what) and structural (how, in what context)</a:t>
            </a:r>
          </a:p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descriptions,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5666" y="3366058"/>
            <a:ext cx="3653366" cy="25577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for each participant and then across all of them.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5666" y="3627983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Composite essence.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5666" y="3824732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Two rules: no causal language, and no frequency claims such as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"most participants".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9533" y="1166723"/>
            <a:ext cx="1216152" cy="15621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110">
                <a:solidFill>
                  <a:srgbClr val="081E3F"/>
                </a:solidFill>
                <a:latin typeface="Consolas"/>
                <a:cs typeface="Consolas"/>
              </a:rPr>
              <a:t>THE AI BOUNDARY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119533" y="1346200"/>
            <a:ext cx="3640667" cy="0"/>
          </a:xfrm>
          <a:prstGeom prst="line">
            <a:avLst/>
          </a:prstGeom>
          <a:ln w="15240">
            <a:solidFill>
              <a:srgbClr val="B686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119533" y="1436217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AI may: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9533" y="1632966"/>
            <a:ext cx="3653366" cy="60579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transcribe audio · format and tabulate what the author has already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coded · check prose for clarity and grammar · act as an adversary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("what have I missed?") · find literature.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9533" y="2244902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AI may not: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9533" y="2441651"/>
            <a:ext cx="3653366" cy="60579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assign a code or meaning unit · name a theme · write any part of a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description · decide what a participant meant · decide when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saturation is reached.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19533" y="3053588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Why the line sits here: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19533" y="3250336"/>
            <a:ext cx="3653366" cy="7807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the study examines what happens when a machine reaches a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conclusion first and a human agrees with it. Letting a model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propose themes and then agreeing with them would reproduce the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phenomenon inside its own analysis.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19533" y="4039260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Every AI use is logged with date, tool, request and outcome (FIU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Graduate School AI policy; GEB 7911 limits).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31800" y="6527800"/>
            <a:ext cx="11328400" cy="0"/>
          </a:xfrm>
          <a:prstGeom prst="line">
            <a:avLst/>
          </a:prstGeom>
          <a:ln w="12700">
            <a:solidFill>
              <a:srgbClr val="D8D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31800" y="6594246"/>
            <a:ext cx="5934227" cy="12953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67D86"/>
                </a:solidFill>
                <a:latin typeface="Times New Roman"/>
                <a:cs typeface="Times New Roman"/>
              </a:rPr>
              <a:t>Source: dba/QUALITATIVE/CODING_PLAN.md. The analysis plan follows the course's prescribed activities rather than a self-invented procedure, as asked in Week 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1800" y="127635"/>
            <a:ext cx="417957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140">
                <a:solidFill>
                  <a:srgbClr val="B6862C"/>
                </a:solidFill>
                <a:latin typeface="Consolas"/>
                <a:cs typeface="Consolas"/>
              </a:rPr>
              <a:t>APPENDIX C  ·  NOT PRESENTED  ·  SUBMITTED FOR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800" y="235458"/>
            <a:ext cx="5762586" cy="4000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Times New Roman"/>
                <a:cs typeface="Times New Roman"/>
              </a:rPr>
              <a:t>Validation, and where feedback would help most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48095" y="149733"/>
            <a:ext cx="2512104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9C7D8"/>
                </a:solidFill>
                <a:latin typeface="Times New Roman"/>
                <a:cs typeface="Times New Roman"/>
              </a:rPr>
              <a:t>Receiving Confirmation  ·  Yasir A. Malik  ·  GEB 7911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" y="878078"/>
            <a:ext cx="5241823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3A4048"/>
                </a:solidFill>
                <a:latin typeface="Times New Roman"/>
                <a:cs typeface="Times New Roman"/>
              </a:rPr>
              <a:t>Chapter 10: at least two strategies, drawn from more than one lens. This design uses seven.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800" y="1166723"/>
            <a:ext cx="1674876" cy="15621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110">
                <a:solidFill>
                  <a:srgbClr val="081E3F"/>
                </a:solidFill>
                <a:latin typeface="Consolas"/>
                <a:cs typeface="Consolas"/>
              </a:rPr>
              <a:t>THE RESEARCHER'S LENS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1800" y="1346200"/>
            <a:ext cx="3640666" cy="0"/>
          </a:xfrm>
          <a:prstGeom prst="line">
            <a:avLst/>
          </a:prstGeom>
          <a:ln w="15240">
            <a:solidFill>
              <a:srgbClr val="B686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1800" y="1436217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Reflexivity and the confirmation hazard log.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800" y="1632966"/>
            <a:ext cx="3653366" cy="7807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The author is a career auditor who built an AI review tool: insider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access and insider bias at once. Every moment of feeling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confirmed by a participant's account is logged, because that is the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study's own phenomenon happening to the researcher.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800" y="2419908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Negative case analysis.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800" y="2616657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Actively seek auditors who distrusted or overrode the AI's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agreement.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800" y="3053588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Outsider review.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800" y="3250336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Every third transcript read cold by a second person asking "where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is the researcher in this data?"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5666" y="1166723"/>
            <a:ext cx="3051048" cy="15621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110">
                <a:solidFill>
                  <a:srgbClr val="081E3F"/>
                </a:solidFill>
                <a:latin typeface="Consolas"/>
                <a:cs typeface="Consolas"/>
              </a:rPr>
              <a:t>THE PARTICIPANT'S AND THE READER'S LENS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75666" y="1346200"/>
            <a:ext cx="3640667" cy="0"/>
          </a:xfrm>
          <a:prstGeom prst="line">
            <a:avLst/>
          </a:prstGeom>
          <a:ln w="15240">
            <a:solidFill>
              <a:srgbClr val="B686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75666" y="1436217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Member checking.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5666" y="1632966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Each participant receives their own textural description, not the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raw transcript, and is asked what is wrong or missing.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5666" y="2069896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Thick description.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5666" y="2266645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Firm type, function, engagement, tool category and the moment of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agreement, so a reader can judge transfer.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5666" y="2703576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Audit trail.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5666" y="2900324"/>
            <a:ext cx="3653366" cy="60579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Protocol written before data collection, an append-only decision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log, dated codebook versions and the hazard log: the study's own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workpapers.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5666" y="3512261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Falsification conditions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5666" y="3709009"/>
            <a:ext cx="3653366" cy="25577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stated in advance of any participant.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3333" y="1092200"/>
            <a:ext cx="3793066" cy="5181600"/>
          </a:xfrm>
          <a:prstGeom prst="roundRect">
            <a:avLst>
              <a:gd name="adj" fmla="val 1004"/>
            </a:avLst>
          </a:prstGeom>
          <a:solidFill>
            <a:srgbClr val="FAF3E4"/>
          </a:solidFill>
          <a:ln w="12700">
            <a:solidFill>
              <a:srgbClr val="B686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9533" y="1166723"/>
            <a:ext cx="2057145" cy="15621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110">
                <a:solidFill>
                  <a:srgbClr val="081E3F"/>
                </a:solidFill>
                <a:latin typeface="Consolas"/>
                <a:cs typeface="Consolas"/>
              </a:rPr>
              <a:t>QUESTIONS FOR DR. GONZALEZ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119533" y="1346200"/>
            <a:ext cx="3640667" cy="0"/>
          </a:xfrm>
          <a:prstGeom prst="line">
            <a:avLst/>
          </a:prstGeom>
          <a:ln w="15240">
            <a:solidFill>
              <a:srgbClr val="B686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119533" y="1436217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1. Is criterion 4 too narrow?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9533" y="1632966"/>
            <a:ext cx="3653366" cy="60579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Requiring a recalled occasion of AI agreement may make 10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participants hard to reach. Would you keep it strict, or allow a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closely related occasion?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9533" y="2244902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2. Member checking on the textural description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9533" y="2441651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rather than the transcript: acceptable for this proposal, or should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the transcript also go back to participants?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533" y="2878582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3. One outsider reviewer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9533" y="3075330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reading every third transcript: enough, given how close the author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is to the phenomenon?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9533" y="3512261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4. Is the AI boundary drawn in the right 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9533" y="3709009"/>
            <a:ext cx="3653366" cy="25577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for the course's 25% limit and labelling rule?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31800" y="6527800"/>
            <a:ext cx="11328400" cy="0"/>
          </a:xfrm>
          <a:prstGeom prst="line">
            <a:avLst/>
          </a:prstGeom>
          <a:ln w="12700">
            <a:solidFill>
              <a:srgbClr val="D8D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31800" y="6594246"/>
            <a:ext cx="7153198" cy="12953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67D86"/>
                </a:solidFill>
                <a:latin typeface="Times New Roman"/>
                <a:cs typeface="Times New Roman"/>
              </a:rPr>
              <a:t>Source: dba/QUALITATIVE/TRUSTWORTHINESS.md; Creswell and Poth, Chapter 10. Slides prepared with AI assistance for layout and organisation; the design and every decision in it are the author's.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Receiving Confirmation - GEB 7911 qualitative research proposal</dc:title>
  <dc:subject/>
  <dc:creator>Yasir A. Malik - FIU DBA Cohort 8.14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