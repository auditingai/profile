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researchers watched a new university president start a strategic change, in real time. One was inside the process, one deliberately stayed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before this, 'work it out' and 'communicate it' were treated as separate stages. They showed the two keep swapping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say one thing in the room, this is it. Auditors already know this structure — preparer and reviewer, engagement partner and EQ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method point, not a summary. That is the sentence the course is actually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1965960"/>
            <a:ext cx="7315200" cy="274320"/>
          </a:xfrm>
          <a:prstGeom prst="rect">
            <a:avLst/>
          </a:prstGeom>
          <a:noFill/>
          <a:ln/>
        </p:spPr>
        <p:txBody>
          <a:bodyPr wrap="square" lIns="0" tIns="0" rIns="0" bIns="0" rtlCol="0" anchor="ctr"/>
          <a:lstStyle/>
          <a:p>
            <a:pPr indent="0" marL="0">
              <a:buNone/>
            </a:pPr>
            <a:r>
              <a:rPr lang="en-US" sz="1100" spc="160" kern="0" dirty="0">
                <a:solidFill>
                  <a:srgbClr val="D2A73F"/>
                </a:solidFill>
                <a:latin typeface="Courier New" pitchFamily="34" charset="0"/>
                <a:ea typeface="Courier New" pitchFamily="34" charset="-122"/>
                <a:cs typeface="Courier New" pitchFamily="34" charset="-120"/>
              </a:rPr>
              <a:t>Scholarly Exchange · Week 1</a:t>
            </a:r>
            <a:endParaRPr lang="en-US" sz="1100" dirty="0"/>
          </a:p>
        </p:txBody>
      </p:sp>
      <p:sp>
        <p:nvSpPr>
          <p:cNvPr id="4" name="Text 2"/>
          <p:cNvSpPr/>
          <p:nvPr/>
        </p:nvSpPr>
        <p:spPr>
          <a:xfrm>
            <a:off x="685800" y="2286000"/>
            <a:ext cx="9601200" cy="91440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Sensemaking and Sensegiving</a:t>
            </a:r>
            <a:endParaRPr lang="en-US" sz="4600" dirty="0"/>
          </a:p>
        </p:txBody>
      </p:sp>
      <p:sp>
        <p:nvSpPr>
          <p:cNvPr id="5" name="Text 3"/>
          <p:cNvSpPr/>
          <p:nvPr/>
        </p:nvSpPr>
        <p:spPr>
          <a:xfrm>
            <a:off x="685800" y="3246120"/>
            <a:ext cx="8686800" cy="457200"/>
          </a:xfrm>
          <a:prstGeom prst="rect">
            <a:avLst/>
          </a:prstGeom>
          <a:noFill/>
          <a:ln/>
        </p:spPr>
        <p:txBody>
          <a:bodyPr wrap="square" lIns="0" tIns="0" rIns="0" bIns="0" rtlCol="0" anchor="ctr"/>
          <a:lstStyle/>
          <a:p>
            <a:pPr indent="0" marL="0">
              <a:buNone/>
            </a:pPr>
            <a:r>
              <a:rPr lang="en-US" sz="1700" dirty="0">
                <a:solidFill>
                  <a:srgbClr val="B9C2CC"/>
                </a:solidFill>
                <a:latin typeface="Cambria" pitchFamily="34" charset="0"/>
                <a:ea typeface="Cambria" pitchFamily="34" charset="-122"/>
                <a:cs typeface="Cambria" pitchFamily="34" charset="-120"/>
              </a:rPr>
              <a:t>Gioia &amp; Chittipeddi (1991) — an article analysis across eight questions</a:t>
            </a:r>
            <a:endParaRPr lang="en-US" sz="1700" dirty="0"/>
          </a:p>
        </p:txBody>
      </p:sp>
      <p:sp>
        <p:nvSpPr>
          <p:cNvPr id="6" name="Shape 4"/>
          <p:cNvSpPr/>
          <p:nvPr/>
        </p:nvSpPr>
        <p:spPr>
          <a:xfrm>
            <a:off x="685800" y="3977640"/>
            <a:ext cx="146304" cy="146304"/>
          </a:xfrm>
          <a:prstGeom prst="rect">
            <a:avLst/>
          </a:prstGeom>
          <a:solidFill>
            <a:srgbClr val="0E2237"/>
          </a:solidFill>
          <a:ln w="16510">
            <a:solidFill>
              <a:srgbClr val="D2A73F"/>
            </a:solidFill>
            <a:prstDash val="solid"/>
          </a:ln>
        </p:spPr>
      </p:sp>
      <p:sp>
        <p:nvSpPr>
          <p:cNvPr id="7" name="Shape 5"/>
          <p:cNvSpPr/>
          <p:nvPr/>
        </p:nvSpPr>
        <p:spPr>
          <a:xfrm>
            <a:off x="923544" y="3977640"/>
            <a:ext cx="146304" cy="146304"/>
          </a:xfrm>
          <a:prstGeom prst="rect">
            <a:avLst/>
          </a:prstGeom>
          <a:solidFill>
            <a:srgbClr val="D2A73F"/>
          </a:solidFill>
          <a:ln w="16510">
            <a:solidFill>
              <a:srgbClr val="D2A73F"/>
            </a:solidFill>
            <a:prstDash val="solid"/>
          </a:ln>
        </p:spPr>
      </p:sp>
      <p:sp>
        <p:nvSpPr>
          <p:cNvPr id="8" name="Shape 6"/>
          <p:cNvSpPr/>
          <p:nvPr/>
        </p:nvSpPr>
        <p:spPr>
          <a:xfrm>
            <a:off x="1161288" y="3977640"/>
            <a:ext cx="146304" cy="146304"/>
          </a:xfrm>
          <a:prstGeom prst="rect">
            <a:avLst/>
          </a:prstGeom>
          <a:solidFill>
            <a:srgbClr val="0E2237"/>
          </a:solidFill>
          <a:ln w="16510">
            <a:solidFill>
              <a:srgbClr val="D2A73F"/>
            </a:solidFill>
            <a:prstDash val="solid"/>
          </a:ln>
        </p:spPr>
      </p:sp>
      <p:sp>
        <p:nvSpPr>
          <p:cNvPr id="9" name="Shape 7"/>
          <p:cNvSpPr/>
          <p:nvPr/>
        </p:nvSpPr>
        <p:spPr>
          <a:xfrm>
            <a:off x="1399032" y="3977640"/>
            <a:ext cx="146304" cy="146304"/>
          </a:xfrm>
          <a:prstGeom prst="rect">
            <a:avLst/>
          </a:prstGeom>
          <a:solidFill>
            <a:srgbClr val="D2A73F"/>
          </a:solidFill>
          <a:ln w="16510">
            <a:solidFill>
              <a:srgbClr val="D2A73F"/>
            </a:solidFill>
            <a:prstDash val="solid"/>
          </a:ln>
        </p:spPr>
      </p:sp>
      <p:sp>
        <p:nvSpPr>
          <p:cNvPr id="10" name="Text 8"/>
          <p:cNvSpPr/>
          <p:nvPr/>
        </p:nvSpPr>
        <p:spPr>
          <a:xfrm>
            <a:off x="685800" y="5715000"/>
            <a:ext cx="10058400" cy="274320"/>
          </a:xfrm>
          <a:prstGeom prst="rect">
            <a:avLst/>
          </a:prstGeom>
          <a:noFill/>
          <a:ln/>
        </p:spPr>
        <p:txBody>
          <a:bodyPr wrap="square" lIns="0" tIns="0" rIns="0" bIns="0" rtlCol="0" anchor="ctr"/>
          <a:lstStyle/>
          <a:p>
            <a:pPr indent="0" marL="0">
              <a:buNone/>
            </a:pPr>
            <a:r>
              <a:rPr lang="en-US" sz="1000" spc="50" kern="0" dirty="0">
                <a:solidFill>
                  <a:srgbClr val="8C949E"/>
                </a:solidFill>
                <a:latin typeface="Courier New" pitchFamily="34" charset="0"/>
                <a:ea typeface="Courier New" pitchFamily="34" charset="-122"/>
                <a:cs typeface="Courier New" pitchFamily="34" charset="-120"/>
              </a:rPr>
              <a:t>Yasir A. Malik   ·   GEB 7911 Qualitative Research Methods   ·   Dr. Cristina Gonzalez</a:t>
            </a:r>
            <a:endParaRPr lang="en-US" sz="1000" dirty="0"/>
          </a:p>
        </p:txBody>
      </p:sp>
      <p:sp>
        <p:nvSpPr>
          <p:cNvPr id="11" name="Text 9"/>
          <p:cNvSpPr/>
          <p:nvPr/>
        </p:nvSpPr>
        <p:spPr>
          <a:xfrm>
            <a:off x="685800" y="6016752"/>
            <a:ext cx="7315200" cy="274320"/>
          </a:xfrm>
          <a:prstGeom prst="rect">
            <a:avLst/>
          </a:prstGeom>
          <a:noFill/>
          <a:ln/>
        </p:spPr>
        <p:txBody>
          <a:bodyPr wrap="square" lIns="0" tIns="0" rIns="0" bIns="0" rtlCol="0" anchor="ctr"/>
          <a:lstStyle/>
          <a:p>
            <a:pPr indent="0" marL="0">
              <a:buNone/>
            </a:pPr>
            <a:r>
              <a:rPr lang="en-US" sz="1000" spc="50" kern="0" dirty="0">
                <a:solidFill>
                  <a:srgbClr val="D2A73F"/>
                </a:solidFill>
                <a:latin typeface="Courier New" pitchFamily="34" charset="0"/>
                <a:ea typeface="Courier New" pitchFamily="34" charset="-122"/>
                <a:cs typeface="Courier New" pitchFamily="34" charset="-120"/>
              </a:rPr>
              <a:t>github.com/AuditingAI/Profile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789920" cy="685800"/>
          </a:xfrm>
          <a:prstGeom prst="rect">
            <a:avLst/>
          </a:prstGeom>
          <a:noFill/>
          <a:ln/>
        </p:spPr>
        <p:txBody>
          <a:bodyPr wrap="square" lIns="0" tIns="0" rIns="0" bIns="0" rtlCol="0" anchor="ctr"/>
          <a:lstStyle/>
          <a:p>
            <a:pPr indent="0" marL="0">
              <a:buNone/>
            </a:pPr>
            <a:r>
              <a:rPr lang="en-US" sz="3400" b="1" dirty="0">
                <a:solidFill>
                  <a:srgbClr val="14171C"/>
                </a:solidFill>
                <a:latin typeface="Georgia" pitchFamily="34" charset="0"/>
                <a:ea typeface="Georgia" pitchFamily="34" charset="-122"/>
                <a:cs typeface="Georgia" pitchFamily="34" charset="-120"/>
              </a:rPr>
              <a:t>The finding, in one picture</a:t>
            </a:r>
            <a:endParaRPr lang="en-US" sz="3400" dirty="0"/>
          </a:p>
        </p:txBody>
      </p:sp>
      <p:sp>
        <p:nvSpPr>
          <p:cNvPr id="4" name="Text 2"/>
          <p:cNvSpPr/>
          <p:nvPr/>
        </p:nvSpPr>
        <p:spPr>
          <a:xfrm>
            <a:off x="685800" y="1627632"/>
            <a:ext cx="8778240" cy="411480"/>
          </a:xfrm>
          <a:prstGeom prst="rect">
            <a:avLst/>
          </a:prstGeom>
          <a:noFill/>
          <a:ln/>
        </p:spPr>
        <p:txBody>
          <a:bodyPr wrap="square" lIns="0" tIns="0" rIns="0" bIns="0" rtlCol="0" anchor="ctr"/>
          <a:lstStyle/>
          <a:p>
            <a:pPr indent="0" marL="0">
              <a:buNone/>
            </a:pPr>
            <a:r>
              <a:rPr lang="en-US" sz="1500" i="1" dirty="0">
                <a:solidFill>
                  <a:srgbClr val="767D86"/>
                </a:solidFill>
                <a:latin typeface="Cambria" pitchFamily="34" charset="0"/>
                <a:ea typeface="Cambria" pitchFamily="34" charset="-122"/>
                <a:cs typeface="Cambria" pitchFamily="34" charset="-120"/>
              </a:rPr>
              <a:t>Understanding it yourself and selling it to others are not two stages — they alternate.</a:t>
            </a:r>
            <a:endParaRPr lang="en-US" sz="1500" dirty="0"/>
          </a:p>
        </p:txBody>
      </p:sp>
      <p:sp>
        <p:nvSpPr>
          <p:cNvPr id="5" name="Shape 3"/>
          <p:cNvSpPr/>
          <p:nvPr/>
        </p:nvSpPr>
        <p:spPr>
          <a:xfrm>
            <a:off x="868680" y="2514600"/>
            <a:ext cx="2148840" cy="1051560"/>
          </a:xfrm>
          <a:prstGeom prst="rect">
            <a:avLst/>
          </a:prstGeom>
          <a:solidFill>
            <a:srgbClr val="E9EFF6"/>
          </a:solidFill>
          <a:ln w="19050">
            <a:solidFill>
              <a:srgbClr val="1F4E79"/>
            </a:solidFill>
            <a:prstDash val="solid"/>
          </a:ln>
        </p:spPr>
      </p:sp>
      <p:sp>
        <p:nvSpPr>
          <p:cNvPr id="6" name="Text 4"/>
          <p:cNvSpPr/>
          <p:nvPr/>
        </p:nvSpPr>
        <p:spPr>
          <a:xfrm>
            <a:off x="868680" y="2670048"/>
            <a:ext cx="2148840" cy="292608"/>
          </a:xfrm>
          <a:prstGeom prst="rect">
            <a:avLst/>
          </a:prstGeom>
          <a:noFill/>
          <a:ln/>
        </p:spPr>
        <p:txBody>
          <a:bodyPr wrap="square" lIns="0" tIns="0" rIns="0" bIns="0" rtlCol="0" anchor="ctr"/>
          <a:lstStyle/>
          <a:p>
            <a:pPr algn="ctr" indent="0" marL="0">
              <a:buNone/>
            </a:pPr>
            <a:r>
              <a:rPr lang="en-US" sz="1500" b="1" dirty="0">
                <a:solidFill>
                  <a:srgbClr val="1F4E79"/>
                </a:solidFill>
                <a:latin typeface="Georgia" pitchFamily="34" charset="0"/>
                <a:ea typeface="Georgia" pitchFamily="34" charset="-122"/>
                <a:cs typeface="Georgia" pitchFamily="34" charset="-120"/>
              </a:rPr>
              <a:t>ENVISION</a:t>
            </a:r>
            <a:endParaRPr lang="en-US" sz="1500" dirty="0"/>
          </a:p>
        </p:txBody>
      </p:sp>
      <p:sp>
        <p:nvSpPr>
          <p:cNvPr id="7" name="Text 5"/>
          <p:cNvSpPr/>
          <p:nvPr/>
        </p:nvSpPr>
        <p:spPr>
          <a:xfrm>
            <a:off x="868680" y="2999232"/>
            <a:ext cx="2148840" cy="274320"/>
          </a:xfrm>
          <a:prstGeom prst="rect">
            <a:avLst/>
          </a:prstGeom>
          <a:noFill/>
          <a:ln/>
        </p:spPr>
        <p:txBody>
          <a:bodyPr wrap="square" lIns="0" tIns="0" rIns="0" bIns="0" rtlCol="0" anchor="ctr"/>
          <a:lstStyle/>
          <a:p>
            <a:pPr algn="ctr" indent="0" marL="0">
              <a:buNone/>
            </a:pPr>
            <a:r>
              <a:rPr lang="en-US" sz="1100" dirty="0">
                <a:solidFill>
                  <a:srgbClr val="767D86"/>
                </a:solidFill>
                <a:latin typeface="Cambria" pitchFamily="34" charset="0"/>
                <a:ea typeface="Cambria" pitchFamily="34" charset="-122"/>
                <a:cs typeface="Cambria" pitchFamily="34" charset="-120"/>
              </a:rPr>
              <a:t>what does it mean?</a:t>
            </a:r>
            <a:endParaRPr lang="en-US" sz="1100" dirty="0"/>
          </a:p>
        </p:txBody>
      </p:sp>
      <p:sp>
        <p:nvSpPr>
          <p:cNvPr id="8" name="Shape 6"/>
          <p:cNvSpPr/>
          <p:nvPr/>
        </p:nvSpPr>
        <p:spPr>
          <a:xfrm>
            <a:off x="3017520" y="3044952"/>
            <a:ext cx="685800" cy="0"/>
          </a:xfrm>
          <a:prstGeom prst="line">
            <a:avLst/>
          </a:prstGeom>
          <a:noFill/>
          <a:ln w="25400">
            <a:solidFill>
              <a:srgbClr val="1F4E79"/>
            </a:solidFill>
            <a:prstDash val="solid"/>
            <a:tailEnd type="triangle"/>
          </a:ln>
        </p:spPr>
      </p:sp>
      <p:sp>
        <p:nvSpPr>
          <p:cNvPr id="9" name="Shape 7"/>
          <p:cNvSpPr/>
          <p:nvPr/>
        </p:nvSpPr>
        <p:spPr>
          <a:xfrm>
            <a:off x="3703320" y="2514600"/>
            <a:ext cx="2148840" cy="1051560"/>
          </a:xfrm>
          <a:prstGeom prst="rect">
            <a:avLst/>
          </a:prstGeom>
          <a:solidFill>
            <a:srgbClr val="1F4E79"/>
          </a:solidFill>
          <a:ln w="19050">
            <a:solidFill>
              <a:srgbClr val="1F4E79"/>
            </a:solidFill>
            <a:prstDash val="solid"/>
          </a:ln>
        </p:spPr>
      </p:sp>
      <p:sp>
        <p:nvSpPr>
          <p:cNvPr id="10" name="Text 8"/>
          <p:cNvSpPr/>
          <p:nvPr/>
        </p:nvSpPr>
        <p:spPr>
          <a:xfrm>
            <a:off x="3703320" y="2670048"/>
            <a:ext cx="214884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SIGNAL</a:t>
            </a:r>
            <a:endParaRPr lang="en-US" sz="1500" dirty="0"/>
          </a:p>
        </p:txBody>
      </p:sp>
      <p:sp>
        <p:nvSpPr>
          <p:cNvPr id="11" name="Text 9"/>
          <p:cNvSpPr/>
          <p:nvPr/>
        </p:nvSpPr>
        <p:spPr>
          <a:xfrm>
            <a:off x="3703320" y="2999232"/>
            <a:ext cx="2148840" cy="274320"/>
          </a:xfrm>
          <a:prstGeom prst="rect">
            <a:avLst/>
          </a:prstGeom>
          <a:noFill/>
          <a:ln/>
        </p:spPr>
        <p:txBody>
          <a:bodyPr wrap="square" lIns="0" tIns="0" rIns="0" bIns="0" rtlCol="0" anchor="ctr"/>
          <a:lstStyle/>
          <a:p>
            <a:pPr algn="ctr" indent="0" marL="0">
              <a:buNone/>
            </a:pPr>
            <a:r>
              <a:rPr lang="en-US" sz="1100" dirty="0">
                <a:solidFill>
                  <a:srgbClr val="C9D6E4"/>
                </a:solidFill>
                <a:latin typeface="Cambria" pitchFamily="34" charset="0"/>
                <a:ea typeface="Cambria" pitchFamily="34" charset="-122"/>
                <a:cs typeface="Cambria" pitchFamily="34" charset="-120"/>
              </a:rPr>
              <a:t>tell everyone</a:t>
            </a:r>
            <a:endParaRPr lang="en-US" sz="1100" dirty="0"/>
          </a:p>
        </p:txBody>
      </p:sp>
      <p:sp>
        <p:nvSpPr>
          <p:cNvPr id="12" name="Shape 10"/>
          <p:cNvSpPr/>
          <p:nvPr/>
        </p:nvSpPr>
        <p:spPr>
          <a:xfrm>
            <a:off x="5852160" y="3044952"/>
            <a:ext cx="685800" cy="0"/>
          </a:xfrm>
          <a:prstGeom prst="line">
            <a:avLst/>
          </a:prstGeom>
          <a:noFill/>
          <a:ln w="25400">
            <a:solidFill>
              <a:srgbClr val="1F4E79"/>
            </a:solidFill>
            <a:prstDash val="solid"/>
            <a:tailEnd type="triangle"/>
          </a:ln>
        </p:spPr>
      </p:sp>
      <p:sp>
        <p:nvSpPr>
          <p:cNvPr id="13" name="Shape 11"/>
          <p:cNvSpPr/>
          <p:nvPr/>
        </p:nvSpPr>
        <p:spPr>
          <a:xfrm>
            <a:off x="6537960" y="2514600"/>
            <a:ext cx="2148840" cy="1051560"/>
          </a:xfrm>
          <a:prstGeom prst="rect">
            <a:avLst/>
          </a:prstGeom>
          <a:solidFill>
            <a:srgbClr val="E9EFF6"/>
          </a:solidFill>
          <a:ln w="19050">
            <a:solidFill>
              <a:srgbClr val="1F4E79"/>
            </a:solidFill>
            <a:prstDash val="solid"/>
          </a:ln>
        </p:spPr>
      </p:sp>
      <p:sp>
        <p:nvSpPr>
          <p:cNvPr id="14" name="Text 12"/>
          <p:cNvSpPr/>
          <p:nvPr/>
        </p:nvSpPr>
        <p:spPr>
          <a:xfrm>
            <a:off x="6537960" y="2670048"/>
            <a:ext cx="2148840" cy="292608"/>
          </a:xfrm>
          <a:prstGeom prst="rect">
            <a:avLst/>
          </a:prstGeom>
          <a:noFill/>
          <a:ln/>
        </p:spPr>
        <p:txBody>
          <a:bodyPr wrap="square" lIns="0" tIns="0" rIns="0" bIns="0" rtlCol="0" anchor="ctr"/>
          <a:lstStyle/>
          <a:p>
            <a:pPr algn="ctr" indent="0" marL="0">
              <a:buNone/>
            </a:pPr>
            <a:r>
              <a:rPr lang="en-US" sz="1500" b="1" dirty="0">
                <a:solidFill>
                  <a:srgbClr val="1F4E79"/>
                </a:solidFill>
                <a:latin typeface="Georgia" pitchFamily="34" charset="0"/>
                <a:ea typeface="Georgia" pitchFamily="34" charset="-122"/>
                <a:cs typeface="Georgia" pitchFamily="34" charset="-120"/>
              </a:rPr>
              <a:t>RE-VISION</a:t>
            </a:r>
            <a:endParaRPr lang="en-US" sz="1500" dirty="0"/>
          </a:p>
        </p:txBody>
      </p:sp>
      <p:sp>
        <p:nvSpPr>
          <p:cNvPr id="15" name="Text 13"/>
          <p:cNvSpPr/>
          <p:nvPr/>
        </p:nvSpPr>
        <p:spPr>
          <a:xfrm>
            <a:off x="6537960" y="2999232"/>
            <a:ext cx="2148840" cy="274320"/>
          </a:xfrm>
          <a:prstGeom prst="rect">
            <a:avLst/>
          </a:prstGeom>
          <a:noFill/>
          <a:ln/>
        </p:spPr>
        <p:txBody>
          <a:bodyPr wrap="square" lIns="0" tIns="0" rIns="0" bIns="0" rtlCol="0" anchor="ctr"/>
          <a:lstStyle/>
          <a:p>
            <a:pPr algn="ctr" indent="0" marL="0">
              <a:buNone/>
            </a:pPr>
            <a:r>
              <a:rPr lang="en-US" sz="1100" dirty="0">
                <a:solidFill>
                  <a:srgbClr val="767D86"/>
                </a:solidFill>
                <a:latin typeface="Cambria" pitchFamily="34" charset="0"/>
                <a:ea typeface="Cambria" pitchFamily="34" charset="-122"/>
                <a:cs typeface="Cambria" pitchFamily="34" charset="-120"/>
              </a:rPr>
              <a:t>they pushed back</a:t>
            </a:r>
            <a:endParaRPr lang="en-US" sz="1100" dirty="0"/>
          </a:p>
        </p:txBody>
      </p:sp>
      <p:sp>
        <p:nvSpPr>
          <p:cNvPr id="16" name="Shape 14"/>
          <p:cNvSpPr/>
          <p:nvPr/>
        </p:nvSpPr>
        <p:spPr>
          <a:xfrm>
            <a:off x="8686800" y="3044952"/>
            <a:ext cx="685800" cy="0"/>
          </a:xfrm>
          <a:prstGeom prst="line">
            <a:avLst/>
          </a:prstGeom>
          <a:noFill/>
          <a:ln w="25400">
            <a:solidFill>
              <a:srgbClr val="1F4E79"/>
            </a:solidFill>
            <a:prstDash val="solid"/>
            <a:tailEnd type="triangle"/>
          </a:ln>
        </p:spPr>
      </p:sp>
      <p:sp>
        <p:nvSpPr>
          <p:cNvPr id="17" name="Shape 15"/>
          <p:cNvSpPr/>
          <p:nvPr/>
        </p:nvSpPr>
        <p:spPr>
          <a:xfrm>
            <a:off x="9372600" y="2514600"/>
            <a:ext cx="2148840" cy="1051560"/>
          </a:xfrm>
          <a:prstGeom prst="rect">
            <a:avLst/>
          </a:prstGeom>
          <a:solidFill>
            <a:srgbClr val="1F4E79"/>
          </a:solidFill>
          <a:ln w="19050">
            <a:solidFill>
              <a:srgbClr val="1F4E79"/>
            </a:solidFill>
            <a:prstDash val="solid"/>
          </a:ln>
        </p:spPr>
      </p:sp>
      <p:sp>
        <p:nvSpPr>
          <p:cNvPr id="18" name="Text 16"/>
          <p:cNvSpPr/>
          <p:nvPr/>
        </p:nvSpPr>
        <p:spPr>
          <a:xfrm>
            <a:off x="9372600" y="2670048"/>
            <a:ext cx="214884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ENERGIZE</a:t>
            </a:r>
            <a:endParaRPr lang="en-US" sz="1500" dirty="0"/>
          </a:p>
        </p:txBody>
      </p:sp>
      <p:sp>
        <p:nvSpPr>
          <p:cNvPr id="19" name="Text 17"/>
          <p:cNvSpPr/>
          <p:nvPr/>
        </p:nvSpPr>
        <p:spPr>
          <a:xfrm>
            <a:off x="9372600" y="2999232"/>
            <a:ext cx="2148840" cy="274320"/>
          </a:xfrm>
          <a:prstGeom prst="rect">
            <a:avLst/>
          </a:prstGeom>
          <a:noFill/>
          <a:ln/>
        </p:spPr>
        <p:txBody>
          <a:bodyPr wrap="square" lIns="0" tIns="0" rIns="0" bIns="0" rtlCol="0" anchor="ctr"/>
          <a:lstStyle/>
          <a:p>
            <a:pPr algn="ctr" indent="0" marL="0">
              <a:buNone/>
            </a:pPr>
            <a:r>
              <a:rPr lang="en-US" sz="1100" dirty="0">
                <a:solidFill>
                  <a:srgbClr val="C9D6E4"/>
                </a:solidFill>
                <a:latin typeface="Cambria" pitchFamily="34" charset="0"/>
                <a:ea typeface="Cambria" pitchFamily="34" charset="-122"/>
                <a:cs typeface="Cambria" pitchFamily="34" charset="-120"/>
              </a:rPr>
              <a:t>sell version two</a:t>
            </a:r>
            <a:endParaRPr lang="en-US" sz="1100" dirty="0"/>
          </a:p>
        </p:txBody>
      </p:sp>
      <p:sp>
        <p:nvSpPr>
          <p:cNvPr id="20" name="Shape 18"/>
          <p:cNvSpPr/>
          <p:nvPr/>
        </p:nvSpPr>
        <p:spPr>
          <a:xfrm>
            <a:off x="914400" y="4160520"/>
            <a:ext cx="10515600" cy="0"/>
          </a:xfrm>
          <a:prstGeom prst="line">
            <a:avLst/>
          </a:prstGeom>
          <a:noFill/>
          <a:ln w="20320">
            <a:solidFill>
              <a:srgbClr val="1F4E79"/>
            </a:solidFill>
            <a:prstDash val="dash"/>
            <a:tailEnd type="triangle"/>
          </a:ln>
        </p:spPr>
      </p:sp>
      <p:sp>
        <p:nvSpPr>
          <p:cNvPr id="21" name="Text 19"/>
          <p:cNvSpPr/>
          <p:nvPr/>
        </p:nvSpPr>
        <p:spPr>
          <a:xfrm>
            <a:off x="914400" y="4224528"/>
            <a:ext cx="10515600" cy="320040"/>
          </a:xfrm>
          <a:prstGeom prst="rect">
            <a:avLst/>
          </a:prstGeom>
          <a:noFill/>
          <a:ln/>
        </p:spPr>
        <p:txBody>
          <a:bodyPr wrap="square" lIns="0" tIns="0" rIns="0" bIns="0" rtlCol="0" anchor="ctr"/>
          <a:lstStyle/>
          <a:p>
            <a:pPr algn="ctr" indent="0" marL="0">
              <a:buNone/>
            </a:pPr>
            <a:r>
              <a:rPr lang="en-US" sz="1300" i="1" dirty="0">
                <a:solidFill>
                  <a:srgbClr val="1F4E79"/>
                </a:solidFill>
                <a:latin typeface="Cambria" pitchFamily="34" charset="0"/>
                <a:ea typeface="Cambria" pitchFamily="34" charset="-122"/>
                <a:cs typeface="Cambria" pitchFamily="34" charset="-120"/>
              </a:rPr>
              <a:t>…and it runs again — each round changes the next</a:t>
            </a:r>
            <a:endParaRPr lang="en-US" sz="1300" dirty="0"/>
          </a:p>
        </p:txBody>
      </p:sp>
      <p:sp>
        <p:nvSpPr>
          <p:cNvPr id="22" name="Shape 20"/>
          <p:cNvSpPr/>
          <p:nvPr/>
        </p:nvSpPr>
        <p:spPr>
          <a:xfrm>
            <a:off x="685800" y="4983480"/>
            <a:ext cx="128016" cy="128016"/>
          </a:xfrm>
          <a:prstGeom prst="rect">
            <a:avLst/>
          </a:prstGeom>
          <a:solidFill>
            <a:srgbClr val="FBFAF7"/>
          </a:solidFill>
          <a:ln w="15240">
            <a:solidFill>
              <a:srgbClr val="1F4E79"/>
            </a:solidFill>
            <a:prstDash val="solid"/>
          </a:ln>
        </p:spPr>
      </p:sp>
      <p:sp>
        <p:nvSpPr>
          <p:cNvPr id="23" name="Text 21"/>
          <p:cNvSpPr/>
          <p:nvPr/>
        </p:nvSpPr>
        <p:spPr>
          <a:xfrm>
            <a:off x="905256" y="4937760"/>
            <a:ext cx="4572000" cy="237744"/>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SENSEMAKING — inward, working out what it means</a:t>
            </a:r>
            <a:endParaRPr lang="en-US" sz="1000" dirty="0"/>
          </a:p>
        </p:txBody>
      </p:sp>
      <p:sp>
        <p:nvSpPr>
          <p:cNvPr id="24" name="Shape 22"/>
          <p:cNvSpPr/>
          <p:nvPr/>
        </p:nvSpPr>
        <p:spPr>
          <a:xfrm>
            <a:off x="685800" y="5321808"/>
            <a:ext cx="128016" cy="128016"/>
          </a:xfrm>
          <a:prstGeom prst="rect">
            <a:avLst/>
          </a:prstGeom>
          <a:solidFill>
            <a:srgbClr val="1F4E79"/>
          </a:solidFill>
          <a:ln w="15240">
            <a:solidFill>
              <a:srgbClr val="1F4E79"/>
            </a:solidFill>
            <a:prstDash val="solid"/>
          </a:ln>
        </p:spPr>
      </p:sp>
      <p:sp>
        <p:nvSpPr>
          <p:cNvPr id="25" name="Text 23"/>
          <p:cNvSpPr/>
          <p:nvPr/>
        </p:nvSpPr>
        <p:spPr>
          <a:xfrm>
            <a:off x="905256" y="5276088"/>
            <a:ext cx="4572000" cy="237744"/>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SENSEGIVING — outward, shaping how others see it</a:t>
            </a:r>
            <a:endParaRPr lang="en-US" sz="1000" dirty="0"/>
          </a:p>
        </p:txBody>
      </p:sp>
      <p:sp>
        <p:nvSpPr>
          <p:cNvPr id="26" name="Text 24"/>
          <p:cNvSpPr/>
          <p:nvPr/>
        </p:nvSpPr>
        <p:spPr>
          <a:xfrm>
            <a:off x="685800" y="6291072"/>
            <a:ext cx="10789920"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Verify the four phase names against the paper — the alternation is the claim, the labels are the detail.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789920" cy="685800"/>
          </a:xfrm>
          <a:prstGeom prst="rect">
            <a:avLst/>
          </a:prstGeom>
          <a:noFill/>
          <a:ln/>
        </p:spPr>
        <p:txBody>
          <a:bodyPr wrap="square" lIns="0" tIns="0" rIns="0" bIns="0" rtlCol="0" anchor="ctr"/>
          <a:lstStyle/>
          <a:p>
            <a:pPr indent="0" marL="0">
              <a:buNone/>
            </a:pPr>
            <a:r>
              <a:rPr lang="en-US" sz="3400" b="1" dirty="0">
                <a:solidFill>
                  <a:srgbClr val="14171C"/>
                </a:solidFill>
                <a:latin typeface="Georgia" pitchFamily="34" charset="0"/>
                <a:ea typeface="Georgia" pitchFamily="34" charset="-122"/>
                <a:cs typeface="Georgia" pitchFamily="34" charset="-120"/>
              </a:rPr>
              <a:t>What they were curious about</a:t>
            </a:r>
            <a:endParaRPr lang="en-US" sz="3400" dirty="0"/>
          </a:p>
        </p:txBody>
      </p:sp>
      <p:sp>
        <p:nvSpPr>
          <p:cNvPr id="4" name="Shape 2"/>
          <p:cNvSpPr/>
          <p:nvPr/>
        </p:nvSpPr>
        <p:spPr>
          <a:xfrm>
            <a:off x="685800" y="2148840"/>
            <a:ext cx="566928" cy="566928"/>
          </a:xfrm>
          <a:prstGeom prst="ellipse">
            <a:avLst/>
          </a:prstGeom>
          <a:solidFill>
            <a:srgbClr val="E9EFF6"/>
          </a:solidFill>
          <a:ln w="17780">
            <a:solidFill>
              <a:srgbClr val="1F4E79"/>
            </a:solidFill>
            <a:prstDash val="solid"/>
          </a:ln>
        </p:spPr>
      </p:sp>
      <p:sp>
        <p:nvSpPr>
          <p:cNvPr id="5" name="Text 3"/>
          <p:cNvSpPr/>
          <p:nvPr/>
        </p:nvSpPr>
        <p:spPr>
          <a:xfrm>
            <a:off x="685800" y="2295144"/>
            <a:ext cx="566928" cy="274320"/>
          </a:xfrm>
          <a:prstGeom prst="rect">
            <a:avLst/>
          </a:prstGeom>
          <a:noFill/>
          <a:ln/>
        </p:spPr>
        <p:txBody>
          <a:bodyPr wrap="square" lIns="0" tIns="0" rIns="0" bIns="0" rtlCol="0" anchor="ctr"/>
          <a:lstStyle/>
          <a:p>
            <a:pPr algn="ctr" indent="0" marL="0">
              <a:buNone/>
            </a:pPr>
            <a:r>
              <a:rPr lang="en-US" sz="1300" b="1" dirty="0">
                <a:solidFill>
                  <a:srgbClr val="1F4E79"/>
                </a:solidFill>
                <a:latin typeface="Courier New" pitchFamily="34" charset="0"/>
                <a:ea typeface="Courier New" pitchFamily="34" charset="-122"/>
                <a:cs typeface="Courier New" pitchFamily="34" charset="-120"/>
              </a:rPr>
              <a:t>01</a:t>
            </a:r>
            <a:endParaRPr lang="en-US" sz="1300" dirty="0"/>
          </a:p>
        </p:txBody>
      </p:sp>
      <p:sp>
        <p:nvSpPr>
          <p:cNvPr id="6" name="Text 4"/>
          <p:cNvSpPr/>
          <p:nvPr/>
        </p:nvSpPr>
        <p:spPr>
          <a:xfrm>
            <a:off x="1554480" y="2167128"/>
            <a:ext cx="5486400" cy="292608"/>
          </a:xfrm>
          <a:prstGeom prst="rect">
            <a:avLst/>
          </a:prstGeom>
          <a:noFill/>
          <a:ln/>
        </p:spPr>
        <p:txBody>
          <a:bodyPr wrap="square" lIns="0" tIns="0" rIns="0" bIns="0" rtlCol="0" anchor="ctr"/>
          <a:lstStyle/>
          <a:p>
            <a:pPr indent="0" marL="0">
              <a:buNone/>
            </a:pPr>
            <a:r>
              <a:rPr lang="en-US" sz="1100" b="1" spc="140" kern="0" dirty="0">
                <a:solidFill>
                  <a:srgbClr val="1F4E79"/>
                </a:solidFill>
                <a:latin typeface="Courier New" pitchFamily="34" charset="0"/>
                <a:ea typeface="Courier New" pitchFamily="34" charset="-122"/>
                <a:cs typeface="Courier New" pitchFamily="34" charset="-120"/>
              </a:rPr>
              <a:t>RESEARCH PROBLEM</a:t>
            </a:r>
            <a:endParaRPr lang="en-US" sz="1100" dirty="0"/>
          </a:p>
        </p:txBody>
      </p:sp>
      <p:sp>
        <p:nvSpPr>
          <p:cNvPr id="7" name="Text 5"/>
          <p:cNvSpPr/>
          <p:nvPr/>
        </p:nvSpPr>
        <p:spPr>
          <a:xfrm>
            <a:off x="1554480" y="2532888"/>
            <a:ext cx="6766560" cy="1005840"/>
          </a:xfrm>
          <a:prstGeom prst="rect">
            <a:avLst/>
          </a:prstGeom>
          <a:noFill/>
          <a:ln/>
        </p:spPr>
        <p:txBody>
          <a:bodyPr wrap="square" lIns="0" tIns="0" rIns="0" bIns="0" rtlCol="0" anchor="ctr"/>
          <a:lstStyle/>
          <a:p>
            <a:pPr indent="0" marL="0">
              <a:buNone/>
            </a:pPr>
            <a:r>
              <a:rPr lang="en-US" sz="1600" dirty="0">
                <a:solidFill>
                  <a:srgbClr val="14171C"/>
                </a:solidFill>
                <a:latin typeface="Cambria" pitchFamily="34" charset="0"/>
                <a:ea typeface="Cambria" pitchFamily="34" charset="-122"/>
                <a:cs typeface="Cambria" pitchFamily="34" charset="-120"/>
              </a:rPr>
              <a:t>Change had been studied as outcomes — what changed, did it work. Nobody was treating it as an interpretive process.</a:t>
            </a:r>
            <a:endParaRPr lang="en-US" sz="1600" dirty="0"/>
          </a:p>
        </p:txBody>
      </p:sp>
      <p:sp>
        <p:nvSpPr>
          <p:cNvPr id="8" name="Shape 6"/>
          <p:cNvSpPr/>
          <p:nvPr/>
        </p:nvSpPr>
        <p:spPr>
          <a:xfrm>
            <a:off x="685800" y="3840480"/>
            <a:ext cx="566928" cy="566928"/>
          </a:xfrm>
          <a:prstGeom prst="ellipse">
            <a:avLst/>
          </a:prstGeom>
          <a:solidFill>
            <a:srgbClr val="E9EFF6"/>
          </a:solidFill>
          <a:ln w="17780">
            <a:solidFill>
              <a:srgbClr val="1F4E79"/>
            </a:solidFill>
            <a:prstDash val="solid"/>
          </a:ln>
        </p:spPr>
      </p:sp>
      <p:sp>
        <p:nvSpPr>
          <p:cNvPr id="9" name="Text 7"/>
          <p:cNvSpPr/>
          <p:nvPr/>
        </p:nvSpPr>
        <p:spPr>
          <a:xfrm>
            <a:off x="685800" y="3986784"/>
            <a:ext cx="566928" cy="274320"/>
          </a:xfrm>
          <a:prstGeom prst="rect">
            <a:avLst/>
          </a:prstGeom>
          <a:noFill/>
          <a:ln/>
        </p:spPr>
        <p:txBody>
          <a:bodyPr wrap="square" lIns="0" tIns="0" rIns="0" bIns="0" rtlCol="0" anchor="ctr"/>
          <a:lstStyle/>
          <a:p>
            <a:pPr algn="ctr" indent="0" marL="0">
              <a:buNone/>
            </a:pPr>
            <a:r>
              <a:rPr lang="en-US" sz="1300" b="1" dirty="0">
                <a:solidFill>
                  <a:srgbClr val="1F4E79"/>
                </a:solidFill>
                <a:latin typeface="Courier New" pitchFamily="34" charset="0"/>
                <a:ea typeface="Courier New" pitchFamily="34" charset="-122"/>
                <a:cs typeface="Courier New" pitchFamily="34" charset="-120"/>
              </a:rPr>
              <a:t>02</a:t>
            </a:r>
            <a:endParaRPr lang="en-US" sz="1300" dirty="0"/>
          </a:p>
        </p:txBody>
      </p:sp>
      <p:sp>
        <p:nvSpPr>
          <p:cNvPr id="10" name="Text 8"/>
          <p:cNvSpPr/>
          <p:nvPr/>
        </p:nvSpPr>
        <p:spPr>
          <a:xfrm>
            <a:off x="1554480" y="3858768"/>
            <a:ext cx="5486400" cy="292608"/>
          </a:xfrm>
          <a:prstGeom prst="rect">
            <a:avLst/>
          </a:prstGeom>
          <a:noFill/>
          <a:ln/>
        </p:spPr>
        <p:txBody>
          <a:bodyPr wrap="square" lIns="0" tIns="0" rIns="0" bIns="0" rtlCol="0" anchor="ctr"/>
          <a:lstStyle/>
          <a:p>
            <a:pPr indent="0" marL="0">
              <a:buNone/>
            </a:pPr>
            <a:r>
              <a:rPr lang="en-US" sz="1100" b="1" spc="140" kern="0" dirty="0">
                <a:solidFill>
                  <a:srgbClr val="1F4E79"/>
                </a:solidFill>
                <a:latin typeface="Courier New" pitchFamily="34" charset="0"/>
                <a:ea typeface="Courier New" pitchFamily="34" charset="-122"/>
                <a:cs typeface="Courier New" pitchFamily="34" charset="-120"/>
              </a:rPr>
              <a:t>RESEARCH QUESTION</a:t>
            </a:r>
            <a:endParaRPr lang="en-US" sz="1100" dirty="0"/>
          </a:p>
        </p:txBody>
      </p:sp>
      <p:sp>
        <p:nvSpPr>
          <p:cNvPr id="11" name="Text 9"/>
          <p:cNvSpPr/>
          <p:nvPr/>
        </p:nvSpPr>
        <p:spPr>
          <a:xfrm>
            <a:off x="1554480" y="4224528"/>
            <a:ext cx="6766560" cy="1005840"/>
          </a:xfrm>
          <a:prstGeom prst="rect">
            <a:avLst/>
          </a:prstGeom>
          <a:noFill/>
          <a:ln/>
        </p:spPr>
        <p:txBody>
          <a:bodyPr wrap="square" lIns="0" tIns="0" rIns="0" bIns="0" rtlCol="0" anchor="ctr"/>
          <a:lstStyle/>
          <a:p>
            <a:pPr indent="0" marL="0">
              <a:buNone/>
            </a:pPr>
            <a:r>
              <a:rPr lang="en-US" sz="1600" dirty="0">
                <a:solidFill>
                  <a:srgbClr val="14171C"/>
                </a:solidFill>
                <a:latin typeface="Cambria" pitchFamily="34" charset="0"/>
                <a:ea typeface="Cambria" pitchFamily="34" charset="-122"/>
                <a:cs typeface="Cambria" pitchFamily="34" charset="-120"/>
              </a:rPr>
              <a:t>How is change initiated? What does a leader actually do, cognitively and socially, to start one?</a:t>
            </a:r>
            <a:endParaRPr lang="en-US" sz="1600" dirty="0"/>
          </a:p>
        </p:txBody>
      </p:sp>
      <p:sp>
        <p:nvSpPr>
          <p:cNvPr id="12" name="Shape 10"/>
          <p:cNvSpPr/>
          <p:nvPr/>
        </p:nvSpPr>
        <p:spPr>
          <a:xfrm>
            <a:off x="8503920" y="2148840"/>
            <a:ext cx="2971800" cy="3063240"/>
          </a:xfrm>
          <a:prstGeom prst="rect">
            <a:avLst/>
          </a:prstGeom>
          <a:solidFill>
            <a:srgbClr val="F4F6F9"/>
          </a:solidFill>
          <a:ln w="12700">
            <a:solidFill>
              <a:srgbClr val="E1E6EC"/>
            </a:solidFill>
            <a:prstDash val="solid"/>
          </a:ln>
        </p:spPr>
      </p:sp>
      <p:sp>
        <p:nvSpPr>
          <p:cNvPr id="13" name="Text 11"/>
          <p:cNvSpPr/>
          <p:nvPr/>
        </p:nvSpPr>
        <p:spPr>
          <a:xfrm>
            <a:off x="8778240" y="2514600"/>
            <a:ext cx="2423160" cy="1463040"/>
          </a:xfrm>
          <a:prstGeom prst="rect">
            <a:avLst/>
          </a:prstGeom>
          <a:noFill/>
          <a:ln/>
        </p:spPr>
        <p:txBody>
          <a:bodyPr wrap="square" lIns="0" tIns="0" rIns="0" bIns="0" rtlCol="0" anchor="ctr"/>
          <a:lstStyle/>
          <a:p>
            <a:pPr indent="0" marL="0">
              <a:buNone/>
            </a:pPr>
            <a:r>
              <a:rPr lang="en-US" sz="1600" i="1" dirty="0">
                <a:solidFill>
                  <a:srgbClr val="1F4E79"/>
                </a:solidFill>
                <a:latin typeface="Georgia" pitchFamily="34" charset="0"/>
                <a:ea typeface="Georgia" pitchFamily="34" charset="-122"/>
                <a:cs typeface="Georgia" pitchFamily="34" charset="-120"/>
              </a:rPr>
              <a:t>“Not ‘did the change work.’ That is the usual question, and they skipped it.”</a:t>
            </a:r>
            <a:endParaRPr lang="en-US" sz="1600" dirty="0"/>
          </a:p>
        </p:txBody>
      </p:sp>
      <p:sp>
        <p:nvSpPr>
          <p:cNvPr id="14" name="Text 12"/>
          <p:cNvSpPr/>
          <p:nvPr/>
        </p:nvSpPr>
        <p:spPr>
          <a:xfrm>
            <a:off x="8778240" y="4206240"/>
            <a:ext cx="2423160" cy="274320"/>
          </a:xfrm>
          <a:prstGeom prst="rect">
            <a:avLst/>
          </a:prstGeom>
          <a:noFill/>
          <a:ln/>
        </p:spPr>
        <p:txBody>
          <a:bodyPr wrap="square" lIns="0" tIns="0" rIns="0" bIns="0" rtlCol="0" anchor="ctr"/>
          <a:lstStyle/>
          <a:p>
            <a:pPr indent="0" marL="0">
              <a:buNone/>
            </a:pPr>
            <a:r>
              <a:rPr lang="en-US" sz="1000" spc="120" kern="0" dirty="0">
                <a:solidFill>
                  <a:srgbClr val="767D86"/>
                </a:solidFill>
                <a:latin typeface="Courier New" pitchFamily="34" charset="0"/>
                <a:ea typeface="Courier New" pitchFamily="34" charset="-122"/>
                <a:cs typeface="Courier New" pitchFamily="34" charset="-120"/>
              </a:rPr>
              <a:t>The gap they named</a:t>
            </a:r>
            <a:endParaRPr lang="en-US" sz="1000" dirty="0"/>
          </a:p>
        </p:txBody>
      </p:sp>
      <p:sp>
        <p:nvSpPr>
          <p:cNvPr id="15" name="Text 13"/>
          <p:cNvSpPr/>
          <p:nvPr/>
        </p:nvSpPr>
        <p:spPr>
          <a:xfrm>
            <a:off x="685800" y="6291072"/>
            <a:ext cx="10789920"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Gioia, D. A., &amp; Chittipeddi, K. (1991). Strategic Management Journal, 12(6).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789920" cy="685800"/>
          </a:xfrm>
          <a:prstGeom prst="rect">
            <a:avLst/>
          </a:prstGeom>
          <a:noFill/>
          <a:ln/>
        </p:spPr>
        <p:txBody>
          <a:bodyPr wrap="square" lIns="0" tIns="0" rIns="0" bIns="0" rtlCol="0" anchor="ctr"/>
          <a:lstStyle/>
          <a:p>
            <a:pPr indent="0" marL="0">
              <a:buNone/>
            </a:pPr>
            <a:r>
              <a:rPr lang="en-US" sz="3400" b="1" dirty="0">
                <a:solidFill>
                  <a:srgbClr val="14171C"/>
                </a:solidFill>
                <a:latin typeface="Georgia" pitchFamily="34" charset="0"/>
                <a:ea typeface="Georgia" pitchFamily="34" charset="-122"/>
                <a:cs typeface="Georgia" pitchFamily="34" charset="-120"/>
              </a:rPr>
              <a:t>One university. One president. Watched live.</a:t>
            </a:r>
            <a:endParaRPr lang="en-US" sz="3400" dirty="0"/>
          </a:p>
        </p:txBody>
      </p:sp>
      <p:sp>
        <p:nvSpPr>
          <p:cNvPr id="4" name="Text 2"/>
          <p:cNvSpPr/>
          <p:nvPr/>
        </p:nvSpPr>
        <p:spPr>
          <a:xfrm>
            <a:off x="685800" y="2194560"/>
            <a:ext cx="4572000" cy="274320"/>
          </a:xfrm>
          <a:prstGeom prst="rect">
            <a:avLst/>
          </a:prstGeom>
          <a:noFill/>
          <a:ln/>
        </p:spPr>
        <p:txBody>
          <a:bodyPr wrap="square" lIns="0" tIns="0" rIns="0" bIns="0" rtlCol="0" anchor="ctr"/>
          <a:lstStyle/>
          <a:p>
            <a:pPr indent="0" marL="0">
              <a:buNone/>
            </a:pPr>
            <a:r>
              <a:rPr lang="en-US" sz="1100" b="1" spc="140" kern="0" dirty="0">
                <a:solidFill>
                  <a:srgbClr val="1F4E79"/>
                </a:solidFill>
                <a:latin typeface="Courier New" pitchFamily="34" charset="0"/>
                <a:ea typeface="Courier New" pitchFamily="34" charset="-122"/>
                <a:cs typeface="Courier New" pitchFamily="34" charset="-120"/>
              </a:rPr>
              <a:t>03  CONTEXT</a:t>
            </a:r>
            <a:endParaRPr lang="en-US" sz="1100" dirty="0"/>
          </a:p>
        </p:txBody>
      </p:sp>
      <p:sp>
        <p:nvSpPr>
          <p:cNvPr id="5" name="Text 3"/>
          <p:cNvSpPr/>
          <p:nvPr/>
        </p:nvSpPr>
        <p:spPr>
          <a:xfrm>
            <a:off x="685800" y="2560320"/>
            <a:ext cx="5120640" cy="1371600"/>
          </a:xfrm>
          <a:prstGeom prst="rect">
            <a:avLst/>
          </a:prstGeom>
          <a:noFill/>
          <a:ln/>
        </p:spPr>
        <p:txBody>
          <a:bodyPr wrap="square" lIns="0" tIns="0" rIns="0" bIns="0" rtlCol="0" anchor="ctr"/>
          <a:lstStyle/>
          <a:p>
            <a:pPr indent="0" marL="0">
              <a:buNone/>
            </a:pPr>
            <a:r>
              <a:rPr lang="en-US" sz="1600" dirty="0">
                <a:solidFill>
                  <a:srgbClr val="14171C"/>
                </a:solidFill>
                <a:latin typeface="Cambria" pitchFamily="34" charset="0"/>
                <a:ea typeface="Cambria" pitchFamily="34" charset="-122"/>
                <a:cs typeface="Cambria" pitchFamily="34" charset="-120"/>
              </a:rPr>
              <a:t>A large public university, a newly arrived president launching strategic planning — studied as it happened, not reconstructed afterwards. The setting is part of the claim, not background.</a:t>
            </a:r>
            <a:endParaRPr lang="en-US" sz="1600" dirty="0"/>
          </a:p>
        </p:txBody>
      </p:sp>
      <p:sp>
        <p:nvSpPr>
          <p:cNvPr id="6" name="Text 4"/>
          <p:cNvSpPr/>
          <p:nvPr/>
        </p:nvSpPr>
        <p:spPr>
          <a:xfrm>
            <a:off x="685800" y="4114800"/>
            <a:ext cx="4572000" cy="274320"/>
          </a:xfrm>
          <a:prstGeom prst="rect">
            <a:avLst/>
          </a:prstGeom>
          <a:noFill/>
          <a:ln/>
        </p:spPr>
        <p:txBody>
          <a:bodyPr wrap="square" lIns="0" tIns="0" rIns="0" bIns="0" rtlCol="0" anchor="ctr"/>
          <a:lstStyle/>
          <a:p>
            <a:pPr indent="0" marL="0">
              <a:buNone/>
            </a:pPr>
            <a:r>
              <a:rPr lang="en-US" sz="1100" b="1" spc="140" kern="0" dirty="0">
                <a:solidFill>
                  <a:srgbClr val="1F4E79"/>
                </a:solidFill>
                <a:latin typeface="Courier New" pitchFamily="34" charset="0"/>
                <a:ea typeface="Courier New" pitchFamily="34" charset="-122"/>
                <a:cs typeface="Courier New" pitchFamily="34" charset="-120"/>
              </a:rPr>
              <a:t>04  APPROACH</a:t>
            </a:r>
            <a:endParaRPr lang="en-US" sz="1100" dirty="0"/>
          </a:p>
        </p:txBody>
      </p:sp>
      <p:sp>
        <p:nvSpPr>
          <p:cNvPr id="7" name="Text 5"/>
          <p:cNvSpPr/>
          <p:nvPr/>
        </p:nvSpPr>
        <p:spPr>
          <a:xfrm>
            <a:off x="685800" y="4480560"/>
            <a:ext cx="5120640" cy="1005840"/>
          </a:xfrm>
          <a:prstGeom prst="rect">
            <a:avLst/>
          </a:prstGeom>
          <a:noFill/>
          <a:ln/>
        </p:spPr>
        <p:txBody>
          <a:bodyPr wrap="square" lIns="0" tIns="0" rIns="0" bIns="0" rtlCol="0" anchor="ctr"/>
          <a:lstStyle/>
          <a:p>
            <a:pPr indent="0" marL="0">
              <a:buNone/>
            </a:pPr>
            <a:r>
              <a:rPr lang="en-US" sz="1600" dirty="0">
                <a:solidFill>
                  <a:srgbClr val="14171C"/>
                </a:solidFill>
                <a:latin typeface="Cambria" pitchFamily="34" charset="0"/>
                <a:ea typeface="Cambria" pitchFamily="34" charset="-122"/>
                <a:cs typeface="Cambria" pitchFamily="34" charset="-120"/>
              </a:rPr>
              <a:t>Interpretive ethnographic case study. One organization, one process, followed over time rather than sampled.</a:t>
            </a:r>
            <a:endParaRPr lang="en-US" sz="1600" dirty="0"/>
          </a:p>
        </p:txBody>
      </p:sp>
      <p:sp>
        <p:nvSpPr>
          <p:cNvPr id="8" name="Shape 6"/>
          <p:cNvSpPr/>
          <p:nvPr/>
        </p:nvSpPr>
        <p:spPr>
          <a:xfrm>
            <a:off x="6492240" y="2514600"/>
            <a:ext cx="182880" cy="182880"/>
          </a:xfrm>
          <a:prstGeom prst="ellipse">
            <a:avLst/>
          </a:prstGeom>
          <a:solidFill>
            <a:srgbClr val="DCE0E5"/>
          </a:solidFill>
          <a:ln w="12700">
            <a:solidFill>
              <a:srgbClr val="333333"/>
            </a:solidFill>
            <a:prstDash val="solid"/>
          </a:ln>
        </p:spPr>
      </p:sp>
      <p:sp>
        <p:nvSpPr>
          <p:cNvPr id="9" name="Shape 7"/>
          <p:cNvSpPr/>
          <p:nvPr/>
        </p:nvSpPr>
        <p:spPr>
          <a:xfrm>
            <a:off x="6876288" y="2514600"/>
            <a:ext cx="182880" cy="182880"/>
          </a:xfrm>
          <a:prstGeom prst="ellipse">
            <a:avLst/>
          </a:prstGeom>
          <a:solidFill>
            <a:srgbClr val="DCE0E5"/>
          </a:solidFill>
          <a:ln w="12700">
            <a:solidFill>
              <a:srgbClr val="333333"/>
            </a:solidFill>
            <a:prstDash val="solid"/>
          </a:ln>
        </p:spPr>
      </p:sp>
      <p:sp>
        <p:nvSpPr>
          <p:cNvPr id="10" name="Shape 8"/>
          <p:cNvSpPr/>
          <p:nvPr/>
        </p:nvSpPr>
        <p:spPr>
          <a:xfrm>
            <a:off x="7260336" y="2514600"/>
            <a:ext cx="182880" cy="182880"/>
          </a:xfrm>
          <a:prstGeom prst="ellipse">
            <a:avLst/>
          </a:prstGeom>
          <a:solidFill>
            <a:srgbClr val="DCE0E5"/>
          </a:solidFill>
          <a:ln w="12700">
            <a:solidFill>
              <a:srgbClr val="333333"/>
            </a:solidFill>
            <a:prstDash val="solid"/>
          </a:ln>
        </p:spPr>
      </p:sp>
      <p:sp>
        <p:nvSpPr>
          <p:cNvPr id="11" name="Shape 9"/>
          <p:cNvSpPr/>
          <p:nvPr/>
        </p:nvSpPr>
        <p:spPr>
          <a:xfrm>
            <a:off x="7644384" y="2514600"/>
            <a:ext cx="182880" cy="182880"/>
          </a:xfrm>
          <a:prstGeom prst="ellipse">
            <a:avLst/>
          </a:prstGeom>
          <a:solidFill>
            <a:srgbClr val="DCE0E5"/>
          </a:solidFill>
          <a:ln w="12700">
            <a:solidFill>
              <a:srgbClr val="333333"/>
            </a:solidFill>
            <a:prstDash val="solid"/>
          </a:ln>
        </p:spPr>
      </p:sp>
      <p:sp>
        <p:nvSpPr>
          <p:cNvPr id="12" name="Shape 10"/>
          <p:cNvSpPr/>
          <p:nvPr/>
        </p:nvSpPr>
        <p:spPr>
          <a:xfrm>
            <a:off x="8028432" y="2514600"/>
            <a:ext cx="182880" cy="182880"/>
          </a:xfrm>
          <a:prstGeom prst="ellipse">
            <a:avLst/>
          </a:prstGeom>
          <a:solidFill>
            <a:srgbClr val="DCE0E5"/>
          </a:solidFill>
          <a:ln w="12700">
            <a:solidFill>
              <a:srgbClr val="333333"/>
            </a:solidFill>
            <a:prstDash val="solid"/>
          </a:ln>
        </p:spPr>
      </p:sp>
      <p:sp>
        <p:nvSpPr>
          <p:cNvPr id="13" name="Shape 11"/>
          <p:cNvSpPr/>
          <p:nvPr/>
        </p:nvSpPr>
        <p:spPr>
          <a:xfrm>
            <a:off x="8412480" y="2514600"/>
            <a:ext cx="182880" cy="182880"/>
          </a:xfrm>
          <a:prstGeom prst="ellipse">
            <a:avLst/>
          </a:prstGeom>
          <a:solidFill>
            <a:srgbClr val="DCE0E5"/>
          </a:solidFill>
          <a:ln w="12700">
            <a:solidFill>
              <a:srgbClr val="333333"/>
            </a:solidFill>
            <a:prstDash val="solid"/>
          </a:ln>
        </p:spPr>
      </p:sp>
      <p:sp>
        <p:nvSpPr>
          <p:cNvPr id="14" name="Shape 12"/>
          <p:cNvSpPr/>
          <p:nvPr/>
        </p:nvSpPr>
        <p:spPr>
          <a:xfrm>
            <a:off x="8796528" y="2514600"/>
            <a:ext cx="182880" cy="182880"/>
          </a:xfrm>
          <a:prstGeom prst="ellipse">
            <a:avLst/>
          </a:prstGeom>
          <a:solidFill>
            <a:srgbClr val="DCE0E5"/>
          </a:solidFill>
          <a:ln w="12700">
            <a:solidFill>
              <a:srgbClr val="333333"/>
            </a:solidFill>
            <a:prstDash val="solid"/>
          </a:ln>
        </p:spPr>
      </p:sp>
      <p:sp>
        <p:nvSpPr>
          <p:cNvPr id="15" name="Shape 13"/>
          <p:cNvSpPr/>
          <p:nvPr/>
        </p:nvSpPr>
        <p:spPr>
          <a:xfrm>
            <a:off x="9180576" y="2514600"/>
            <a:ext cx="182880" cy="182880"/>
          </a:xfrm>
          <a:prstGeom prst="ellipse">
            <a:avLst/>
          </a:prstGeom>
          <a:solidFill>
            <a:srgbClr val="DCE0E5"/>
          </a:solidFill>
          <a:ln w="12700">
            <a:solidFill>
              <a:srgbClr val="333333"/>
            </a:solidFill>
            <a:prstDash val="solid"/>
          </a:ln>
        </p:spPr>
      </p:sp>
      <p:sp>
        <p:nvSpPr>
          <p:cNvPr id="16" name="Shape 14"/>
          <p:cNvSpPr/>
          <p:nvPr/>
        </p:nvSpPr>
        <p:spPr>
          <a:xfrm>
            <a:off x="6492240" y="2898648"/>
            <a:ext cx="182880" cy="182880"/>
          </a:xfrm>
          <a:prstGeom prst="ellipse">
            <a:avLst/>
          </a:prstGeom>
          <a:solidFill>
            <a:srgbClr val="DCE0E5"/>
          </a:solidFill>
          <a:ln w="12700">
            <a:solidFill>
              <a:srgbClr val="333333"/>
            </a:solidFill>
            <a:prstDash val="solid"/>
          </a:ln>
        </p:spPr>
      </p:sp>
      <p:sp>
        <p:nvSpPr>
          <p:cNvPr id="17" name="Shape 15"/>
          <p:cNvSpPr/>
          <p:nvPr/>
        </p:nvSpPr>
        <p:spPr>
          <a:xfrm>
            <a:off x="6876288" y="2898648"/>
            <a:ext cx="182880" cy="182880"/>
          </a:xfrm>
          <a:prstGeom prst="ellipse">
            <a:avLst/>
          </a:prstGeom>
          <a:solidFill>
            <a:srgbClr val="DCE0E5"/>
          </a:solidFill>
          <a:ln w="12700">
            <a:solidFill>
              <a:srgbClr val="333333"/>
            </a:solidFill>
            <a:prstDash val="solid"/>
          </a:ln>
        </p:spPr>
      </p:sp>
      <p:sp>
        <p:nvSpPr>
          <p:cNvPr id="18" name="Shape 16"/>
          <p:cNvSpPr/>
          <p:nvPr/>
        </p:nvSpPr>
        <p:spPr>
          <a:xfrm>
            <a:off x="7260336" y="2898648"/>
            <a:ext cx="182880" cy="182880"/>
          </a:xfrm>
          <a:prstGeom prst="ellipse">
            <a:avLst/>
          </a:prstGeom>
          <a:solidFill>
            <a:srgbClr val="DCE0E5"/>
          </a:solidFill>
          <a:ln w="12700">
            <a:solidFill>
              <a:srgbClr val="333333"/>
            </a:solidFill>
            <a:prstDash val="solid"/>
          </a:ln>
        </p:spPr>
      </p:sp>
      <p:sp>
        <p:nvSpPr>
          <p:cNvPr id="19" name="Shape 17"/>
          <p:cNvSpPr/>
          <p:nvPr/>
        </p:nvSpPr>
        <p:spPr>
          <a:xfrm>
            <a:off x="7644384" y="2898648"/>
            <a:ext cx="182880" cy="182880"/>
          </a:xfrm>
          <a:prstGeom prst="ellipse">
            <a:avLst/>
          </a:prstGeom>
          <a:solidFill>
            <a:srgbClr val="DCE0E5"/>
          </a:solidFill>
          <a:ln w="12700">
            <a:solidFill>
              <a:srgbClr val="333333"/>
            </a:solidFill>
            <a:prstDash val="solid"/>
          </a:ln>
        </p:spPr>
      </p:sp>
      <p:sp>
        <p:nvSpPr>
          <p:cNvPr id="20" name="Shape 18"/>
          <p:cNvSpPr/>
          <p:nvPr/>
        </p:nvSpPr>
        <p:spPr>
          <a:xfrm>
            <a:off x="8028432" y="2898648"/>
            <a:ext cx="182880" cy="182880"/>
          </a:xfrm>
          <a:prstGeom prst="ellipse">
            <a:avLst/>
          </a:prstGeom>
          <a:solidFill>
            <a:srgbClr val="DCE0E5"/>
          </a:solidFill>
          <a:ln w="12700">
            <a:solidFill>
              <a:srgbClr val="333333"/>
            </a:solidFill>
            <a:prstDash val="solid"/>
          </a:ln>
        </p:spPr>
      </p:sp>
      <p:sp>
        <p:nvSpPr>
          <p:cNvPr id="21" name="Shape 19"/>
          <p:cNvSpPr/>
          <p:nvPr/>
        </p:nvSpPr>
        <p:spPr>
          <a:xfrm>
            <a:off x="8412480" y="2898648"/>
            <a:ext cx="182880" cy="182880"/>
          </a:xfrm>
          <a:prstGeom prst="ellipse">
            <a:avLst/>
          </a:prstGeom>
          <a:solidFill>
            <a:srgbClr val="DCE0E5"/>
          </a:solidFill>
          <a:ln w="12700">
            <a:solidFill>
              <a:srgbClr val="333333"/>
            </a:solidFill>
            <a:prstDash val="solid"/>
          </a:ln>
        </p:spPr>
      </p:sp>
      <p:sp>
        <p:nvSpPr>
          <p:cNvPr id="22" name="Shape 20"/>
          <p:cNvSpPr/>
          <p:nvPr/>
        </p:nvSpPr>
        <p:spPr>
          <a:xfrm>
            <a:off x="8796528" y="2898648"/>
            <a:ext cx="182880" cy="182880"/>
          </a:xfrm>
          <a:prstGeom prst="ellipse">
            <a:avLst/>
          </a:prstGeom>
          <a:solidFill>
            <a:srgbClr val="DCE0E5"/>
          </a:solidFill>
          <a:ln w="12700">
            <a:solidFill>
              <a:srgbClr val="333333"/>
            </a:solidFill>
            <a:prstDash val="solid"/>
          </a:ln>
        </p:spPr>
      </p:sp>
      <p:sp>
        <p:nvSpPr>
          <p:cNvPr id="23" name="Shape 21"/>
          <p:cNvSpPr/>
          <p:nvPr/>
        </p:nvSpPr>
        <p:spPr>
          <a:xfrm>
            <a:off x="9180576" y="2898648"/>
            <a:ext cx="182880" cy="182880"/>
          </a:xfrm>
          <a:prstGeom prst="ellipse">
            <a:avLst/>
          </a:prstGeom>
          <a:solidFill>
            <a:srgbClr val="DCE0E5"/>
          </a:solidFill>
          <a:ln w="12700">
            <a:solidFill>
              <a:srgbClr val="333333"/>
            </a:solidFill>
            <a:prstDash val="solid"/>
          </a:ln>
        </p:spPr>
      </p:sp>
      <p:sp>
        <p:nvSpPr>
          <p:cNvPr id="24" name="Shape 22"/>
          <p:cNvSpPr/>
          <p:nvPr/>
        </p:nvSpPr>
        <p:spPr>
          <a:xfrm>
            <a:off x="6492240" y="3282696"/>
            <a:ext cx="182880" cy="182880"/>
          </a:xfrm>
          <a:prstGeom prst="ellipse">
            <a:avLst/>
          </a:prstGeom>
          <a:solidFill>
            <a:srgbClr val="DCE0E5"/>
          </a:solidFill>
          <a:ln w="12700">
            <a:solidFill>
              <a:srgbClr val="333333"/>
            </a:solidFill>
            <a:prstDash val="solid"/>
          </a:ln>
        </p:spPr>
      </p:sp>
      <p:sp>
        <p:nvSpPr>
          <p:cNvPr id="25" name="Shape 23"/>
          <p:cNvSpPr/>
          <p:nvPr/>
        </p:nvSpPr>
        <p:spPr>
          <a:xfrm>
            <a:off x="6876288" y="3282696"/>
            <a:ext cx="182880" cy="182880"/>
          </a:xfrm>
          <a:prstGeom prst="ellipse">
            <a:avLst/>
          </a:prstGeom>
          <a:solidFill>
            <a:srgbClr val="DCE0E5"/>
          </a:solidFill>
          <a:ln w="12700">
            <a:solidFill>
              <a:srgbClr val="333333"/>
            </a:solidFill>
            <a:prstDash val="solid"/>
          </a:ln>
        </p:spPr>
      </p:sp>
      <p:sp>
        <p:nvSpPr>
          <p:cNvPr id="26" name="Shape 24"/>
          <p:cNvSpPr/>
          <p:nvPr/>
        </p:nvSpPr>
        <p:spPr>
          <a:xfrm>
            <a:off x="7260336" y="3282696"/>
            <a:ext cx="182880" cy="182880"/>
          </a:xfrm>
          <a:prstGeom prst="ellipse">
            <a:avLst/>
          </a:prstGeom>
          <a:solidFill>
            <a:srgbClr val="DCE0E5"/>
          </a:solidFill>
          <a:ln w="12700">
            <a:solidFill>
              <a:srgbClr val="333333"/>
            </a:solidFill>
            <a:prstDash val="solid"/>
          </a:ln>
        </p:spPr>
      </p:sp>
      <p:sp>
        <p:nvSpPr>
          <p:cNvPr id="27" name="Shape 25"/>
          <p:cNvSpPr/>
          <p:nvPr/>
        </p:nvSpPr>
        <p:spPr>
          <a:xfrm>
            <a:off x="7644384" y="3282696"/>
            <a:ext cx="182880" cy="182880"/>
          </a:xfrm>
          <a:prstGeom prst="ellipse">
            <a:avLst/>
          </a:prstGeom>
          <a:solidFill>
            <a:srgbClr val="DCE0E5"/>
          </a:solidFill>
          <a:ln w="12700">
            <a:solidFill>
              <a:srgbClr val="333333"/>
            </a:solidFill>
            <a:prstDash val="solid"/>
          </a:ln>
        </p:spPr>
      </p:sp>
      <p:sp>
        <p:nvSpPr>
          <p:cNvPr id="28" name="Shape 26"/>
          <p:cNvSpPr/>
          <p:nvPr/>
        </p:nvSpPr>
        <p:spPr>
          <a:xfrm>
            <a:off x="8028432" y="3282696"/>
            <a:ext cx="182880" cy="182880"/>
          </a:xfrm>
          <a:prstGeom prst="ellipse">
            <a:avLst/>
          </a:prstGeom>
          <a:solidFill>
            <a:srgbClr val="DCE0E5"/>
          </a:solidFill>
          <a:ln w="12700">
            <a:solidFill>
              <a:srgbClr val="333333"/>
            </a:solidFill>
            <a:prstDash val="solid"/>
          </a:ln>
        </p:spPr>
      </p:sp>
      <p:sp>
        <p:nvSpPr>
          <p:cNvPr id="29" name="Shape 27"/>
          <p:cNvSpPr/>
          <p:nvPr/>
        </p:nvSpPr>
        <p:spPr>
          <a:xfrm>
            <a:off x="8412480" y="3282696"/>
            <a:ext cx="182880" cy="182880"/>
          </a:xfrm>
          <a:prstGeom prst="ellipse">
            <a:avLst/>
          </a:prstGeom>
          <a:solidFill>
            <a:srgbClr val="DCE0E5"/>
          </a:solidFill>
          <a:ln w="12700">
            <a:solidFill>
              <a:srgbClr val="333333"/>
            </a:solidFill>
            <a:prstDash val="solid"/>
          </a:ln>
        </p:spPr>
      </p:sp>
      <p:sp>
        <p:nvSpPr>
          <p:cNvPr id="30" name="Shape 28"/>
          <p:cNvSpPr/>
          <p:nvPr/>
        </p:nvSpPr>
        <p:spPr>
          <a:xfrm>
            <a:off x="8796528" y="3282696"/>
            <a:ext cx="182880" cy="182880"/>
          </a:xfrm>
          <a:prstGeom prst="ellipse">
            <a:avLst/>
          </a:prstGeom>
          <a:solidFill>
            <a:srgbClr val="DCE0E5"/>
          </a:solidFill>
          <a:ln w="12700">
            <a:solidFill>
              <a:srgbClr val="333333"/>
            </a:solidFill>
            <a:prstDash val="solid"/>
          </a:ln>
        </p:spPr>
      </p:sp>
      <p:sp>
        <p:nvSpPr>
          <p:cNvPr id="31" name="Shape 29"/>
          <p:cNvSpPr/>
          <p:nvPr/>
        </p:nvSpPr>
        <p:spPr>
          <a:xfrm>
            <a:off x="9180576" y="3282696"/>
            <a:ext cx="182880" cy="182880"/>
          </a:xfrm>
          <a:prstGeom prst="ellipse">
            <a:avLst/>
          </a:prstGeom>
          <a:solidFill>
            <a:srgbClr val="DCE0E5"/>
          </a:solidFill>
          <a:ln w="12700">
            <a:solidFill>
              <a:srgbClr val="333333"/>
            </a:solidFill>
            <a:prstDash val="solid"/>
          </a:ln>
        </p:spPr>
      </p:sp>
      <p:sp>
        <p:nvSpPr>
          <p:cNvPr id="32" name="Shape 30"/>
          <p:cNvSpPr/>
          <p:nvPr/>
        </p:nvSpPr>
        <p:spPr>
          <a:xfrm>
            <a:off x="6492240" y="3666744"/>
            <a:ext cx="182880" cy="182880"/>
          </a:xfrm>
          <a:prstGeom prst="ellipse">
            <a:avLst/>
          </a:prstGeom>
          <a:solidFill>
            <a:srgbClr val="DCE0E5"/>
          </a:solidFill>
          <a:ln w="12700">
            <a:solidFill>
              <a:srgbClr val="333333"/>
            </a:solidFill>
            <a:prstDash val="solid"/>
          </a:ln>
        </p:spPr>
      </p:sp>
      <p:sp>
        <p:nvSpPr>
          <p:cNvPr id="33" name="Shape 31"/>
          <p:cNvSpPr/>
          <p:nvPr/>
        </p:nvSpPr>
        <p:spPr>
          <a:xfrm>
            <a:off x="6876288" y="3666744"/>
            <a:ext cx="182880" cy="182880"/>
          </a:xfrm>
          <a:prstGeom prst="ellipse">
            <a:avLst/>
          </a:prstGeom>
          <a:solidFill>
            <a:srgbClr val="DCE0E5"/>
          </a:solidFill>
          <a:ln w="12700">
            <a:solidFill>
              <a:srgbClr val="333333"/>
            </a:solidFill>
            <a:prstDash val="solid"/>
          </a:ln>
        </p:spPr>
      </p:sp>
      <p:sp>
        <p:nvSpPr>
          <p:cNvPr id="34" name="Shape 32"/>
          <p:cNvSpPr/>
          <p:nvPr/>
        </p:nvSpPr>
        <p:spPr>
          <a:xfrm>
            <a:off x="7260336" y="3666744"/>
            <a:ext cx="182880" cy="182880"/>
          </a:xfrm>
          <a:prstGeom prst="ellipse">
            <a:avLst/>
          </a:prstGeom>
          <a:solidFill>
            <a:srgbClr val="DCE0E5"/>
          </a:solidFill>
          <a:ln w="12700">
            <a:solidFill>
              <a:srgbClr val="333333"/>
            </a:solidFill>
            <a:prstDash val="solid"/>
          </a:ln>
        </p:spPr>
      </p:sp>
      <p:sp>
        <p:nvSpPr>
          <p:cNvPr id="35" name="Shape 33"/>
          <p:cNvSpPr/>
          <p:nvPr/>
        </p:nvSpPr>
        <p:spPr>
          <a:xfrm>
            <a:off x="7644384" y="3666744"/>
            <a:ext cx="182880" cy="182880"/>
          </a:xfrm>
          <a:prstGeom prst="ellipse">
            <a:avLst/>
          </a:prstGeom>
          <a:solidFill>
            <a:srgbClr val="DCE0E5"/>
          </a:solidFill>
          <a:ln w="12700">
            <a:solidFill>
              <a:srgbClr val="333333"/>
            </a:solidFill>
            <a:prstDash val="solid"/>
          </a:ln>
        </p:spPr>
      </p:sp>
      <p:sp>
        <p:nvSpPr>
          <p:cNvPr id="36" name="Shape 34"/>
          <p:cNvSpPr/>
          <p:nvPr/>
        </p:nvSpPr>
        <p:spPr>
          <a:xfrm>
            <a:off x="8028432" y="3666744"/>
            <a:ext cx="182880" cy="182880"/>
          </a:xfrm>
          <a:prstGeom prst="ellipse">
            <a:avLst/>
          </a:prstGeom>
          <a:solidFill>
            <a:srgbClr val="DCE0E5"/>
          </a:solidFill>
          <a:ln w="12700">
            <a:solidFill>
              <a:srgbClr val="333333"/>
            </a:solidFill>
            <a:prstDash val="solid"/>
          </a:ln>
        </p:spPr>
      </p:sp>
      <p:sp>
        <p:nvSpPr>
          <p:cNvPr id="37" name="Shape 35"/>
          <p:cNvSpPr/>
          <p:nvPr/>
        </p:nvSpPr>
        <p:spPr>
          <a:xfrm>
            <a:off x="8412480" y="3666744"/>
            <a:ext cx="182880" cy="182880"/>
          </a:xfrm>
          <a:prstGeom prst="ellipse">
            <a:avLst/>
          </a:prstGeom>
          <a:solidFill>
            <a:srgbClr val="DCE0E5"/>
          </a:solidFill>
          <a:ln w="12700">
            <a:solidFill>
              <a:srgbClr val="333333"/>
            </a:solidFill>
            <a:prstDash val="solid"/>
          </a:ln>
        </p:spPr>
      </p:sp>
      <p:sp>
        <p:nvSpPr>
          <p:cNvPr id="38" name="Shape 36"/>
          <p:cNvSpPr/>
          <p:nvPr/>
        </p:nvSpPr>
        <p:spPr>
          <a:xfrm>
            <a:off x="8796528" y="3666744"/>
            <a:ext cx="182880" cy="182880"/>
          </a:xfrm>
          <a:prstGeom prst="ellipse">
            <a:avLst/>
          </a:prstGeom>
          <a:solidFill>
            <a:srgbClr val="DCE0E5"/>
          </a:solidFill>
          <a:ln w="12700">
            <a:solidFill>
              <a:srgbClr val="333333"/>
            </a:solidFill>
            <a:prstDash val="solid"/>
          </a:ln>
        </p:spPr>
      </p:sp>
      <p:sp>
        <p:nvSpPr>
          <p:cNvPr id="39" name="Shape 37"/>
          <p:cNvSpPr/>
          <p:nvPr/>
        </p:nvSpPr>
        <p:spPr>
          <a:xfrm>
            <a:off x="9180576" y="3666744"/>
            <a:ext cx="182880" cy="182880"/>
          </a:xfrm>
          <a:prstGeom prst="ellipse">
            <a:avLst/>
          </a:prstGeom>
          <a:solidFill>
            <a:srgbClr val="DCE0E5"/>
          </a:solidFill>
          <a:ln w="12700">
            <a:solidFill>
              <a:srgbClr val="333333"/>
            </a:solidFill>
            <a:prstDash val="solid"/>
          </a:ln>
        </p:spPr>
      </p:sp>
      <p:sp>
        <p:nvSpPr>
          <p:cNvPr id="40" name="Shape 38"/>
          <p:cNvSpPr/>
          <p:nvPr/>
        </p:nvSpPr>
        <p:spPr>
          <a:xfrm>
            <a:off x="7562088" y="2816352"/>
            <a:ext cx="347472" cy="347472"/>
          </a:xfrm>
          <a:prstGeom prst="ellipse">
            <a:avLst/>
          </a:prstGeom>
          <a:solidFill>
            <a:srgbClr val="1F4E79"/>
          </a:solidFill>
          <a:ln w="25400">
            <a:solidFill>
              <a:srgbClr val="FBFAF7"/>
            </a:solidFill>
            <a:prstDash val="solid"/>
          </a:ln>
        </p:spPr>
      </p:sp>
      <p:sp>
        <p:nvSpPr>
          <p:cNvPr id="41" name="Text 39"/>
          <p:cNvSpPr/>
          <p:nvPr/>
        </p:nvSpPr>
        <p:spPr>
          <a:xfrm>
            <a:off x="8869680" y="4389120"/>
            <a:ext cx="1463040" cy="365760"/>
          </a:xfrm>
          <a:prstGeom prst="rect">
            <a:avLst/>
          </a:prstGeom>
          <a:noFill/>
          <a:ln/>
        </p:spPr>
        <p:txBody>
          <a:bodyPr wrap="square" lIns="0" tIns="0" rIns="0" bIns="0" rtlCol="0" anchor="ctr"/>
          <a:lstStyle/>
          <a:p>
            <a:pPr algn="ctr" indent="0" marL="0">
              <a:buNone/>
            </a:pPr>
            <a:r>
              <a:rPr lang="en-US" sz="2200" b="1" dirty="0">
                <a:solidFill>
                  <a:srgbClr val="1F4E79"/>
                </a:solidFill>
                <a:latin typeface="Georgia" pitchFamily="34" charset="0"/>
                <a:ea typeface="Georgia" pitchFamily="34" charset="-122"/>
                <a:cs typeface="Georgia" pitchFamily="34" charset="-120"/>
              </a:rPr>
              <a:t>n = 1</a:t>
            </a:r>
            <a:endParaRPr lang="en-US" sz="2200" dirty="0"/>
          </a:p>
        </p:txBody>
      </p:sp>
      <p:sp>
        <p:nvSpPr>
          <p:cNvPr id="42" name="Text 40"/>
          <p:cNvSpPr/>
          <p:nvPr/>
        </p:nvSpPr>
        <p:spPr>
          <a:xfrm>
            <a:off x="6126480" y="4846320"/>
            <a:ext cx="4572000" cy="274320"/>
          </a:xfrm>
          <a:prstGeom prst="rect">
            <a:avLst/>
          </a:prstGeom>
          <a:noFill/>
          <a:ln/>
        </p:spPr>
        <p:txBody>
          <a:bodyPr wrap="square" lIns="0" tIns="0" rIns="0" bIns="0" rtlCol="0" anchor="ctr"/>
          <a:lstStyle/>
          <a:p>
            <a:pPr algn="ctr" indent="0" marL="0">
              <a:buNone/>
            </a:pPr>
            <a:r>
              <a:rPr lang="en-US" sz="1300" i="1" dirty="0">
                <a:solidFill>
                  <a:srgbClr val="767D86"/>
                </a:solidFill>
                <a:latin typeface="Cambria" pitchFamily="34" charset="0"/>
                <a:ea typeface="Cambria" pitchFamily="34" charset="-122"/>
                <a:cs typeface="Cambria" pitchFamily="34" charset="-120"/>
              </a:rPr>
              <a:t>and that was never the weakness</a:t>
            </a:r>
            <a:endParaRPr lang="en-US" sz="1300" dirty="0"/>
          </a:p>
        </p:txBody>
      </p:sp>
      <p:sp>
        <p:nvSpPr>
          <p:cNvPr id="43" name="Text 41"/>
          <p:cNvSpPr/>
          <p:nvPr/>
        </p:nvSpPr>
        <p:spPr>
          <a:xfrm>
            <a:off x="685800" y="6291072"/>
            <a:ext cx="10789920"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They never claim to represent a population — so sample size was never the promise they made.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914400"/>
            <a:ext cx="5486400" cy="274320"/>
          </a:xfrm>
          <a:prstGeom prst="rect">
            <a:avLst/>
          </a:prstGeom>
          <a:noFill/>
          <a:ln/>
        </p:spPr>
        <p:txBody>
          <a:bodyPr wrap="square" lIns="0" tIns="0" rIns="0" bIns="0" rtlCol="0" anchor="ctr"/>
          <a:lstStyle/>
          <a:p>
            <a:pPr indent="0" marL="0">
              <a:buNone/>
            </a:pPr>
            <a:r>
              <a:rPr lang="en-US" sz="1100" spc="160" kern="0" dirty="0">
                <a:solidFill>
                  <a:srgbClr val="D2A73F"/>
                </a:solidFill>
                <a:latin typeface="Courier New" pitchFamily="34" charset="0"/>
                <a:ea typeface="Courier New" pitchFamily="34" charset="-122"/>
                <a:cs typeface="Courier New" pitchFamily="34" charset="-120"/>
              </a:rPr>
              <a:t>05  RESEARCHER ROLE</a:t>
            </a:r>
            <a:endParaRPr lang="en-US" sz="1100" dirty="0"/>
          </a:p>
        </p:txBody>
      </p:sp>
      <p:sp>
        <p:nvSpPr>
          <p:cNvPr id="4" name="Text 2"/>
          <p:cNvSpPr/>
          <p:nvPr/>
        </p:nvSpPr>
        <p:spPr>
          <a:xfrm>
            <a:off x="685800" y="1298448"/>
            <a:ext cx="10515600" cy="7772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They built the reviewer into the method</a:t>
            </a:r>
            <a:endParaRPr lang="en-US" sz="3600" dirty="0"/>
          </a:p>
        </p:txBody>
      </p:sp>
      <p:sp>
        <p:nvSpPr>
          <p:cNvPr id="5" name="Shape 3"/>
          <p:cNvSpPr/>
          <p:nvPr/>
        </p:nvSpPr>
        <p:spPr>
          <a:xfrm>
            <a:off x="685800" y="2606040"/>
            <a:ext cx="4937760" cy="1737360"/>
          </a:xfrm>
          <a:prstGeom prst="rect">
            <a:avLst/>
          </a:prstGeom>
          <a:solidFill>
            <a:srgbClr val="18354F"/>
          </a:solidFill>
          <a:ln w="20320">
            <a:solidFill>
              <a:srgbClr val="D2A73F"/>
            </a:solidFill>
            <a:prstDash val="solid"/>
          </a:ln>
        </p:spPr>
      </p:sp>
      <p:sp>
        <p:nvSpPr>
          <p:cNvPr id="6" name="Text 4"/>
          <p:cNvSpPr/>
          <p:nvPr/>
        </p:nvSpPr>
        <p:spPr>
          <a:xfrm>
            <a:off x="685800" y="2834640"/>
            <a:ext cx="4937760" cy="365760"/>
          </a:xfrm>
          <a:prstGeom prst="rect">
            <a:avLst/>
          </a:prstGeom>
          <a:noFill/>
          <a:ln/>
        </p:spPr>
        <p:txBody>
          <a:bodyPr wrap="square" lIns="0" tIns="0" rIns="0" bIns="0" rtlCol="0" anchor="ctr"/>
          <a:lstStyle/>
          <a:p>
            <a:pPr algn="ctr" indent="0" marL="0">
              <a:buNone/>
            </a:pPr>
            <a:r>
              <a:rPr lang="en-US" sz="2000" b="1" dirty="0">
                <a:solidFill>
                  <a:srgbClr val="D2A73F"/>
                </a:solidFill>
                <a:latin typeface="Georgia" pitchFamily="34" charset="0"/>
                <a:ea typeface="Georgia" pitchFamily="34" charset="-122"/>
                <a:cs typeface="Georgia" pitchFamily="34" charset="-120"/>
              </a:rPr>
              <a:t>INSIDE</a:t>
            </a:r>
            <a:endParaRPr lang="en-US" sz="2000" dirty="0"/>
          </a:p>
        </p:txBody>
      </p:sp>
      <p:sp>
        <p:nvSpPr>
          <p:cNvPr id="7" name="Text 5"/>
          <p:cNvSpPr/>
          <p:nvPr/>
        </p:nvSpPr>
        <p:spPr>
          <a:xfrm>
            <a:off x="1143000" y="3291840"/>
            <a:ext cx="4023360" cy="731520"/>
          </a:xfrm>
          <a:prstGeom prst="rect">
            <a:avLst/>
          </a:prstGeom>
          <a:noFill/>
          <a:ln/>
        </p:spPr>
        <p:txBody>
          <a:bodyPr wrap="square" lIns="0" tIns="0" rIns="0" bIns="0" rtlCol="0" anchor="ctr"/>
          <a:lstStyle/>
          <a:p>
            <a:pPr algn="ctr" indent="0" marL="0">
              <a:buNone/>
            </a:pPr>
            <a:r>
              <a:rPr lang="en-US" sz="1400" dirty="0">
                <a:solidFill>
                  <a:srgbClr val="B9C2CC"/>
                </a:solidFill>
                <a:latin typeface="Cambria" pitchFamily="34" charset="0"/>
                <a:ea typeface="Cambria" pitchFamily="34" charset="-122"/>
                <a:cs typeface="Cambria" pitchFamily="34" charset="-120"/>
              </a:rPr>
              <a:t>embedded in the change — close enough to see it happen</a:t>
            </a:r>
            <a:endParaRPr lang="en-US" sz="1400" dirty="0"/>
          </a:p>
        </p:txBody>
      </p:sp>
      <p:sp>
        <p:nvSpPr>
          <p:cNvPr id="8" name="Shape 6"/>
          <p:cNvSpPr/>
          <p:nvPr/>
        </p:nvSpPr>
        <p:spPr>
          <a:xfrm>
            <a:off x="6080760" y="2606040"/>
            <a:ext cx="4937760" cy="1737360"/>
          </a:xfrm>
          <a:prstGeom prst="rect">
            <a:avLst/>
          </a:prstGeom>
          <a:solidFill>
            <a:srgbClr val="0E2237"/>
          </a:solidFill>
          <a:ln w="20320">
            <a:solidFill>
              <a:srgbClr val="D2A73F"/>
            </a:solidFill>
            <a:prstDash val="dash"/>
          </a:ln>
        </p:spPr>
      </p:sp>
      <p:sp>
        <p:nvSpPr>
          <p:cNvPr id="9" name="Text 7"/>
          <p:cNvSpPr/>
          <p:nvPr/>
        </p:nvSpPr>
        <p:spPr>
          <a:xfrm>
            <a:off x="6080760" y="2834640"/>
            <a:ext cx="4937760" cy="365760"/>
          </a:xfrm>
          <a:prstGeom prst="rect">
            <a:avLst/>
          </a:prstGeom>
          <a:noFill/>
          <a:ln/>
        </p:spPr>
        <p:txBody>
          <a:bodyPr wrap="square" lIns="0" tIns="0" rIns="0" bIns="0" rtlCol="0" anchor="ctr"/>
          <a:lstStyle/>
          <a:p>
            <a:pPr algn="ctr" indent="0" marL="0">
              <a:buNone/>
            </a:pPr>
            <a:r>
              <a:rPr lang="en-US" sz="2000" b="1" dirty="0">
                <a:solidFill>
                  <a:srgbClr val="D2A73F"/>
                </a:solidFill>
                <a:latin typeface="Georgia" pitchFamily="34" charset="0"/>
                <a:ea typeface="Georgia" pitchFamily="34" charset="-122"/>
                <a:cs typeface="Georgia" pitchFamily="34" charset="-120"/>
              </a:rPr>
              <a:t>OUTSIDE</a:t>
            </a:r>
            <a:endParaRPr lang="en-US" sz="2000" dirty="0"/>
          </a:p>
        </p:txBody>
      </p:sp>
      <p:sp>
        <p:nvSpPr>
          <p:cNvPr id="10" name="Text 8"/>
          <p:cNvSpPr/>
          <p:nvPr/>
        </p:nvSpPr>
        <p:spPr>
          <a:xfrm>
            <a:off x="6537960" y="3291840"/>
            <a:ext cx="4023360" cy="731520"/>
          </a:xfrm>
          <a:prstGeom prst="rect">
            <a:avLst/>
          </a:prstGeom>
          <a:noFill/>
          <a:ln/>
        </p:spPr>
        <p:txBody>
          <a:bodyPr wrap="square" lIns="0" tIns="0" rIns="0" bIns="0" rtlCol="0" anchor="ctr"/>
          <a:lstStyle/>
          <a:p>
            <a:pPr algn="ctr" indent="0" marL="0">
              <a:buNone/>
            </a:pPr>
            <a:r>
              <a:rPr lang="en-US" sz="1400" dirty="0">
                <a:solidFill>
                  <a:srgbClr val="B9C2CC"/>
                </a:solidFill>
                <a:latin typeface="Cambria" pitchFamily="34" charset="0"/>
                <a:ea typeface="Cambria" pitchFamily="34" charset="-122"/>
                <a:cs typeface="Cambria" pitchFamily="34" charset="-120"/>
              </a:rPr>
              <a:t>deliberately apart — holds the distance so the read can be challenged</a:t>
            </a:r>
            <a:endParaRPr lang="en-US" sz="1400" dirty="0"/>
          </a:p>
        </p:txBody>
      </p:sp>
      <p:sp>
        <p:nvSpPr>
          <p:cNvPr id="11" name="Text 9"/>
          <p:cNvSpPr/>
          <p:nvPr/>
        </p:nvSpPr>
        <p:spPr>
          <a:xfrm>
            <a:off x="685800" y="4709160"/>
            <a:ext cx="10332720" cy="411480"/>
          </a:xfrm>
          <a:prstGeom prst="rect">
            <a:avLst/>
          </a:prstGeom>
          <a:noFill/>
          <a:ln/>
        </p:spPr>
        <p:txBody>
          <a:bodyPr wrap="square" lIns="0" tIns="0" rIns="0" bIns="0" rtlCol="0" anchor="ctr"/>
          <a:lstStyle/>
          <a:p>
            <a:pPr algn="ctr" indent="0" marL="0">
              <a:buNone/>
            </a:pPr>
            <a:r>
              <a:rPr lang="en-US" sz="2200" i="1" dirty="0">
                <a:solidFill>
                  <a:srgbClr val="FFFFFF"/>
                </a:solidFill>
                <a:latin typeface="Georgia" pitchFamily="34" charset="0"/>
                <a:ea typeface="Georgia" pitchFamily="34" charset="-122"/>
                <a:cs typeface="Georgia" pitchFamily="34" charset="-120"/>
              </a:rPr>
              <a:t>=  engagement team  /  independent reviewer</a:t>
            </a:r>
            <a:endParaRPr lang="en-US" sz="2200" dirty="0"/>
          </a:p>
        </p:txBody>
      </p:sp>
      <p:sp>
        <p:nvSpPr>
          <p:cNvPr id="12" name="Text 10"/>
          <p:cNvSpPr/>
          <p:nvPr/>
        </p:nvSpPr>
        <p:spPr>
          <a:xfrm>
            <a:off x="685800" y="5212080"/>
            <a:ext cx="10332720" cy="365760"/>
          </a:xfrm>
          <a:prstGeom prst="rect">
            <a:avLst/>
          </a:prstGeom>
          <a:noFill/>
          <a:ln/>
        </p:spPr>
        <p:txBody>
          <a:bodyPr wrap="square" lIns="0" tIns="0" rIns="0" bIns="0" rtlCol="0" anchor="ctr"/>
          <a:lstStyle/>
          <a:p>
            <a:pPr algn="ctr" indent="0" marL="0">
              <a:buNone/>
            </a:pPr>
            <a:r>
              <a:rPr lang="en-US" sz="1500" dirty="0">
                <a:solidFill>
                  <a:srgbClr val="8C949E"/>
                </a:solidFill>
                <a:latin typeface="Cambria" pitchFamily="34" charset="0"/>
                <a:ea typeface="Cambria" pitchFamily="34" charset="-122"/>
                <a:cs typeface="Cambria" pitchFamily="34" charset="-120"/>
              </a:rPr>
              <a:t>Their own positioning is part of the design — not a limitation buried in an appendix.</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789920" cy="685800"/>
          </a:xfrm>
          <a:prstGeom prst="rect">
            <a:avLst/>
          </a:prstGeom>
          <a:noFill/>
          <a:ln/>
        </p:spPr>
        <p:txBody>
          <a:bodyPr wrap="square" lIns="0" tIns="0" rIns="0" bIns="0" rtlCol="0" anchor="ctr"/>
          <a:lstStyle/>
          <a:p>
            <a:pPr indent="0" marL="0">
              <a:buNone/>
            </a:pPr>
            <a:r>
              <a:rPr lang="en-US" sz="3400" b="1" dirty="0">
                <a:solidFill>
                  <a:srgbClr val="14171C"/>
                </a:solidFill>
                <a:latin typeface="Georgia" pitchFamily="34" charset="0"/>
                <a:ea typeface="Georgia" pitchFamily="34" charset="-122"/>
                <a:cs typeface="Georgia" pitchFamily="34" charset="-120"/>
              </a:rPr>
              <a:t>How they got there</a:t>
            </a:r>
            <a:endParaRPr lang="en-US" sz="3400" dirty="0"/>
          </a:p>
        </p:txBody>
      </p:sp>
      <p:sp>
        <p:nvSpPr>
          <p:cNvPr id="4" name="Text 2"/>
          <p:cNvSpPr/>
          <p:nvPr/>
        </p:nvSpPr>
        <p:spPr>
          <a:xfrm>
            <a:off x="685800" y="2194560"/>
            <a:ext cx="4572000" cy="274320"/>
          </a:xfrm>
          <a:prstGeom prst="rect">
            <a:avLst/>
          </a:prstGeom>
          <a:noFill/>
          <a:ln/>
        </p:spPr>
        <p:txBody>
          <a:bodyPr wrap="square" lIns="0" tIns="0" rIns="0" bIns="0" rtlCol="0" anchor="ctr"/>
          <a:lstStyle/>
          <a:p>
            <a:pPr indent="0" marL="0">
              <a:buNone/>
            </a:pPr>
            <a:r>
              <a:rPr lang="en-US" sz="1100" b="1" spc="140" kern="0" dirty="0">
                <a:solidFill>
                  <a:srgbClr val="1F4E79"/>
                </a:solidFill>
                <a:latin typeface="Courier New" pitchFamily="34" charset="0"/>
                <a:ea typeface="Courier New" pitchFamily="34" charset="-122"/>
                <a:cs typeface="Courier New" pitchFamily="34" charset="-120"/>
              </a:rPr>
              <a:t>06  DATA GATHERING</a:t>
            </a:r>
            <a:endParaRPr lang="en-US" sz="1100" dirty="0"/>
          </a:p>
        </p:txBody>
      </p:sp>
      <p:sp>
        <p:nvSpPr>
          <p:cNvPr id="5" name="Shape 3"/>
          <p:cNvSpPr/>
          <p:nvPr/>
        </p:nvSpPr>
        <p:spPr>
          <a:xfrm>
            <a:off x="685800" y="2660904"/>
            <a:ext cx="146304" cy="146304"/>
          </a:xfrm>
          <a:prstGeom prst="rect">
            <a:avLst/>
          </a:prstGeom>
          <a:solidFill>
            <a:srgbClr val="1F4E79"/>
          </a:solidFill>
          <a:ln w="12700">
            <a:solidFill>
              <a:srgbClr val="333333"/>
            </a:solidFill>
            <a:prstDash val="solid"/>
          </a:ln>
        </p:spPr>
      </p:sp>
      <p:sp>
        <p:nvSpPr>
          <p:cNvPr id="6" name="Text 4"/>
          <p:cNvSpPr/>
          <p:nvPr/>
        </p:nvSpPr>
        <p:spPr>
          <a:xfrm>
            <a:off x="1005840" y="2606040"/>
            <a:ext cx="4023360" cy="274320"/>
          </a:xfrm>
          <a:prstGeom prst="rect">
            <a:avLst/>
          </a:prstGeom>
          <a:noFill/>
          <a:ln/>
        </p:spPr>
        <p:txBody>
          <a:bodyPr wrap="square" lIns="0" tIns="0" rIns="0" bIns="0" rtlCol="0" anchor="ctr"/>
          <a:lstStyle/>
          <a:p>
            <a:pPr indent="0" marL="0">
              <a:buNone/>
            </a:pPr>
            <a:r>
              <a:rPr lang="en-US" sz="1600" b="1" dirty="0">
                <a:solidFill>
                  <a:srgbClr val="14171C"/>
                </a:solidFill>
                <a:latin typeface="Cambria" pitchFamily="34" charset="0"/>
                <a:ea typeface="Cambria" pitchFamily="34" charset="-122"/>
                <a:cs typeface="Cambria" pitchFamily="34" charset="-120"/>
              </a:rPr>
              <a:t>Participant observation</a:t>
            </a:r>
            <a:endParaRPr lang="en-US" sz="1600" dirty="0"/>
          </a:p>
        </p:txBody>
      </p:sp>
      <p:sp>
        <p:nvSpPr>
          <p:cNvPr id="7" name="Text 5"/>
          <p:cNvSpPr/>
          <p:nvPr/>
        </p:nvSpPr>
        <p:spPr>
          <a:xfrm>
            <a:off x="1005840" y="2880360"/>
            <a:ext cx="4023360" cy="256032"/>
          </a:xfrm>
          <a:prstGeom prst="rect">
            <a:avLst/>
          </a:prstGeom>
          <a:noFill/>
          <a:ln/>
        </p:spPr>
        <p:txBody>
          <a:bodyPr wrap="square" lIns="0" tIns="0" rIns="0" bIns="0" rtlCol="0" anchor="ctr"/>
          <a:lstStyle/>
          <a:p>
            <a:pPr indent="0" marL="0">
              <a:buNone/>
            </a:pPr>
            <a:r>
              <a:rPr lang="en-US" sz="1300" i="1" dirty="0">
                <a:solidFill>
                  <a:srgbClr val="767D86"/>
                </a:solidFill>
                <a:latin typeface="Cambria" pitchFamily="34" charset="0"/>
                <a:ea typeface="Cambria" pitchFamily="34" charset="-122"/>
                <a:cs typeface="Cambria" pitchFamily="34" charset="-120"/>
              </a:rPr>
              <a:t>over time, in the room</a:t>
            </a:r>
            <a:endParaRPr lang="en-US" sz="1300" dirty="0"/>
          </a:p>
        </p:txBody>
      </p:sp>
      <p:sp>
        <p:nvSpPr>
          <p:cNvPr id="8" name="Shape 6"/>
          <p:cNvSpPr/>
          <p:nvPr/>
        </p:nvSpPr>
        <p:spPr>
          <a:xfrm>
            <a:off x="685800" y="3374136"/>
            <a:ext cx="146304" cy="146304"/>
          </a:xfrm>
          <a:prstGeom prst="rect">
            <a:avLst/>
          </a:prstGeom>
          <a:solidFill>
            <a:srgbClr val="1F4E79"/>
          </a:solidFill>
          <a:ln w="12700">
            <a:solidFill>
              <a:srgbClr val="333333"/>
            </a:solidFill>
            <a:prstDash val="solid"/>
          </a:ln>
        </p:spPr>
      </p:sp>
      <p:sp>
        <p:nvSpPr>
          <p:cNvPr id="9" name="Text 7"/>
          <p:cNvSpPr/>
          <p:nvPr/>
        </p:nvSpPr>
        <p:spPr>
          <a:xfrm>
            <a:off x="1005840" y="3319272"/>
            <a:ext cx="4023360" cy="274320"/>
          </a:xfrm>
          <a:prstGeom prst="rect">
            <a:avLst/>
          </a:prstGeom>
          <a:noFill/>
          <a:ln/>
        </p:spPr>
        <p:txBody>
          <a:bodyPr wrap="square" lIns="0" tIns="0" rIns="0" bIns="0" rtlCol="0" anchor="ctr"/>
          <a:lstStyle/>
          <a:p>
            <a:pPr indent="0" marL="0">
              <a:buNone/>
            </a:pPr>
            <a:r>
              <a:rPr lang="en-US" sz="1600" b="1" dirty="0">
                <a:solidFill>
                  <a:srgbClr val="14171C"/>
                </a:solidFill>
                <a:latin typeface="Cambria" pitchFamily="34" charset="0"/>
                <a:ea typeface="Cambria" pitchFamily="34" charset="-122"/>
                <a:cs typeface="Cambria" pitchFamily="34" charset="-120"/>
              </a:rPr>
              <a:t>Interviews</a:t>
            </a:r>
            <a:endParaRPr lang="en-US" sz="1600" dirty="0"/>
          </a:p>
        </p:txBody>
      </p:sp>
      <p:sp>
        <p:nvSpPr>
          <p:cNvPr id="10" name="Text 8"/>
          <p:cNvSpPr/>
          <p:nvPr/>
        </p:nvSpPr>
        <p:spPr>
          <a:xfrm>
            <a:off x="1005840" y="3593592"/>
            <a:ext cx="4023360" cy="256032"/>
          </a:xfrm>
          <a:prstGeom prst="rect">
            <a:avLst/>
          </a:prstGeom>
          <a:noFill/>
          <a:ln/>
        </p:spPr>
        <p:txBody>
          <a:bodyPr wrap="square" lIns="0" tIns="0" rIns="0" bIns="0" rtlCol="0" anchor="ctr"/>
          <a:lstStyle/>
          <a:p>
            <a:pPr indent="0" marL="0">
              <a:buNone/>
            </a:pPr>
            <a:r>
              <a:rPr lang="en-US" sz="1300" i="1" dirty="0">
                <a:solidFill>
                  <a:srgbClr val="767D86"/>
                </a:solidFill>
                <a:latin typeface="Cambria" pitchFamily="34" charset="0"/>
                <a:ea typeface="Cambria" pitchFamily="34" charset="-122"/>
                <a:cs typeface="Cambria" pitchFamily="34" charset="-120"/>
              </a:rPr>
              <a:t>the president and senior team</a:t>
            </a:r>
            <a:endParaRPr lang="en-US" sz="1300" dirty="0"/>
          </a:p>
        </p:txBody>
      </p:sp>
      <p:sp>
        <p:nvSpPr>
          <p:cNvPr id="11" name="Shape 9"/>
          <p:cNvSpPr/>
          <p:nvPr/>
        </p:nvSpPr>
        <p:spPr>
          <a:xfrm>
            <a:off x="685800" y="4087368"/>
            <a:ext cx="146304" cy="146304"/>
          </a:xfrm>
          <a:prstGeom prst="rect">
            <a:avLst/>
          </a:prstGeom>
          <a:solidFill>
            <a:srgbClr val="1F4E79"/>
          </a:solidFill>
          <a:ln w="12700">
            <a:solidFill>
              <a:srgbClr val="333333"/>
            </a:solidFill>
            <a:prstDash val="solid"/>
          </a:ln>
        </p:spPr>
      </p:sp>
      <p:sp>
        <p:nvSpPr>
          <p:cNvPr id="12" name="Text 10"/>
          <p:cNvSpPr/>
          <p:nvPr/>
        </p:nvSpPr>
        <p:spPr>
          <a:xfrm>
            <a:off x="1005840" y="4032504"/>
            <a:ext cx="4023360" cy="274320"/>
          </a:xfrm>
          <a:prstGeom prst="rect">
            <a:avLst/>
          </a:prstGeom>
          <a:noFill/>
          <a:ln/>
        </p:spPr>
        <p:txBody>
          <a:bodyPr wrap="square" lIns="0" tIns="0" rIns="0" bIns="0" rtlCol="0" anchor="ctr"/>
          <a:lstStyle/>
          <a:p>
            <a:pPr indent="0" marL="0">
              <a:buNone/>
            </a:pPr>
            <a:r>
              <a:rPr lang="en-US" sz="1600" b="1" dirty="0">
                <a:solidFill>
                  <a:srgbClr val="14171C"/>
                </a:solidFill>
                <a:latin typeface="Cambria" pitchFamily="34" charset="0"/>
                <a:ea typeface="Cambria" pitchFamily="34" charset="-122"/>
                <a:cs typeface="Cambria" pitchFamily="34" charset="-120"/>
              </a:rPr>
              <a:t>Documents and archives</a:t>
            </a:r>
            <a:endParaRPr lang="en-US" sz="1600" dirty="0"/>
          </a:p>
        </p:txBody>
      </p:sp>
      <p:sp>
        <p:nvSpPr>
          <p:cNvPr id="13" name="Text 11"/>
          <p:cNvSpPr/>
          <p:nvPr/>
        </p:nvSpPr>
        <p:spPr>
          <a:xfrm>
            <a:off x="1005840" y="4306824"/>
            <a:ext cx="4023360" cy="256032"/>
          </a:xfrm>
          <a:prstGeom prst="rect">
            <a:avLst/>
          </a:prstGeom>
          <a:noFill/>
          <a:ln/>
        </p:spPr>
        <p:txBody>
          <a:bodyPr wrap="square" lIns="0" tIns="0" rIns="0" bIns="0" rtlCol="0" anchor="ctr"/>
          <a:lstStyle/>
          <a:p>
            <a:pPr indent="0" marL="0">
              <a:buNone/>
            </a:pPr>
            <a:r>
              <a:rPr lang="en-US" sz="1300" i="1" dirty="0">
                <a:solidFill>
                  <a:srgbClr val="767D86"/>
                </a:solidFill>
                <a:latin typeface="Cambria" pitchFamily="34" charset="0"/>
                <a:ea typeface="Cambria" pitchFamily="34" charset="-122"/>
                <a:cs typeface="Cambria" pitchFamily="34" charset="-120"/>
              </a:rPr>
              <a:t>the paper trail</a:t>
            </a:r>
            <a:endParaRPr lang="en-US" sz="1300" dirty="0"/>
          </a:p>
        </p:txBody>
      </p:sp>
      <p:sp>
        <p:nvSpPr>
          <p:cNvPr id="14" name="Text 12"/>
          <p:cNvSpPr/>
          <p:nvPr/>
        </p:nvSpPr>
        <p:spPr>
          <a:xfrm>
            <a:off x="6309360" y="2194560"/>
            <a:ext cx="4572000" cy="274320"/>
          </a:xfrm>
          <a:prstGeom prst="rect">
            <a:avLst/>
          </a:prstGeom>
          <a:noFill/>
          <a:ln/>
        </p:spPr>
        <p:txBody>
          <a:bodyPr wrap="square" lIns="0" tIns="0" rIns="0" bIns="0" rtlCol="0" anchor="ctr"/>
          <a:lstStyle/>
          <a:p>
            <a:pPr indent="0" marL="0">
              <a:buNone/>
            </a:pPr>
            <a:r>
              <a:rPr lang="en-US" sz="1100" b="1" spc="140" kern="0" dirty="0">
                <a:solidFill>
                  <a:srgbClr val="1F4E79"/>
                </a:solidFill>
                <a:latin typeface="Courier New" pitchFamily="34" charset="0"/>
                <a:ea typeface="Courier New" pitchFamily="34" charset="-122"/>
                <a:cs typeface="Courier New" pitchFamily="34" charset="-120"/>
              </a:rPr>
              <a:t>07  DATA ANALYSIS</a:t>
            </a:r>
            <a:endParaRPr lang="en-US" sz="1100" dirty="0"/>
          </a:p>
        </p:txBody>
      </p:sp>
      <p:sp>
        <p:nvSpPr>
          <p:cNvPr id="15" name="Shape 13"/>
          <p:cNvSpPr/>
          <p:nvPr/>
        </p:nvSpPr>
        <p:spPr>
          <a:xfrm>
            <a:off x="6309360" y="3977640"/>
            <a:ext cx="5120640" cy="777240"/>
          </a:xfrm>
          <a:prstGeom prst="rect">
            <a:avLst/>
          </a:prstGeom>
          <a:solidFill>
            <a:srgbClr val="E9EFF6"/>
          </a:solidFill>
          <a:ln w="17780">
            <a:solidFill>
              <a:srgbClr val="1F4E79"/>
            </a:solidFill>
            <a:prstDash val="solid"/>
          </a:ln>
        </p:spPr>
      </p:sp>
      <p:sp>
        <p:nvSpPr>
          <p:cNvPr id="16" name="Text 14"/>
          <p:cNvSpPr/>
          <p:nvPr/>
        </p:nvSpPr>
        <p:spPr>
          <a:xfrm>
            <a:off x="6309360" y="4206240"/>
            <a:ext cx="5120640" cy="320040"/>
          </a:xfrm>
          <a:prstGeom prst="rect">
            <a:avLst/>
          </a:prstGeom>
          <a:noFill/>
          <a:ln/>
        </p:spPr>
        <p:txBody>
          <a:bodyPr wrap="square" lIns="0" tIns="0" rIns="0" bIns="0" rtlCol="0" anchor="ctr"/>
          <a:lstStyle/>
          <a:p>
            <a:pPr algn="ctr" indent="0" marL="0">
              <a:buNone/>
            </a:pPr>
            <a:r>
              <a:rPr lang="en-US" sz="1200" dirty="0">
                <a:solidFill>
                  <a:srgbClr val="1F4E79"/>
                </a:solidFill>
                <a:latin typeface="Courier New" pitchFamily="34" charset="0"/>
                <a:ea typeface="Courier New" pitchFamily="34" charset="-122"/>
                <a:cs typeface="Courier New" pitchFamily="34" charset="-120"/>
              </a:rPr>
              <a:t>FIRST ORDER — the informants' own words</a:t>
            </a:r>
            <a:endParaRPr lang="en-US" sz="1200" dirty="0"/>
          </a:p>
        </p:txBody>
      </p:sp>
      <p:sp>
        <p:nvSpPr>
          <p:cNvPr id="17" name="Shape 15"/>
          <p:cNvSpPr/>
          <p:nvPr/>
        </p:nvSpPr>
        <p:spPr>
          <a:xfrm>
            <a:off x="6949440" y="2651760"/>
            <a:ext cx="3840480" cy="777240"/>
          </a:xfrm>
          <a:prstGeom prst="rect">
            <a:avLst/>
          </a:prstGeom>
          <a:solidFill>
            <a:srgbClr val="1F4E79"/>
          </a:solidFill>
          <a:ln w="12700">
            <a:solidFill>
              <a:srgbClr val="333333"/>
            </a:solidFill>
            <a:prstDash val="solid"/>
          </a:ln>
        </p:spPr>
      </p:sp>
      <p:sp>
        <p:nvSpPr>
          <p:cNvPr id="18" name="Text 16"/>
          <p:cNvSpPr/>
          <p:nvPr/>
        </p:nvSpPr>
        <p:spPr>
          <a:xfrm>
            <a:off x="6949440" y="2880360"/>
            <a:ext cx="384048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SECOND ORDER — the researchers' theory</a:t>
            </a:r>
            <a:endParaRPr lang="en-US" sz="1200" dirty="0"/>
          </a:p>
        </p:txBody>
      </p:sp>
      <p:sp>
        <p:nvSpPr>
          <p:cNvPr id="19" name="Shape 17"/>
          <p:cNvSpPr/>
          <p:nvPr/>
        </p:nvSpPr>
        <p:spPr>
          <a:xfrm>
            <a:off x="8869680" y="3931920"/>
            <a:ext cx="0" cy="-457200"/>
          </a:xfrm>
          <a:prstGeom prst="line">
            <a:avLst/>
          </a:prstGeom>
          <a:noFill/>
          <a:ln w="25400">
            <a:solidFill>
              <a:srgbClr val="1F4E79"/>
            </a:solidFill>
            <a:prstDash val="solid"/>
            <a:tailEnd type="triangle"/>
          </a:ln>
        </p:spPr>
      </p:sp>
      <p:sp>
        <p:nvSpPr>
          <p:cNvPr id="20" name="Text 18"/>
          <p:cNvSpPr/>
          <p:nvPr/>
        </p:nvSpPr>
        <p:spPr>
          <a:xfrm>
            <a:off x="6309360" y="4937760"/>
            <a:ext cx="5120640" cy="640080"/>
          </a:xfrm>
          <a:prstGeom prst="rect">
            <a:avLst/>
          </a:prstGeom>
          <a:noFill/>
          <a:ln/>
        </p:spPr>
        <p:txBody>
          <a:bodyPr wrap="square" lIns="0" tIns="0" rIns="0" bIns="0" rtlCol="0" anchor="ctr"/>
          <a:lstStyle/>
          <a:p>
            <a:pPr indent="0" marL="0">
              <a:buNone/>
            </a:pPr>
            <a:r>
              <a:rPr lang="en-US" sz="1400" i="1" dirty="0">
                <a:solidFill>
                  <a:srgbClr val="767D86"/>
                </a:solidFill>
                <a:latin typeface="Cambria" pitchFamily="34" charset="0"/>
                <a:ea typeface="Cambria" pitchFamily="34" charset="-122"/>
                <a:cs typeface="Cambria" pitchFamily="34" charset="-120"/>
              </a:rPr>
              <a:t>Held apart, so a reader can see exactly where the informants stop and the authors begin.</a:t>
            </a:r>
            <a:endParaRPr lang="en-US" sz="1400" dirty="0"/>
          </a:p>
        </p:txBody>
      </p:sp>
      <p:sp>
        <p:nvSpPr>
          <p:cNvPr id="21" name="Text 19"/>
          <p:cNvSpPr/>
          <p:nvPr/>
        </p:nvSpPr>
        <p:spPr>
          <a:xfrm>
            <a:off x="685800" y="6291072"/>
            <a:ext cx="10789920"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That separation is where the credibility lives — the route from observation to claim is visible.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789920" cy="685800"/>
          </a:xfrm>
          <a:prstGeom prst="rect">
            <a:avLst/>
          </a:prstGeom>
          <a:noFill/>
          <a:ln/>
        </p:spPr>
        <p:txBody>
          <a:bodyPr wrap="square" lIns="0" tIns="0" rIns="0" bIns="0" rtlCol="0" anchor="ctr"/>
          <a:lstStyle/>
          <a:p>
            <a:pPr indent="0" marL="0">
              <a:buNone/>
            </a:pPr>
            <a:r>
              <a:rPr lang="en-US" sz="3400" b="1" dirty="0">
                <a:solidFill>
                  <a:srgbClr val="14171C"/>
                </a:solidFill>
                <a:latin typeface="Georgia" pitchFamily="34" charset="0"/>
                <a:ea typeface="Georgia" pitchFamily="34" charset="-122"/>
                <a:cs typeface="Georgia" pitchFamily="34" charset="-120"/>
              </a:rPr>
              <a:t>Written as a process, not a table</a:t>
            </a:r>
            <a:endParaRPr lang="en-US" sz="3400" dirty="0"/>
          </a:p>
        </p:txBody>
      </p:sp>
      <p:sp>
        <p:nvSpPr>
          <p:cNvPr id="4" name="Text 2"/>
          <p:cNvSpPr/>
          <p:nvPr/>
        </p:nvSpPr>
        <p:spPr>
          <a:xfrm>
            <a:off x="685800" y="1627632"/>
            <a:ext cx="8778240" cy="411480"/>
          </a:xfrm>
          <a:prstGeom prst="rect">
            <a:avLst/>
          </a:prstGeom>
          <a:noFill/>
          <a:ln/>
        </p:spPr>
        <p:txBody>
          <a:bodyPr wrap="square" lIns="0" tIns="0" rIns="0" bIns="0" rtlCol="0" anchor="ctr"/>
          <a:lstStyle/>
          <a:p>
            <a:pPr indent="0" marL="0">
              <a:buNone/>
            </a:pPr>
            <a:r>
              <a:rPr lang="en-US" sz="1500" i="1" dirty="0">
                <a:solidFill>
                  <a:srgbClr val="767D86"/>
                </a:solidFill>
                <a:latin typeface="Cambria" pitchFamily="34" charset="0"/>
                <a:ea typeface="Cambria" pitchFamily="34" charset="-122"/>
                <a:cs typeface="Cambria" pitchFamily="34" charset="-120"/>
              </a:rPr>
              <a:t>08 · Complex account — a narrative of phases that feed each other, not a matrix of variables.</a:t>
            </a:r>
            <a:endParaRPr lang="en-US" sz="1500" dirty="0"/>
          </a:p>
        </p:txBody>
      </p:sp>
      <p:sp>
        <p:nvSpPr>
          <p:cNvPr id="5" name="Shape 3"/>
          <p:cNvSpPr/>
          <p:nvPr/>
        </p:nvSpPr>
        <p:spPr>
          <a:xfrm>
            <a:off x="685800" y="2834640"/>
            <a:ext cx="2423160" cy="1371600"/>
          </a:xfrm>
          <a:prstGeom prst="rect">
            <a:avLst/>
          </a:prstGeom>
          <a:solidFill>
            <a:srgbClr val="FFFFFF"/>
          </a:solidFill>
          <a:ln w="19050">
            <a:solidFill>
              <a:srgbClr val="1F4E79"/>
            </a:solidFill>
            <a:prstDash val="solid"/>
          </a:ln>
        </p:spPr>
      </p:sp>
      <p:sp>
        <p:nvSpPr>
          <p:cNvPr id="6" name="Text 4"/>
          <p:cNvSpPr/>
          <p:nvPr/>
        </p:nvSpPr>
        <p:spPr>
          <a:xfrm>
            <a:off x="685800" y="3291840"/>
            <a:ext cx="2423160" cy="411480"/>
          </a:xfrm>
          <a:prstGeom prst="rect">
            <a:avLst/>
          </a:prstGeom>
          <a:noFill/>
          <a:ln/>
        </p:spPr>
        <p:txBody>
          <a:bodyPr wrap="square" lIns="0" tIns="0" rIns="0" bIns="0" rtlCol="0" anchor="ctr"/>
          <a:lstStyle/>
          <a:p>
            <a:pPr algn="ctr" indent="0" marL="0">
              <a:buNone/>
            </a:pPr>
            <a:r>
              <a:rPr lang="en-US" sz="1700" b="1" dirty="0">
                <a:solidFill>
                  <a:srgbClr val="1F4E79"/>
                </a:solidFill>
                <a:latin typeface="Georgia" pitchFamily="34" charset="0"/>
                <a:ea typeface="Georgia" pitchFamily="34" charset="-122"/>
                <a:cs typeface="Georgia" pitchFamily="34" charset="-120"/>
              </a:rPr>
              <a:t>Envisioning</a:t>
            </a:r>
            <a:endParaRPr lang="en-US" sz="1700" dirty="0"/>
          </a:p>
        </p:txBody>
      </p:sp>
      <p:sp>
        <p:nvSpPr>
          <p:cNvPr id="7" name="Shape 5"/>
          <p:cNvSpPr/>
          <p:nvPr/>
        </p:nvSpPr>
        <p:spPr>
          <a:xfrm>
            <a:off x="3108960" y="3520440"/>
            <a:ext cx="365760" cy="0"/>
          </a:xfrm>
          <a:prstGeom prst="line">
            <a:avLst/>
          </a:prstGeom>
          <a:noFill/>
          <a:ln w="25400">
            <a:solidFill>
              <a:srgbClr val="1F4E79"/>
            </a:solidFill>
            <a:prstDash val="solid"/>
            <a:tailEnd type="triangle"/>
          </a:ln>
        </p:spPr>
      </p:sp>
      <p:sp>
        <p:nvSpPr>
          <p:cNvPr id="8" name="Shape 6"/>
          <p:cNvSpPr/>
          <p:nvPr/>
        </p:nvSpPr>
        <p:spPr>
          <a:xfrm>
            <a:off x="3474720" y="2834640"/>
            <a:ext cx="2423160" cy="1371600"/>
          </a:xfrm>
          <a:prstGeom prst="rect">
            <a:avLst/>
          </a:prstGeom>
          <a:solidFill>
            <a:srgbClr val="1F4E79"/>
          </a:solidFill>
          <a:ln w="19050">
            <a:solidFill>
              <a:srgbClr val="1F4E79"/>
            </a:solidFill>
            <a:prstDash val="solid"/>
          </a:ln>
        </p:spPr>
      </p:sp>
      <p:sp>
        <p:nvSpPr>
          <p:cNvPr id="9" name="Text 7"/>
          <p:cNvSpPr/>
          <p:nvPr/>
        </p:nvSpPr>
        <p:spPr>
          <a:xfrm>
            <a:off x="3474720" y="3291840"/>
            <a:ext cx="242316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Signalling</a:t>
            </a:r>
            <a:endParaRPr lang="en-US" sz="1700" dirty="0"/>
          </a:p>
        </p:txBody>
      </p:sp>
      <p:sp>
        <p:nvSpPr>
          <p:cNvPr id="10" name="Shape 8"/>
          <p:cNvSpPr/>
          <p:nvPr/>
        </p:nvSpPr>
        <p:spPr>
          <a:xfrm>
            <a:off x="5897880" y="3520440"/>
            <a:ext cx="365760" cy="0"/>
          </a:xfrm>
          <a:prstGeom prst="line">
            <a:avLst/>
          </a:prstGeom>
          <a:noFill/>
          <a:ln w="25400">
            <a:solidFill>
              <a:srgbClr val="1F4E79"/>
            </a:solidFill>
            <a:prstDash val="solid"/>
            <a:tailEnd type="triangle"/>
          </a:ln>
        </p:spPr>
      </p:sp>
      <p:sp>
        <p:nvSpPr>
          <p:cNvPr id="11" name="Shape 9"/>
          <p:cNvSpPr/>
          <p:nvPr/>
        </p:nvSpPr>
        <p:spPr>
          <a:xfrm>
            <a:off x="6263640" y="2834640"/>
            <a:ext cx="2423160" cy="1371600"/>
          </a:xfrm>
          <a:prstGeom prst="rect">
            <a:avLst/>
          </a:prstGeom>
          <a:solidFill>
            <a:srgbClr val="FFFFFF"/>
          </a:solidFill>
          <a:ln w="19050">
            <a:solidFill>
              <a:srgbClr val="1F4E79"/>
            </a:solidFill>
            <a:prstDash val="solid"/>
          </a:ln>
        </p:spPr>
      </p:sp>
      <p:sp>
        <p:nvSpPr>
          <p:cNvPr id="12" name="Text 10"/>
          <p:cNvSpPr/>
          <p:nvPr/>
        </p:nvSpPr>
        <p:spPr>
          <a:xfrm>
            <a:off x="6263640" y="3291840"/>
            <a:ext cx="2423160" cy="411480"/>
          </a:xfrm>
          <a:prstGeom prst="rect">
            <a:avLst/>
          </a:prstGeom>
          <a:noFill/>
          <a:ln/>
        </p:spPr>
        <p:txBody>
          <a:bodyPr wrap="square" lIns="0" tIns="0" rIns="0" bIns="0" rtlCol="0" anchor="ctr"/>
          <a:lstStyle/>
          <a:p>
            <a:pPr algn="ctr" indent="0" marL="0">
              <a:buNone/>
            </a:pPr>
            <a:r>
              <a:rPr lang="en-US" sz="1700" b="1" dirty="0">
                <a:solidFill>
                  <a:srgbClr val="1F4E79"/>
                </a:solidFill>
                <a:latin typeface="Georgia" pitchFamily="34" charset="0"/>
                <a:ea typeface="Georgia" pitchFamily="34" charset="-122"/>
                <a:cs typeface="Georgia" pitchFamily="34" charset="-120"/>
              </a:rPr>
              <a:t>Re-visioning</a:t>
            </a:r>
            <a:endParaRPr lang="en-US" sz="1700" dirty="0"/>
          </a:p>
        </p:txBody>
      </p:sp>
      <p:sp>
        <p:nvSpPr>
          <p:cNvPr id="13" name="Shape 11"/>
          <p:cNvSpPr/>
          <p:nvPr/>
        </p:nvSpPr>
        <p:spPr>
          <a:xfrm>
            <a:off x="8686800" y="3520440"/>
            <a:ext cx="365760" cy="0"/>
          </a:xfrm>
          <a:prstGeom prst="line">
            <a:avLst/>
          </a:prstGeom>
          <a:noFill/>
          <a:ln w="25400">
            <a:solidFill>
              <a:srgbClr val="1F4E79"/>
            </a:solidFill>
            <a:prstDash val="solid"/>
            <a:tailEnd type="triangle"/>
          </a:ln>
        </p:spPr>
      </p:sp>
      <p:sp>
        <p:nvSpPr>
          <p:cNvPr id="14" name="Shape 12"/>
          <p:cNvSpPr/>
          <p:nvPr/>
        </p:nvSpPr>
        <p:spPr>
          <a:xfrm>
            <a:off x="9052560" y="2834640"/>
            <a:ext cx="2423160" cy="1371600"/>
          </a:xfrm>
          <a:prstGeom prst="rect">
            <a:avLst/>
          </a:prstGeom>
          <a:solidFill>
            <a:srgbClr val="1F4E79"/>
          </a:solidFill>
          <a:ln w="19050">
            <a:solidFill>
              <a:srgbClr val="1F4E79"/>
            </a:solidFill>
            <a:prstDash val="solid"/>
          </a:ln>
        </p:spPr>
      </p:sp>
      <p:sp>
        <p:nvSpPr>
          <p:cNvPr id="15" name="Text 13"/>
          <p:cNvSpPr/>
          <p:nvPr/>
        </p:nvSpPr>
        <p:spPr>
          <a:xfrm>
            <a:off x="9052560" y="3291840"/>
            <a:ext cx="242316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Energizing</a:t>
            </a:r>
            <a:endParaRPr lang="en-US" sz="1700" dirty="0"/>
          </a:p>
        </p:txBody>
      </p:sp>
      <p:sp>
        <p:nvSpPr>
          <p:cNvPr id="16" name="Shape 14"/>
          <p:cNvSpPr/>
          <p:nvPr/>
        </p:nvSpPr>
        <p:spPr>
          <a:xfrm>
            <a:off x="685800" y="4617720"/>
            <a:ext cx="10561320" cy="0"/>
          </a:xfrm>
          <a:prstGeom prst="line">
            <a:avLst/>
          </a:prstGeom>
          <a:noFill/>
          <a:ln w="12700">
            <a:solidFill>
              <a:srgbClr val="C9C4B9"/>
            </a:solidFill>
            <a:prstDash val="solid"/>
          </a:ln>
        </p:spPr>
      </p:sp>
      <p:sp>
        <p:nvSpPr>
          <p:cNvPr id="17" name="Text 15"/>
          <p:cNvSpPr/>
          <p:nvPr/>
        </p:nvSpPr>
        <p:spPr>
          <a:xfrm>
            <a:off x="685800" y="4709160"/>
            <a:ext cx="1828800" cy="274320"/>
          </a:xfrm>
          <a:prstGeom prst="rect">
            <a:avLst/>
          </a:prstGeom>
          <a:noFill/>
          <a:ln/>
        </p:spPr>
        <p:txBody>
          <a:bodyPr wrap="square" lIns="0" tIns="0" rIns="0" bIns="0" rtlCol="0" anchor="ctr"/>
          <a:lstStyle/>
          <a:p>
            <a:pPr indent="0" marL="0">
              <a:buNone/>
            </a:pPr>
            <a:r>
              <a:rPr lang="en-US" sz="1000" dirty="0">
                <a:solidFill>
                  <a:srgbClr val="767D86"/>
                </a:solidFill>
                <a:latin typeface="Courier New" pitchFamily="34" charset="0"/>
                <a:ea typeface="Courier New" pitchFamily="34" charset="-122"/>
                <a:cs typeface="Courier New" pitchFamily="34" charset="-120"/>
              </a:rPr>
              <a:t>time  →</a:t>
            </a:r>
            <a:endParaRPr lang="en-US" sz="1000" dirty="0"/>
          </a:p>
        </p:txBody>
      </p:sp>
      <p:sp>
        <p:nvSpPr>
          <p:cNvPr id="18" name="Text 16"/>
          <p:cNvSpPr/>
          <p:nvPr/>
        </p:nvSpPr>
        <p:spPr>
          <a:xfrm>
            <a:off x="685800" y="5212080"/>
            <a:ext cx="10515600" cy="640080"/>
          </a:xfrm>
          <a:prstGeom prst="rect">
            <a:avLst/>
          </a:prstGeom>
          <a:noFill/>
          <a:ln/>
        </p:spPr>
        <p:txBody>
          <a:bodyPr wrap="square" lIns="0" tIns="0" rIns="0" bIns="0" rtlCol="0" anchor="ctr"/>
          <a:lstStyle/>
          <a:p>
            <a:pPr indent="0" marL="0">
              <a:buNone/>
            </a:pPr>
            <a:r>
              <a:rPr lang="en-US" sz="1600" dirty="0">
                <a:solidFill>
                  <a:srgbClr val="14171C"/>
                </a:solidFill>
                <a:latin typeface="Cambria" pitchFamily="34" charset="0"/>
                <a:ea typeface="Cambria" pitchFamily="34" charset="-122"/>
                <a:cs typeface="Cambria" pitchFamily="34" charset="-120"/>
              </a:rPr>
              <a:t>A quantitative paper would report which variables moved. This one reports what happened, in order, and why each step made the next one necessary.</a:t>
            </a:r>
            <a:endParaRPr lang="en-US" sz="1600" dirty="0"/>
          </a:p>
        </p:txBody>
      </p:sp>
      <p:sp>
        <p:nvSpPr>
          <p:cNvPr id="19" name="Text 17"/>
          <p:cNvSpPr/>
          <p:nvPr/>
        </p:nvSpPr>
        <p:spPr>
          <a:xfrm>
            <a:off x="685800" y="6291072"/>
            <a:ext cx="10789920"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Gioia, D. A., &amp; Chittipeddi, K. (1991). Strategic Management Journal, 12(6).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1F4E79"/>
                </a:solidFill>
                <a:latin typeface="Georgia" pitchFamily="34" charset="0"/>
                <a:ea typeface="Georgia" pitchFamily="34" charset="-122"/>
                <a:cs typeface="Georgia" pitchFamily="34" charset="-120"/>
              </a:rPr>
              <a:t>Audit </a:t>
            </a:r>
            <a:pPr indent="0" marL="0">
              <a:buNone/>
            </a:pPr>
            <a:r>
              <a:rPr lang="en-US" sz="1100" i="1" dirty="0">
                <a:solidFill>
                  <a:srgbClr val="767D86"/>
                </a:solidFill>
                <a:latin typeface="Georgia" pitchFamily="34" charset="0"/>
                <a:ea typeface="Georgia" pitchFamily="34" charset="-122"/>
                <a:cs typeface="Georgia" pitchFamily="34" charset="-120"/>
              </a:rPr>
              <a:t>the </a:t>
            </a:r>
            <a:pPr indent="0" marL="0">
              <a:buNone/>
            </a:pPr>
            <a:r>
              <a:rPr lang="en-US" sz="1300" b="1" dirty="0">
                <a:solidFill>
                  <a:srgbClr val="1F4E79"/>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868680"/>
            <a:ext cx="10789920" cy="685800"/>
          </a:xfrm>
          <a:prstGeom prst="rect">
            <a:avLst/>
          </a:prstGeom>
          <a:noFill/>
          <a:ln/>
        </p:spPr>
        <p:txBody>
          <a:bodyPr wrap="square" lIns="0" tIns="0" rIns="0" bIns="0" rtlCol="0" anchor="ctr"/>
          <a:lstStyle/>
          <a:p>
            <a:pPr indent="0" marL="0">
              <a:buNone/>
            </a:pPr>
            <a:r>
              <a:rPr lang="en-US" sz="3400" b="1" dirty="0">
                <a:solidFill>
                  <a:srgbClr val="14171C"/>
                </a:solidFill>
                <a:latin typeface="Georgia" pitchFamily="34" charset="0"/>
                <a:ea typeface="Georgia" pitchFamily="34" charset="-122"/>
                <a:cs typeface="Georgia" pitchFamily="34" charset="-120"/>
              </a:rPr>
              <a:t>The contrast case</a:t>
            </a:r>
            <a:endParaRPr lang="en-US" sz="3400" dirty="0"/>
          </a:p>
        </p:txBody>
      </p:sp>
      <p:sp>
        <p:nvSpPr>
          <p:cNvPr id="4" name="Text 2"/>
          <p:cNvSpPr/>
          <p:nvPr/>
        </p:nvSpPr>
        <p:spPr>
          <a:xfrm>
            <a:off x="685800" y="1627632"/>
            <a:ext cx="8778240" cy="411480"/>
          </a:xfrm>
          <a:prstGeom prst="rect">
            <a:avLst/>
          </a:prstGeom>
          <a:noFill/>
          <a:ln/>
        </p:spPr>
        <p:txBody>
          <a:bodyPr wrap="square" lIns="0" tIns="0" rIns="0" bIns="0" rtlCol="0" anchor="ctr"/>
          <a:lstStyle/>
          <a:p>
            <a:pPr indent="0" marL="0">
              <a:buNone/>
            </a:pPr>
            <a:r>
              <a:rPr lang="en-US" sz="1500" i="1" dirty="0">
                <a:solidFill>
                  <a:srgbClr val="767D86"/>
                </a:solidFill>
                <a:latin typeface="Cambria" pitchFamily="34" charset="0"/>
                <a:ea typeface="Cambria" pitchFamily="34" charset="-122"/>
                <a:cs typeface="Cambria" pitchFamily="34" charset="-120"/>
              </a:rPr>
              <a:t>Maznevski &amp; Chudoba (2000) — same family of method, opposite answer on question 05.</a:t>
            </a:r>
            <a:endParaRPr lang="en-US" sz="1500" dirty="0"/>
          </a:p>
        </p:txBody>
      </p:sp>
      <p:sp>
        <p:nvSpPr>
          <p:cNvPr id="5" name="Shape 3"/>
          <p:cNvSpPr/>
          <p:nvPr/>
        </p:nvSpPr>
        <p:spPr>
          <a:xfrm>
            <a:off x="685800" y="4389120"/>
            <a:ext cx="6766560" cy="0"/>
          </a:xfrm>
          <a:prstGeom prst="line">
            <a:avLst/>
          </a:prstGeom>
          <a:noFill/>
          <a:ln w="12700">
            <a:solidFill>
              <a:srgbClr val="D8D4CB"/>
            </a:solidFill>
            <a:prstDash val="solid"/>
          </a:ln>
        </p:spPr>
      </p:sp>
      <p:sp>
        <p:nvSpPr>
          <p:cNvPr id="6" name="Shape 4"/>
          <p:cNvSpPr/>
          <p:nvPr/>
        </p:nvSpPr>
        <p:spPr>
          <a:xfrm>
            <a:off x="960120" y="2651760"/>
            <a:ext cx="310896" cy="1737360"/>
          </a:xfrm>
          <a:prstGeom prst="rect">
            <a:avLst/>
          </a:prstGeom>
          <a:solidFill>
            <a:srgbClr val="8A6410"/>
          </a:solidFill>
          <a:ln w="12700">
            <a:solidFill>
              <a:srgbClr val="333333"/>
            </a:solidFill>
            <a:prstDash val="solid"/>
          </a:ln>
        </p:spPr>
      </p:sp>
      <p:sp>
        <p:nvSpPr>
          <p:cNvPr id="7" name="Text 5"/>
          <p:cNvSpPr/>
          <p:nvPr/>
        </p:nvSpPr>
        <p:spPr>
          <a:xfrm>
            <a:off x="640080" y="2304288"/>
            <a:ext cx="9601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8" name="Shape 6"/>
          <p:cNvSpPr/>
          <p:nvPr/>
        </p:nvSpPr>
        <p:spPr>
          <a:xfrm>
            <a:off x="3246120" y="2651760"/>
            <a:ext cx="310896" cy="1737360"/>
          </a:xfrm>
          <a:prstGeom prst="rect">
            <a:avLst/>
          </a:prstGeom>
          <a:solidFill>
            <a:srgbClr val="8A6410"/>
          </a:solidFill>
          <a:ln w="12700">
            <a:solidFill>
              <a:srgbClr val="333333"/>
            </a:solidFill>
            <a:prstDash val="solid"/>
          </a:ln>
        </p:spPr>
      </p:sp>
      <p:sp>
        <p:nvSpPr>
          <p:cNvPr id="9" name="Text 7"/>
          <p:cNvSpPr/>
          <p:nvPr/>
        </p:nvSpPr>
        <p:spPr>
          <a:xfrm>
            <a:off x="2926080" y="2304288"/>
            <a:ext cx="9601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10" name="Shape 8"/>
          <p:cNvSpPr/>
          <p:nvPr/>
        </p:nvSpPr>
        <p:spPr>
          <a:xfrm>
            <a:off x="5532120" y="2651760"/>
            <a:ext cx="310896" cy="1737360"/>
          </a:xfrm>
          <a:prstGeom prst="rect">
            <a:avLst/>
          </a:prstGeom>
          <a:solidFill>
            <a:srgbClr val="8A6410"/>
          </a:solidFill>
          <a:ln w="12700">
            <a:solidFill>
              <a:srgbClr val="333333"/>
            </a:solidFill>
            <a:prstDash val="solid"/>
          </a:ln>
        </p:spPr>
      </p:sp>
      <p:sp>
        <p:nvSpPr>
          <p:cNvPr id="11" name="Text 9"/>
          <p:cNvSpPr/>
          <p:nvPr/>
        </p:nvSpPr>
        <p:spPr>
          <a:xfrm>
            <a:off x="5212080" y="2304288"/>
            <a:ext cx="960120" cy="274320"/>
          </a:xfrm>
          <a:prstGeom prst="rect">
            <a:avLst/>
          </a:prstGeom>
          <a:noFill/>
          <a:ln/>
        </p:spPr>
        <p:txBody>
          <a:bodyPr wrap="square" lIns="0" tIns="0" rIns="0" bIns="0" rtlCol="0" anchor="ctr"/>
          <a:lstStyle/>
          <a:p>
            <a:pPr algn="ctr" indent="0" marL="0">
              <a:buNone/>
            </a:pPr>
            <a:r>
              <a:rPr lang="en-US" sz="1100" b="1" dirty="0">
                <a:solidFill>
                  <a:srgbClr val="8A6410"/>
                </a:solidFill>
                <a:latin typeface="Courier New" pitchFamily="34" charset="0"/>
                <a:ea typeface="Courier New" pitchFamily="34" charset="-122"/>
                <a:cs typeface="Courier New" pitchFamily="34" charset="-120"/>
              </a:rPr>
              <a:t>F2F</a:t>
            </a:r>
            <a:endParaRPr lang="en-US" sz="1100" dirty="0"/>
          </a:p>
        </p:txBody>
      </p:sp>
      <p:sp>
        <p:nvSpPr>
          <p:cNvPr id="12" name="Shape 10"/>
          <p:cNvSpPr/>
          <p:nvPr/>
        </p:nvSpPr>
        <p:spPr>
          <a:xfrm>
            <a:off x="1554480" y="3840480"/>
            <a:ext cx="201168" cy="548640"/>
          </a:xfrm>
          <a:prstGeom prst="rect">
            <a:avLst/>
          </a:prstGeom>
          <a:solidFill>
            <a:srgbClr val="E4D3A8"/>
          </a:solidFill>
          <a:ln w="12700">
            <a:solidFill>
              <a:srgbClr val="333333"/>
            </a:solidFill>
            <a:prstDash val="solid"/>
          </a:ln>
        </p:spPr>
      </p:sp>
      <p:sp>
        <p:nvSpPr>
          <p:cNvPr id="13" name="Shape 11"/>
          <p:cNvSpPr/>
          <p:nvPr/>
        </p:nvSpPr>
        <p:spPr>
          <a:xfrm>
            <a:off x="1938528" y="3840480"/>
            <a:ext cx="201168" cy="548640"/>
          </a:xfrm>
          <a:prstGeom prst="rect">
            <a:avLst/>
          </a:prstGeom>
          <a:solidFill>
            <a:srgbClr val="E4D3A8"/>
          </a:solidFill>
          <a:ln w="12700">
            <a:solidFill>
              <a:srgbClr val="333333"/>
            </a:solidFill>
            <a:prstDash val="solid"/>
          </a:ln>
        </p:spPr>
      </p:sp>
      <p:sp>
        <p:nvSpPr>
          <p:cNvPr id="14" name="Shape 12"/>
          <p:cNvSpPr/>
          <p:nvPr/>
        </p:nvSpPr>
        <p:spPr>
          <a:xfrm>
            <a:off x="2322576" y="3840480"/>
            <a:ext cx="201168" cy="548640"/>
          </a:xfrm>
          <a:prstGeom prst="rect">
            <a:avLst/>
          </a:prstGeom>
          <a:solidFill>
            <a:srgbClr val="E4D3A8"/>
          </a:solidFill>
          <a:ln w="12700">
            <a:solidFill>
              <a:srgbClr val="333333"/>
            </a:solidFill>
            <a:prstDash val="solid"/>
          </a:ln>
        </p:spPr>
      </p:sp>
      <p:sp>
        <p:nvSpPr>
          <p:cNvPr id="15" name="Shape 13"/>
          <p:cNvSpPr/>
          <p:nvPr/>
        </p:nvSpPr>
        <p:spPr>
          <a:xfrm>
            <a:off x="3840480" y="3840480"/>
            <a:ext cx="201168" cy="548640"/>
          </a:xfrm>
          <a:prstGeom prst="rect">
            <a:avLst/>
          </a:prstGeom>
          <a:solidFill>
            <a:srgbClr val="E4D3A8"/>
          </a:solidFill>
          <a:ln w="12700">
            <a:solidFill>
              <a:srgbClr val="333333"/>
            </a:solidFill>
            <a:prstDash val="solid"/>
          </a:ln>
        </p:spPr>
      </p:sp>
      <p:sp>
        <p:nvSpPr>
          <p:cNvPr id="16" name="Shape 14"/>
          <p:cNvSpPr/>
          <p:nvPr/>
        </p:nvSpPr>
        <p:spPr>
          <a:xfrm>
            <a:off x="4224528" y="3840480"/>
            <a:ext cx="201168" cy="548640"/>
          </a:xfrm>
          <a:prstGeom prst="rect">
            <a:avLst/>
          </a:prstGeom>
          <a:solidFill>
            <a:srgbClr val="E4D3A8"/>
          </a:solidFill>
          <a:ln w="12700">
            <a:solidFill>
              <a:srgbClr val="333333"/>
            </a:solidFill>
            <a:prstDash val="solid"/>
          </a:ln>
        </p:spPr>
      </p:sp>
      <p:sp>
        <p:nvSpPr>
          <p:cNvPr id="17" name="Shape 15"/>
          <p:cNvSpPr/>
          <p:nvPr/>
        </p:nvSpPr>
        <p:spPr>
          <a:xfrm>
            <a:off x="4608576" y="3840480"/>
            <a:ext cx="201168" cy="548640"/>
          </a:xfrm>
          <a:prstGeom prst="rect">
            <a:avLst/>
          </a:prstGeom>
          <a:solidFill>
            <a:srgbClr val="E4D3A8"/>
          </a:solidFill>
          <a:ln w="12700">
            <a:solidFill>
              <a:srgbClr val="333333"/>
            </a:solidFill>
            <a:prstDash val="solid"/>
          </a:ln>
        </p:spPr>
      </p:sp>
      <p:sp>
        <p:nvSpPr>
          <p:cNvPr id="18" name="Shape 16"/>
          <p:cNvSpPr/>
          <p:nvPr/>
        </p:nvSpPr>
        <p:spPr>
          <a:xfrm>
            <a:off x="6126480" y="3840480"/>
            <a:ext cx="201168" cy="548640"/>
          </a:xfrm>
          <a:prstGeom prst="rect">
            <a:avLst/>
          </a:prstGeom>
          <a:solidFill>
            <a:srgbClr val="E4D3A8"/>
          </a:solidFill>
          <a:ln w="12700">
            <a:solidFill>
              <a:srgbClr val="333333"/>
            </a:solidFill>
            <a:prstDash val="solid"/>
          </a:ln>
        </p:spPr>
      </p:sp>
      <p:sp>
        <p:nvSpPr>
          <p:cNvPr id="19" name="Shape 17"/>
          <p:cNvSpPr/>
          <p:nvPr/>
        </p:nvSpPr>
        <p:spPr>
          <a:xfrm>
            <a:off x="6510528" y="3840480"/>
            <a:ext cx="201168" cy="548640"/>
          </a:xfrm>
          <a:prstGeom prst="rect">
            <a:avLst/>
          </a:prstGeom>
          <a:solidFill>
            <a:srgbClr val="E4D3A8"/>
          </a:solidFill>
          <a:ln w="12700">
            <a:solidFill>
              <a:srgbClr val="333333"/>
            </a:solidFill>
            <a:prstDash val="solid"/>
          </a:ln>
        </p:spPr>
      </p:sp>
      <p:sp>
        <p:nvSpPr>
          <p:cNvPr id="20" name="Shape 18"/>
          <p:cNvSpPr/>
          <p:nvPr/>
        </p:nvSpPr>
        <p:spPr>
          <a:xfrm>
            <a:off x="6894576" y="3840480"/>
            <a:ext cx="201168" cy="548640"/>
          </a:xfrm>
          <a:prstGeom prst="rect">
            <a:avLst/>
          </a:prstGeom>
          <a:solidFill>
            <a:srgbClr val="E4D3A8"/>
          </a:solidFill>
          <a:ln w="12700">
            <a:solidFill>
              <a:srgbClr val="333333"/>
            </a:solidFill>
            <a:prstDash val="solid"/>
          </a:ln>
        </p:spPr>
      </p:sp>
      <p:sp>
        <p:nvSpPr>
          <p:cNvPr id="21" name="Text 19"/>
          <p:cNvSpPr/>
          <p:nvPr/>
        </p:nvSpPr>
        <p:spPr>
          <a:xfrm>
            <a:off x="685800" y="4480560"/>
            <a:ext cx="6766560" cy="274320"/>
          </a:xfrm>
          <a:prstGeom prst="rect">
            <a:avLst/>
          </a:prstGeom>
          <a:noFill/>
          <a:ln/>
        </p:spPr>
        <p:txBody>
          <a:bodyPr wrap="square" lIns="0" tIns="0" rIns="0" bIns="0" rtlCol="0" anchor="ctr"/>
          <a:lstStyle/>
          <a:p>
            <a:pPr algn="ctr" indent="0" marL="0">
              <a:buNone/>
            </a:pPr>
            <a:r>
              <a:rPr lang="en-US" sz="1000" dirty="0">
                <a:solidFill>
                  <a:srgbClr val="767D86"/>
                </a:solidFill>
                <a:latin typeface="Courier New" pitchFamily="34" charset="0"/>
                <a:ea typeface="Courier New" pitchFamily="34" charset="-122"/>
                <a:cs typeface="Courier New" pitchFamily="34" charset="-120"/>
              </a:rPr>
              <a:t>mediated work fills the gaps</a:t>
            </a:r>
            <a:endParaRPr lang="en-US" sz="1000" dirty="0"/>
          </a:p>
        </p:txBody>
      </p:sp>
      <p:sp>
        <p:nvSpPr>
          <p:cNvPr id="22" name="Text 20"/>
          <p:cNvSpPr/>
          <p:nvPr/>
        </p:nvSpPr>
        <p:spPr>
          <a:xfrm>
            <a:off x="685800" y="4937760"/>
            <a:ext cx="6766560" cy="365760"/>
          </a:xfrm>
          <a:prstGeom prst="rect">
            <a:avLst/>
          </a:prstGeom>
          <a:noFill/>
          <a:ln/>
        </p:spPr>
        <p:txBody>
          <a:bodyPr wrap="square" lIns="0" tIns="0" rIns="0" bIns="0" rtlCol="0" anchor="ctr"/>
          <a:lstStyle/>
          <a:p>
            <a:pPr indent="0" marL="0">
              <a:buNone/>
            </a:pPr>
            <a:r>
              <a:rPr lang="en-US" sz="1900" b="1" dirty="0">
                <a:solidFill>
                  <a:srgbClr val="8A6410"/>
                </a:solidFill>
                <a:latin typeface="Georgia" pitchFamily="34" charset="0"/>
                <a:ea typeface="Georgia" pitchFamily="34" charset="-122"/>
                <a:cs typeface="Georgia" pitchFamily="34" charset="-120"/>
              </a:rPr>
              <a:t>Effective global virtual teams keep a rhythm.</a:t>
            </a:r>
            <a:endParaRPr lang="en-US" sz="1900" dirty="0"/>
          </a:p>
        </p:txBody>
      </p:sp>
      <p:sp>
        <p:nvSpPr>
          <p:cNvPr id="23" name="Shape 21"/>
          <p:cNvSpPr/>
          <p:nvPr/>
        </p:nvSpPr>
        <p:spPr>
          <a:xfrm>
            <a:off x="7863840" y="2331720"/>
            <a:ext cx="3611880" cy="3200400"/>
          </a:xfrm>
          <a:prstGeom prst="rect">
            <a:avLst/>
          </a:prstGeom>
          <a:solidFill>
            <a:srgbClr val="FBF6EA"/>
          </a:solidFill>
          <a:ln w="12700">
            <a:solidFill>
              <a:srgbClr val="E4D3A8"/>
            </a:solidFill>
            <a:prstDash val="solid"/>
          </a:ln>
        </p:spPr>
      </p:sp>
      <p:sp>
        <p:nvSpPr>
          <p:cNvPr id="24" name="Text 22"/>
          <p:cNvSpPr/>
          <p:nvPr/>
        </p:nvSpPr>
        <p:spPr>
          <a:xfrm>
            <a:off x="8138160" y="2606040"/>
            <a:ext cx="3108960" cy="548640"/>
          </a:xfrm>
          <a:prstGeom prst="rect">
            <a:avLst/>
          </a:prstGeom>
          <a:noFill/>
          <a:ln/>
        </p:spPr>
        <p:txBody>
          <a:bodyPr wrap="square" lIns="0" tIns="0" rIns="0" bIns="0" rtlCol="0" anchor="ctr"/>
          <a:lstStyle/>
          <a:p>
            <a:pPr indent="0" marL="0">
              <a:buNone/>
            </a:pPr>
            <a:r>
              <a:rPr lang="en-US" sz="1100" dirty="0">
                <a:solidFill>
                  <a:srgbClr val="8A6410"/>
                </a:solidFill>
                <a:latin typeface="Courier New" pitchFamily="34" charset="0"/>
                <a:ea typeface="Courier New" pitchFamily="34" charset="-122"/>
                <a:cs typeface="Courier New" pitchFamily="34" charset="-120"/>
              </a:rPr>
              <a:t>Three teams · one multinational · ~21 months</a:t>
            </a:r>
            <a:endParaRPr lang="en-US" sz="1100" dirty="0"/>
          </a:p>
        </p:txBody>
      </p:sp>
      <p:sp>
        <p:nvSpPr>
          <p:cNvPr id="25" name="Text 23"/>
          <p:cNvSpPr/>
          <p:nvPr/>
        </p:nvSpPr>
        <p:spPr>
          <a:xfrm>
            <a:off x="8138160" y="3291840"/>
            <a:ext cx="3108960" cy="914400"/>
          </a:xfrm>
          <a:prstGeom prst="rect">
            <a:avLst/>
          </a:prstGeom>
          <a:noFill/>
          <a:ln/>
        </p:spPr>
        <p:txBody>
          <a:bodyPr wrap="square" lIns="0" tIns="0" rIns="0" bIns="0" rtlCol="0" anchor="ctr"/>
          <a:lstStyle/>
          <a:p>
            <a:pPr indent="0" marL="0">
              <a:buNone/>
            </a:pPr>
            <a:r>
              <a:rPr lang="en-US" sz="1500" dirty="0">
                <a:solidFill>
                  <a:srgbClr val="14171C"/>
                </a:solidFill>
                <a:latin typeface="Cambria" pitchFamily="34" charset="0"/>
                <a:ea typeface="Cambria" pitchFamily="34" charset="-122"/>
                <a:cs typeface="Cambria" pitchFamily="34" charset="-120"/>
              </a:rPr>
              <a:t>Unit of analysis is the interaction incident — not the team, not the meeting.</a:t>
            </a:r>
            <a:endParaRPr lang="en-US" sz="1500" dirty="0"/>
          </a:p>
        </p:txBody>
      </p:sp>
      <p:sp>
        <p:nvSpPr>
          <p:cNvPr id="26" name="Text 24"/>
          <p:cNvSpPr/>
          <p:nvPr/>
        </p:nvSpPr>
        <p:spPr>
          <a:xfrm>
            <a:off x="8138160" y="4343400"/>
            <a:ext cx="3108960" cy="914400"/>
          </a:xfrm>
          <a:prstGeom prst="rect">
            <a:avLst/>
          </a:prstGeom>
          <a:noFill/>
          <a:ln/>
        </p:spPr>
        <p:txBody>
          <a:bodyPr wrap="square" lIns="0" tIns="0" rIns="0" bIns="0" rtlCol="0" anchor="ctr"/>
          <a:lstStyle/>
          <a:p>
            <a:pPr indent="0" marL="0">
              <a:buNone/>
            </a:pPr>
            <a:r>
              <a:rPr lang="en-US" sz="1500" i="1" dirty="0">
                <a:solidFill>
                  <a:srgbClr val="767D86"/>
                </a:solidFill>
                <a:latin typeface="Cambria" pitchFamily="34" charset="0"/>
                <a:ea typeface="Cambria" pitchFamily="34" charset="-122"/>
                <a:cs typeface="Cambria" pitchFamily="34" charset="-120"/>
              </a:rPr>
              <a:t>Researchers observe across sites rather than from inside one.</a:t>
            </a:r>
            <a:endParaRPr lang="en-US" sz="1500" dirty="0"/>
          </a:p>
        </p:txBody>
      </p:sp>
      <p:sp>
        <p:nvSpPr>
          <p:cNvPr id="27" name="Text 25"/>
          <p:cNvSpPr/>
          <p:nvPr/>
        </p:nvSpPr>
        <p:spPr>
          <a:xfrm>
            <a:off x="685800" y="6291072"/>
            <a:ext cx="10789920" cy="256032"/>
          </a:xfrm>
          <a:prstGeom prst="rect">
            <a:avLst/>
          </a:prstGeom>
          <a:noFill/>
          <a:ln/>
        </p:spPr>
        <p:txBody>
          <a:bodyPr wrap="square" lIns="0" tIns="0" rIns="0" bIns="0" rtlCol="0" anchor="ctr"/>
          <a:lstStyle/>
          <a:p>
            <a:pPr indent="0" marL="0">
              <a:buNone/>
            </a:pPr>
            <a:r>
              <a:rPr lang="en-US" sz="900" spc="60" kern="0" dirty="0">
                <a:solidFill>
                  <a:srgbClr val="767D86"/>
                </a:solidFill>
                <a:latin typeface="Courier New" pitchFamily="34" charset="0"/>
                <a:ea typeface="Courier New" pitchFamily="34" charset="-122"/>
                <a:cs typeface="Courier New" pitchFamily="34" charset="-120"/>
              </a:rPr>
              <a:t>Maznevski, M. L., &amp; Chudoba, K. M. (2000). Organization Science, 11(5), 473–492.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2237"/>
        </a:solidFill>
      </p:bgPr>
    </p:bg>
    <p:spTree>
      <p:nvGrpSpPr>
        <p:cNvPr id="1" name=""/>
        <p:cNvGrpSpPr/>
        <p:nvPr/>
      </p:nvGrpSpPr>
      <p:grpSpPr>
        <a:xfrm>
          <a:off x="0" y="0"/>
          <a:ext cx="0" cy="0"/>
          <a:chOff x="0" y="0"/>
          <a:chExt cx="0" cy="0"/>
        </a:xfrm>
      </p:grpSpPr>
      <p:sp>
        <p:nvSpPr>
          <p:cNvPr id="2" name="Text 0"/>
          <p:cNvSpPr/>
          <p:nvPr/>
        </p:nvSpPr>
        <p:spPr>
          <a:xfrm>
            <a:off x="685800" y="274320"/>
            <a:ext cx="2743200" cy="274320"/>
          </a:xfrm>
          <a:prstGeom prst="rect">
            <a:avLst/>
          </a:prstGeom>
          <a:noFill/>
          <a:ln/>
        </p:spPr>
        <p:txBody>
          <a:bodyPr wrap="square" lIns="0" tIns="0" rIns="0" bIns="0" rtlCol="0" anchor="ctr"/>
          <a:lstStyle/>
          <a:p>
            <a:pPr indent="0" marL="0">
              <a:buNone/>
            </a:pPr>
            <a:r>
              <a:rPr lang="en-US" sz="1300" b="1" dirty="0">
                <a:solidFill>
                  <a:srgbClr val="D2A73F"/>
                </a:solidFill>
                <a:latin typeface="Georgia" pitchFamily="34" charset="0"/>
                <a:ea typeface="Georgia" pitchFamily="34" charset="-122"/>
                <a:cs typeface="Georgia" pitchFamily="34" charset="-120"/>
              </a:rPr>
              <a:t>Audit </a:t>
            </a:r>
            <a:pPr indent="0" marL="0">
              <a:buNone/>
            </a:pPr>
            <a:r>
              <a:rPr lang="en-US" sz="1100" i="1" dirty="0">
                <a:solidFill>
                  <a:srgbClr val="8C949E"/>
                </a:solidFill>
                <a:latin typeface="Georgia" pitchFamily="34" charset="0"/>
                <a:ea typeface="Georgia" pitchFamily="34" charset="-122"/>
                <a:cs typeface="Georgia" pitchFamily="34" charset="-120"/>
              </a:rPr>
              <a:t>the </a:t>
            </a:r>
            <a:pPr indent="0" marL="0">
              <a:buNone/>
            </a:pPr>
            <a:r>
              <a:rPr lang="en-US" sz="1300" b="1" dirty="0">
                <a:solidFill>
                  <a:srgbClr val="D2A73F"/>
                </a:solidFill>
                <a:latin typeface="Georgia" pitchFamily="34" charset="0"/>
                <a:ea typeface="Georgia" pitchFamily="34" charset="-122"/>
                <a:cs typeface="Georgia" pitchFamily="34" charset="-120"/>
              </a:rPr>
              <a:t>Algorithm</a:t>
            </a:r>
            <a:endParaRPr lang="en-US" sz="1300" dirty="0"/>
          </a:p>
        </p:txBody>
      </p:sp>
      <p:sp>
        <p:nvSpPr>
          <p:cNvPr id="3" name="Text 1"/>
          <p:cNvSpPr/>
          <p:nvPr/>
        </p:nvSpPr>
        <p:spPr>
          <a:xfrm>
            <a:off x="685800" y="1371600"/>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I take from it</a:t>
            </a:r>
            <a:endParaRPr lang="en-US" sz="3200" dirty="0"/>
          </a:p>
        </p:txBody>
      </p:sp>
      <p:sp>
        <p:nvSpPr>
          <p:cNvPr id="4" name="Text 2"/>
          <p:cNvSpPr/>
          <p:nvPr/>
        </p:nvSpPr>
        <p:spPr>
          <a:xfrm>
            <a:off x="685800" y="2286000"/>
            <a:ext cx="10515600" cy="2011680"/>
          </a:xfrm>
          <a:prstGeom prst="rect">
            <a:avLst/>
          </a:prstGeom>
          <a:noFill/>
          <a:ln/>
        </p:spPr>
        <p:txBody>
          <a:bodyPr wrap="square" lIns="0" tIns="0" rIns="0" bIns="0" rtlCol="0" anchor="ctr"/>
          <a:lstStyle/>
          <a:p>
            <a:pPr indent="0" marL="0">
              <a:lnSpc>
                <a:spcPts val="3400"/>
              </a:lnSpc>
              <a:buNone/>
            </a:pPr>
            <a:r>
              <a:rPr lang="en-US" sz="2200" i="1" dirty="0">
                <a:solidFill>
                  <a:srgbClr val="DCE3EA"/>
                </a:solidFill>
                <a:latin typeface="Georgia" pitchFamily="34" charset="0"/>
                <a:ea typeface="Georgia" pitchFamily="34" charset="-122"/>
                <a:cs typeface="Georgia" pitchFamily="34" charset="-120"/>
              </a:rPr>
              <a:t>“Their n is one organization. The credibility doesn't come from representativeness — they never claim it. It comes from showing you the route from what was observed to what is claimed, and from splitting the research team so one person keeps distance from the thing being studied.”</a:t>
            </a:r>
            <a:endParaRPr lang="en-US" sz="2200" dirty="0"/>
          </a:p>
        </p:txBody>
      </p:sp>
      <p:sp>
        <p:nvSpPr>
          <p:cNvPr id="5" name="Shape 3"/>
          <p:cNvSpPr/>
          <p:nvPr/>
        </p:nvSpPr>
        <p:spPr>
          <a:xfrm>
            <a:off x="685800" y="4572000"/>
            <a:ext cx="146304" cy="146304"/>
          </a:xfrm>
          <a:prstGeom prst="rect">
            <a:avLst/>
          </a:prstGeom>
          <a:solidFill>
            <a:srgbClr val="0E2237"/>
          </a:solidFill>
          <a:ln w="16510">
            <a:solidFill>
              <a:srgbClr val="D2A73F"/>
            </a:solidFill>
            <a:prstDash val="solid"/>
          </a:ln>
        </p:spPr>
      </p:sp>
      <p:sp>
        <p:nvSpPr>
          <p:cNvPr id="6" name="Shape 4"/>
          <p:cNvSpPr/>
          <p:nvPr/>
        </p:nvSpPr>
        <p:spPr>
          <a:xfrm>
            <a:off x="923544" y="4572000"/>
            <a:ext cx="146304" cy="146304"/>
          </a:xfrm>
          <a:prstGeom prst="rect">
            <a:avLst/>
          </a:prstGeom>
          <a:solidFill>
            <a:srgbClr val="D2A73F"/>
          </a:solidFill>
          <a:ln w="16510">
            <a:solidFill>
              <a:srgbClr val="D2A73F"/>
            </a:solidFill>
            <a:prstDash val="solid"/>
          </a:ln>
        </p:spPr>
      </p:sp>
      <p:sp>
        <p:nvSpPr>
          <p:cNvPr id="7" name="Shape 5"/>
          <p:cNvSpPr/>
          <p:nvPr/>
        </p:nvSpPr>
        <p:spPr>
          <a:xfrm>
            <a:off x="1161288" y="4572000"/>
            <a:ext cx="146304" cy="146304"/>
          </a:xfrm>
          <a:prstGeom prst="rect">
            <a:avLst/>
          </a:prstGeom>
          <a:solidFill>
            <a:srgbClr val="0E2237"/>
          </a:solidFill>
          <a:ln w="16510">
            <a:solidFill>
              <a:srgbClr val="D2A73F"/>
            </a:solidFill>
            <a:prstDash val="solid"/>
          </a:ln>
        </p:spPr>
      </p:sp>
      <p:sp>
        <p:nvSpPr>
          <p:cNvPr id="8" name="Shape 6"/>
          <p:cNvSpPr/>
          <p:nvPr/>
        </p:nvSpPr>
        <p:spPr>
          <a:xfrm>
            <a:off x="1399032" y="4572000"/>
            <a:ext cx="146304" cy="146304"/>
          </a:xfrm>
          <a:prstGeom prst="rect">
            <a:avLst/>
          </a:prstGeom>
          <a:solidFill>
            <a:srgbClr val="D2A73F"/>
          </a:solidFill>
          <a:ln w="16510">
            <a:solidFill>
              <a:srgbClr val="D2A73F"/>
            </a:solidFill>
            <a:prstDash val="solid"/>
          </a:ln>
        </p:spPr>
      </p:sp>
      <p:sp>
        <p:nvSpPr>
          <p:cNvPr id="9" name="Text 7"/>
          <p:cNvSpPr/>
          <p:nvPr/>
        </p:nvSpPr>
        <p:spPr>
          <a:xfrm>
            <a:off x="685800" y="5989320"/>
            <a:ext cx="8229600" cy="274320"/>
          </a:xfrm>
          <a:prstGeom prst="rect">
            <a:avLst/>
          </a:prstGeom>
          <a:noFill/>
          <a:ln/>
        </p:spPr>
        <p:txBody>
          <a:bodyPr wrap="square" lIns="0" tIns="0" rIns="0" bIns="0" rtlCol="0" anchor="ctr"/>
          <a:lstStyle/>
          <a:p>
            <a:pPr indent="0" marL="0">
              <a:buNone/>
            </a:pPr>
            <a:r>
              <a:rPr lang="en-US" sz="1000" spc="50" kern="0" dirty="0">
                <a:solidFill>
                  <a:srgbClr val="D2A73F"/>
                </a:solidFill>
                <a:latin typeface="Courier New" pitchFamily="34" charset="0"/>
                <a:ea typeface="Courier New" pitchFamily="34" charset="-122"/>
                <a:cs typeface="Courier New" pitchFamily="34" charset="-120"/>
              </a:rPr>
              <a:t>Yasir A. Malik   ·   github.com/AuditingAI/Profile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Sensemaking and Sensegiving</dc:title>
  <dc:subject>PptxGenJS Presentation</dc:subject>
  <dc:creator>Yasir A. Malik</dc:creator>
  <cp:lastModifiedBy>Yasir A. Malik</cp:lastModifiedBy>
  <cp:revision>1</cp:revision>
  <dcterms:created xsi:type="dcterms:W3CDTF">2026-08-21T17:47:19Z</dcterms:created>
  <dcterms:modified xsi:type="dcterms:W3CDTF">2026-08-21T17:47:19Z</dcterms:modified>
</cp:coreProperties>
</file>