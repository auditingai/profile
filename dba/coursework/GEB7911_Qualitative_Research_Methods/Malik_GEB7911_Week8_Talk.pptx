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start with 'so, um'. Pause, look at the camera, and go straight into the next slide's line. If the instructor asks you to introduce yourself first: 'Good evening. I'm Yasir Malik, and my proposal is called Receiving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auditor on a recurring engagement starts with a reference point: last year's conclusion. What's new is a second voice in the room. An AI tool now reaches a conclusion too. My study is about one specific moment: when that tool agrees with a judgment you had already formed. What do you notice, what do you do, and what do you tell yourself?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Firms and regulators are writing AI policies on one assumption: that a human reviewer sits above the tool and that review works. Research has focused mostly on how much auditors rely on AI output, through experiments and archival data. Much less is known about what it's actually like to receive a machine's confirmation of a judgment you already hold. That's the gap I'm addressing. And a survey can't reach it, because it asks people to notice the very thing the bias stops them noticing.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slowly, word for word.  Then: 'Notice one word: receiving, not relying. An earlier draft said relying, and that assumed the finding before I had any data. Receiving leaves room for whatever auditors actually describe: deference, skepticism, more checking, or something I haven't anticipated. And make sense of stays in because, in phenomenology, the meaning you make of an experience is part of the experience.'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framework is social constructivist: there's no single correct account waiting to be found. There are as many accounts as there are auditors who lived it.  And I'm not neutral. I built my career in audit and risk at Citi and JPMorgan, and I was a bank examiner. That gives me access and the vocabulary. It also means I already believe this phenomenon is real, so I might hear confirmation where there isn't any.  So I keep a confirmation hazard log. Every time I feel confirmed by what a participant says, I log it, and I record what I did about it. Feeling confirmed by a participant is the very thing I'm studying, happening inside my own study.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phenomenology because my question is about lived experience and what it means to the person. Not grounded theory: I'm not studying a process or building a theory yet. Not a case study: this moment happens across many firms, so there's no single bounded site. The site is the shared professional context.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criterion sampling, with four criteria. The fourth one carries the study: you must be able to recall one specific occasion when an AI tool reached the conclusion you'd already reached. Recall, not interpretation. You don't need to have thought of it as bias or reassurance; that meaning comes out in the interview.  I'll test the screening question first, add referrals screened the same way, and cap it at two people per firm.  Ten to fifteen participants, one interview each, about an hour. I stop based on how deep and rich the accounts are, not on a saturation rule.  Why interviews? When I fielded my survey, a panel of almost 335,000 people gave me about twenty eligible auditors. Too few for a survey; enough for this.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Creswell's data analysis spiral, using the phenomenological steps. Every statement about the experience is listed with equal weight. Those become meaning units, and then themes, named in words a participant would recognize. Then I write what they experienced, then how and in what context, and finally the essence.  Before I write the essence, I re-read every transcript looking only for what contradicts it, for example someone who checked harder when the tool agreed.  I code by hand. NVivo stores my codes, but AI doesn't assign them. If a model proposed my themes and I agreed with them, I'd be recreating the phenomenon inside my own analysis.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check my work through three lenses. Participants: each one reads their own description, not the raw transcript, and can add context. That speaks to their own account only, not my overall interpretation. An outside reviewer: I choose a few transcripts on purpose, including one that challenges what I'm seeing, and the reviewer reads them with my memos. And me: the hazard log, cross-referenced to the audit trail, shows where it changed what I did.  Ethics: informed consent, separate consent for recording, pseudonyms, encrypted storage. My current IRB approval covers the survey, so interviews need a modification, and no one is approached before that's approved.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research: automation bias is a human tendency; sycophancy is a property of the model. When the tool agrees with you, both push in the same direction, and measuring reliance can't separate them. Asking auditors what that moment is like can.  For practice: firms and regulators assume human review works. This study looks at that assumption from the inside, from the people doing the reviewing.  The limits: a small sample, recruited through networks, and experiences recalled after the fact. I don't claim to generalize; I offer a description rich enough for a reader to judge whether it fits their setting.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line, pause, then the second. Then 'Thank you' and stop talking. Silence is fine.  If asked about AI: 'As disclosed, I used AI to help lay out the slides; the research decisions are mine.'  If a question stumps you: 'That's a good challenge. I haven't resolved it yet. Here's how I'd approach it...' then name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Yasir A. Malik  ·  GEB 7911  ·  Week 8</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3152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GEB 7911  ·  FINAL PROPOSAL  ·  6 OCTOBER 2026</a:t>
            </a:r>
            <a:endParaRPr lang="en-US" sz="1200" dirty="0"/>
          </a:p>
        </p:txBody>
      </p:sp>
      <p:sp>
        <p:nvSpPr>
          <p:cNvPr id="3" name="Text 1"/>
          <p:cNvSpPr txBox="1"/>
          <p:nvPr/>
        </p:nvSpPr>
        <p:spPr>
          <a:xfrm>
            <a:off x="548640" y="1280160"/>
            <a:ext cx="804672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Receiving Confirmation</a:t>
            </a:r>
            <a:endParaRPr lang="en-US" sz="4000" dirty="0"/>
          </a:p>
        </p:txBody>
      </p:sp>
      <p:sp>
        <p:nvSpPr>
          <p:cNvPr id="4" name="Text 2"/>
          <p:cNvSpPr txBox="1"/>
          <p:nvPr/>
        </p:nvSpPr>
        <p:spPr>
          <a:xfrm>
            <a:off x="548640" y="2240280"/>
            <a:ext cx="7498080" cy="822960"/>
          </a:xfrm>
          <a:prstGeom prst="rect">
            <a:avLst/>
          </a:prstGeom>
          <a:noFill/>
          <a:ln/>
        </p:spPr>
        <p:txBody>
          <a:bodyPr wrap="square" lIns="0" tIns="0" rIns="0" bIns="0" rtlCol="0" anchor="ctr"/>
          <a:lstStyle/>
          <a:p>
            <a:pPr indent="0" marL="0">
              <a:buNone/>
            </a:pPr>
            <a:r>
              <a:rPr lang="en-US" sz="1800" i="1" dirty="0">
                <a:solidFill>
                  <a:schemeClr val="accent4"/>
                </a:solidFill>
              </a:rPr>
              <a:t>How experienced auditors experience an AI-generated conclusion that agrees with a judgment they had already formed</a:t>
            </a:r>
            <a:endParaRPr lang="en-US" sz="1800" dirty="0"/>
          </a:p>
        </p:txBody>
      </p:sp>
      <p:sp>
        <p:nvSpPr>
          <p:cNvPr id="5" name="Shape 3"/>
          <p:cNvSpPr/>
          <p:nvPr/>
        </p:nvSpPr>
        <p:spPr>
          <a:xfrm>
            <a:off x="548640" y="3429000"/>
            <a:ext cx="1097280" cy="0"/>
          </a:xfrm>
          <a:prstGeom prst="line">
            <a:avLst/>
          </a:prstGeom>
          <a:noFill/>
          <a:ln w="25400">
            <a:solidFill>
              <a:schemeClr val="accent1"/>
            </a:solidFill>
            <a:prstDash val="solid"/>
          </a:ln>
        </p:spPr>
      </p:sp>
      <p:sp>
        <p:nvSpPr>
          <p:cNvPr id="6" name="Text 4"/>
          <p:cNvSpPr txBox="1"/>
          <p:nvPr/>
        </p:nvSpPr>
        <p:spPr>
          <a:xfrm>
            <a:off x="548640" y="3611880"/>
            <a:ext cx="8046720" cy="365760"/>
          </a:xfrm>
          <a:prstGeom prst="rect">
            <a:avLst/>
          </a:prstGeom>
          <a:noFill/>
          <a:ln/>
        </p:spPr>
        <p:txBody>
          <a:bodyPr wrap="square" lIns="0" tIns="0" rIns="0" bIns="0" rtlCol="0" anchor="ctr"/>
          <a:lstStyle/>
          <a:p>
            <a:pPr indent="0" marL="0">
              <a:buNone/>
            </a:pPr>
            <a:r>
              <a:rPr lang="en-US" sz="1400" dirty="0">
                <a:solidFill>
                  <a:schemeClr val="bg1"/>
                </a:solidFill>
              </a:rPr>
              <a:t>Yasir A. Malik  ·  DBA Cohort 8.14  ·  Florida International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THE MOMENT</a:t>
            </a:r>
            <a:endParaRPr lang="en-US" sz="1100" dirty="0"/>
          </a:p>
        </p:txBody>
      </p:sp>
      <p:sp>
        <p:nvSpPr>
          <p:cNvPr id="3" name="Text 1"/>
          <p:cNvSpPr txBox="1"/>
          <p:nvPr/>
        </p:nvSpPr>
        <p:spPr>
          <a:xfrm>
            <a:off x="457200" y="914400"/>
            <a:ext cx="8229600" cy="731520"/>
          </a:xfrm>
          <a:prstGeom prst="rect">
            <a:avLst/>
          </a:prstGeom>
          <a:noFill/>
          <a:ln/>
        </p:spPr>
        <p:txBody>
          <a:bodyPr wrap="square" lIns="0" tIns="0" rIns="0" bIns="0" rtlCol="0" anchor="ctr"/>
          <a:lstStyle/>
          <a:p>
            <a:pPr indent="0" marL="0">
              <a:buNone/>
            </a:pPr>
            <a:r>
              <a:rPr lang="en-US" sz="3400" dirty="0">
                <a:solidFill>
                  <a:schemeClr val="accent3"/>
                </a:solidFill>
                <a:latin typeface="Cambria" pitchFamily="34" charset="0"/>
                <a:ea typeface="Cambria" pitchFamily="34" charset="-122"/>
                <a:cs typeface="Cambria" pitchFamily="34" charset="-120"/>
              </a:rPr>
              <a:t>Last year's conclusion.</a:t>
            </a:r>
            <a:endParaRPr lang="en-US" sz="3400" dirty="0"/>
          </a:p>
        </p:txBody>
      </p:sp>
      <p:sp>
        <p:nvSpPr>
          <p:cNvPr id="4" name="Text 2"/>
          <p:cNvSpPr txBox="1"/>
          <p:nvPr/>
        </p:nvSpPr>
        <p:spPr>
          <a:xfrm>
            <a:off x="457200" y="1645920"/>
            <a:ext cx="8229600" cy="82296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Now a machine that agrees with you.</a:t>
            </a:r>
            <a:endParaRPr lang="en-US" sz="3200" dirty="0"/>
          </a:p>
        </p:txBody>
      </p:sp>
      <p:sp>
        <p:nvSpPr>
          <p:cNvPr id="5" name="Step1"/>
          <p:cNvSpPr/>
          <p:nvPr/>
        </p:nvSpPr>
        <p:spPr>
          <a:xfrm>
            <a:off x="457200" y="2926080"/>
            <a:ext cx="2560320" cy="1371600"/>
          </a:xfrm>
          <a:prstGeom prst="roundRect">
            <a:avLst>
              <a:gd name="adj" fmla="val 6667"/>
            </a:avLst>
          </a:prstGeom>
          <a:solidFill>
            <a:schemeClr val="bg2"/>
          </a:solidFill>
          <a:ln/>
        </p:spPr>
      </p:sp>
      <p:sp>
        <p:nvSpPr>
          <p:cNvPr id="6" name="Text 4"/>
          <p:cNvSpPr txBox="1"/>
          <p:nvPr/>
        </p:nvSpPr>
        <p:spPr>
          <a:xfrm>
            <a:off x="640080" y="3063240"/>
            <a:ext cx="2194560" cy="1097280"/>
          </a:xfrm>
          <a:prstGeom prst="rect">
            <a:avLst/>
          </a:prstGeom>
          <a:noFill/>
          <a:ln/>
        </p:spPr>
        <p:txBody>
          <a:bodyPr wrap="square" lIns="0" tIns="0" rIns="0" bIns="0" rtlCol="0" anchor="ctr"/>
          <a:lstStyle/>
          <a:p>
            <a:pPr indent="0" marL="0">
              <a:buNone/>
            </a:pPr>
            <a:r>
              <a:rPr lang="en-US" sz="2400" b="1" dirty="0">
                <a:solidFill>
                  <a:schemeClr val="tx1"/>
                </a:solidFill>
              </a:rPr>
              <a:t>You</a:t>
            </a:r>
            <a:endParaRPr lang="en-US" sz="2400" dirty="0"/>
          </a:p>
          <a:p>
            <a:pPr indent="0" marL="0">
              <a:buNone/>
            </a:pPr>
            <a:r>
              <a:rPr lang="en-US" sz="1500" dirty="0">
                <a:solidFill>
                  <a:schemeClr val="tx1"/>
                </a:solidFill>
              </a:rPr>
              <a:t>form a judgment</a:t>
            </a:r>
            <a:endParaRPr lang="en-US" sz="2400" dirty="0"/>
          </a:p>
        </p:txBody>
      </p:sp>
      <p:sp>
        <p:nvSpPr>
          <p:cNvPr id="7" name="Step2"/>
          <p:cNvSpPr/>
          <p:nvPr/>
        </p:nvSpPr>
        <p:spPr>
          <a:xfrm>
            <a:off x="3291840" y="2926080"/>
            <a:ext cx="2560320" cy="1371600"/>
          </a:xfrm>
          <a:prstGeom prst="roundRect">
            <a:avLst>
              <a:gd name="adj" fmla="val 6667"/>
            </a:avLst>
          </a:prstGeom>
          <a:solidFill>
            <a:schemeClr val="bg2"/>
          </a:solidFill>
          <a:ln/>
        </p:spPr>
      </p:sp>
      <p:sp>
        <p:nvSpPr>
          <p:cNvPr id="8" name="Text 6"/>
          <p:cNvSpPr txBox="1"/>
          <p:nvPr/>
        </p:nvSpPr>
        <p:spPr>
          <a:xfrm>
            <a:off x="3474720" y="3063240"/>
            <a:ext cx="2194560" cy="1097280"/>
          </a:xfrm>
          <a:prstGeom prst="rect">
            <a:avLst/>
          </a:prstGeom>
          <a:noFill/>
          <a:ln/>
        </p:spPr>
        <p:txBody>
          <a:bodyPr wrap="square" lIns="0" tIns="0" rIns="0" bIns="0" rtlCol="0" anchor="ctr"/>
          <a:lstStyle/>
          <a:p>
            <a:pPr indent="0" marL="0">
              <a:buNone/>
            </a:pPr>
            <a:r>
              <a:rPr lang="en-US" sz="2400" b="1" dirty="0">
                <a:solidFill>
                  <a:schemeClr val="tx1"/>
                </a:solidFill>
              </a:rPr>
              <a:t>AI tool</a:t>
            </a:r>
            <a:endParaRPr lang="en-US" sz="2400" dirty="0"/>
          </a:p>
          <a:p>
            <a:pPr indent="0" marL="0">
              <a:buNone/>
            </a:pPr>
            <a:r>
              <a:rPr lang="en-US" sz="1500" dirty="0">
                <a:solidFill>
                  <a:schemeClr val="tx1"/>
                </a:solidFill>
              </a:rPr>
              <a:t>reaches the same one</a:t>
            </a:r>
            <a:endParaRPr lang="en-US" sz="2400" dirty="0"/>
          </a:p>
        </p:txBody>
      </p:sp>
      <p:sp>
        <p:nvSpPr>
          <p:cNvPr id="9" name="Step3"/>
          <p:cNvSpPr/>
          <p:nvPr/>
        </p:nvSpPr>
        <p:spPr>
          <a:xfrm>
            <a:off x="6126480" y="2926080"/>
            <a:ext cx="2560320" cy="1371600"/>
          </a:xfrm>
          <a:prstGeom prst="roundRect">
            <a:avLst>
              <a:gd name="adj" fmla="val 6667"/>
            </a:avLst>
          </a:prstGeom>
          <a:solidFill>
            <a:schemeClr val="tx2"/>
          </a:solidFill>
          <a:ln/>
        </p:spPr>
      </p:sp>
      <p:sp>
        <p:nvSpPr>
          <p:cNvPr id="10" name="Text 8"/>
          <p:cNvSpPr txBox="1"/>
          <p:nvPr/>
        </p:nvSpPr>
        <p:spPr>
          <a:xfrm>
            <a:off x="6309360" y="3063240"/>
            <a:ext cx="2194560" cy="1097280"/>
          </a:xfrm>
          <a:prstGeom prst="rect">
            <a:avLst/>
          </a:prstGeom>
          <a:noFill/>
          <a:ln/>
        </p:spPr>
        <p:txBody>
          <a:bodyPr wrap="square" lIns="0" tIns="0" rIns="0" bIns="0" rtlCol="0" anchor="ctr"/>
          <a:lstStyle/>
          <a:p>
            <a:pPr indent="0" marL="0">
              <a:buNone/>
            </a:pPr>
            <a:r>
              <a:rPr lang="en-US" sz="2400" b="1" dirty="0">
                <a:solidFill>
                  <a:schemeClr val="accent1"/>
                </a:solidFill>
              </a:rPr>
              <a:t>?</a:t>
            </a:r>
            <a:endParaRPr lang="en-US" sz="2400" dirty="0"/>
          </a:p>
          <a:p>
            <a:pPr indent="0" marL="0">
              <a:buNone/>
            </a:pPr>
            <a:r>
              <a:rPr lang="en-US" sz="1500" dirty="0">
                <a:solidFill>
                  <a:schemeClr val="bg1"/>
                </a:solidFill>
              </a:rPr>
              <a:t>what happens next</a:t>
            </a: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THE PROBLEM</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We measure how much, not what it's like</a:t>
            </a:r>
            <a:endParaRPr lang="en-US" sz="2600" dirty="0"/>
          </a:p>
        </p:txBody>
      </p:sp>
      <p:sp>
        <p:nvSpPr>
          <p:cNvPr id="4" name="Shape 2"/>
          <p:cNvSpPr/>
          <p:nvPr/>
        </p:nvSpPr>
        <p:spPr>
          <a:xfrm>
            <a:off x="457200" y="1325880"/>
            <a:ext cx="3931920" cy="3108960"/>
          </a:xfrm>
          <a:prstGeom prst="roundRect">
            <a:avLst>
              <a:gd name="adj" fmla="val 2941"/>
            </a:avLst>
          </a:prstGeom>
          <a:solidFill>
            <a:schemeClr val="bg2"/>
          </a:solidFill>
          <a:ln/>
        </p:spPr>
      </p:sp>
      <p:sp>
        <p:nvSpPr>
          <p:cNvPr id="5" name="Text 3"/>
          <p:cNvSpPr txBox="1"/>
          <p:nvPr/>
        </p:nvSpPr>
        <p:spPr>
          <a:xfrm>
            <a:off x="731520" y="1508760"/>
            <a:ext cx="3383280" cy="457200"/>
          </a:xfrm>
          <a:prstGeom prst="rect">
            <a:avLst/>
          </a:prstGeom>
          <a:noFill/>
          <a:ln/>
        </p:spPr>
        <p:txBody>
          <a:bodyPr wrap="square" lIns="0" tIns="0" rIns="0" bIns="0" rtlCol="0" anchor="ctr"/>
          <a:lstStyle/>
          <a:p>
            <a:pPr indent="0" marL="0">
              <a:buNone/>
            </a:pPr>
            <a:r>
              <a:rPr lang="en-US" sz="2000" b="1" dirty="0">
                <a:solidFill>
                  <a:schemeClr val="tx1"/>
                </a:solidFill>
              </a:rPr>
              <a:t>What research has focused on</a:t>
            </a:r>
            <a:endParaRPr lang="en-US" sz="2000" dirty="0"/>
          </a:p>
        </p:txBody>
      </p:sp>
      <p:sp>
        <p:nvSpPr>
          <p:cNvPr id="6" name="Text 4"/>
          <p:cNvSpPr txBox="1"/>
          <p:nvPr/>
        </p:nvSpPr>
        <p:spPr>
          <a:xfrm>
            <a:off x="731520" y="2057400"/>
            <a:ext cx="34747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How much auditors rely on AI output</a:t>
            </a:r>
            <a:endParaRPr lang="en-US" sz="1500" dirty="0"/>
          </a:p>
          <a:p>
            <a:pPr marL="342900" indent="-342900">
              <a:spcAft>
                <a:spcPts val="800"/>
              </a:spcAft>
              <a:buSzPct val="100000"/>
              <a:buChar char="•"/>
            </a:pPr>
            <a:r>
              <a:rPr lang="en-US" sz="1500" dirty="0">
                <a:solidFill>
                  <a:schemeClr val="tx1"/>
                </a:solidFill>
              </a:rPr>
              <a:t>Experiments and archival data</a:t>
            </a:r>
            <a:endParaRPr lang="en-US" sz="1500" dirty="0"/>
          </a:p>
          <a:p>
            <a:pPr marL="342900" indent="-342900">
              <a:spcAft>
                <a:spcPts val="800"/>
              </a:spcAft>
              <a:buSzPct val="100000"/>
              <a:buChar char="•"/>
            </a:pPr>
            <a:r>
              <a:rPr lang="en-US" sz="1500" dirty="0">
                <a:solidFill>
                  <a:schemeClr val="tx1"/>
                </a:solidFill>
              </a:rPr>
              <a:t>Policies assume human review is a working control</a:t>
            </a:r>
            <a:endParaRPr lang="en-US" sz="1500" dirty="0"/>
          </a:p>
        </p:txBody>
      </p:sp>
      <p:sp>
        <p:nvSpPr>
          <p:cNvPr id="7" name="Shape 5"/>
          <p:cNvSpPr/>
          <p:nvPr/>
        </p:nvSpPr>
        <p:spPr>
          <a:xfrm>
            <a:off x="4754880" y="1325880"/>
            <a:ext cx="3931920" cy="3108960"/>
          </a:xfrm>
          <a:prstGeom prst="roundRect">
            <a:avLst>
              <a:gd name="adj" fmla="val 2941"/>
            </a:avLst>
          </a:prstGeom>
          <a:solidFill>
            <a:schemeClr val="tx2"/>
          </a:solidFill>
          <a:ln/>
        </p:spPr>
      </p:sp>
      <p:sp>
        <p:nvSpPr>
          <p:cNvPr id="8" name="Text 6"/>
          <p:cNvSpPr txBox="1"/>
          <p:nvPr/>
        </p:nvSpPr>
        <p:spPr>
          <a:xfrm>
            <a:off x="5029200" y="1508760"/>
            <a:ext cx="3383280" cy="457200"/>
          </a:xfrm>
          <a:prstGeom prst="rect">
            <a:avLst/>
          </a:prstGeom>
          <a:noFill/>
          <a:ln/>
        </p:spPr>
        <p:txBody>
          <a:bodyPr wrap="square" lIns="0" tIns="0" rIns="0" bIns="0" rtlCol="0" anchor="ctr"/>
          <a:lstStyle/>
          <a:p>
            <a:pPr indent="0" marL="0">
              <a:buNone/>
            </a:pPr>
            <a:r>
              <a:rPr lang="en-US" sz="2000" b="1" dirty="0">
                <a:solidFill>
                  <a:schemeClr val="accent1"/>
                </a:solidFill>
              </a:rPr>
              <a:t>What is less understood</a:t>
            </a:r>
            <a:endParaRPr lang="en-US" sz="2000" dirty="0"/>
          </a:p>
        </p:txBody>
      </p:sp>
      <p:sp>
        <p:nvSpPr>
          <p:cNvPr id="9" name="Text 7"/>
          <p:cNvSpPr txBox="1"/>
          <p:nvPr/>
        </p:nvSpPr>
        <p:spPr>
          <a:xfrm>
            <a:off x="5029200" y="2057400"/>
            <a:ext cx="34747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What it is like to receive a machine's confirmation</a:t>
            </a:r>
            <a:endParaRPr lang="en-US" sz="1500" dirty="0"/>
          </a:p>
          <a:p>
            <a:pPr marL="342900" indent="-342900">
              <a:spcAft>
                <a:spcPts val="800"/>
              </a:spcAft>
              <a:buSzPct val="100000"/>
              <a:buChar char="•"/>
            </a:pPr>
            <a:r>
              <a:rPr lang="en-US" sz="1500" dirty="0">
                <a:solidFill>
                  <a:schemeClr val="bg1"/>
                </a:solidFill>
              </a:rPr>
              <a:t>How auditors make sense of it in the moment</a:t>
            </a:r>
            <a:endParaRPr lang="en-US" sz="1500" dirty="0"/>
          </a:p>
          <a:p>
            <a:pPr marL="342900" indent="-342900">
              <a:spcAft>
                <a:spcPts val="800"/>
              </a:spcAft>
              <a:buSzPct val="100000"/>
              <a:buChar char="•"/>
            </a:pPr>
            <a:r>
              <a:rPr lang="en-US" sz="1500" dirty="0">
                <a:solidFill>
                  <a:schemeClr val="bg1"/>
                </a:solidFill>
              </a:rPr>
              <a:t>Whether review still works when the tool agrees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548640"/>
            <a:ext cx="8046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RESEARCH QUESTION</a:t>
            </a:r>
            <a:endParaRPr lang="en-US" sz="1200" dirty="0"/>
          </a:p>
        </p:txBody>
      </p:sp>
      <p:sp>
        <p:nvSpPr>
          <p:cNvPr id="3" name="Text 1"/>
          <p:cNvSpPr txBox="1"/>
          <p:nvPr/>
        </p:nvSpPr>
        <p:spPr>
          <a:xfrm>
            <a:off x="548640" y="1005840"/>
            <a:ext cx="8046720" cy="2011680"/>
          </a:xfrm>
          <a:prstGeom prst="rect">
            <a:avLst/>
          </a:prstGeom>
          <a:noFill/>
          <a:ln/>
        </p:spPr>
        <p:txBody>
          <a:bodyPr wrap="square" lIns="0" tIns="0" rIns="0" bIns="0" rtlCol="0" anchor="t"/>
          <a:lstStyle/>
          <a:p>
            <a:pPr indent="0" marL="0">
              <a:buNone/>
            </a:pPr>
            <a:r>
              <a:rPr lang="en-US" sz="2800" i="1" dirty="0">
                <a:solidFill>
                  <a:schemeClr val="bg1"/>
                </a:solidFill>
                <a:latin typeface="Cambria" pitchFamily="34" charset="0"/>
                <a:ea typeface="Cambria" pitchFamily="34" charset="-122"/>
                <a:cs typeface="Cambria" pitchFamily="34" charset="-120"/>
              </a:rPr>
              <a:t>How do experienced auditors experience and make sense of receiving an AI-generated conclusion that confirms a judgment they had already formed?</a:t>
            </a:r>
            <a:endParaRPr lang="en-US" sz="2800" dirty="0"/>
          </a:p>
        </p:txBody>
      </p:sp>
      <p:sp>
        <p:nvSpPr>
          <p:cNvPr id="4" name="Shape 2"/>
          <p:cNvSpPr/>
          <p:nvPr/>
        </p:nvSpPr>
        <p:spPr>
          <a:xfrm>
            <a:off x="548640" y="3429000"/>
            <a:ext cx="4754880" cy="914400"/>
          </a:xfrm>
          <a:prstGeom prst="roundRect">
            <a:avLst>
              <a:gd name="adj" fmla="val 10000"/>
            </a:avLst>
          </a:prstGeom>
          <a:solidFill>
            <a:schemeClr val="accent2"/>
          </a:solidFill>
          <a:ln/>
        </p:spPr>
      </p:sp>
      <p:sp>
        <p:nvSpPr>
          <p:cNvPr id="5" name="Text 3"/>
          <p:cNvSpPr txBox="1"/>
          <p:nvPr/>
        </p:nvSpPr>
        <p:spPr>
          <a:xfrm>
            <a:off x="777240" y="3520440"/>
            <a:ext cx="4389120" cy="731520"/>
          </a:xfrm>
          <a:prstGeom prst="rect">
            <a:avLst/>
          </a:prstGeom>
          <a:noFill/>
          <a:ln/>
        </p:spPr>
        <p:txBody>
          <a:bodyPr wrap="square" lIns="0" tIns="0" rIns="0" bIns="0" rtlCol="0" anchor="ctr"/>
          <a:lstStyle/>
          <a:p>
            <a:pPr indent="0" marL="0">
              <a:buNone/>
            </a:pPr>
            <a:r>
              <a:rPr lang="en-US" sz="1700" b="1" dirty="0">
                <a:solidFill>
                  <a:schemeClr val="accent4"/>
                </a:solidFill>
              </a:rPr>
              <a:t>Receiving</a:t>
            </a:r>
            <a:pPr indent="0" marL="0">
              <a:buNone/>
            </a:pPr>
            <a:r>
              <a:rPr lang="en-US" sz="1700" dirty="0">
                <a:solidFill>
                  <a:schemeClr val="bg1"/>
                </a:solidFill>
              </a:rPr>
              <a:t>, not relying. Relying assumes the answer.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FRAMEWORK AND POSITION</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I'm an insider, so I make my bias visible</a:t>
            </a:r>
            <a:endParaRPr lang="en-US" sz="2600" dirty="0"/>
          </a:p>
        </p:txBody>
      </p:sp>
      <p:sp>
        <p:nvSpPr>
          <p:cNvPr id="4" name="Shape 2"/>
          <p:cNvSpPr/>
          <p:nvPr/>
        </p:nvSpPr>
        <p:spPr>
          <a:xfrm>
            <a:off x="457200" y="1371600"/>
            <a:ext cx="548640" cy="548640"/>
          </a:xfrm>
          <a:prstGeom prst="ellipse">
            <a:avLst/>
          </a:prstGeom>
          <a:solidFill>
            <a:schemeClr val="tx2"/>
          </a:solidFill>
          <a:ln/>
        </p:spPr>
      </p:sp>
      <p:sp>
        <p:nvSpPr>
          <p:cNvPr id="5" name="Text 3"/>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234440" y="1280160"/>
            <a:ext cx="7406640" cy="914400"/>
          </a:xfrm>
          <a:prstGeom prst="rect">
            <a:avLst/>
          </a:prstGeom>
          <a:noFill/>
          <a:ln/>
        </p:spPr>
        <p:txBody>
          <a:bodyPr wrap="square" lIns="0" tIns="0" rIns="0" bIns="0" rtlCol="0" anchor="ctr"/>
          <a:lstStyle/>
          <a:p>
            <a:pPr indent="0" marL="0">
              <a:buNone/>
            </a:pPr>
            <a:r>
              <a:rPr lang="en-US" sz="1800" b="1" dirty="0">
                <a:solidFill>
                  <a:schemeClr val="tx1"/>
                </a:solidFill>
              </a:rPr>
              <a:t>Social constructivist</a:t>
            </a:r>
            <a:endParaRPr lang="en-US" sz="1800" dirty="0"/>
          </a:p>
          <a:p>
            <a:pPr indent="0" marL="0">
              <a:buNone/>
            </a:pPr>
            <a:r>
              <a:rPr lang="en-US" sz="1500" dirty="0">
                <a:solidFill>
                  <a:schemeClr val="tx1"/>
                </a:solidFill>
              </a:rPr>
              <a:t>There are as many accounts of this moment as auditors who lived it. The variation is part of the finding.</a:t>
            </a:r>
            <a:endParaRPr lang="en-US" sz="1800" dirty="0"/>
          </a:p>
        </p:txBody>
      </p:sp>
      <p:sp>
        <p:nvSpPr>
          <p:cNvPr id="7" name="Shape 5"/>
          <p:cNvSpPr/>
          <p:nvPr/>
        </p:nvSpPr>
        <p:spPr>
          <a:xfrm>
            <a:off x="457200" y="2468880"/>
            <a:ext cx="548640" cy="548640"/>
          </a:xfrm>
          <a:prstGeom prst="ellipse">
            <a:avLst/>
          </a:prstGeom>
          <a:solidFill>
            <a:schemeClr val="tx2"/>
          </a:solidFill>
          <a:ln/>
        </p:spPr>
      </p:sp>
      <p:sp>
        <p:nvSpPr>
          <p:cNvPr id="8" name="Text 6"/>
          <p:cNvSpPr txBox="1"/>
          <p:nvPr/>
        </p:nvSpPr>
        <p:spPr>
          <a:xfrm>
            <a:off x="457200" y="2468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234440" y="2377440"/>
            <a:ext cx="7406640" cy="914400"/>
          </a:xfrm>
          <a:prstGeom prst="rect">
            <a:avLst/>
          </a:prstGeom>
          <a:noFill/>
          <a:ln/>
        </p:spPr>
        <p:txBody>
          <a:bodyPr wrap="square" lIns="0" tIns="0" rIns="0" bIns="0" rtlCol="0" anchor="ctr"/>
          <a:lstStyle/>
          <a:p>
            <a:pPr indent="0" marL="0">
              <a:buNone/>
            </a:pPr>
            <a:r>
              <a:rPr lang="en-US" sz="1800" b="1" dirty="0">
                <a:solidFill>
                  <a:schemeClr val="tx1"/>
                </a:solidFill>
              </a:rPr>
              <a:t>Insider</a:t>
            </a:r>
            <a:endParaRPr lang="en-US" sz="1800" dirty="0"/>
          </a:p>
          <a:p>
            <a:pPr indent="0" marL="0">
              <a:buNone/>
            </a:pPr>
            <a:r>
              <a:rPr lang="en-US" sz="1500" dirty="0">
                <a:solidFill>
                  <a:schemeClr val="tx1"/>
                </a:solidFill>
              </a:rPr>
              <a:t>My career in audit and risk at Citi and JPMorgan gives me access and vocabulary, and a belief the phenomenon is real.</a:t>
            </a:r>
            <a:endParaRPr lang="en-US" sz="1800" dirty="0"/>
          </a:p>
        </p:txBody>
      </p:sp>
      <p:sp>
        <p:nvSpPr>
          <p:cNvPr id="10" name="Shape 8"/>
          <p:cNvSpPr/>
          <p:nvPr/>
        </p:nvSpPr>
        <p:spPr>
          <a:xfrm>
            <a:off x="457200" y="3566160"/>
            <a:ext cx="548640" cy="548640"/>
          </a:xfrm>
          <a:prstGeom prst="ellipse">
            <a:avLst/>
          </a:prstGeom>
          <a:solidFill>
            <a:schemeClr val="accent1"/>
          </a:solidFill>
          <a:ln/>
        </p:spPr>
      </p:sp>
      <p:sp>
        <p:nvSpPr>
          <p:cNvPr id="11" name="Text 9"/>
          <p:cNvSpPr txBox="1"/>
          <p:nvPr/>
        </p:nvSpPr>
        <p:spPr>
          <a:xfrm>
            <a:off x="457200" y="3566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10"/>
          <p:cNvSpPr txBox="1"/>
          <p:nvPr/>
        </p:nvSpPr>
        <p:spPr>
          <a:xfrm>
            <a:off x="1234440" y="3474720"/>
            <a:ext cx="7406640" cy="914400"/>
          </a:xfrm>
          <a:prstGeom prst="rect">
            <a:avLst/>
          </a:prstGeom>
          <a:noFill/>
          <a:ln/>
        </p:spPr>
        <p:txBody>
          <a:bodyPr wrap="square" lIns="0" tIns="0" rIns="0" bIns="0" rtlCol="0" anchor="ctr"/>
          <a:lstStyle/>
          <a:p>
            <a:pPr indent="0" marL="0">
              <a:buNone/>
            </a:pPr>
            <a:r>
              <a:rPr lang="en-US" sz="1800" b="1" dirty="0">
                <a:solidFill>
                  <a:schemeClr val="tx1"/>
                </a:solidFill>
              </a:rPr>
              <a:t>Confirmation hazard log</a:t>
            </a:r>
            <a:endParaRPr lang="en-US" sz="1800" dirty="0"/>
          </a:p>
          <a:p>
            <a:pPr indent="0" marL="0">
              <a:buNone/>
            </a:pPr>
            <a:r>
              <a:rPr lang="en-US" sz="1500" dirty="0">
                <a:solidFill>
                  <a:schemeClr val="tx1"/>
                </a:solidFill>
              </a:rPr>
              <a:t>Every time I feel confirmed by a participant, I log it and record what I did about it.</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APPROACH</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Phenomenology fits a question of experience</a:t>
            </a:r>
            <a:endParaRPr lang="en-US" sz="2600" dirty="0"/>
          </a:p>
        </p:txBody>
      </p:sp>
      <p:sp>
        <p:nvSpPr>
          <p:cNvPr id="4" name="Shape 2"/>
          <p:cNvSpPr/>
          <p:nvPr/>
        </p:nvSpPr>
        <p:spPr>
          <a:xfrm>
            <a:off x="457200" y="1371600"/>
            <a:ext cx="2560320" cy="2651760"/>
          </a:xfrm>
          <a:prstGeom prst="roundRect">
            <a:avLst>
              <a:gd name="adj" fmla="val 3571"/>
            </a:avLst>
          </a:prstGeom>
          <a:solidFill>
            <a:schemeClr val="tx2"/>
          </a:solidFill>
          <a:ln/>
        </p:spPr>
      </p:sp>
      <p:sp>
        <p:nvSpPr>
          <p:cNvPr id="5" name="Text 3"/>
          <p:cNvSpPr txBox="1"/>
          <p:nvPr/>
        </p:nvSpPr>
        <p:spPr>
          <a:xfrm>
            <a:off x="685800" y="1554480"/>
            <a:ext cx="2103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CHOSEN</a:t>
            </a:r>
            <a:endParaRPr lang="en-US" sz="1100" dirty="0"/>
          </a:p>
        </p:txBody>
      </p:sp>
      <p:sp>
        <p:nvSpPr>
          <p:cNvPr id="6" name="Text 4"/>
          <p:cNvSpPr txBox="1"/>
          <p:nvPr/>
        </p:nvSpPr>
        <p:spPr>
          <a:xfrm>
            <a:off x="685800" y="1920240"/>
            <a:ext cx="2103120" cy="1920240"/>
          </a:xfrm>
          <a:prstGeom prst="rect">
            <a:avLst/>
          </a:prstGeom>
          <a:noFill/>
          <a:ln/>
        </p:spPr>
        <p:txBody>
          <a:bodyPr wrap="square" lIns="0" tIns="0" rIns="0" bIns="0" rtlCol="0" anchor="t"/>
          <a:lstStyle/>
          <a:p>
            <a:pPr indent="0" marL="0">
              <a:spcAft>
                <a:spcPts val="600"/>
              </a:spcAft>
              <a:buNone/>
            </a:pPr>
            <a:r>
              <a:rPr lang="en-US" sz="1700" b="1" dirty="0">
                <a:solidFill>
                  <a:schemeClr val="bg1"/>
                </a:solidFill>
              </a:rPr>
              <a:t>Phenomenology</a:t>
            </a:r>
            <a:endParaRPr lang="en-US" sz="1700" dirty="0"/>
          </a:p>
          <a:p>
            <a:pPr indent="0" marL="0">
              <a:spcAft>
                <a:spcPts val="600"/>
              </a:spcAft>
              <a:buNone/>
            </a:pPr>
            <a:r>
              <a:rPr lang="en-US" sz="1500" dirty="0">
                <a:solidFill>
                  <a:schemeClr val="bg1"/>
                </a:solidFill>
              </a:rPr>
              <a:t>Lived experience and its meaning, across people who share it</a:t>
            </a:r>
            <a:endParaRPr lang="en-US" sz="1700" dirty="0"/>
          </a:p>
        </p:txBody>
      </p:sp>
      <p:sp>
        <p:nvSpPr>
          <p:cNvPr id="7" name="Shape 5"/>
          <p:cNvSpPr/>
          <p:nvPr/>
        </p:nvSpPr>
        <p:spPr>
          <a:xfrm>
            <a:off x="3291840" y="1371600"/>
            <a:ext cx="2560320" cy="2651760"/>
          </a:xfrm>
          <a:prstGeom prst="roundRect">
            <a:avLst>
              <a:gd name="adj" fmla="val 3571"/>
            </a:avLst>
          </a:prstGeom>
          <a:solidFill>
            <a:schemeClr val="bg2"/>
          </a:solidFill>
          <a:ln/>
        </p:spPr>
      </p:sp>
      <p:sp>
        <p:nvSpPr>
          <p:cNvPr id="8" name="Text 6"/>
          <p:cNvSpPr txBox="1"/>
          <p:nvPr/>
        </p:nvSpPr>
        <p:spPr>
          <a:xfrm>
            <a:off x="3520440" y="1554480"/>
            <a:ext cx="210312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SET ASIDE</a:t>
            </a:r>
            <a:endParaRPr lang="en-US" sz="1100" dirty="0"/>
          </a:p>
        </p:txBody>
      </p:sp>
      <p:sp>
        <p:nvSpPr>
          <p:cNvPr id="9" name="Text 7"/>
          <p:cNvSpPr txBox="1"/>
          <p:nvPr/>
        </p:nvSpPr>
        <p:spPr>
          <a:xfrm>
            <a:off x="3520440" y="1920240"/>
            <a:ext cx="2103120" cy="19202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Grounded theory</a:t>
            </a:r>
            <a:endParaRPr lang="en-US" sz="1700" dirty="0"/>
          </a:p>
          <a:p>
            <a:pPr indent="0" marL="0">
              <a:spcAft>
                <a:spcPts val="600"/>
              </a:spcAft>
              <a:buNone/>
            </a:pPr>
            <a:r>
              <a:rPr lang="en-US" sz="1500" dirty="0">
                <a:solidFill>
                  <a:schemeClr val="tx1"/>
                </a:solidFill>
              </a:rPr>
              <a:t>Builds a theory of a process. Not my question</a:t>
            </a:r>
            <a:endParaRPr lang="en-US" sz="1700" dirty="0"/>
          </a:p>
        </p:txBody>
      </p:sp>
      <p:sp>
        <p:nvSpPr>
          <p:cNvPr id="10" name="Shape 8"/>
          <p:cNvSpPr/>
          <p:nvPr/>
        </p:nvSpPr>
        <p:spPr>
          <a:xfrm>
            <a:off x="6126480" y="1371600"/>
            <a:ext cx="2560320" cy="2651760"/>
          </a:xfrm>
          <a:prstGeom prst="roundRect">
            <a:avLst>
              <a:gd name="adj" fmla="val 3571"/>
            </a:avLst>
          </a:prstGeom>
          <a:solidFill>
            <a:schemeClr val="bg2"/>
          </a:solidFill>
          <a:ln/>
        </p:spPr>
      </p:sp>
      <p:sp>
        <p:nvSpPr>
          <p:cNvPr id="11" name="Text 9"/>
          <p:cNvSpPr txBox="1"/>
          <p:nvPr/>
        </p:nvSpPr>
        <p:spPr>
          <a:xfrm>
            <a:off x="6355080" y="1554480"/>
            <a:ext cx="210312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SET ASIDE</a:t>
            </a:r>
            <a:endParaRPr lang="en-US" sz="1100" dirty="0"/>
          </a:p>
        </p:txBody>
      </p:sp>
      <p:sp>
        <p:nvSpPr>
          <p:cNvPr id="12" name="Text 10"/>
          <p:cNvSpPr txBox="1"/>
          <p:nvPr/>
        </p:nvSpPr>
        <p:spPr>
          <a:xfrm>
            <a:off x="6355080" y="1920240"/>
            <a:ext cx="2103120" cy="19202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Case study</a:t>
            </a:r>
            <a:endParaRPr lang="en-US" sz="1700" dirty="0"/>
          </a:p>
          <a:p>
            <a:pPr indent="0" marL="0">
              <a:spcAft>
                <a:spcPts val="600"/>
              </a:spcAft>
              <a:buNone/>
            </a:pPr>
            <a:r>
              <a:rPr lang="en-US" sz="1500" dirty="0">
                <a:solidFill>
                  <a:schemeClr val="tx1"/>
                </a:solidFill>
              </a:rPr>
              <a:t>Needs a bounded site. This moment crosses firms</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PARTICIPANTS AND DATA</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Everyone must have lived the moment</a:t>
            </a:r>
            <a:endParaRPr lang="en-US" sz="2600" dirty="0"/>
          </a:p>
        </p:txBody>
      </p:sp>
      <p:sp>
        <p:nvSpPr>
          <p:cNvPr id="4" name="Shape 2"/>
          <p:cNvSpPr/>
          <p:nvPr/>
        </p:nvSpPr>
        <p:spPr>
          <a:xfrm>
            <a:off x="457200" y="1234440"/>
            <a:ext cx="4937760" cy="621792"/>
          </a:xfrm>
          <a:prstGeom prst="roundRect">
            <a:avLst>
              <a:gd name="adj" fmla="val 11765"/>
            </a:avLst>
          </a:prstGeom>
          <a:solidFill>
            <a:schemeClr val="bg2"/>
          </a:solidFill>
          <a:ln/>
        </p:spPr>
      </p:sp>
      <p:sp>
        <p:nvSpPr>
          <p:cNvPr id="5" name="Text 3"/>
          <p:cNvSpPr txBox="1"/>
          <p:nvPr/>
        </p:nvSpPr>
        <p:spPr>
          <a:xfrm>
            <a:off x="685800" y="1234440"/>
            <a:ext cx="4572000" cy="621792"/>
          </a:xfrm>
          <a:prstGeom prst="rect">
            <a:avLst/>
          </a:prstGeom>
          <a:noFill/>
          <a:ln/>
        </p:spPr>
        <p:txBody>
          <a:bodyPr wrap="square" lIns="0" tIns="0" rIns="0" bIns="0" rtlCol="0" anchor="ctr"/>
          <a:lstStyle/>
          <a:p>
            <a:pPr indent="0" marL="0">
              <a:buNone/>
            </a:pPr>
            <a:r>
              <a:rPr lang="en-US" sz="1600" dirty="0">
                <a:solidFill>
                  <a:schemeClr val="tx1"/>
                </a:solidFill>
              </a:rPr>
              <a:t>5+ years in audit or risk assurance</a:t>
            </a:r>
            <a:endParaRPr lang="en-US" sz="1600" dirty="0"/>
          </a:p>
        </p:txBody>
      </p:sp>
      <p:sp>
        <p:nvSpPr>
          <p:cNvPr id="6" name="Shape 4"/>
          <p:cNvSpPr/>
          <p:nvPr/>
        </p:nvSpPr>
        <p:spPr>
          <a:xfrm>
            <a:off x="457200" y="1984248"/>
            <a:ext cx="4937760" cy="621792"/>
          </a:xfrm>
          <a:prstGeom prst="roundRect">
            <a:avLst>
              <a:gd name="adj" fmla="val 11765"/>
            </a:avLst>
          </a:prstGeom>
          <a:solidFill>
            <a:schemeClr val="bg2"/>
          </a:solidFill>
          <a:ln/>
        </p:spPr>
      </p:sp>
      <p:sp>
        <p:nvSpPr>
          <p:cNvPr id="7" name="Text 5"/>
          <p:cNvSpPr txBox="1"/>
          <p:nvPr/>
        </p:nvSpPr>
        <p:spPr>
          <a:xfrm>
            <a:off x="685800" y="1984248"/>
            <a:ext cx="4572000" cy="621792"/>
          </a:xfrm>
          <a:prstGeom prst="rect">
            <a:avLst/>
          </a:prstGeom>
          <a:noFill/>
          <a:ln/>
        </p:spPr>
        <p:txBody>
          <a:bodyPr wrap="square" lIns="0" tIns="0" rIns="0" bIns="0" rtlCol="0" anchor="ctr"/>
          <a:lstStyle/>
          <a:p>
            <a:pPr indent="0" marL="0">
              <a:buNone/>
            </a:pPr>
            <a:r>
              <a:rPr lang="en-US" sz="1600" dirty="0">
                <a:solidFill>
                  <a:schemeClr val="tx1"/>
                </a:solidFill>
              </a:rPr>
              <a:t>Recurring, multi-year engagements</a:t>
            </a:r>
            <a:endParaRPr lang="en-US" sz="1600" dirty="0"/>
          </a:p>
        </p:txBody>
      </p:sp>
      <p:sp>
        <p:nvSpPr>
          <p:cNvPr id="8" name="Shape 6"/>
          <p:cNvSpPr/>
          <p:nvPr/>
        </p:nvSpPr>
        <p:spPr>
          <a:xfrm>
            <a:off x="457200" y="2734056"/>
            <a:ext cx="4937760" cy="621792"/>
          </a:xfrm>
          <a:prstGeom prst="roundRect">
            <a:avLst>
              <a:gd name="adj" fmla="val 11765"/>
            </a:avLst>
          </a:prstGeom>
          <a:solidFill>
            <a:schemeClr val="bg2"/>
          </a:solidFill>
          <a:ln/>
        </p:spPr>
      </p:sp>
      <p:sp>
        <p:nvSpPr>
          <p:cNvPr id="9" name="Text 7"/>
          <p:cNvSpPr txBox="1"/>
          <p:nvPr/>
        </p:nvSpPr>
        <p:spPr>
          <a:xfrm>
            <a:off x="685800" y="2734056"/>
            <a:ext cx="4572000" cy="621792"/>
          </a:xfrm>
          <a:prstGeom prst="rect">
            <a:avLst/>
          </a:prstGeom>
          <a:noFill/>
          <a:ln/>
        </p:spPr>
        <p:txBody>
          <a:bodyPr wrap="square" lIns="0" tIns="0" rIns="0" bIns="0" rtlCol="0" anchor="ctr"/>
          <a:lstStyle/>
          <a:p>
            <a:pPr indent="0" marL="0">
              <a:buNone/>
            </a:pPr>
            <a:r>
              <a:rPr lang="en-US" sz="1600" dirty="0">
                <a:solidFill>
                  <a:schemeClr val="tx1"/>
                </a:solidFill>
              </a:rPr>
              <a:t>Uses AI tools that produce conclusions</a:t>
            </a:r>
            <a:endParaRPr lang="en-US" sz="1600" dirty="0"/>
          </a:p>
        </p:txBody>
      </p:sp>
      <p:sp>
        <p:nvSpPr>
          <p:cNvPr id="10" name="Shape 8"/>
          <p:cNvSpPr/>
          <p:nvPr/>
        </p:nvSpPr>
        <p:spPr>
          <a:xfrm>
            <a:off x="457200" y="3483864"/>
            <a:ext cx="4937760" cy="621792"/>
          </a:xfrm>
          <a:prstGeom prst="roundRect">
            <a:avLst>
              <a:gd name="adj" fmla="val 11765"/>
            </a:avLst>
          </a:prstGeom>
          <a:solidFill>
            <a:schemeClr val="tx2"/>
          </a:solidFill>
          <a:ln/>
        </p:spPr>
      </p:sp>
      <p:sp>
        <p:nvSpPr>
          <p:cNvPr id="11" name="Text 9"/>
          <p:cNvSpPr txBox="1"/>
          <p:nvPr/>
        </p:nvSpPr>
        <p:spPr>
          <a:xfrm>
            <a:off x="685800" y="3483864"/>
            <a:ext cx="4572000" cy="621792"/>
          </a:xfrm>
          <a:prstGeom prst="rect">
            <a:avLst/>
          </a:prstGeom>
          <a:noFill/>
          <a:ln/>
        </p:spPr>
        <p:txBody>
          <a:bodyPr wrap="square" lIns="0" tIns="0" rIns="0" bIns="0" rtlCol="0" anchor="ctr"/>
          <a:lstStyle/>
          <a:p>
            <a:pPr indent="0" marL="0">
              <a:buNone/>
            </a:pPr>
            <a:r>
              <a:rPr lang="en-US" sz="1600" b="1" dirty="0">
                <a:solidFill>
                  <a:schemeClr val="accent4"/>
                </a:solidFill>
              </a:rPr>
              <a:t>Can recall one specific occasion</a:t>
            </a:r>
            <a:endParaRPr lang="en-US" sz="1600" dirty="0"/>
          </a:p>
        </p:txBody>
      </p:sp>
      <p:sp>
        <p:nvSpPr>
          <p:cNvPr id="12" name="Text 10"/>
          <p:cNvSpPr txBox="1"/>
          <p:nvPr/>
        </p:nvSpPr>
        <p:spPr>
          <a:xfrm>
            <a:off x="5760720" y="1234440"/>
            <a:ext cx="2926080" cy="9144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10–15</a:t>
            </a:r>
            <a:endParaRPr lang="en-US" sz="3200" dirty="0"/>
          </a:p>
          <a:p>
            <a:pPr indent="0" marL="0">
              <a:buNone/>
            </a:pPr>
            <a:r>
              <a:rPr lang="en-US" sz="1300" dirty="0">
                <a:solidFill>
                  <a:schemeClr val="tx1"/>
                </a:solidFill>
              </a:rPr>
              <a:t>participants, depth decides</a:t>
            </a:r>
            <a:endParaRPr lang="en-US" sz="3200" dirty="0"/>
          </a:p>
        </p:txBody>
      </p:sp>
      <p:sp>
        <p:nvSpPr>
          <p:cNvPr id="13" name="Text 11"/>
          <p:cNvSpPr txBox="1"/>
          <p:nvPr/>
        </p:nvSpPr>
        <p:spPr>
          <a:xfrm>
            <a:off x="5760720" y="2240280"/>
            <a:ext cx="2926080" cy="9144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60 min</a:t>
            </a:r>
            <a:endParaRPr lang="en-US" sz="3200" dirty="0"/>
          </a:p>
          <a:p>
            <a:pPr indent="0" marL="0">
              <a:buNone/>
            </a:pPr>
            <a:r>
              <a:rPr lang="en-US" sz="1300" dirty="0">
                <a:solidFill>
                  <a:schemeClr val="tx1"/>
                </a:solidFill>
              </a:rPr>
              <a:t>one interview each</a:t>
            </a:r>
            <a:endParaRPr lang="en-US" sz="3200" dirty="0"/>
          </a:p>
        </p:txBody>
      </p:sp>
      <p:sp>
        <p:nvSpPr>
          <p:cNvPr id="14" name="Text 12"/>
          <p:cNvSpPr txBox="1"/>
          <p:nvPr/>
        </p:nvSpPr>
        <p:spPr>
          <a:xfrm>
            <a:off x="5760720" y="3246120"/>
            <a:ext cx="2926080" cy="91440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~20</a:t>
            </a:r>
            <a:endParaRPr lang="en-US" sz="3200" dirty="0"/>
          </a:p>
          <a:p>
            <a:pPr indent="0" marL="0">
              <a:buNone/>
            </a:pPr>
            <a:r>
              <a:rPr lang="en-US" sz="1300" dirty="0">
                <a:solidFill>
                  <a:schemeClr val="tx1"/>
                </a:solidFill>
              </a:rPr>
              <a:t>eligible from a 334,976-member panel</a:t>
            </a: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ANALYSIS</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From their words to the essence</a:t>
            </a:r>
            <a:endParaRPr lang="en-US" sz="2600" dirty="0"/>
          </a:p>
        </p:txBody>
      </p:sp>
      <p:sp>
        <p:nvSpPr>
          <p:cNvPr id="4" name="Shape 2"/>
          <p:cNvSpPr/>
          <p:nvPr/>
        </p:nvSpPr>
        <p:spPr>
          <a:xfrm>
            <a:off x="457200" y="1463040"/>
            <a:ext cx="1243584" cy="1005840"/>
          </a:xfrm>
          <a:prstGeom prst="roundRect">
            <a:avLst>
              <a:gd name="adj" fmla="val 7273"/>
            </a:avLst>
          </a:prstGeom>
          <a:solidFill>
            <a:schemeClr val="bg2"/>
          </a:solidFill>
          <a:ln/>
        </p:spPr>
      </p:sp>
      <p:sp>
        <p:nvSpPr>
          <p:cNvPr id="5" name="Text 3"/>
          <p:cNvSpPr txBox="1"/>
          <p:nvPr/>
        </p:nvSpPr>
        <p:spPr>
          <a:xfrm>
            <a:off x="502920" y="1463040"/>
            <a:ext cx="1152144" cy="1005840"/>
          </a:xfrm>
          <a:prstGeom prst="rect">
            <a:avLst/>
          </a:prstGeom>
          <a:noFill/>
          <a:ln/>
        </p:spPr>
        <p:txBody>
          <a:bodyPr wrap="square" lIns="0" tIns="0" rIns="0" bIns="0" rtlCol="0" anchor="ctr"/>
          <a:lstStyle/>
          <a:p>
            <a:pPr algn="ctr" indent="0" marL="0">
              <a:buNone/>
            </a:pPr>
            <a:r>
              <a:rPr lang="en-US" sz="1200" b="1" dirty="0">
                <a:solidFill>
                  <a:schemeClr val="tx1"/>
                </a:solidFill>
              </a:rPr>
              <a:t>Statements</a:t>
            </a:r>
            <a:endParaRPr lang="en-US" sz="1200" dirty="0"/>
          </a:p>
        </p:txBody>
      </p:sp>
      <p:sp>
        <p:nvSpPr>
          <p:cNvPr id="6" name="Shape 4"/>
          <p:cNvSpPr/>
          <p:nvPr/>
        </p:nvSpPr>
        <p:spPr>
          <a:xfrm>
            <a:off x="1847088" y="1463040"/>
            <a:ext cx="1243584" cy="1005840"/>
          </a:xfrm>
          <a:prstGeom prst="roundRect">
            <a:avLst>
              <a:gd name="adj" fmla="val 7273"/>
            </a:avLst>
          </a:prstGeom>
          <a:solidFill>
            <a:schemeClr val="bg2"/>
          </a:solidFill>
          <a:ln/>
        </p:spPr>
      </p:sp>
      <p:sp>
        <p:nvSpPr>
          <p:cNvPr id="7" name="Text 5"/>
          <p:cNvSpPr txBox="1"/>
          <p:nvPr/>
        </p:nvSpPr>
        <p:spPr>
          <a:xfrm>
            <a:off x="1892808" y="1463040"/>
            <a:ext cx="1152144" cy="1005840"/>
          </a:xfrm>
          <a:prstGeom prst="rect">
            <a:avLst/>
          </a:prstGeom>
          <a:noFill/>
          <a:ln/>
        </p:spPr>
        <p:txBody>
          <a:bodyPr wrap="square" lIns="0" tIns="0" rIns="0" bIns="0" rtlCol="0" anchor="ctr"/>
          <a:lstStyle/>
          <a:p>
            <a:pPr algn="ctr" indent="0" marL="0">
              <a:buNone/>
            </a:pPr>
            <a:r>
              <a:rPr lang="en-US" sz="1200" b="1" dirty="0">
                <a:solidFill>
                  <a:schemeClr val="tx1"/>
                </a:solidFill>
              </a:rPr>
              <a:t>Meaning units</a:t>
            </a:r>
            <a:endParaRPr lang="en-US" sz="1200" dirty="0"/>
          </a:p>
        </p:txBody>
      </p:sp>
      <p:sp>
        <p:nvSpPr>
          <p:cNvPr id="8" name="Shape 6"/>
          <p:cNvSpPr/>
          <p:nvPr/>
        </p:nvSpPr>
        <p:spPr>
          <a:xfrm>
            <a:off x="3236976" y="1463040"/>
            <a:ext cx="1243584" cy="1005840"/>
          </a:xfrm>
          <a:prstGeom prst="roundRect">
            <a:avLst>
              <a:gd name="adj" fmla="val 7273"/>
            </a:avLst>
          </a:prstGeom>
          <a:solidFill>
            <a:schemeClr val="bg2"/>
          </a:solidFill>
          <a:ln/>
        </p:spPr>
      </p:sp>
      <p:sp>
        <p:nvSpPr>
          <p:cNvPr id="9" name="Text 7"/>
          <p:cNvSpPr txBox="1"/>
          <p:nvPr/>
        </p:nvSpPr>
        <p:spPr>
          <a:xfrm>
            <a:off x="3282696" y="1463040"/>
            <a:ext cx="1152144" cy="1005840"/>
          </a:xfrm>
          <a:prstGeom prst="rect">
            <a:avLst/>
          </a:prstGeom>
          <a:noFill/>
          <a:ln/>
        </p:spPr>
        <p:txBody>
          <a:bodyPr wrap="square" lIns="0" tIns="0" rIns="0" bIns="0" rtlCol="0" anchor="ctr"/>
          <a:lstStyle/>
          <a:p>
            <a:pPr algn="ctr" indent="0" marL="0">
              <a:buNone/>
            </a:pPr>
            <a:r>
              <a:rPr lang="en-US" sz="1200" b="1" dirty="0">
                <a:solidFill>
                  <a:schemeClr val="tx1"/>
                </a:solidFill>
              </a:rPr>
              <a:t>Themes</a:t>
            </a:r>
            <a:endParaRPr lang="en-US" sz="1200" dirty="0"/>
          </a:p>
        </p:txBody>
      </p:sp>
      <p:sp>
        <p:nvSpPr>
          <p:cNvPr id="10" name="Shape 8"/>
          <p:cNvSpPr/>
          <p:nvPr/>
        </p:nvSpPr>
        <p:spPr>
          <a:xfrm>
            <a:off x="4626864" y="1463040"/>
            <a:ext cx="1243584" cy="1005840"/>
          </a:xfrm>
          <a:prstGeom prst="roundRect">
            <a:avLst>
              <a:gd name="adj" fmla="val 7273"/>
            </a:avLst>
          </a:prstGeom>
          <a:solidFill>
            <a:schemeClr val="bg2"/>
          </a:solidFill>
          <a:ln/>
        </p:spPr>
      </p:sp>
      <p:sp>
        <p:nvSpPr>
          <p:cNvPr id="11" name="Text 9"/>
          <p:cNvSpPr txBox="1"/>
          <p:nvPr/>
        </p:nvSpPr>
        <p:spPr>
          <a:xfrm>
            <a:off x="4672584" y="1463040"/>
            <a:ext cx="1152144" cy="1005840"/>
          </a:xfrm>
          <a:prstGeom prst="rect">
            <a:avLst/>
          </a:prstGeom>
          <a:noFill/>
          <a:ln/>
        </p:spPr>
        <p:txBody>
          <a:bodyPr wrap="square" lIns="0" tIns="0" rIns="0" bIns="0" rtlCol="0" anchor="ctr"/>
          <a:lstStyle/>
          <a:p>
            <a:pPr algn="ctr" indent="0" marL="0">
              <a:buNone/>
            </a:pPr>
            <a:r>
              <a:rPr lang="en-US" sz="1200" b="1" dirty="0">
                <a:solidFill>
                  <a:schemeClr val="tx1"/>
                </a:solidFill>
              </a:rPr>
              <a:t>What they lived</a:t>
            </a:r>
            <a:endParaRPr lang="en-US" sz="1200" dirty="0"/>
          </a:p>
        </p:txBody>
      </p:sp>
      <p:sp>
        <p:nvSpPr>
          <p:cNvPr id="12" name="Shape 10"/>
          <p:cNvSpPr/>
          <p:nvPr/>
        </p:nvSpPr>
        <p:spPr>
          <a:xfrm>
            <a:off x="6016752" y="1463040"/>
            <a:ext cx="1243584" cy="1005840"/>
          </a:xfrm>
          <a:prstGeom prst="roundRect">
            <a:avLst>
              <a:gd name="adj" fmla="val 7273"/>
            </a:avLst>
          </a:prstGeom>
          <a:solidFill>
            <a:schemeClr val="bg2"/>
          </a:solidFill>
          <a:ln/>
        </p:spPr>
      </p:sp>
      <p:sp>
        <p:nvSpPr>
          <p:cNvPr id="13" name="Text 11"/>
          <p:cNvSpPr txBox="1"/>
          <p:nvPr/>
        </p:nvSpPr>
        <p:spPr>
          <a:xfrm>
            <a:off x="6062472" y="1463040"/>
            <a:ext cx="1152144" cy="1005840"/>
          </a:xfrm>
          <a:prstGeom prst="rect">
            <a:avLst/>
          </a:prstGeom>
          <a:noFill/>
          <a:ln/>
        </p:spPr>
        <p:txBody>
          <a:bodyPr wrap="square" lIns="0" tIns="0" rIns="0" bIns="0" rtlCol="0" anchor="ctr"/>
          <a:lstStyle/>
          <a:p>
            <a:pPr algn="ctr" indent="0" marL="0">
              <a:buNone/>
            </a:pPr>
            <a:r>
              <a:rPr lang="en-US" sz="1200" b="1" dirty="0">
                <a:solidFill>
                  <a:schemeClr val="tx1"/>
                </a:solidFill>
              </a:rPr>
              <a:t>How and where</a:t>
            </a:r>
            <a:endParaRPr lang="en-US" sz="1200" dirty="0"/>
          </a:p>
        </p:txBody>
      </p:sp>
      <p:sp>
        <p:nvSpPr>
          <p:cNvPr id="14" name="Shape 12"/>
          <p:cNvSpPr/>
          <p:nvPr/>
        </p:nvSpPr>
        <p:spPr>
          <a:xfrm>
            <a:off x="7406640" y="1463040"/>
            <a:ext cx="1243584" cy="1005840"/>
          </a:xfrm>
          <a:prstGeom prst="roundRect">
            <a:avLst>
              <a:gd name="adj" fmla="val 7273"/>
            </a:avLst>
          </a:prstGeom>
          <a:solidFill>
            <a:schemeClr val="tx2"/>
          </a:solidFill>
          <a:ln/>
        </p:spPr>
      </p:sp>
      <p:sp>
        <p:nvSpPr>
          <p:cNvPr id="15" name="Text 13"/>
          <p:cNvSpPr txBox="1"/>
          <p:nvPr/>
        </p:nvSpPr>
        <p:spPr>
          <a:xfrm>
            <a:off x="7452360" y="1463040"/>
            <a:ext cx="1152144" cy="1005840"/>
          </a:xfrm>
          <a:prstGeom prst="rect">
            <a:avLst/>
          </a:prstGeom>
          <a:noFill/>
          <a:ln/>
        </p:spPr>
        <p:txBody>
          <a:bodyPr wrap="square" lIns="0" tIns="0" rIns="0" bIns="0" rtlCol="0" anchor="ctr"/>
          <a:lstStyle/>
          <a:p>
            <a:pPr algn="ctr" indent="0" marL="0">
              <a:buNone/>
            </a:pPr>
            <a:r>
              <a:rPr lang="en-US" sz="1200" b="1" dirty="0">
                <a:solidFill>
                  <a:schemeClr val="accent4"/>
                </a:solidFill>
              </a:rPr>
              <a:t>Essence</a:t>
            </a:r>
            <a:endParaRPr lang="en-US" sz="1200" dirty="0"/>
          </a:p>
        </p:txBody>
      </p:sp>
      <p:sp>
        <p:nvSpPr>
          <p:cNvPr id="16" name="Shape 14"/>
          <p:cNvSpPr/>
          <p:nvPr/>
        </p:nvSpPr>
        <p:spPr>
          <a:xfrm>
            <a:off x="457200" y="2834640"/>
            <a:ext cx="3931920" cy="1463040"/>
          </a:xfrm>
          <a:prstGeom prst="roundRect">
            <a:avLst>
              <a:gd name="adj" fmla="val 6250"/>
            </a:avLst>
          </a:prstGeom>
          <a:solidFill>
            <a:schemeClr val="bg2"/>
          </a:solidFill>
          <a:ln/>
        </p:spPr>
      </p:sp>
      <p:sp>
        <p:nvSpPr>
          <p:cNvPr id="17" name="Text 15"/>
          <p:cNvSpPr txBox="1"/>
          <p:nvPr/>
        </p:nvSpPr>
        <p:spPr>
          <a:xfrm>
            <a:off x="685800" y="2971800"/>
            <a:ext cx="3474720" cy="1188720"/>
          </a:xfrm>
          <a:prstGeom prst="rect">
            <a:avLst/>
          </a:prstGeom>
          <a:noFill/>
          <a:ln/>
        </p:spPr>
        <p:txBody>
          <a:bodyPr wrap="square" lIns="0" tIns="0" rIns="0" bIns="0" rtlCol="0" anchor="t"/>
          <a:lstStyle/>
          <a:p>
            <a:pPr indent="0" marL="0">
              <a:buNone/>
            </a:pPr>
            <a:r>
              <a:rPr lang="en-US" sz="1600" b="1" dirty="0">
                <a:solidFill>
                  <a:schemeClr val="tx1"/>
                </a:solidFill>
              </a:rPr>
              <a:t>Before the essence</a:t>
            </a:r>
            <a:endParaRPr lang="en-US" sz="1600" dirty="0"/>
          </a:p>
          <a:p>
            <a:pPr indent="0" marL="0">
              <a:buNone/>
            </a:pPr>
            <a:r>
              <a:rPr lang="en-US" sz="1500" dirty="0">
                <a:solidFill>
                  <a:schemeClr val="tx1"/>
                </a:solidFill>
              </a:rPr>
              <a:t>I re-read every transcript only for what contradicts it.</a:t>
            </a:r>
            <a:endParaRPr lang="en-US" sz="1600" dirty="0"/>
          </a:p>
        </p:txBody>
      </p:sp>
      <p:sp>
        <p:nvSpPr>
          <p:cNvPr id="18" name="Shape 16"/>
          <p:cNvSpPr/>
          <p:nvPr/>
        </p:nvSpPr>
        <p:spPr>
          <a:xfrm>
            <a:off x="4754880" y="2834640"/>
            <a:ext cx="3931920" cy="1463040"/>
          </a:xfrm>
          <a:prstGeom prst="roundRect">
            <a:avLst>
              <a:gd name="adj" fmla="val 6250"/>
            </a:avLst>
          </a:prstGeom>
          <a:solidFill>
            <a:schemeClr val="tx2"/>
          </a:solidFill>
          <a:ln/>
        </p:spPr>
      </p:sp>
      <p:sp>
        <p:nvSpPr>
          <p:cNvPr id="19" name="Text 17"/>
          <p:cNvSpPr txBox="1"/>
          <p:nvPr/>
        </p:nvSpPr>
        <p:spPr>
          <a:xfrm>
            <a:off x="4983480" y="2971800"/>
            <a:ext cx="3474720" cy="1188720"/>
          </a:xfrm>
          <a:prstGeom prst="rect">
            <a:avLst/>
          </a:prstGeom>
          <a:noFill/>
          <a:ln/>
        </p:spPr>
        <p:txBody>
          <a:bodyPr wrap="square" lIns="0" tIns="0" rIns="0" bIns="0" rtlCol="0" anchor="t"/>
          <a:lstStyle/>
          <a:p>
            <a:pPr indent="0" marL="0">
              <a:buNone/>
            </a:pPr>
            <a:r>
              <a:rPr lang="en-US" sz="1600" b="1" dirty="0">
                <a:solidFill>
                  <a:schemeClr val="accent1"/>
                </a:solidFill>
              </a:rPr>
              <a:t>AI does not code</a:t>
            </a:r>
            <a:endParaRPr lang="en-US" sz="1600" dirty="0"/>
          </a:p>
          <a:p>
            <a:pPr indent="0" marL="0">
              <a:buNone/>
            </a:pPr>
            <a:r>
              <a:rPr lang="en-US" sz="1500" dirty="0">
                <a:solidFill>
                  <a:schemeClr val="bg1"/>
                </a:solidFill>
              </a:rPr>
              <a:t>NVivo stores my codes. I assign them. AI agreeing with my themes would recreate the phenomenon.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VALIDATION AND ETHICS</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Three lenses on whether I got it right</a:t>
            </a:r>
            <a:endParaRPr lang="en-US" sz="2600" dirty="0"/>
          </a:p>
        </p:txBody>
      </p:sp>
      <p:sp>
        <p:nvSpPr>
          <p:cNvPr id="4" name="Shape 2"/>
          <p:cNvSpPr/>
          <p:nvPr/>
        </p:nvSpPr>
        <p:spPr>
          <a:xfrm>
            <a:off x="457200" y="1325880"/>
            <a:ext cx="2560320" cy="2148840"/>
          </a:xfrm>
          <a:prstGeom prst="roundRect">
            <a:avLst>
              <a:gd name="adj" fmla="val 4255"/>
            </a:avLst>
          </a:prstGeom>
          <a:solidFill>
            <a:schemeClr val="bg2"/>
          </a:solidFill>
          <a:ln/>
        </p:spPr>
      </p:sp>
      <p:sp>
        <p:nvSpPr>
          <p:cNvPr id="5" name="Text 3"/>
          <p:cNvSpPr txBox="1"/>
          <p:nvPr/>
        </p:nvSpPr>
        <p:spPr>
          <a:xfrm>
            <a:off x="685800" y="1508760"/>
            <a:ext cx="2103120" cy="182880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Participants</a:t>
            </a:r>
            <a:endParaRPr lang="en-US" sz="1900" dirty="0"/>
          </a:p>
          <a:p>
            <a:pPr indent="0" marL="0">
              <a:spcAft>
                <a:spcPts val="600"/>
              </a:spcAft>
              <a:buNone/>
            </a:pPr>
            <a:r>
              <a:rPr lang="en-US" sz="1500" dirty="0">
                <a:solidFill>
                  <a:schemeClr val="tx1"/>
                </a:solidFill>
              </a:rPr>
              <a:t>Each checks their own description only, not my composite</a:t>
            </a:r>
            <a:endParaRPr lang="en-US" sz="1900" dirty="0"/>
          </a:p>
        </p:txBody>
      </p:sp>
      <p:sp>
        <p:nvSpPr>
          <p:cNvPr id="6" name="Shape 4"/>
          <p:cNvSpPr/>
          <p:nvPr/>
        </p:nvSpPr>
        <p:spPr>
          <a:xfrm>
            <a:off x="3291840" y="1325880"/>
            <a:ext cx="2560320" cy="2148840"/>
          </a:xfrm>
          <a:prstGeom prst="roundRect">
            <a:avLst>
              <a:gd name="adj" fmla="val 4255"/>
            </a:avLst>
          </a:prstGeom>
          <a:solidFill>
            <a:schemeClr val="bg2"/>
          </a:solidFill>
          <a:ln/>
        </p:spPr>
      </p:sp>
      <p:sp>
        <p:nvSpPr>
          <p:cNvPr id="7" name="Text 5"/>
          <p:cNvSpPr txBox="1"/>
          <p:nvPr/>
        </p:nvSpPr>
        <p:spPr>
          <a:xfrm>
            <a:off x="3520440" y="1508760"/>
            <a:ext cx="2103120" cy="182880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Outside reviewer</a:t>
            </a:r>
            <a:endParaRPr lang="en-US" sz="1900" dirty="0"/>
          </a:p>
          <a:p>
            <a:pPr indent="0" marL="0">
              <a:spcAft>
                <a:spcPts val="600"/>
              </a:spcAft>
              <a:buNone/>
            </a:pPr>
            <a:r>
              <a:rPr lang="en-US" sz="1500" dirty="0">
                <a:solidFill>
                  <a:schemeClr val="tx1"/>
                </a:solidFill>
              </a:rPr>
              <a:t>A few chosen transcripts, including one that challenges me, read with my memos</a:t>
            </a:r>
            <a:endParaRPr lang="en-US" sz="1900" dirty="0"/>
          </a:p>
        </p:txBody>
      </p:sp>
      <p:sp>
        <p:nvSpPr>
          <p:cNvPr id="8" name="Shape 6"/>
          <p:cNvSpPr/>
          <p:nvPr/>
        </p:nvSpPr>
        <p:spPr>
          <a:xfrm>
            <a:off x="6126480" y="1325880"/>
            <a:ext cx="2560320" cy="2148840"/>
          </a:xfrm>
          <a:prstGeom prst="roundRect">
            <a:avLst>
              <a:gd name="adj" fmla="val 4255"/>
            </a:avLst>
          </a:prstGeom>
          <a:solidFill>
            <a:schemeClr val="bg2"/>
          </a:solidFill>
          <a:ln/>
        </p:spPr>
      </p:sp>
      <p:sp>
        <p:nvSpPr>
          <p:cNvPr id="9" name="Text 7"/>
          <p:cNvSpPr txBox="1"/>
          <p:nvPr/>
        </p:nvSpPr>
        <p:spPr>
          <a:xfrm>
            <a:off x="6355080" y="1508760"/>
            <a:ext cx="2103120" cy="182880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Me</a:t>
            </a:r>
            <a:endParaRPr lang="en-US" sz="1900" dirty="0"/>
          </a:p>
          <a:p>
            <a:pPr indent="0" marL="0">
              <a:spcAft>
                <a:spcPts val="600"/>
              </a:spcAft>
              <a:buNone/>
            </a:pPr>
            <a:r>
              <a:rPr lang="en-US" sz="1500" dirty="0">
                <a:solidFill>
                  <a:schemeClr val="tx1"/>
                </a:solidFill>
              </a:rPr>
              <a:t>The hazard log, tied to the audit trail, shows what changed my decisions</a:t>
            </a:r>
            <a:endParaRPr lang="en-US" sz="1900" dirty="0"/>
          </a:p>
        </p:txBody>
      </p:sp>
      <p:sp>
        <p:nvSpPr>
          <p:cNvPr id="10" name="Text 8"/>
          <p:cNvSpPr txBox="1"/>
          <p:nvPr/>
        </p:nvSpPr>
        <p:spPr>
          <a:xfrm>
            <a:off x="457200" y="3749040"/>
            <a:ext cx="8229600" cy="548640"/>
          </a:xfrm>
          <a:prstGeom prst="rect">
            <a:avLst/>
          </a:prstGeom>
          <a:noFill/>
          <a:ln/>
        </p:spPr>
        <p:txBody>
          <a:bodyPr wrap="square" lIns="0" tIns="0" rIns="0" bIns="0" rtlCol="0" anchor="ctr"/>
          <a:lstStyle/>
          <a:p>
            <a:pPr indent="0" marL="0">
              <a:buNone/>
            </a:pPr>
            <a:r>
              <a:rPr lang="en-US" sz="1400" i="1" dirty="0">
                <a:solidFill>
                  <a:schemeClr val="tx1"/>
                </a:solidFill>
              </a:rPr>
              <a:t>Ethics: consent with separate recording consent · pseudonyms · encrypted storage · nobody approached before IRB approval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300" kern="0" dirty="0">
                <a:solidFill>
                  <a:schemeClr val="accent1"/>
                </a:solidFill>
              </a:rPr>
              <a:t>WHY IT MATTERS</a:t>
            </a:r>
            <a:endParaRPr lang="en-US" sz="1100" dirty="0"/>
          </a:p>
        </p:txBody>
      </p:sp>
      <p:sp>
        <p:nvSpPr>
          <p:cNvPr id="3" name="Title"/>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Contributions and limits</a:t>
            </a:r>
            <a:endParaRPr lang="en-US" sz="2600" dirty="0"/>
          </a:p>
        </p:txBody>
      </p:sp>
      <p:sp>
        <p:nvSpPr>
          <p:cNvPr id="4" name="Shape 2"/>
          <p:cNvSpPr/>
          <p:nvPr/>
        </p:nvSpPr>
        <p:spPr>
          <a:xfrm>
            <a:off x="457200" y="1325880"/>
            <a:ext cx="3931920" cy="3108960"/>
          </a:xfrm>
          <a:prstGeom prst="roundRect">
            <a:avLst>
              <a:gd name="adj" fmla="val 2941"/>
            </a:avLst>
          </a:prstGeom>
          <a:solidFill>
            <a:schemeClr val="tx2"/>
          </a:solidFill>
          <a:ln/>
        </p:spPr>
      </p:sp>
      <p:sp>
        <p:nvSpPr>
          <p:cNvPr id="5" name="Text 3"/>
          <p:cNvSpPr txBox="1"/>
          <p:nvPr/>
        </p:nvSpPr>
        <p:spPr>
          <a:xfrm>
            <a:off x="731520" y="1508760"/>
            <a:ext cx="3383280" cy="457200"/>
          </a:xfrm>
          <a:prstGeom prst="rect">
            <a:avLst/>
          </a:prstGeom>
          <a:noFill/>
          <a:ln/>
        </p:spPr>
        <p:txBody>
          <a:bodyPr wrap="square" lIns="0" tIns="0" rIns="0" bIns="0" rtlCol="0" anchor="ctr"/>
          <a:lstStyle/>
          <a:p>
            <a:pPr indent="0" marL="0">
              <a:buNone/>
            </a:pPr>
            <a:r>
              <a:rPr lang="en-US" sz="2000" b="1" dirty="0">
                <a:solidFill>
                  <a:schemeClr val="accent1"/>
                </a:solidFill>
              </a:rPr>
              <a:t>Contributions</a:t>
            </a:r>
            <a:endParaRPr lang="en-US" sz="2000" dirty="0"/>
          </a:p>
        </p:txBody>
      </p:sp>
      <p:sp>
        <p:nvSpPr>
          <p:cNvPr id="6" name="Text 4"/>
          <p:cNvSpPr txBox="1"/>
          <p:nvPr/>
        </p:nvSpPr>
        <p:spPr>
          <a:xfrm>
            <a:off x="731520" y="2057400"/>
            <a:ext cx="34747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Research: separates automation bias from sycophancy at the one moment they look identical</a:t>
            </a:r>
            <a:endParaRPr lang="en-US" sz="1500" dirty="0"/>
          </a:p>
          <a:p>
            <a:pPr marL="342900" indent="-342900">
              <a:spcAft>
                <a:spcPts val="800"/>
              </a:spcAft>
              <a:buSzPct val="100000"/>
              <a:buChar char="•"/>
            </a:pPr>
            <a:r>
              <a:rPr lang="en-US" sz="1500" dirty="0">
                <a:solidFill>
                  <a:schemeClr val="bg1"/>
                </a:solidFill>
              </a:rPr>
              <a:t>Practice: tests from the inside whether human review is the control policies assume</a:t>
            </a:r>
            <a:endParaRPr lang="en-US" sz="1500" dirty="0"/>
          </a:p>
        </p:txBody>
      </p:sp>
      <p:sp>
        <p:nvSpPr>
          <p:cNvPr id="7" name="Shape 5"/>
          <p:cNvSpPr/>
          <p:nvPr/>
        </p:nvSpPr>
        <p:spPr>
          <a:xfrm>
            <a:off x="4754880" y="1325880"/>
            <a:ext cx="3931920" cy="3108960"/>
          </a:xfrm>
          <a:prstGeom prst="roundRect">
            <a:avLst>
              <a:gd name="adj" fmla="val 2941"/>
            </a:avLst>
          </a:prstGeom>
          <a:solidFill>
            <a:schemeClr val="bg2"/>
          </a:solidFill>
          <a:ln/>
        </p:spPr>
      </p:sp>
      <p:sp>
        <p:nvSpPr>
          <p:cNvPr id="8" name="Text 6"/>
          <p:cNvSpPr txBox="1"/>
          <p:nvPr/>
        </p:nvSpPr>
        <p:spPr>
          <a:xfrm>
            <a:off x="5029200" y="1508760"/>
            <a:ext cx="3383280" cy="457200"/>
          </a:xfrm>
          <a:prstGeom prst="rect">
            <a:avLst/>
          </a:prstGeom>
          <a:noFill/>
          <a:ln/>
        </p:spPr>
        <p:txBody>
          <a:bodyPr wrap="square" lIns="0" tIns="0" rIns="0" bIns="0" rtlCol="0" anchor="ctr"/>
          <a:lstStyle/>
          <a:p>
            <a:pPr indent="0" marL="0">
              <a:buNone/>
            </a:pPr>
            <a:r>
              <a:rPr lang="en-US" sz="2000" b="1" dirty="0">
                <a:solidFill>
                  <a:schemeClr val="tx1"/>
                </a:solidFill>
              </a:rPr>
              <a:t>Limits</a:t>
            </a:r>
            <a:endParaRPr lang="en-US" sz="2000" dirty="0"/>
          </a:p>
        </p:txBody>
      </p:sp>
      <p:sp>
        <p:nvSpPr>
          <p:cNvPr id="9" name="Text 7"/>
          <p:cNvSpPr txBox="1"/>
          <p:nvPr/>
        </p:nvSpPr>
        <p:spPr>
          <a:xfrm>
            <a:off x="5029200" y="2057400"/>
            <a:ext cx="34747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Small, network-recruited sample</a:t>
            </a:r>
            <a:endParaRPr lang="en-US" sz="1500" dirty="0"/>
          </a:p>
          <a:p>
            <a:pPr marL="342900" indent="-342900">
              <a:spcAft>
                <a:spcPts val="800"/>
              </a:spcAft>
              <a:buSzPct val="100000"/>
              <a:buChar char="•"/>
            </a:pPr>
            <a:r>
              <a:rPr lang="en-US" sz="1500" dirty="0">
                <a:solidFill>
                  <a:schemeClr val="tx1"/>
                </a:solidFill>
              </a:rPr>
              <a:t>Recalled experience, possibly tidied in memory</a:t>
            </a:r>
            <a:endParaRPr lang="en-US" sz="1500" dirty="0"/>
          </a:p>
          <a:p>
            <a:pPr marL="342900" indent="-342900">
              <a:spcAft>
                <a:spcPts val="800"/>
              </a:spcAft>
              <a:buSzPct val="100000"/>
              <a:buChar char="•"/>
            </a:pPr>
            <a:r>
              <a:rPr lang="en-US" sz="1500" dirty="0">
                <a:solidFill>
                  <a:schemeClr val="tx1"/>
                </a:solidFill>
              </a:rPr>
              <a:t>No generalization claimed; the reader judges fit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05840"/>
            <a:ext cx="8046720" cy="10972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The machine agreeing with you feels like evidence.</a:t>
            </a:r>
            <a:endParaRPr lang="en-US" sz="3000" dirty="0"/>
          </a:p>
        </p:txBody>
      </p:sp>
      <p:sp>
        <p:nvSpPr>
          <p:cNvPr id="3" name="Text 1"/>
          <p:cNvSpPr txBox="1"/>
          <p:nvPr/>
        </p:nvSpPr>
        <p:spPr>
          <a:xfrm>
            <a:off x="548640" y="2240280"/>
            <a:ext cx="8046720" cy="822960"/>
          </a:xfrm>
          <a:prstGeom prst="rect">
            <a:avLst/>
          </a:prstGeom>
          <a:noFill/>
          <a:ln/>
        </p:spPr>
        <p:txBody>
          <a:bodyPr wrap="square" lIns="0" tIns="0" rIns="0" bIns="0" rtlCol="0" anchor="ctr"/>
          <a:lstStyle/>
          <a:p>
            <a:pPr indent="0" marL="0">
              <a:buNone/>
            </a:pPr>
            <a:r>
              <a:rPr lang="en-US" sz="2400" i="1" dirty="0">
                <a:solidFill>
                  <a:schemeClr val="accent4"/>
                </a:solidFill>
                <a:latin typeface="Cambria" pitchFamily="34" charset="0"/>
                <a:ea typeface="Cambria" pitchFamily="34" charset="-122"/>
                <a:cs typeface="Cambria" pitchFamily="34" charset="-120"/>
              </a:rPr>
              <a:t>My study asks whether it is experienced that way, and what auditors do next.</a:t>
            </a:r>
            <a:endParaRPr lang="en-US" sz="2400" dirty="0"/>
          </a:p>
        </p:txBody>
      </p:sp>
      <p:sp>
        <p:nvSpPr>
          <p:cNvPr id="4" name="Text 2"/>
          <p:cNvSpPr txBox="1"/>
          <p:nvPr/>
        </p:nvSpPr>
        <p:spPr>
          <a:xfrm>
            <a:off x="548640" y="3200400"/>
            <a:ext cx="8046720" cy="457200"/>
          </a:xfrm>
          <a:prstGeom prst="rect">
            <a:avLst/>
          </a:prstGeom>
          <a:noFill/>
          <a:ln/>
        </p:spPr>
        <p:txBody>
          <a:bodyPr wrap="square" lIns="0" tIns="0" rIns="0" bIns="0" rtlCol="0" anchor="ctr"/>
          <a:lstStyle/>
          <a:p>
            <a:pPr indent="0" marL="0">
              <a:buNone/>
            </a:pPr>
            <a:r>
              <a:rPr lang="en-US" sz="2000" b="1" dirty="0">
                <a:solidFill>
                  <a:schemeClr val="accent1"/>
                </a:solidFill>
              </a:rPr>
              <a:t>Thank you</a:t>
            </a:r>
            <a:endParaRPr lang="en-US" sz="2000" dirty="0"/>
          </a:p>
        </p:txBody>
      </p:sp>
      <p:sp>
        <p:nvSpPr>
          <p:cNvPr id="5" name="Text 3"/>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1100" dirty="0">
                <a:solidFill>
                  <a:schemeClr val="accent3"/>
                </a:solidFill>
              </a:rPr>
              <a:t>AI disclosure: Claude (Anthropic) helped draft and lay out these slides and speaker notes from my proposal and protocol. The research question, design decisions and interpretations are my own.</a:t>
            </a:r>
            <a:endParaRPr lang="en-US" sz="1100" dirty="0"/>
          </a:p>
        </p:txBody>
      </p:sp>
    </p:spTree>
  </p:cSld>
  <p:clrMapOvr>
    <a:masterClrMapping/>
  </p:clrMapOvr>
</p:sld>
</file>

<file path=ppt/theme/theme1.xml><?xml version="1.0" encoding="utf-8"?>
<a:theme xmlns:a="http://schemas.openxmlformats.org/drawingml/2006/main" name="Receiving Confirmation">
  <a:themeElements>
    <a:clrScheme name="Receiving Confirmation">
      <a:dk1>
        <a:srgbClr val="14213D"/>
      </a:dk1>
      <a:lt1>
        <a:srgbClr val="FFFFFF"/>
      </a:lt1>
      <a:dk2>
        <a:srgbClr val="0B1A33"/>
      </a:dk2>
      <a:lt2>
        <a:srgbClr val="EEF1F6"/>
      </a:lt2>
      <a:accent1>
        <a:srgbClr val="B08A2E"/>
      </a:accent1>
      <a:accent2>
        <a:srgbClr val="2F4A7A"/>
      </a:accent2>
      <a:accent3>
        <a:srgbClr val="6B7A99"/>
      </a:accent3>
      <a:accent4>
        <a:srgbClr val="D9C27E"/>
      </a:accent4>
      <a:accent5>
        <a:srgbClr val="8C2F39"/>
      </a:accent5>
      <a:accent6>
        <a:srgbClr val="4F7C6B"/>
      </a:accent6>
      <a:hlink>
        <a:srgbClr val="2F4A7A"/>
      </a:hlink>
      <a:folHlink>
        <a:srgbClr val="6B7A99"/>
      </a:folHlink>
    </a:clrScheme>
    <a:fontScheme name="Receiving Confi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Receiving Confirmation</dc:title>
  <dc:subject>PptxGenJS Presentation</dc:subject>
  <dc:creator>Yasir A. Malik</dc:creator>
  <cp:lastModifiedBy>Yasir A. Malik</cp:lastModifiedBy>
  <cp:revision>1</cp:revision>
  <dcterms:created xsi:type="dcterms:W3CDTF">2026-10-05T18:14:55Z</dcterms:created>
  <dcterms:modified xsi:type="dcterms:W3CDTF">2026-10-05T18:14:55Z</dcterms:modified>
</cp:coreProperties>
</file>