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say one thing, this. Auditors already know the structure — preparer and reviewer, engagement partner and EQ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mine, not borrowed. The data record reached the memo's conclusion a month before the course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1828800"/>
            <a:ext cx="7315200" cy="274320"/>
          </a:xfrm>
          <a:prstGeom prst="rect">
            <a:avLst/>
          </a:prstGeom>
          <a:noFill/>
          <a:ln/>
        </p:spPr>
        <p:txBody>
          <a:bodyPr wrap="square" lIns="0" tIns="0" rIns="0" bIns="0" rtlCol="0" anchor="ctr"/>
          <a:lstStyle/>
          <a:p>
            <a:pPr indent="0" marL="0">
              <a:buNone/>
            </a:pPr>
            <a:r>
              <a:rPr lang="en-US" sz="1100" spc="160" kern="0" dirty="0">
                <a:solidFill>
                  <a:srgbClr val="D2A73F"/>
                </a:solidFill>
                <a:latin typeface="Courier New" pitchFamily="34" charset="0"/>
                <a:ea typeface="Courier New" pitchFamily="34" charset="-122"/>
                <a:cs typeface="Courier New" pitchFamily="34" charset="-120"/>
              </a:rPr>
              <a:t>GEB 7911 · Scholarly Exchange · Week 1</a:t>
            </a:r>
            <a:endParaRPr lang="en-US" sz="1100" dirty="0"/>
          </a:p>
        </p:txBody>
      </p:sp>
      <p:sp>
        <p:nvSpPr>
          <p:cNvPr id="4" name="Text 2"/>
          <p:cNvSpPr/>
          <p:nvPr/>
        </p:nvSpPr>
        <p:spPr>
          <a:xfrm>
            <a:off x="685800" y="2194560"/>
            <a:ext cx="10058400" cy="100584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Two Ways to Know</a:t>
            </a:r>
            <a:endParaRPr lang="en-US" sz="5200" dirty="0"/>
          </a:p>
        </p:txBody>
      </p:sp>
      <p:sp>
        <p:nvSpPr>
          <p:cNvPr id="5" name="Text 3"/>
          <p:cNvSpPr/>
          <p:nvPr/>
        </p:nvSpPr>
        <p:spPr>
          <a:xfrm>
            <a:off x="685800" y="3291840"/>
            <a:ext cx="9144000" cy="640080"/>
          </a:xfrm>
          <a:prstGeom prst="rect">
            <a:avLst/>
          </a:prstGeom>
          <a:noFill/>
          <a:ln/>
        </p:spPr>
        <p:txBody>
          <a:bodyPr wrap="square" lIns="0" tIns="0" rIns="0" bIns="0" rtlCol="0" anchor="ctr"/>
          <a:lstStyle/>
          <a:p>
            <a:pPr indent="0" marL="0">
              <a:buNone/>
            </a:pPr>
            <a:r>
              <a:rPr lang="en-US" sz="1700" dirty="0">
                <a:solidFill>
                  <a:srgbClr val="B9C2CC"/>
                </a:solidFill>
                <a:latin typeface="Cambria" pitchFamily="34" charset="0"/>
                <a:ea typeface="Cambria" pitchFamily="34" charset="-122"/>
                <a:cs typeface="Cambria" pitchFamily="34" charset="-120"/>
              </a:rPr>
              <a:t>Gioia &amp; Chittipeddi (1991) and Maznevski &amp; Chudoba (2000), read against the eight analysis questions</a:t>
            </a:r>
            <a:endParaRPr lang="en-US" sz="1700" dirty="0"/>
          </a:p>
        </p:txBody>
      </p:sp>
      <p:sp>
        <p:nvSpPr>
          <p:cNvPr id="6" name="Shape 4"/>
          <p:cNvSpPr/>
          <p:nvPr/>
        </p:nvSpPr>
        <p:spPr>
          <a:xfrm>
            <a:off x="685800" y="4206240"/>
            <a:ext cx="146304" cy="146304"/>
          </a:xfrm>
          <a:prstGeom prst="rect">
            <a:avLst/>
          </a:prstGeom>
          <a:solidFill>
            <a:srgbClr val="0E2237"/>
          </a:solidFill>
          <a:ln w="16510">
            <a:solidFill>
              <a:srgbClr val="D2A73F"/>
            </a:solidFill>
            <a:prstDash val="solid"/>
          </a:ln>
        </p:spPr>
      </p:sp>
      <p:sp>
        <p:nvSpPr>
          <p:cNvPr id="7" name="Shape 5"/>
          <p:cNvSpPr/>
          <p:nvPr/>
        </p:nvSpPr>
        <p:spPr>
          <a:xfrm>
            <a:off x="923544" y="4206240"/>
            <a:ext cx="146304" cy="146304"/>
          </a:xfrm>
          <a:prstGeom prst="rect">
            <a:avLst/>
          </a:prstGeom>
          <a:solidFill>
            <a:srgbClr val="D2A73F"/>
          </a:solidFill>
          <a:ln w="16510">
            <a:solidFill>
              <a:srgbClr val="D2A73F"/>
            </a:solidFill>
            <a:prstDash val="solid"/>
          </a:ln>
        </p:spPr>
      </p:sp>
      <p:sp>
        <p:nvSpPr>
          <p:cNvPr id="8" name="Shape 6"/>
          <p:cNvSpPr/>
          <p:nvPr/>
        </p:nvSpPr>
        <p:spPr>
          <a:xfrm>
            <a:off x="1161288" y="4206240"/>
            <a:ext cx="146304" cy="146304"/>
          </a:xfrm>
          <a:prstGeom prst="rect">
            <a:avLst/>
          </a:prstGeom>
          <a:solidFill>
            <a:srgbClr val="0E2237"/>
          </a:solidFill>
          <a:ln w="16510">
            <a:solidFill>
              <a:srgbClr val="D2A73F"/>
            </a:solidFill>
            <a:prstDash val="solid"/>
          </a:ln>
        </p:spPr>
      </p:sp>
      <p:sp>
        <p:nvSpPr>
          <p:cNvPr id="9" name="Shape 7"/>
          <p:cNvSpPr/>
          <p:nvPr/>
        </p:nvSpPr>
        <p:spPr>
          <a:xfrm>
            <a:off x="1399032" y="4206240"/>
            <a:ext cx="146304" cy="146304"/>
          </a:xfrm>
          <a:prstGeom prst="rect">
            <a:avLst/>
          </a:prstGeom>
          <a:solidFill>
            <a:srgbClr val="D2A73F"/>
          </a:solidFill>
          <a:ln w="16510">
            <a:solidFill>
              <a:srgbClr val="D2A73F"/>
            </a:solidFill>
            <a:prstDash val="solid"/>
          </a:ln>
        </p:spPr>
      </p:sp>
      <p:sp>
        <p:nvSpPr>
          <p:cNvPr id="10" name="Text 8"/>
          <p:cNvSpPr/>
          <p:nvPr/>
        </p:nvSpPr>
        <p:spPr>
          <a:xfrm>
            <a:off x="685800" y="5760720"/>
            <a:ext cx="10058400" cy="274320"/>
          </a:xfrm>
          <a:prstGeom prst="rect">
            <a:avLst/>
          </a:prstGeom>
          <a:noFill/>
          <a:ln/>
        </p:spPr>
        <p:txBody>
          <a:bodyPr wrap="square" lIns="0" tIns="0" rIns="0" bIns="0" rtlCol="0" anchor="ctr"/>
          <a:lstStyle/>
          <a:p>
            <a:pPr indent="0" marL="0">
              <a:buNone/>
            </a:pPr>
            <a:r>
              <a:rPr lang="en-US" sz="1000" spc="50" kern="0" dirty="0">
                <a:solidFill>
                  <a:srgbClr val="8C949E"/>
                </a:solidFill>
                <a:latin typeface="Courier New" pitchFamily="34" charset="0"/>
                <a:ea typeface="Courier New" pitchFamily="34" charset="-122"/>
                <a:cs typeface="Courier New" pitchFamily="34" charset="-120"/>
              </a:rPr>
              <a:t>Yasir A. Malik   ·   Dr. Cristina Gonzalez   ·   21 August 2026</a:t>
            </a:r>
            <a:endParaRPr lang="en-US" sz="1000" dirty="0"/>
          </a:p>
        </p:txBody>
      </p:sp>
      <p:sp>
        <p:nvSpPr>
          <p:cNvPr id="11" name="Text 9"/>
          <p:cNvSpPr/>
          <p:nvPr/>
        </p:nvSpPr>
        <p:spPr>
          <a:xfrm>
            <a:off x="685800" y="6053328"/>
            <a:ext cx="7315200" cy="274320"/>
          </a:xfrm>
          <a:prstGeom prst="rect">
            <a:avLst/>
          </a:prstGeom>
          <a:noFill/>
          <a:ln/>
        </p:spPr>
        <p:txBody>
          <a:bodyPr wrap="square" lIns="0" tIns="0" rIns="0" bIns="0" rtlCol="0" anchor="ctr"/>
          <a:lstStyle/>
          <a:p>
            <a:pPr indent="0" marL="0">
              <a:buNone/>
            </a:pPr>
            <a:r>
              <a:rPr lang="en-US" sz="1000" spc="50" kern="0" dirty="0">
                <a:solidFill>
                  <a:srgbClr val="D2A73F"/>
                </a:solidFill>
                <a:latin typeface="Courier New" pitchFamily="34" charset="0"/>
                <a:ea typeface="Courier New" pitchFamily="34" charset="-122"/>
                <a:cs typeface="Courier New" pitchFamily="34" charset="-120"/>
              </a:rPr>
              <a:t>github.com/AuditingAI/Profile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Same family. Different bet.</a:t>
            </a:r>
            <a:endParaRPr lang="en-US" sz="3200" dirty="0"/>
          </a:p>
        </p:txBody>
      </p:sp>
      <p:sp>
        <p:nvSpPr>
          <p:cNvPr id="4" name="Shape 2"/>
          <p:cNvSpPr/>
          <p:nvPr/>
        </p:nvSpPr>
        <p:spPr>
          <a:xfrm>
            <a:off x="685800" y="2103120"/>
            <a:ext cx="5212080" cy="3703320"/>
          </a:xfrm>
          <a:prstGeom prst="rect">
            <a:avLst/>
          </a:prstGeom>
          <a:solidFill>
            <a:srgbClr val="E9EFF6"/>
          </a:solidFill>
          <a:ln w="12700">
            <a:solidFill>
              <a:srgbClr val="333333"/>
            </a:solidFill>
            <a:prstDash val="solid"/>
          </a:ln>
        </p:spPr>
      </p:sp>
      <p:sp>
        <p:nvSpPr>
          <p:cNvPr id="5" name="Text 3"/>
          <p:cNvSpPr/>
          <p:nvPr/>
        </p:nvSpPr>
        <p:spPr>
          <a:xfrm>
            <a:off x="960120" y="2286000"/>
            <a:ext cx="2743200" cy="256032"/>
          </a:xfrm>
          <a:prstGeom prst="rect">
            <a:avLst/>
          </a:prstGeom>
          <a:noFill/>
          <a:ln/>
        </p:spPr>
        <p:txBody>
          <a:bodyPr wrap="square" lIns="0" tIns="0" rIns="0" bIns="0" rtlCol="0" anchor="ctr"/>
          <a:lstStyle/>
          <a:p>
            <a:pPr indent="0" marL="0">
              <a:buNone/>
            </a:pPr>
            <a:r>
              <a:rPr lang="en-US" sz="1000" b="1" spc="150" kern="0" dirty="0">
                <a:solidFill>
                  <a:srgbClr val="1F4E79"/>
                </a:solidFill>
                <a:latin typeface="Courier New" pitchFamily="34" charset="0"/>
                <a:ea typeface="Courier New" pitchFamily="34" charset="-122"/>
                <a:cs typeface="Courier New" pitchFamily="34" charset="-120"/>
              </a:rPr>
              <a:t>STUDY A</a:t>
            </a:r>
            <a:endParaRPr lang="en-US" sz="1000" dirty="0"/>
          </a:p>
        </p:txBody>
      </p:sp>
      <p:sp>
        <p:nvSpPr>
          <p:cNvPr id="6" name="Text 4"/>
          <p:cNvSpPr/>
          <p:nvPr/>
        </p:nvSpPr>
        <p:spPr>
          <a:xfrm>
            <a:off x="960120" y="2606040"/>
            <a:ext cx="4663440" cy="868680"/>
          </a:xfrm>
          <a:prstGeom prst="rect">
            <a:avLst/>
          </a:prstGeom>
          <a:noFill/>
          <a:ln/>
        </p:spPr>
        <p:txBody>
          <a:bodyPr wrap="square" lIns="0" tIns="0" rIns="0" bIns="0" rtlCol="0" anchor="ctr"/>
          <a:lstStyle/>
          <a:p>
            <a:pPr indent="0" marL="0">
              <a:buNone/>
            </a:pPr>
            <a:r>
              <a:rPr lang="en-US" sz="1700" b="1" dirty="0">
                <a:solidFill>
                  <a:srgbClr val="14171C"/>
                </a:solidFill>
                <a:latin typeface="Georgia" pitchFamily="34" charset="0"/>
                <a:ea typeface="Georgia" pitchFamily="34" charset="-122"/>
                <a:cs typeface="Georgia" pitchFamily="34" charset="-120"/>
              </a:rPr>
              <a:t>Sensemaking and sensegiving in strategic change initiation</a:t>
            </a:r>
            <a:endParaRPr lang="en-US" sz="1700" dirty="0"/>
          </a:p>
        </p:txBody>
      </p:sp>
      <p:sp>
        <p:nvSpPr>
          <p:cNvPr id="7" name="Text 5"/>
          <p:cNvSpPr/>
          <p:nvPr/>
        </p:nvSpPr>
        <p:spPr>
          <a:xfrm>
            <a:off x="960120" y="3520440"/>
            <a:ext cx="4663440" cy="548640"/>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Gioia &amp; Chittipeddi (1991)</a:t>
            </a:r>
            <a:endParaRPr lang="en-US" sz="1000" dirty="0"/>
          </a:p>
          <a:p>
            <a:pPr indent="0" marL="0">
              <a:buNone/>
            </a:pPr>
            <a:r>
              <a:rPr lang="en-US" sz="1000" dirty="0">
                <a:solidFill>
                  <a:srgbClr val="767D86"/>
                </a:solidFill>
                <a:latin typeface="Courier New" pitchFamily="34" charset="0"/>
                <a:ea typeface="Courier New" pitchFamily="34" charset="-122"/>
                <a:cs typeface="Courier New" pitchFamily="34" charset="-120"/>
              </a:rPr>
              <a:t>Strategic Management Journal 12(6)</a:t>
            </a:r>
            <a:endParaRPr lang="en-US" sz="1000" dirty="0"/>
          </a:p>
        </p:txBody>
      </p:sp>
      <p:sp>
        <p:nvSpPr>
          <p:cNvPr id="8" name="Text 6"/>
          <p:cNvSpPr/>
          <p:nvPr/>
        </p:nvSpPr>
        <p:spPr>
          <a:xfrm>
            <a:off x="960120" y="4160520"/>
            <a:ext cx="4663440" cy="548640"/>
          </a:xfrm>
          <a:prstGeom prst="rect">
            <a:avLst/>
          </a:prstGeom>
          <a:noFill/>
          <a:ln/>
        </p:spPr>
        <p:txBody>
          <a:bodyPr wrap="square" lIns="0" tIns="0" rIns="0" bIns="0" rtlCol="0" anchor="ctr"/>
          <a:lstStyle/>
          <a:p>
            <a:pPr indent="0" marL="0">
              <a:buNone/>
            </a:pPr>
            <a:r>
              <a:rPr lang="en-US" sz="1500" dirty="0">
                <a:solidFill>
                  <a:srgbClr val="14171C"/>
                </a:solidFill>
                <a:latin typeface="Cambria" pitchFamily="34" charset="0"/>
                <a:ea typeface="Cambria" pitchFamily="34" charset="-122"/>
                <a:cs typeface="Cambria" pitchFamily="34" charset="-120"/>
              </a:rPr>
              <a:t>One university. One president. Watched live, from inside.</a:t>
            </a:r>
            <a:endParaRPr lang="en-US" sz="1500" dirty="0"/>
          </a:p>
        </p:txBody>
      </p:sp>
      <p:sp>
        <p:nvSpPr>
          <p:cNvPr id="9" name="Text 7"/>
          <p:cNvSpPr/>
          <p:nvPr/>
        </p:nvSpPr>
        <p:spPr>
          <a:xfrm>
            <a:off x="960120" y="4846320"/>
            <a:ext cx="4663440" cy="731520"/>
          </a:xfrm>
          <a:prstGeom prst="rect">
            <a:avLst/>
          </a:prstGeom>
          <a:noFill/>
          <a:ln/>
        </p:spPr>
        <p:txBody>
          <a:bodyPr wrap="square" lIns="0" tIns="0" rIns="0" bIns="0" rtlCol="0" anchor="ctr"/>
          <a:lstStyle/>
          <a:p>
            <a:pPr indent="0" marL="0">
              <a:buNone/>
            </a:pPr>
            <a:r>
              <a:rPr lang="en-US" sz="1500" i="1" dirty="0">
                <a:solidFill>
                  <a:srgbClr val="1F4E79"/>
                </a:solidFill>
                <a:latin typeface="Cambria" pitchFamily="34" charset="0"/>
                <a:ea typeface="Cambria" pitchFamily="34" charset="-122"/>
                <a:cs typeface="Cambria" pitchFamily="34" charset="-120"/>
              </a:rPr>
              <a:t>Bet: get close enough to see how meaning is made.</a:t>
            </a:r>
            <a:endParaRPr lang="en-US" sz="1500" dirty="0"/>
          </a:p>
        </p:txBody>
      </p:sp>
      <p:sp>
        <p:nvSpPr>
          <p:cNvPr id="10" name="Shape 8"/>
          <p:cNvSpPr/>
          <p:nvPr/>
        </p:nvSpPr>
        <p:spPr>
          <a:xfrm>
            <a:off x="6291072" y="2103120"/>
            <a:ext cx="5212080" cy="3703320"/>
          </a:xfrm>
          <a:prstGeom prst="rect">
            <a:avLst/>
          </a:prstGeom>
          <a:solidFill>
            <a:srgbClr val="FBF6EA"/>
          </a:solidFill>
          <a:ln w="12700">
            <a:solidFill>
              <a:srgbClr val="333333"/>
            </a:solidFill>
            <a:prstDash val="solid"/>
          </a:ln>
        </p:spPr>
      </p:sp>
      <p:sp>
        <p:nvSpPr>
          <p:cNvPr id="11" name="Text 9"/>
          <p:cNvSpPr/>
          <p:nvPr/>
        </p:nvSpPr>
        <p:spPr>
          <a:xfrm>
            <a:off x="6565392" y="2286000"/>
            <a:ext cx="2743200" cy="256032"/>
          </a:xfrm>
          <a:prstGeom prst="rect">
            <a:avLst/>
          </a:prstGeom>
          <a:noFill/>
          <a:ln/>
        </p:spPr>
        <p:txBody>
          <a:bodyPr wrap="square" lIns="0" tIns="0" rIns="0" bIns="0" rtlCol="0" anchor="ctr"/>
          <a:lstStyle/>
          <a:p>
            <a:pPr indent="0" marL="0">
              <a:buNone/>
            </a:pPr>
            <a:r>
              <a:rPr lang="en-US" sz="1000" b="1" spc="150" kern="0" dirty="0">
                <a:solidFill>
                  <a:srgbClr val="8A6410"/>
                </a:solidFill>
                <a:latin typeface="Courier New" pitchFamily="34" charset="0"/>
                <a:ea typeface="Courier New" pitchFamily="34" charset="-122"/>
                <a:cs typeface="Courier New" pitchFamily="34" charset="-120"/>
              </a:rPr>
              <a:t>STUDY B</a:t>
            </a:r>
            <a:endParaRPr lang="en-US" sz="1000" dirty="0"/>
          </a:p>
        </p:txBody>
      </p:sp>
      <p:sp>
        <p:nvSpPr>
          <p:cNvPr id="12" name="Text 10"/>
          <p:cNvSpPr/>
          <p:nvPr/>
        </p:nvSpPr>
        <p:spPr>
          <a:xfrm>
            <a:off x="6565392" y="2606040"/>
            <a:ext cx="4663440" cy="868680"/>
          </a:xfrm>
          <a:prstGeom prst="rect">
            <a:avLst/>
          </a:prstGeom>
          <a:noFill/>
          <a:ln/>
        </p:spPr>
        <p:txBody>
          <a:bodyPr wrap="square" lIns="0" tIns="0" rIns="0" bIns="0" rtlCol="0" anchor="ctr"/>
          <a:lstStyle/>
          <a:p>
            <a:pPr indent="0" marL="0">
              <a:buNone/>
            </a:pPr>
            <a:r>
              <a:rPr lang="en-US" sz="1700" b="1" dirty="0">
                <a:solidFill>
                  <a:srgbClr val="14171C"/>
                </a:solidFill>
                <a:latin typeface="Georgia" pitchFamily="34" charset="0"/>
                <a:ea typeface="Georgia" pitchFamily="34" charset="-122"/>
                <a:cs typeface="Georgia" pitchFamily="34" charset="-120"/>
              </a:rPr>
              <a:t>Bridging space over time: global virtual team dynamics and effectiveness</a:t>
            </a:r>
            <a:endParaRPr lang="en-US" sz="1700" dirty="0"/>
          </a:p>
        </p:txBody>
      </p:sp>
      <p:sp>
        <p:nvSpPr>
          <p:cNvPr id="13" name="Text 11"/>
          <p:cNvSpPr/>
          <p:nvPr/>
        </p:nvSpPr>
        <p:spPr>
          <a:xfrm>
            <a:off x="6565392" y="3520440"/>
            <a:ext cx="4663440" cy="548640"/>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Maznevski &amp; Chudoba (2000)</a:t>
            </a:r>
            <a:endParaRPr lang="en-US" sz="1000" dirty="0"/>
          </a:p>
          <a:p>
            <a:pPr indent="0" marL="0">
              <a:buNone/>
            </a:pPr>
            <a:r>
              <a:rPr lang="en-US" sz="1000" dirty="0">
                <a:solidFill>
                  <a:srgbClr val="767D86"/>
                </a:solidFill>
                <a:latin typeface="Courier New" pitchFamily="34" charset="0"/>
                <a:ea typeface="Courier New" pitchFamily="34" charset="-122"/>
                <a:cs typeface="Courier New" pitchFamily="34" charset="-120"/>
              </a:rPr>
              <a:t>Organization Science 11(5): 473–492</a:t>
            </a:r>
            <a:endParaRPr lang="en-US" sz="1000" dirty="0"/>
          </a:p>
        </p:txBody>
      </p:sp>
      <p:sp>
        <p:nvSpPr>
          <p:cNvPr id="14" name="Text 12"/>
          <p:cNvSpPr/>
          <p:nvPr/>
        </p:nvSpPr>
        <p:spPr>
          <a:xfrm>
            <a:off x="6565392" y="4160520"/>
            <a:ext cx="4663440" cy="548640"/>
          </a:xfrm>
          <a:prstGeom prst="rect">
            <a:avLst/>
          </a:prstGeom>
          <a:noFill/>
          <a:ln/>
        </p:spPr>
        <p:txBody>
          <a:bodyPr wrap="square" lIns="0" tIns="0" rIns="0" bIns="0" rtlCol="0" anchor="ctr"/>
          <a:lstStyle/>
          <a:p>
            <a:pPr indent="0" marL="0">
              <a:buNone/>
            </a:pPr>
            <a:r>
              <a:rPr lang="en-US" sz="1500" dirty="0">
                <a:solidFill>
                  <a:srgbClr val="14171C"/>
                </a:solidFill>
                <a:latin typeface="Cambria" pitchFamily="34" charset="0"/>
                <a:ea typeface="Cambria" pitchFamily="34" charset="-122"/>
                <a:cs typeface="Cambria" pitchFamily="34" charset="-120"/>
              </a:rPr>
              <a:t>Three teams. One multinational. Twenty-one months.</a:t>
            </a:r>
            <a:endParaRPr lang="en-US" sz="1500" dirty="0"/>
          </a:p>
        </p:txBody>
      </p:sp>
      <p:sp>
        <p:nvSpPr>
          <p:cNvPr id="15" name="Text 13"/>
          <p:cNvSpPr/>
          <p:nvPr/>
        </p:nvSpPr>
        <p:spPr>
          <a:xfrm>
            <a:off x="6565392" y="4846320"/>
            <a:ext cx="4663440" cy="731520"/>
          </a:xfrm>
          <a:prstGeom prst="rect">
            <a:avLst/>
          </a:prstGeom>
          <a:noFill/>
          <a:ln/>
        </p:spPr>
        <p:txBody>
          <a:bodyPr wrap="square" lIns="0" tIns="0" rIns="0" bIns="0" rtlCol="0" anchor="ctr"/>
          <a:lstStyle/>
          <a:p>
            <a:pPr indent="0" marL="0">
              <a:buNone/>
            </a:pPr>
            <a:r>
              <a:rPr lang="en-US" sz="1500" i="1" dirty="0">
                <a:solidFill>
                  <a:srgbClr val="8A6410"/>
                </a:solidFill>
                <a:latin typeface="Cambria" pitchFamily="34" charset="0"/>
                <a:ea typeface="Cambria" pitchFamily="34" charset="-122"/>
                <a:cs typeface="Cambria" pitchFamily="34" charset="-120"/>
              </a:rPr>
              <a:t>Bet: watch long enough to see the pattern repeat.</a:t>
            </a:r>
            <a:endParaRPr lang="en-US" sz="1500" dirty="0"/>
          </a:p>
        </p:txBody>
      </p:sp>
      <p:sp>
        <p:nvSpPr>
          <p:cNvPr id="16" name="Text 14"/>
          <p:cNvSpPr/>
          <p:nvPr/>
        </p:nvSpPr>
        <p:spPr>
          <a:xfrm>
            <a:off x="685800" y="6309360"/>
            <a:ext cx="10817352"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Both are qualitative, longitudinal and interpretive. They differ on where the researcher stands.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Gioia — the finding, drawn</a:t>
            </a:r>
            <a:endParaRPr lang="en-US" sz="3200" dirty="0"/>
          </a:p>
        </p:txBody>
      </p:sp>
      <p:sp>
        <p:nvSpPr>
          <p:cNvPr id="4" name="Text 2"/>
          <p:cNvSpPr/>
          <p:nvPr/>
        </p:nvSpPr>
        <p:spPr>
          <a:xfrm>
            <a:off x="685800" y="1572768"/>
            <a:ext cx="9601200" cy="411480"/>
          </a:xfrm>
          <a:prstGeom prst="rect">
            <a:avLst/>
          </a:prstGeom>
          <a:noFill/>
          <a:ln/>
        </p:spPr>
        <p:txBody>
          <a:bodyPr wrap="square" lIns="0" tIns="0" rIns="0" bIns="0" rtlCol="0" anchor="ctr"/>
          <a:lstStyle/>
          <a:p>
            <a:pPr indent="0" marL="0">
              <a:buNone/>
            </a:pPr>
            <a:r>
              <a:rPr lang="en-US" sz="1400" i="1" dirty="0">
                <a:solidFill>
                  <a:srgbClr val="767D86"/>
                </a:solidFill>
                <a:latin typeface="Cambria" pitchFamily="34" charset="0"/>
                <a:ea typeface="Cambria" pitchFamily="34" charset="-122"/>
                <a:cs typeface="Cambria" pitchFamily="34" charset="-120"/>
              </a:rPr>
              <a:t>Understanding it yourself and selling it to others alternate. Each round changes the next.</a:t>
            </a:r>
            <a:endParaRPr lang="en-US" sz="1400" dirty="0"/>
          </a:p>
        </p:txBody>
      </p:sp>
      <p:sp>
        <p:nvSpPr>
          <p:cNvPr id="5" name="Shape 3"/>
          <p:cNvSpPr/>
          <p:nvPr/>
        </p:nvSpPr>
        <p:spPr>
          <a:xfrm>
            <a:off x="868680" y="2514600"/>
            <a:ext cx="2148840" cy="1051560"/>
          </a:xfrm>
          <a:prstGeom prst="rect">
            <a:avLst/>
          </a:prstGeom>
          <a:solidFill>
            <a:srgbClr val="E9EFF6"/>
          </a:solidFill>
          <a:ln w="19050">
            <a:solidFill>
              <a:srgbClr val="1F4E79"/>
            </a:solidFill>
            <a:prstDash val="solid"/>
          </a:ln>
        </p:spPr>
      </p:sp>
      <p:sp>
        <p:nvSpPr>
          <p:cNvPr id="6" name="Text 4"/>
          <p:cNvSpPr/>
          <p:nvPr/>
        </p:nvSpPr>
        <p:spPr>
          <a:xfrm>
            <a:off x="868680" y="2670048"/>
            <a:ext cx="2148840" cy="292608"/>
          </a:xfrm>
          <a:prstGeom prst="rect">
            <a:avLst/>
          </a:prstGeom>
          <a:noFill/>
          <a:ln/>
        </p:spPr>
        <p:txBody>
          <a:bodyPr wrap="square" lIns="0" tIns="0" rIns="0" bIns="0" rtlCol="0" anchor="ctr"/>
          <a:lstStyle/>
          <a:p>
            <a:pPr algn="ctr" indent="0" marL="0">
              <a:buNone/>
            </a:pPr>
            <a:r>
              <a:rPr lang="en-US" sz="1500" b="1" dirty="0">
                <a:solidFill>
                  <a:srgbClr val="1F4E79"/>
                </a:solidFill>
                <a:latin typeface="Georgia" pitchFamily="34" charset="0"/>
                <a:ea typeface="Georgia" pitchFamily="34" charset="-122"/>
                <a:cs typeface="Georgia" pitchFamily="34" charset="-120"/>
              </a:rPr>
              <a:t>ENVISION</a:t>
            </a:r>
            <a:endParaRPr lang="en-US" sz="1500" dirty="0"/>
          </a:p>
        </p:txBody>
      </p:sp>
      <p:sp>
        <p:nvSpPr>
          <p:cNvPr id="7" name="Text 5"/>
          <p:cNvSpPr/>
          <p:nvPr/>
        </p:nvSpPr>
        <p:spPr>
          <a:xfrm>
            <a:off x="868680" y="2999232"/>
            <a:ext cx="2148840" cy="274320"/>
          </a:xfrm>
          <a:prstGeom prst="rect">
            <a:avLst/>
          </a:prstGeom>
          <a:noFill/>
          <a:ln/>
        </p:spPr>
        <p:txBody>
          <a:bodyPr wrap="square" lIns="0" tIns="0" rIns="0" bIns="0" rtlCol="0" anchor="ctr"/>
          <a:lstStyle/>
          <a:p>
            <a:pPr algn="ctr" indent="0" marL="0">
              <a:buNone/>
            </a:pPr>
            <a:r>
              <a:rPr lang="en-US" sz="1100" dirty="0">
                <a:solidFill>
                  <a:srgbClr val="767D86"/>
                </a:solidFill>
                <a:latin typeface="Cambria" pitchFamily="34" charset="0"/>
                <a:ea typeface="Cambria" pitchFamily="34" charset="-122"/>
                <a:cs typeface="Cambria" pitchFamily="34" charset="-120"/>
              </a:rPr>
              <a:t>what does it mean?</a:t>
            </a:r>
            <a:endParaRPr lang="en-US" sz="1100" dirty="0"/>
          </a:p>
        </p:txBody>
      </p:sp>
      <p:sp>
        <p:nvSpPr>
          <p:cNvPr id="8" name="Shape 6"/>
          <p:cNvSpPr/>
          <p:nvPr/>
        </p:nvSpPr>
        <p:spPr>
          <a:xfrm>
            <a:off x="3017520" y="3044952"/>
            <a:ext cx="685800" cy="0"/>
          </a:xfrm>
          <a:prstGeom prst="line">
            <a:avLst/>
          </a:prstGeom>
          <a:noFill/>
          <a:ln w="25400">
            <a:solidFill>
              <a:srgbClr val="1F4E79"/>
            </a:solidFill>
            <a:prstDash val="solid"/>
            <a:tailEnd type="triangle"/>
          </a:ln>
        </p:spPr>
      </p:sp>
      <p:sp>
        <p:nvSpPr>
          <p:cNvPr id="9" name="Shape 7"/>
          <p:cNvSpPr/>
          <p:nvPr/>
        </p:nvSpPr>
        <p:spPr>
          <a:xfrm>
            <a:off x="3703320" y="2514600"/>
            <a:ext cx="2148840" cy="1051560"/>
          </a:xfrm>
          <a:prstGeom prst="rect">
            <a:avLst/>
          </a:prstGeom>
          <a:solidFill>
            <a:srgbClr val="1F4E79"/>
          </a:solidFill>
          <a:ln w="19050">
            <a:solidFill>
              <a:srgbClr val="1F4E79"/>
            </a:solidFill>
            <a:prstDash val="solid"/>
          </a:ln>
        </p:spPr>
      </p:sp>
      <p:sp>
        <p:nvSpPr>
          <p:cNvPr id="10" name="Text 8"/>
          <p:cNvSpPr/>
          <p:nvPr/>
        </p:nvSpPr>
        <p:spPr>
          <a:xfrm>
            <a:off x="3703320" y="2670048"/>
            <a:ext cx="214884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SIGNAL</a:t>
            </a:r>
            <a:endParaRPr lang="en-US" sz="1500" dirty="0"/>
          </a:p>
        </p:txBody>
      </p:sp>
      <p:sp>
        <p:nvSpPr>
          <p:cNvPr id="11" name="Text 9"/>
          <p:cNvSpPr/>
          <p:nvPr/>
        </p:nvSpPr>
        <p:spPr>
          <a:xfrm>
            <a:off x="3703320" y="2999232"/>
            <a:ext cx="2148840" cy="274320"/>
          </a:xfrm>
          <a:prstGeom prst="rect">
            <a:avLst/>
          </a:prstGeom>
          <a:noFill/>
          <a:ln/>
        </p:spPr>
        <p:txBody>
          <a:bodyPr wrap="square" lIns="0" tIns="0" rIns="0" bIns="0" rtlCol="0" anchor="ctr"/>
          <a:lstStyle/>
          <a:p>
            <a:pPr algn="ctr" indent="0" marL="0">
              <a:buNone/>
            </a:pPr>
            <a:r>
              <a:rPr lang="en-US" sz="1100" dirty="0">
                <a:solidFill>
                  <a:srgbClr val="C9D6E4"/>
                </a:solidFill>
                <a:latin typeface="Cambria" pitchFamily="34" charset="0"/>
                <a:ea typeface="Cambria" pitchFamily="34" charset="-122"/>
                <a:cs typeface="Cambria" pitchFamily="34" charset="-120"/>
              </a:rPr>
              <a:t>tell everyone</a:t>
            </a:r>
            <a:endParaRPr lang="en-US" sz="1100" dirty="0"/>
          </a:p>
        </p:txBody>
      </p:sp>
      <p:sp>
        <p:nvSpPr>
          <p:cNvPr id="12" name="Shape 10"/>
          <p:cNvSpPr/>
          <p:nvPr/>
        </p:nvSpPr>
        <p:spPr>
          <a:xfrm>
            <a:off x="5852160" y="3044952"/>
            <a:ext cx="685800" cy="0"/>
          </a:xfrm>
          <a:prstGeom prst="line">
            <a:avLst/>
          </a:prstGeom>
          <a:noFill/>
          <a:ln w="25400">
            <a:solidFill>
              <a:srgbClr val="1F4E79"/>
            </a:solidFill>
            <a:prstDash val="solid"/>
            <a:tailEnd type="triangle"/>
          </a:ln>
        </p:spPr>
      </p:sp>
      <p:sp>
        <p:nvSpPr>
          <p:cNvPr id="13" name="Shape 11"/>
          <p:cNvSpPr/>
          <p:nvPr/>
        </p:nvSpPr>
        <p:spPr>
          <a:xfrm>
            <a:off x="6537960" y="2514600"/>
            <a:ext cx="2148840" cy="1051560"/>
          </a:xfrm>
          <a:prstGeom prst="rect">
            <a:avLst/>
          </a:prstGeom>
          <a:solidFill>
            <a:srgbClr val="E9EFF6"/>
          </a:solidFill>
          <a:ln w="19050">
            <a:solidFill>
              <a:srgbClr val="1F4E79"/>
            </a:solidFill>
            <a:prstDash val="solid"/>
          </a:ln>
        </p:spPr>
      </p:sp>
      <p:sp>
        <p:nvSpPr>
          <p:cNvPr id="14" name="Text 12"/>
          <p:cNvSpPr/>
          <p:nvPr/>
        </p:nvSpPr>
        <p:spPr>
          <a:xfrm>
            <a:off x="6537960" y="2670048"/>
            <a:ext cx="2148840" cy="292608"/>
          </a:xfrm>
          <a:prstGeom prst="rect">
            <a:avLst/>
          </a:prstGeom>
          <a:noFill/>
          <a:ln/>
        </p:spPr>
        <p:txBody>
          <a:bodyPr wrap="square" lIns="0" tIns="0" rIns="0" bIns="0" rtlCol="0" anchor="ctr"/>
          <a:lstStyle/>
          <a:p>
            <a:pPr algn="ctr" indent="0" marL="0">
              <a:buNone/>
            </a:pPr>
            <a:r>
              <a:rPr lang="en-US" sz="1500" b="1" dirty="0">
                <a:solidFill>
                  <a:srgbClr val="1F4E79"/>
                </a:solidFill>
                <a:latin typeface="Georgia" pitchFamily="34" charset="0"/>
                <a:ea typeface="Georgia" pitchFamily="34" charset="-122"/>
                <a:cs typeface="Georgia" pitchFamily="34" charset="-120"/>
              </a:rPr>
              <a:t>RE-VISION</a:t>
            </a:r>
            <a:endParaRPr lang="en-US" sz="1500" dirty="0"/>
          </a:p>
        </p:txBody>
      </p:sp>
      <p:sp>
        <p:nvSpPr>
          <p:cNvPr id="15" name="Text 13"/>
          <p:cNvSpPr/>
          <p:nvPr/>
        </p:nvSpPr>
        <p:spPr>
          <a:xfrm>
            <a:off x="6537960" y="2999232"/>
            <a:ext cx="2148840" cy="274320"/>
          </a:xfrm>
          <a:prstGeom prst="rect">
            <a:avLst/>
          </a:prstGeom>
          <a:noFill/>
          <a:ln/>
        </p:spPr>
        <p:txBody>
          <a:bodyPr wrap="square" lIns="0" tIns="0" rIns="0" bIns="0" rtlCol="0" anchor="ctr"/>
          <a:lstStyle/>
          <a:p>
            <a:pPr algn="ctr" indent="0" marL="0">
              <a:buNone/>
            </a:pPr>
            <a:r>
              <a:rPr lang="en-US" sz="1100" dirty="0">
                <a:solidFill>
                  <a:srgbClr val="767D86"/>
                </a:solidFill>
                <a:latin typeface="Cambria" pitchFamily="34" charset="0"/>
                <a:ea typeface="Cambria" pitchFamily="34" charset="-122"/>
                <a:cs typeface="Cambria" pitchFamily="34" charset="-120"/>
              </a:rPr>
              <a:t>they pushed back</a:t>
            </a:r>
            <a:endParaRPr lang="en-US" sz="1100" dirty="0"/>
          </a:p>
        </p:txBody>
      </p:sp>
      <p:sp>
        <p:nvSpPr>
          <p:cNvPr id="16" name="Shape 14"/>
          <p:cNvSpPr/>
          <p:nvPr/>
        </p:nvSpPr>
        <p:spPr>
          <a:xfrm>
            <a:off x="8686800" y="3044952"/>
            <a:ext cx="685800" cy="0"/>
          </a:xfrm>
          <a:prstGeom prst="line">
            <a:avLst/>
          </a:prstGeom>
          <a:noFill/>
          <a:ln w="25400">
            <a:solidFill>
              <a:srgbClr val="1F4E79"/>
            </a:solidFill>
            <a:prstDash val="solid"/>
            <a:tailEnd type="triangle"/>
          </a:ln>
        </p:spPr>
      </p:sp>
      <p:sp>
        <p:nvSpPr>
          <p:cNvPr id="17" name="Shape 15"/>
          <p:cNvSpPr/>
          <p:nvPr/>
        </p:nvSpPr>
        <p:spPr>
          <a:xfrm>
            <a:off x="9372600" y="2514600"/>
            <a:ext cx="2148840" cy="1051560"/>
          </a:xfrm>
          <a:prstGeom prst="rect">
            <a:avLst/>
          </a:prstGeom>
          <a:solidFill>
            <a:srgbClr val="1F4E79"/>
          </a:solidFill>
          <a:ln w="19050">
            <a:solidFill>
              <a:srgbClr val="1F4E79"/>
            </a:solidFill>
            <a:prstDash val="solid"/>
          </a:ln>
        </p:spPr>
      </p:sp>
      <p:sp>
        <p:nvSpPr>
          <p:cNvPr id="18" name="Text 16"/>
          <p:cNvSpPr/>
          <p:nvPr/>
        </p:nvSpPr>
        <p:spPr>
          <a:xfrm>
            <a:off x="9372600" y="2670048"/>
            <a:ext cx="214884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ENERGIZE</a:t>
            </a:r>
            <a:endParaRPr lang="en-US" sz="1500" dirty="0"/>
          </a:p>
        </p:txBody>
      </p:sp>
      <p:sp>
        <p:nvSpPr>
          <p:cNvPr id="19" name="Text 17"/>
          <p:cNvSpPr/>
          <p:nvPr/>
        </p:nvSpPr>
        <p:spPr>
          <a:xfrm>
            <a:off x="9372600" y="2999232"/>
            <a:ext cx="2148840" cy="274320"/>
          </a:xfrm>
          <a:prstGeom prst="rect">
            <a:avLst/>
          </a:prstGeom>
          <a:noFill/>
          <a:ln/>
        </p:spPr>
        <p:txBody>
          <a:bodyPr wrap="square" lIns="0" tIns="0" rIns="0" bIns="0" rtlCol="0" anchor="ctr"/>
          <a:lstStyle/>
          <a:p>
            <a:pPr algn="ctr" indent="0" marL="0">
              <a:buNone/>
            </a:pPr>
            <a:r>
              <a:rPr lang="en-US" sz="1100" dirty="0">
                <a:solidFill>
                  <a:srgbClr val="C9D6E4"/>
                </a:solidFill>
                <a:latin typeface="Cambria" pitchFamily="34" charset="0"/>
                <a:ea typeface="Cambria" pitchFamily="34" charset="-122"/>
                <a:cs typeface="Cambria" pitchFamily="34" charset="-120"/>
              </a:rPr>
              <a:t>sell version two</a:t>
            </a:r>
            <a:endParaRPr lang="en-US" sz="1100" dirty="0"/>
          </a:p>
        </p:txBody>
      </p:sp>
      <p:sp>
        <p:nvSpPr>
          <p:cNvPr id="20" name="Shape 18"/>
          <p:cNvSpPr/>
          <p:nvPr/>
        </p:nvSpPr>
        <p:spPr>
          <a:xfrm>
            <a:off x="914400" y="4114800"/>
            <a:ext cx="10515600" cy="0"/>
          </a:xfrm>
          <a:prstGeom prst="line">
            <a:avLst/>
          </a:prstGeom>
          <a:noFill/>
          <a:ln w="20320">
            <a:solidFill>
              <a:srgbClr val="1F4E79"/>
            </a:solidFill>
            <a:prstDash val="dash"/>
            <a:tailEnd type="triangle"/>
          </a:ln>
        </p:spPr>
      </p:sp>
      <p:sp>
        <p:nvSpPr>
          <p:cNvPr id="21" name="Text 19"/>
          <p:cNvSpPr/>
          <p:nvPr/>
        </p:nvSpPr>
        <p:spPr>
          <a:xfrm>
            <a:off x="914400" y="4187952"/>
            <a:ext cx="10515600" cy="320040"/>
          </a:xfrm>
          <a:prstGeom prst="rect">
            <a:avLst/>
          </a:prstGeom>
          <a:noFill/>
          <a:ln/>
        </p:spPr>
        <p:txBody>
          <a:bodyPr wrap="square" lIns="0" tIns="0" rIns="0" bIns="0" rtlCol="0" anchor="ctr"/>
          <a:lstStyle/>
          <a:p>
            <a:pPr algn="ctr" indent="0" marL="0">
              <a:buNone/>
            </a:pPr>
            <a:r>
              <a:rPr lang="en-US" sz="1300" i="1" dirty="0">
                <a:solidFill>
                  <a:srgbClr val="1F4E79"/>
                </a:solidFill>
                <a:latin typeface="Cambria" pitchFamily="34" charset="0"/>
                <a:ea typeface="Cambria" pitchFamily="34" charset="-122"/>
                <a:cs typeface="Cambria" pitchFamily="34" charset="-120"/>
              </a:rPr>
              <a:t>…and it runs again</a:t>
            </a:r>
            <a:endParaRPr lang="en-US" sz="1300" dirty="0"/>
          </a:p>
        </p:txBody>
      </p:sp>
      <p:sp>
        <p:nvSpPr>
          <p:cNvPr id="22" name="Shape 20"/>
          <p:cNvSpPr/>
          <p:nvPr/>
        </p:nvSpPr>
        <p:spPr>
          <a:xfrm>
            <a:off x="685800" y="4937760"/>
            <a:ext cx="128016" cy="128016"/>
          </a:xfrm>
          <a:prstGeom prst="rect">
            <a:avLst/>
          </a:prstGeom>
          <a:solidFill>
            <a:srgbClr val="FBFAF7"/>
          </a:solidFill>
          <a:ln w="15240">
            <a:solidFill>
              <a:srgbClr val="1F4E79"/>
            </a:solidFill>
            <a:prstDash val="solid"/>
          </a:ln>
        </p:spPr>
      </p:sp>
      <p:sp>
        <p:nvSpPr>
          <p:cNvPr id="23" name="Text 21"/>
          <p:cNvSpPr/>
          <p:nvPr/>
        </p:nvSpPr>
        <p:spPr>
          <a:xfrm>
            <a:off x="905256" y="4892040"/>
            <a:ext cx="3108960" cy="237744"/>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SENSEMAKING — inward</a:t>
            </a:r>
            <a:endParaRPr lang="en-US" sz="1000" dirty="0"/>
          </a:p>
        </p:txBody>
      </p:sp>
      <p:sp>
        <p:nvSpPr>
          <p:cNvPr id="24" name="Shape 22"/>
          <p:cNvSpPr/>
          <p:nvPr/>
        </p:nvSpPr>
        <p:spPr>
          <a:xfrm>
            <a:off x="4206240" y="4937760"/>
            <a:ext cx="128016" cy="128016"/>
          </a:xfrm>
          <a:prstGeom prst="rect">
            <a:avLst/>
          </a:prstGeom>
          <a:solidFill>
            <a:srgbClr val="1F4E79"/>
          </a:solidFill>
          <a:ln w="15240">
            <a:solidFill>
              <a:srgbClr val="1F4E79"/>
            </a:solidFill>
            <a:prstDash val="solid"/>
          </a:ln>
        </p:spPr>
      </p:sp>
      <p:sp>
        <p:nvSpPr>
          <p:cNvPr id="25" name="Text 23"/>
          <p:cNvSpPr/>
          <p:nvPr/>
        </p:nvSpPr>
        <p:spPr>
          <a:xfrm>
            <a:off x="4425696" y="4892040"/>
            <a:ext cx="3657600" cy="237744"/>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SENSEGIVING — outward</a:t>
            </a:r>
            <a:endParaRPr lang="en-US" sz="1000" dirty="0"/>
          </a:p>
        </p:txBody>
      </p:sp>
      <p:sp>
        <p:nvSpPr>
          <p:cNvPr id="26" name="Text 24"/>
          <p:cNvSpPr/>
          <p:nvPr/>
        </p:nvSpPr>
        <p:spPr>
          <a:xfrm>
            <a:off x="685800" y="6309360"/>
            <a:ext cx="10817352"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Verify the four phase names against the paper — the alternation is the claim, the labels are the detail.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Maznevski — the finding, drawn</a:t>
            </a:r>
            <a:endParaRPr lang="en-US" sz="3200" dirty="0"/>
          </a:p>
        </p:txBody>
      </p:sp>
      <p:sp>
        <p:nvSpPr>
          <p:cNvPr id="4" name="Text 2"/>
          <p:cNvSpPr/>
          <p:nvPr/>
        </p:nvSpPr>
        <p:spPr>
          <a:xfrm>
            <a:off x="685800" y="1572768"/>
            <a:ext cx="9601200" cy="411480"/>
          </a:xfrm>
          <a:prstGeom prst="rect">
            <a:avLst/>
          </a:prstGeom>
          <a:noFill/>
          <a:ln/>
        </p:spPr>
        <p:txBody>
          <a:bodyPr wrap="square" lIns="0" tIns="0" rIns="0" bIns="0" rtlCol="0" anchor="ctr"/>
          <a:lstStyle/>
          <a:p>
            <a:pPr indent="0" marL="0">
              <a:buNone/>
            </a:pPr>
            <a:r>
              <a:rPr lang="en-US" sz="1400" i="1" dirty="0">
                <a:solidFill>
                  <a:srgbClr val="767D86"/>
                </a:solidFill>
                <a:latin typeface="Cambria" pitchFamily="34" charset="0"/>
                <a:ea typeface="Cambria" pitchFamily="34" charset="-122"/>
                <a:cs typeface="Cambria" pitchFamily="34" charset="-120"/>
              </a:rPr>
              <a:t>Effective teams keep a beat. Face-to-face sets the tempo; mediated work fills the gaps.</a:t>
            </a:r>
            <a:endParaRPr lang="en-US" sz="1400" dirty="0"/>
          </a:p>
        </p:txBody>
      </p:sp>
      <p:sp>
        <p:nvSpPr>
          <p:cNvPr id="5" name="Shape 3"/>
          <p:cNvSpPr/>
          <p:nvPr/>
        </p:nvSpPr>
        <p:spPr>
          <a:xfrm>
            <a:off x="1005840" y="4389120"/>
            <a:ext cx="9966960" cy="0"/>
          </a:xfrm>
          <a:prstGeom prst="line">
            <a:avLst/>
          </a:prstGeom>
          <a:noFill/>
          <a:ln w="12700">
            <a:solidFill>
              <a:srgbClr val="C9C4B9"/>
            </a:solidFill>
            <a:prstDash val="solid"/>
          </a:ln>
        </p:spPr>
      </p:sp>
      <p:sp>
        <p:nvSpPr>
          <p:cNvPr id="6" name="Shape 4"/>
          <p:cNvSpPr/>
          <p:nvPr/>
        </p:nvSpPr>
        <p:spPr>
          <a:xfrm>
            <a:off x="1325880" y="2606040"/>
            <a:ext cx="384048" cy="1783080"/>
          </a:xfrm>
          <a:prstGeom prst="rect">
            <a:avLst/>
          </a:prstGeom>
          <a:solidFill>
            <a:srgbClr val="8A6410"/>
          </a:solidFill>
          <a:ln w="12700">
            <a:solidFill>
              <a:srgbClr val="333333"/>
            </a:solidFill>
            <a:prstDash val="solid"/>
          </a:ln>
        </p:spPr>
      </p:sp>
      <p:sp>
        <p:nvSpPr>
          <p:cNvPr id="7" name="Text 5"/>
          <p:cNvSpPr/>
          <p:nvPr/>
        </p:nvSpPr>
        <p:spPr>
          <a:xfrm>
            <a:off x="914400" y="2240280"/>
            <a:ext cx="11887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8" name="Shape 6"/>
          <p:cNvSpPr/>
          <p:nvPr/>
        </p:nvSpPr>
        <p:spPr>
          <a:xfrm>
            <a:off x="3840480" y="2606040"/>
            <a:ext cx="384048" cy="1783080"/>
          </a:xfrm>
          <a:prstGeom prst="rect">
            <a:avLst/>
          </a:prstGeom>
          <a:solidFill>
            <a:srgbClr val="8A6410"/>
          </a:solidFill>
          <a:ln w="12700">
            <a:solidFill>
              <a:srgbClr val="333333"/>
            </a:solidFill>
            <a:prstDash val="solid"/>
          </a:ln>
        </p:spPr>
      </p:sp>
      <p:sp>
        <p:nvSpPr>
          <p:cNvPr id="9" name="Text 7"/>
          <p:cNvSpPr/>
          <p:nvPr/>
        </p:nvSpPr>
        <p:spPr>
          <a:xfrm>
            <a:off x="3429000" y="2240280"/>
            <a:ext cx="11887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10" name="Shape 8"/>
          <p:cNvSpPr/>
          <p:nvPr/>
        </p:nvSpPr>
        <p:spPr>
          <a:xfrm>
            <a:off x="6355080" y="2606040"/>
            <a:ext cx="384048" cy="1783080"/>
          </a:xfrm>
          <a:prstGeom prst="rect">
            <a:avLst/>
          </a:prstGeom>
          <a:solidFill>
            <a:srgbClr val="8A6410"/>
          </a:solidFill>
          <a:ln w="12700">
            <a:solidFill>
              <a:srgbClr val="333333"/>
            </a:solidFill>
            <a:prstDash val="solid"/>
          </a:ln>
        </p:spPr>
      </p:sp>
      <p:sp>
        <p:nvSpPr>
          <p:cNvPr id="11" name="Text 9"/>
          <p:cNvSpPr/>
          <p:nvPr/>
        </p:nvSpPr>
        <p:spPr>
          <a:xfrm>
            <a:off x="5943600" y="2240280"/>
            <a:ext cx="11887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12" name="Shape 10"/>
          <p:cNvSpPr/>
          <p:nvPr/>
        </p:nvSpPr>
        <p:spPr>
          <a:xfrm>
            <a:off x="8869680" y="2606040"/>
            <a:ext cx="384048" cy="1783080"/>
          </a:xfrm>
          <a:prstGeom prst="rect">
            <a:avLst/>
          </a:prstGeom>
          <a:solidFill>
            <a:srgbClr val="8A6410"/>
          </a:solidFill>
          <a:ln w="12700">
            <a:solidFill>
              <a:srgbClr val="333333"/>
            </a:solidFill>
            <a:prstDash val="solid"/>
          </a:ln>
        </p:spPr>
      </p:sp>
      <p:sp>
        <p:nvSpPr>
          <p:cNvPr id="13" name="Text 11"/>
          <p:cNvSpPr/>
          <p:nvPr/>
        </p:nvSpPr>
        <p:spPr>
          <a:xfrm>
            <a:off x="8458200" y="2240280"/>
            <a:ext cx="11887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14" name="Shape 12"/>
          <p:cNvSpPr/>
          <p:nvPr/>
        </p:nvSpPr>
        <p:spPr>
          <a:xfrm>
            <a:off x="2057400" y="3730752"/>
            <a:ext cx="237744" cy="658368"/>
          </a:xfrm>
          <a:prstGeom prst="rect">
            <a:avLst/>
          </a:prstGeom>
          <a:solidFill>
            <a:srgbClr val="E4D3A8"/>
          </a:solidFill>
          <a:ln w="12700">
            <a:solidFill>
              <a:srgbClr val="333333"/>
            </a:solidFill>
            <a:prstDash val="solid"/>
          </a:ln>
        </p:spPr>
      </p:sp>
      <p:sp>
        <p:nvSpPr>
          <p:cNvPr id="15" name="Shape 13"/>
          <p:cNvSpPr/>
          <p:nvPr/>
        </p:nvSpPr>
        <p:spPr>
          <a:xfrm>
            <a:off x="2468880" y="3730752"/>
            <a:ext cx="237744" cy="658368"/>
          </a:xfrm>
          <a:prstGeom prst="rect">
            <a:avLst/>
          </a:prstGeom>
          <a:solidFill>
            <a:srgbClr val="E4D3A8"/>
          </a:solidFill>
          <a:ln w="12700">
            <a:solidFill>
              <a:srgbClr val="333333"/>
            </a:solidFill>
            <a:prstDash val="solid"/>
          </a:ln>
        </p:spPr>
      </p:sp>
      <p:sp>
        <p:nvSpPr>
          <p:cNvPr id="16" name="Shape 14"/>
          <p:cNvSpPr/>
          <p:nvPr/>
        </p:nvSpPr>
        <p:spPr>
          <a:xfrm>
            <a:off x="2880360" y="3730752"/>
            <a:ext cx="237744" cy="658368"/>
          </a:xfrm>
          <a:prstGeom prst="rect">
            <a:avLst/>
          </a:prstGeom>
          <a:solidFill>
            <a:srgbClr val="E4D3A8"/>
          </a:solidFill>
          <a:ln w="12700">
            <a:solidFill>
              <a:srgbClr val="333333"/>
            </a:solidFill>
            <a:prstDash val="solid"/>
          </a:ln>
        </p:spPr>
      </p:sp>
      <p:sp>
        <p:nvSpPr>
          <p:cNvPr id="17" name="Shape 15"/>
          <p:cNvSpPr/>
          <p:nvPr/>
        </p:nvSpPr>
        <p:spPr>
          <a:xfrm>
            <a:off x="4572000" y="3730752"/>
            <a:ext cx="237744" cy="658368"/>
          </a:xfrm>
          <a:prstGeom prst="rect">
            <a:avLst/>
          </a:prstGeom>
          <a:solidFill>
            <a:srgbClr val="E4D3A8"/>
          </a:solidFill>
          <a:ln w="12700">
            <a:solidFill>
              <a:srgbClr val="333333"/>
            </a:solidFill>
            <a:prstDash val="solid"/>
          </a:ln>
        </p:spPr>
      </p:sp>
      <p:sp>
        <p:nvSpPr>
          <p:cNvPr id="18" name="Shape 16"/>
          <p:cNvSpPr/>
          <p:nvPr/>
        </p:nvSpPr>
        <p:spPr>
          <a:xfrm>
            <a:off x="4983480" y="3730752"/>
            <a:ext cx="237744" cy="658368"/>
          </a:xfrm>
          <a:prstGeom prst="rect">
            <a:avLst/>
          </a:prstGeom>
          <a:solidFill>
            <a:srgbClr val="E4D3A8"/>
          </a:solidFill>
          <a:ln w="12700">
            <a:solidFill>
              <a:srgbClr val="333333"/>
            </a:solidFill>
            <a:prstDash val="solid"/>
          </a:ln>
        </p:spPr>
      </p:sp>
      <p:sp>
        <p:nvSpPr>
          <p:cNvPr id="19" name="Shape 17"/>
          <p:cNvSpPr/>
          <p:nvPr/>
        </p:nvSpPr>
        <p:spPr>
          <a:xfrm>
            <a:off x="5394960" y="3730752"/>
            <a:ext cx="237744" cy="658368"/>
          </a:xfrm>
          <a:prstGeom prst="rect">
            <a:avLst/>
          </a:prstGeom>
          <a:solidFill>
            <a:srgbClr val="E4D3A8"/>
          </a:solidFill>
          <a:ln w="12700">
            <a:solidFill>
              <a:srgbClr val="333333"/>
            </a:solidFill>
            <a:prstDash val="solid"/>
          </a:ln>
        </p:spPr>
      </p:sp>
      <p:sp>
        <p:nvSpPr>
          <p:cNvPr id="20" name="Shape 18"/>
          <p:cNvSpPr/>
          <p:nvPr/>
        </p:nvSpPr>
        <p:spPr>
          <a:xfrm>
            <a:off x="7086600" y="3730752"/>
            <a:ext cx="237744" cy="658368"/>
          </a:xfrm>
          <a:prstGeom prst="rect">
            <a:avLst/>
          </a:prstGeom>
          <a:solidFill>
            <a:srgbClr val="E4D3A8"/>
          </a:solidFill>
          <a:ln w="12700">
            <a:solidFill>
              <a:srgbClr val="333333"/>
            </a:solidFill>
            <a:prstDash val="solid"/>
          </a:ln>
        </p:spPr>
      </p:sp>
      <p:sp>
        <p:nvSpPr>
          <p:cNvPr id="21" name="Shape 19"/>
          <p:cNvSpPr/>
          <p:nvPr/>
        </p:nvSpPr>
        <p:spPr>
          <a:xfrm>
            <a:off x="7498080" y="3730752"/>
            <a:ext cx="237744" cy="658368"/>
          </a:xfrm>
          <a:prstGeom prst="rect">
            <a:avLst/>
          </a:prstGeom>
          <a:solidFill>
            <a:srgbClr val="E4D3A8"/>
          </a:solidFill>
          <a:ln w="12700">
            <a:solidFill>
              <a:srgbClr val="333333"/>
            </a:solidFill>
            <a:prstDash val="solid"/>
          </a:ln>
        </p:spPr>
      </p:sp>
      <p:sp>
        <p:nvSpPr>
          <p:cNvPr id="22" name="Shape 20"/>
          <p:cNvSpPr/>
          <p:nvPr/>
        </p:nvSpPr>
        <p:spPr>
          <a:xfrm>
            <a:off x="7909560" y="3730752"/>
            <a:ext cx="237744" cy="658368"/>
          </a:xfrm>
          <a:prstGeom prst="rect">
            <a:avLst/>
          </a:prstGeom>
          <a:solidFill>
            <a:srgbClr val="E4D3A8"/>
          </a:solidFill>
          <a:ln w="12700">
            <a:solidFill>
              <a:srgbClr val="333333"/>
            </a:solidFill>
            <a:prstDash val="solid"/>
          </a:ln>
        </p:spPr>
      </p:sp>
      <p:sp>
        <p:nvSpPr>
          <p:cNvPr id="23" name="Shape 21"/>
          <p:cNvSpPr/>
          <p:nvPr/>
        </p:nvSpPr>
        <p:spPr>
          <a:xfrm>
            <a:off x="9601200" y="3730752"/>
            <a:ext cx="237744" cy="658368"/>
          </a:xfrm>
          <a:prstGeom prst="rect">
            <a:avLst/>
          </a:prstGeom>
          <a:solidFill>
            <a:srgbClr val="E4D3A8"/>
          </a:solidFill>
          <a:ln w="12700">
            <a:solidFill>
              <a:srgbClr val="333333"/>
            </a:solidFill>
            <a:prstDash val="solid"/>
          </a:ln>
        </p:spPr>
      </p:sp>
      <p:sp>
        <p:nvSpPr>
          <p:cNvPr id="24" name="Shape 22"/>
          <p:cNvSpPr/>
          <p:nvPr/>
        </p:nvSpPr>
        <p:spPr>
          <a:xfrm>
            <a:off x="10012680" y="3730752"/>
            <a:ext cx="237744" cy="658368"/>
          </a:xfrm>
          <a:prstGeom prst="rect">
            <a:avLst/>
          </a:prstGeom>
          <a:solidFill>
            <a:srgbClr val="E4D3A8"/>
          </a:solidFill>
          <a:ln w="12700">
            <a:solidFill>
              <a:srgbClr val="333333"/>
            </a:solidFill>
            <a:prstDash val="solid"/>
          </a:ln>
        </p:spPr>
      </p:sp>
      <p:sp>
        <p:nvSpPr>
          <p:cNvPr id="25" name="Shape 23"/>
          <p:cNvSpPr/>
          <p:nvPr/>
        </p:nvSpPr>
        <p:spPr>
          <a:xfrm>
            <a:off x="10424160" y="3730752"/>
            <a:ext cx="237744" cy="658368"/>
          </a:xfrm>
          <a:prstGeom prst="rect">
            <a:avLst/>
          </a:prstGeom>
          <a:solidFill>
            <a:srgbClr val="E4D3A8"/>
          </a:solidFill>
          <a:ln w="12700">
            <a:solidFill>
              <a:srgbClr val="333333"/>
            </a:solidFill>
            <a:prstDash val="solid"/>
          </a:ln>
        </p:spPr>
      </p:sp>
      <p:sp>
        <p:nvSpPr>
          <p:cNvPr id="26" name="Text 24"/>
          <p:cNvSpPr/>
          <p:nvPr/>
        </p:nvSpPr>
        <p:spPr>
          <a:xfrm>
            <a:off x="1005840" y="4498848"/>
            <a:ext cx="1828800" cy="274320"/>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time  →</a:t>
            </a:r>
            <a:endParaRPr lang="en-US" sz="1000" dirty="0"/>
          </a:p>
        </p:txBody>
      </p:sp>
      <p:sp>
        <p:nvSpPr>
          <p:cNvPr id="27" name="Text 25"/>
          <p:cNvSpPr/>
          <p:nvPr/>
        </p:nvSpPr>
        <p:spPr>
          <a:xfrm>
            <a:off x="685800" y="5029200"/>
            <a:ext cx="10607040" cy="640080"/>
          </a:xfrm>
          <a:prstGeom prst="rect">
            <a:avLst/>
          </a:prstGeom>
          <a:noFill/>
          <a:ln/>
        </p:spPr>
        <p:txBody>
          <a:bodyPr wrap="square" lIns="0" tIns="0" rIns="0" bIns="0" rtlCol="0" anchor="ctr"/>
          <a:lstStyle/>
          <a:p>
            <a:pPr indent="0" marL="0">
              <a:buNone/>
            </a:pPr>
            <a:r>
              <a:rPr lang="en-US" sz="1500" dirty="0">
                <a:solidFill>
                  <a:srgbClr val="14171C"/>
                </a:solidFill>
                <a:latin typeface="Cambria" pitchFamily="34" charset="0"/>
                <a:ea typeface="Cambria" pitchFamily="34" charset="-122"/>
                <a:cs typeface="Cambria" pitchFamily="34" charset="-120"/>
              </a:rPr>
              <a:t>The unit of analysis is the interaction incident — not the team, not the meeting. That choice is what makes the rhythm visible.</a:t>
            </a:r>
            <a:endParaRPr lang="en-US" sz="1500" dirty="0"/>
          </a:p>
        </p:txBody>
      </p:sp>
      <p:sp>
        <p:nvSpPr>
          <p:cNvPr id="28" name="Text 26"/>
          <p:cNvSpPr/>
          <p:nvPr/>
        </p:nvSpPr>
        <p:spPr>
          <a:xfrm>
            <a:off x="685800" y="6309360"/>
            <a:ext cx="10817352"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Maznevski, M. L., &amp; Chudoba, K. M. (2000). Organization Science, 11(5), 473–492.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What each one was curious about</a:t>
            </a:r>
            <a:endParaRPr lang="en-US" sz="3200" dirty="0"/>
          </a:p>
        </p:txBody>
      </p:sp>
      <p:sp>
        <p:nvSpPr>
          <p:cNvPr id="4" name="Shape 2"/>
          <p:cNvSpPr/>
          <p:nvPr/>
        </p:nvSpPr>
        <p:spPr>
          <a:xfrm>
            <a:off x="685800" y="2057400"/>
            <a:ext cx="457200" cy="457200"/>
          </a:xfrm>
          <a:prstGeom prst="ellipse">
            <a:avLst/>
          </a:prstGeom>
          <a:solidFill>
            <a:srgbClr val="E9EFF6"/>
          </a:solidFill>
          <a:ln w="16510">
            <a:solidFill>
              <a:srgbClr val="1F4E79"/>
            </a:solidFill>
            <a:prstDash val="solid"/>
          </a:ln>
        </p:spPr>
      </p:sp>
      <p:sp>
        <p:nvSpPr>
          <p:cNvPr id="5" name="Text 3"/>
          <p:cNvSpPr/>
          <p:nvPr/>
        </p:nvSpPr>
        <p:spPr>
          <a:xfrm>
            <a:off x="685800" y="2157984"/>
            <a:ext cx="457200" cy="256032"/>
          </a:xfrm>
          <a:prstGeom prst="rect">
            <a:avLst/>
          </a:prstGeom>
          <a:noFill/>
          <a:ln/>
        </p:spPr>
        <p:txBody>
          <a:bodyPr wrap="square" lIns="0" tIns="0" rIns="0" bIns="0" rtlCol="0" anchor="ctr"/>
          <a:lstStyle/>
          <a:p>
            <a:pPr algn="ctr" indent="0" marL="0">
              <a:buNone/>
            </a:pPr>
            <a:r>
              <a:rPr lang="en-US" sz="1200" b="1" dirty="0">
                <a:solidFill>
                  <a:srgbClr val="1F4E79"/>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1307592" y="2121408"/>
            <a:ext cx="4572000" cy="274320"/>
          </a:xfrm>
          <a:prstGeom prst="rect">
            <a:avLst/>
          </a:prstGeom>
          <a:noFill/>
          <a:ln/>
        </p:spPr>
        <p:txBody>
          <a:bodyPr wrap="square" lIns="0" tIns="0" rIns="0" bIns="0" rtlCol="0" anchor="ctr"/>
          <a:lstStyle/>
          <a:p>
            <a:pPr indent="0" marL="0">
              <a:buNone/>
            </a:pPr>
            <a:r>
              <a:rPr lang="en-US" sz="1050" b="1" spc="130" kern="0" dirty="0">
                <a:solidFill>
                  <a:srgbClr val="1F4E79"/>
                </a:solidFill>
                <a:latin typeface="Courier New" pitchFamily="34" charset="0"/>
                <a:ea typeface="Courier New" pitchFamily="34" charset="-122"/>
                <a:cs typeface="Courier New" pitchFamily="34" charset="-120"/>
              </a:rPr>
              <a:t>RESEARCH PROBLEM — the gap</a:t>
            </a:r>
            <a:endParaRPr lang="en-US" sz="1050" dirty="0"/>
          </a:p>
        </p:txBody>
      </p:sp>
      <p:sp>
        <p:nvSpPr>
          <p:cNvPr id="7" name="Shape 5"/>
          <p:cNvSpPr/>
          <p:nvPr/>
        </p:nvSpPr>
        <p:spPr>
          <a:xfrm>
            <a:off x="685800" y="2651760"/>
            <a:ext cx="5212080" cy="1143000"/>
          </a:xfrm>
          <a:prstGeom prst="rect">
            <a:avLst/>
          </a:prstGeom>
          <a:solidFill>
            <a:srgbClr val="E9EFF6"/>
          </a:solidFill>
          <a:ln w="12700">
            <a:solidFill>
              <a:srgbClr val="333333"/>
            </a:solidFill>
            <a:prstDash val="solid"/>
          </a:ln>
        </p:spPr>
      </p:sp>
      <p:sp>
        <p:nvSpPr>
          <p:cNvPr id="8" name="Text 6"/>
          <p:cNvSpPr/>
          <p:nvPr/>
        </p:nvSpPr>
        <p:spPr>
          <a:xfrm>
            <a:off x="914400" y="2770632"/>
            <a:ext cx="1828800" cy="228600"/>
          </a:xfrm>
          <a:prstGeom prst="rect">
            <a:avLst/>
          </a:prstGeom>
          <a:noFill/>
          <a:ln/>
        </p:spPr>
        <p:txBody>
          <a:bodyPr wrap="square" lIns="0" tIns="0" rIns="0" bIns="0" rtlCol="0" anchor="ctr"/>
          <a:lstStyle/>
          <a:p>
            <a:pPr indent="0" marL="0">
              <a:buNone/>
            </a:pPr>
            <a:r>
              <a:rPr lang="en-US" sz="900" b="1" spc="130" kern="0" dirty="0">
                <a:solidFill>
                  <a:srgbClr val="1F4E79"/>
                </a:solidFill>
                <a:latin typeface="Courier New" pitchFamily="34" charset="0"/>
                <a:ea typeface="Courier New" pitchFamily="34" charset="-122"/>
                <a:cs typeface="Courier New" pitchFamily="34" charset="-120"/>
              </a:rPr>
              <a:t>GIOIA</a:t>
            </a:r>
            <a:endParaRPr lang="en-US" sz="900" dirty="0"/>
          </a:p>
        </p:txBody>
      </p:sp>
      <p:sp>
        <p:nvSpPr>
          <p:cNvPr id="9" name="Text 7"/>
          <p:cNvSpPr/>
          <p:nvPr/>
        </p:nvSpPr>
        <p:spPr>
          <a:xfrm>
            <a:off x="914400" y="30358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Change studied as outcomes — what changed, did it work. Not as an interpretive process.</a:t>
            </a:r>
            <a:endParaRPr lang="en-US" sz="1400" dirty="0"/>
          </a:p>
        </p:txBody>
      </p:sp>
      <p:sp>
        <p:nvSpPr>
          <p:cNvPr id="10" name="Shape 8"/>
          <p:cNvSpPr/>
          <p:nvPr/>
        </p:nvSpPr>
        <p:spPr>
          <a:xfrm>
            <a:off x="6291072" y="2651760"/>
            <a:ext cx="5212080" cy="1143000"/>
          </a:xfrm>
          <a:prstGeom prst="rect">
            <a:avLst/>
          </a:prstGeom>
          <a:solidFill>
            <a:srgbClr val="FBF6EA"/>
          </a:solidFill>
          <a:ln w="12700">
            <a:solidFill>
              <a:srgbClr val="333333"/>
            </a:solidFill>
            <a:prstDash val="solid"/>
          </a:ln>
        </p:spPr>
      </p:sp>
      <p:sp>
        <p:nvSpPr>
          <p:cNvPr id="11" name="Text 9"/>
          <p:cNvSpPr/>
          <p:nvPr/>
        </p:nvSpPr>
        <p:spPr>
          <a:xfrm>
            <a:off x="6519672" y="2770632"/>
            <a:ext cx="2194560" cy="228600"/>
          </a:xfrm>
          <a:prstGeom prst="rect">
            <a:avLst/>
          </a:prstGeom>
          <a:noFill/>
          <a:ln/>
        </p:spPr>
        <p:txBody>
          <a:bodyPr wrap="square" lIns="0" tIns="0" rIns="0" bIns="0" rtlCol="0" anchor="ctr"/>
          <a:lstStyle/>
          <a:p>
            <a:pPr indent="0" marL="0">
              <a:buNone/>
            </a:pPr>
            <a:r>
              <a:rPr lang="en-US" sz="900" b="1" spc="130" kern="0" dirty="0">
                <a:solidFill>
                  <a:srgbClr val="8A6410"/>
                </a:solidFill>
                <a:latin typeface="Courier New" pitchFamily="34" charset="0"/>
                <a:ea typeface="Courier New" pitchFamily="34" charset="-122"/>
                <a:cs typeface="Courier New" pitchFamily="34" charset="-120"/>
              </a:rPr>
              <a:t>MAZNEVSKI</a:t>
            </a:r>
            <a:endParaRPr lang="en-US" sz="900" dirty="0"/>
          </a:p>
        </p:txBody>
      </p:sp>
      <p:sp>
        <p:nvSpPr>
          <p:cNvPr id="12" name="Text 10"/>
          <p:cNvSpPr/>
          <p:nvPr/>
        </p:nvSpPr>
        <p:spPr>
          <a:xfrm>
            <a:off x="6519672" y="30358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Virtual teams modelled statically — inputs, process, outputs — with no account of how they work over time.</a:t>
            </a:r>
            <a:endParaRPr lang="en-US" sz="1400" dirty="0"/>
          </a:p>
        </p:txBody>
      </p:sp>
      <p:sp>
        <p:nvSpPr>
          <p:cNvPr id="13" name="Shape 11"/>
          <p:cNvSpPr/>
          <p:nvPr/>
        </p:nvSpPr>
        <p:spPr>
          <a:xfrm>
            <a:off x="685800" y="4114800"/>
            <a:ext cx="457200" cy="457200"/>
          </a:xfrm>
          <a:prstGeom prst="ellipse">
            <a:avLst/>
          </a:prstGeom>
          <a:solidFill>
            <a:srgbClr val="E9EFF6"/>
          </a:solidFill>
          <a:ln w="16510">
            <a:solidFill>
              <a:srgbClr val="1F4E79"/>
            </a:solidFill>
            <a:prstDash val="solid"/>
          </a:ln>
        </p:spPr>
      </p:sp>
      <p:sp>
        <p:nvSpPr>
          <p:cNvPr id="14" name="Text 12"/>
          <p:cNvSpPr/>
          <p:nvPr/>
        </p:nvSpPr>
        <p:spPr>
          <a:xfrm>
            <a:off x="685800" y="4215384"/>
            <a:ext cx="457200" cy="256032"/>
          </a:xfrm>
          <a:prstGeom prst="rect">
            <a:avLst/>
          </a:prstGeom>
          <a:noFill/>
          <a:ln/>
        </p:spPr>
        <p:txBody>
          <a:bodyPr wrap="square" lIns="0" tIns="0" rIns="0" bIns="0" rtlCol="0" anchor="ctr"/>
          <a:lstStyle/>
          <a:p>
            <a:pPr algn="ctr" indent="0" marL="0">
              <a:buNone/>
            </a:pPr>
            <a:r>
              <a:rPr lang="en-US" sz="1200" b="1" dirty="0">
                <a:solidFill>
                  <a:srgbClr val="1F4E79"/>
                </a:solidFill>
                <a:latin typeface="Courier New" pitchFamily="34" charset="0"/>
                <a:ea typeface="Courier New" pitchFamily="34" charset="-122"/>
                <a:cs typeface="Courier New" pitchFamily="34" charset="-120"/>
              </a:rPr>
              <a:t>02</a:t>
            </a:r>
            <a:endParaRPr lang="en-US" sz="1200" dirty="0"/>
          </a:p>
        </p:txBody>
      </p:sp>
      <p:sp>
        <p:nvSpPr>
          <p:cNvPr id="15" name="Text 13"/>
          <p:cNvSpPr/>
          <p:nvPr/>
        </p:nvSpPr>
        <p:spPr>
          <a:xfrm>
            <a:off x="1307592" y="4178808"/>
            <a:ext cx="4572000" cy="274320"/>
          </a:xfrm>
          <a:prstGeom prst="rect">
            <a:avLst/>
          </a:prstGeom>
          <a:noFill/>
          <a:ln/>
        </p:spPr>
        <p:txBody>
          <a:bodyPr wrap="square" lIns="0" tIns="0" rIns="0" bIns="0" rtlCol="0" anchor="ctr"/>
          <a:lstStyle/>
          <a:p>
            <a:pPr indent="0" marL="0">
              <a:buNone/>
            </a:pPr>
            <a:r>
              <a:rPr lang="en-US" sz="1050" b="1" spc="130" kern="0" dirty="0">
                <a:solidFill>
                  <a:srgbClr val="1F4E79"/>
                </a:solidFill>
                <a:latin typeface="Courier New" pitchFamily="34" charset="0"/>
                <a:ea typeface="Courier New" pitchFamily="34" charset="-122"/>
                <a:cs typeface="Courier New" pitchFamily="34" charset="-120"/>
              </a:rPr>
              <a:t>RESEARCH QUESTION</a:t>
            </a:r>
            <a:endParaRPr lang="en-US" sz="1050" dirty="0"/>
          </a:p>
        </p:txBody>
      </p:sp>
      <p:sp>
        <p:nvSpPr>
          <p:cNvPr id="16" name="Shape 14"/>
          <p:cNvSpPr/>
          <p:nvPr/>
        </p:nvSpPr>
        <p:spPr>
          <a:xfrm>
            <a:off x="685800" y="4709160"/>
            <a:ext cx="5212080" cy="1143000"/>
          </a:xfrm>
          <a:prstGeom prst="rect">
            <a:avLst/>
          </a:prstGeom>
          <a:solidFill>
            <a:srgbClr val="E9EFF6"/>
          </a:solidFill>
          <a:ln w="12700">
            <a:solidFill>
              <a:srgbClr val="333333"/>
            </a:solidFill>
            <a:prstDash val="solid"/>
          </a:ln>
        </p:spPr>
      </p:sp>
      <p:sp>
        <p:nvSpPr>
          <p:cNvPr id="17" name="Text 15"/>
          <p:cNvSpPr/>
          <p:nvPr/>
        </p:nvSpPr>
        <p:spPr>
          <a:xfrm>
            <a:off x="914400" y="4828032"/>
            <a:ext cx="1828800" cy="228600"/>
          </a:xfrm>
          <a:prstGeom prst="rect">
            <a:avLst/>
          </a:prstGeom>
          <a:noFill/>
          <a:ln/>
        </p:spPr>
        <p:txBody>
          <a:bodyPr wrap="square" lIns="0" tIns="0" rIns="0" bIns="0" rtlCol="0" anchor="ctr"/>
          <a:lstStyle/>
          <a:p>
            <a:pPr indent="0" marL="0">
              <a:buNone/>
            </a:pPr>
            <a:r>
              <a:rPr lang="en-US" sz="900" b="1" spc="130" kern="0" dirty="0">
                <a:solidFill>
                  <a:srgbClr val="1F4E79"/>
                </a:solidFill>
                <a:latin typeface="Courier New" pitchFamily="34" charset="0"/>
                <a:ea typeface="Courier New" pitchFamily="34" charset="-122"/>
                <a:cs typeface="Courier New" pitchFamily="34" charset="-120"/>
              </a:rPr>
              <a:t>GIOIA</a:t>
            </a:r>
            <a:endParaRPr lang="en-US" sz="900" dirty="0"/>
          </a:p>
        </p:txBody>
      </p:sp>
      <p:sp>
        <p:nvSpPr>
          <p:cNvPr id="18" name="Text 16"/>
          <p:cNvSpPr/>
          <p:nvPr/>
        </p:nvSpPr>
        <p:spPr>
          <a:xfrm>
            <a:off x="914400" y="50932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How is change initiated? What does a leader do, cognitively and socially, to start one?</a:t>
            </a:r>
            <a:endParaRPr lang="en-US" sz="1400" dirty="0"/>
          </a:p>
        </p:txBody>
      </p:sp>
      <p:sp>
        <p:nvSpPr>
          <p:cNvPr id="19" name="Shape 17"/>
          <p:cNvSpPr/>
          <p:nvPr/>
        </p:nvSpPr>
        <p:spPr>
          <a:xfrm>
            <a:off x="6291072" y="4709160"/>
            <a:ext cx="5212080" cy="1143000"/>
          </a:xfrm>
          <a:prstGeom prst="rect">
            <a:avLst/>
          </a:prstGeom>
          <a:solidFill>
            <a:srgbClr val="FBF6EA"/>
          </a:solidFill>
          <a:ln w="12700">
            <a:solidFill>
              <a:srgbClr val="333333"/>
            </a:solidFill>
            <a:prstDash val="solid"/>
          </a:ln>
        </p:spPr>
      </p:sp>
      <p:sp>
        <p:nvSpPr>
          <p:cNvPr id="20" name="Text 18"/>
          <p:cNvSpPr/>
          <p:nvPr/>
        </p:nvSpPr>
        <p:spPr>
          <a:xfrm>
            <a:off x="6519672" y="4828032"/>
            <a:ext cx="2194560" cy="228600"/>
          </a:xfrm>
          <a:prstGeom prst="rect">
            <a:avLst/>
          </a:prstGeom>
          <a:noFill/>
          <a:ln/>
        </p:spPr>
        <p:txBody>
          <a:bodyPr wrap="square" lIns="0" tIns="0" rIns="0" bIns="0" rtlCol="0" anchor="ctr"/>
          <a:lstStyle/>
          <a:p>
            <a:pPr indent="0" marL="0">
              <a:buNone/>
            </a:pPr>
            <a:r>
              <a:rPr lang="en-US" sz="900" b="1" spc="130" kern="0" dirty="0">
                <a:solidFill>
                  <a:srgbClr val="8A6410"/>
                </a:solidFill>
                <a:latin typeface="Courier New" pitchFamily="34" charset="0"/>
                <a:ea typeface="Courier New" pitchFamily="34" charset="-122"/>
                <a:cs typeface="Courier New" pitchFamily="34" charset="-120"/>
              </a:rPr>
              <a:t>MAZNEVSKI</a:t>
            </a:r>
            <a:endParaRPr lang="en-US" sz="900" dirty="0"/>
          </a:p>
        </p:txBody>
      </p:sp>
      <p:sp>
        <p:nvSpPr>
          <p:cNvPr id="21" name="Text 19"/>
          <p:cNvSpPr/>
          <p:nvPr/>
        </p:nvSpPr>
        <p:spPr>
          <a:xfrm>
            <a:off x="6519672" y="50932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How do global virtual teams operate over time, and what separates the effective ones?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Where they stood, and how they worked</a:t>
            </a:r>
            <a:endParaRPr lang="en-US" sz="3200" dirty="0"/>
          </a:p>
        </p:txBody>
      </p:sp>
      <p:sp>
        <p:nvSpPr>
          <p:cNvPr id="4" name="Shape 2"/>
          <p:cNvSpPr/>
          <p:nvPr/>
        </p:nvSpPr>
        <p:spPr>
          <a:xfrm>
            <a:off x="685800" y="2057400"/>
            <a:ext cx="457200" cy="457200"/>
          </a:xfrm>
          <a:prstGeom prst="ellipse">
            <a:avLst/>
          </a:prstGeom>
          <a:solidFill>
            <a:srgbClr val="E9EFF6"/>
          </a:solidFill>
          <a:ln w="16510">
            <a:solidFill>
              <a:srgbClr val="1F4E79"/>
            </a:solidFill>
            <a:prstDash val="solid"/>
          </a:ln>
        </p:spPr>
      </p:sp>
      <p:sp>
        <p:nvSpPr>
          <p:cNvPr id="5" name="Text 3"/>
          <p:cNvSpPr/>
          <p:nvPr/>
        </p:nvSpPr>
        <p:spPr>
          <a:xfrm>
            <a:off x="685800" y="2157984"/>
            <a:ext cx="457200" cy="256032"/>
          </a:xfrm>
          <a:prstGeom prst="rect">
            <a:avLst/>
          </a:prstGeom>
          <a:noFill/>
          <a:ln/>
        </p:spPr>
        <p:txBody>
          <a:bodyPr wrap="square" lIns="0" tIns="0" rIns="0" bIns="0" rtlCol="0" anchor="ctr"/>
          <a:lstStyle/>
          <a:p>
            <a:pPr algn="ctr" indent="0" marL="0">
              <a:buNone/>
            </a:pPr>
            <a:r>
              <a:rPr lang="en-US" sz="1200" b="1" dirty="0">
                <a:solidFill>
                  <a:srgbClr val="1F4E79"/>
                </a:solidFill>
                <a:latin typeface="Courier New" pitchFamily="34" charset="0"/>
                <a:ea typeface="Courier New" pitchFamily="34" charset="-122"/>
                <a:cs typeface="Courier New" pitchFamily="34" charset="-120"/>
              </a:rPr>
              <a:t>03</a:t>
            </a:r>
            <a:endParaRPr lang="en-US" sz="1200" dirty="0"/>
          </a:p>
        </p:txBody>
      </p:sp>
      <p:sp>
        <p:nvSpPr>
          <p:cNvPr id="6" name="Text 4"/>
          <p:cNvSpPr/>
          <p:nvPr/>
        </p:nvSpPr>
        <p:spPr>
          <a:xfrm>
            <a:off x="1307592" y="2121408"/>
            <a:ext cx="4572000" cy="274320"/>
          </a:xfrm>
          <a:prstGeom prst="rect">
            <a:avLst/>
          </a:prstGeom>
          <a:noFill/>
          <a:ln/>
        </p:spPr>
        <p:txBody>
          <a:bodyPr wrap="square" lIns="0" tIns="0" rIns="0" bIns="0" rtlCol="0" anchor="ctr"/>
          <a:lstStyle/>
          <a:p>
            <a:pPr indent="0" marL="0">
              <a:buNone/>
            </a:pPr>
            <a:r>
              <a:rPr lang="en-US" sz="1050" b="1" spc="130" kern="0" dirty="0">
                <a:solidFill>
                  <a:srgbClr val="1F4E79"/>
                </a:solidFill>
                <a:latin typeface="Courier New" pitchFamily="34" charset="0"/>
                <a:ea typeface="Courier New" pitchFamily="34" charset="-122"/>
                <a:cs typeface="Courier New" pitchFamily="34" charset="-120"/>
              </a:rPr>
              <a:t>CONTEXT — setting is part of the claim</a:t>
            </a:r>
            <a:endParaRPr lang="en-US" sz="1050" dirty="0"/>
          </a:p>
        </p:txBody>
      </p:sp>
      <p:sp>
        <p:nvSpPr>
          <p:cNvPr id="7" name="Shape 5"/>
          <p:cNvSpPr/>
          <p:nvPr/>
        </p:nvSpPr>
        <p:spPr>
          <a:xfrm>
            <a:off x="685800" y="2651760"/>
            <a:ext cx="5212080" cy="1143000"/>
          </a:xfrm>
          <a:prstGeom prst="rect">
            <a:avLst/>
          </a:prstGeom>
          <a:solidFill>
            <a:srgbClr val="E9EFF6"/>
          </a:solidFill>
          <a:ln w="12700">
            <a:solidFill>
              <a:srgbClr val="333333"/>
            </a:solidFill>
            <a:prstDash val="solid"/>
          </a:ln>
        </p:spPr>
      </p:sp>
      <p:sp>
        <p:nvSpPr>
          <p:cNvPr id="8" name="Text 6"/>
          <p:cNvSpPr/>
          <p:nvPr/>
        </p:nvSpPr>
        <p:spPr>
          <a:xfrm>
            <a:off x="914400" y="2770632"/>
            <a:ext cx="1828800" cy="228600"/>
          </a:xfrm>
          <a:prstGeom prst="rect">
            <a:avLst/>
          </a:prstGeom>
          <a:noFill/>
          <a:ln/>
        </p:spPr>
        <p:txBody>
          <a:bodyPr wrap="square" lIns="0" tIns="0" rIns="0" bIns="0" rtlCol="0" anchor="ctr"/>
          <a:lstStyle/>
          <a:p>
            <a:pPr indent="0" marL="0">
              <a:buNone/>
            </a:pPr>
            <a:r>
              <a:rPr lang="en-US" sz="900" b="1" spc="130" kern="0" dirty="0">
                <a:solidFill>
                  <a:srgbClr val="1F4E79"/>
                </a:solidFill>
                <a:latin typeface="Courier New" pitchFamily="34" charset="0"/>
                <a:ea typeface="Courier New" pitchFamily="34" charset="-122"/>
                <a:cs typeface="Courier New" pitchFamily="34" charset="-120"/>
              </a:rPr>
              <a:t>GIOIA</a:t>
            </a:r>
            <a:endParaRPr lang="en-US" sz="900" dirty="0"/>
          </a:p>
        </p:txBody>
      </p:sp>
      <p:sp>
        <p:nvSpPr>
          <p:cNvPr id="9" name="Text 7"/>
          <p:cNvSpPr/>
          <p:nvPr/>
        </p:nvSpPr>
        <p:spPr>
          <a:xfrm>
            <a:off x="914400" y="30358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One large public university, a newly arrived president, studied as it happened.</a:t>
            </a:r>
            <a:endParaRPr lang="en-US" sz="1400" dirty="0"/>
          </a:p>
        </p:txBody>
      </p:sp>
      <p:sp>
        <p:nvSpPr>
          <p:cNvPr id="10" name="Shape 8"/>
          <p:cNvSpPr/>
          <p:nvPr/>
        </p:nvSpPr>
        <p:spPr>
          <a:xfrm>
            <a:off x="6291072" y="2651760"/>
            <a:ext cx="5212080" cy="1143000"/>
          </a:xfrm>
          <a:prstGeom prst="rect">
            <a:avLst/>
          </a:prstGeom>
          <a:solidFill>
            <a:srgbClr val="FBF6EA"/>
          </a:solidFill>
          <a:ln w="12700">
            <a:solidFill>
              <a:srgbClr val="333333"/>
            </a:solidFill>
            <a:prstDash val="solid"/>
          </a:ln>
        </p:spPr>
      </p:sp>
      <p:sp>
        <p:nvSpPr>
          <p:cNvPr id="11" name="Text 9"/>
          <p:cNvSpPr/>
          <p:nvPr/>
        </p:nvSpPr>
        <p:spPr>
          <a:xfrm>
            <a:off x="6519672" y="2770632"/>
            <a:ext cx="2194560" cy="228600"/>
          </a:xfrm>
          <a:prstGeom prst="rect">
            <a:avLst/>
          </a:prstGeom>
          <a:noFill/>
          <a:ln/>
        </p:spPr>
        <p:txBody>
          <a:bodyPr wrap="square" lIns="0" tIns="0" rIns="0" bIns="0" rtlCol="0" anchor="ctr"/>
          <a:lstStyle/>
          <a:p>
            <a:pPr indent="0" marL="0">
              <a:buNone/>
            </a:pPr>
            <a:r>
              <a:rPr lang="en-US" sz="900" b="1" spc="130" kern="0" dirty="0">
                <a:solidFill>
                  <a:srgbClr val="8A6410"/>
                </a:solidFill>
                <a:latin typeface="Courier New" pitchFamily="34" charset="0"/>
                <a:ea typeface="Courier New" pitchFamily="34" charset="-122"/>
                <a:cs typeface="Courier New" pitchFamily="34" charset="-120"/>
              </a:rPr>
              <a:t>MAZNEVSKI</a:t>
            </a:r>
            <a:endParaRPr lang="en-US" sz="900" dirty="0"/>
          </a:p>
        </p:txBody>
      </p:sp>
      <p:sp>
        <p:nvSpPr>
          <p:cNvPr id="12" name="Text 10"/>
          <p:cNvSpPr/>
          <p:nvPr/>
        </p:nvSpPr>
        <p:spPr>
          <a:xfrm>
            <a:off x="6519672" y="30358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Three global virtual teams inside one multinational, followed roughly twenty-one months.</a:t>
            </a:r>
            <a:endParaRPr lang="en-US" sz="1400" dirty="0"/>
          </a:p>
        </p:txBody>
      </p:sp>
      <p:sp>
        <p:nvSpPr>
          <p:cNvPr id="13" name="Shape 11"/>
          <p:cNvSpPr/>
          <p:nvPr/>
        </p:nvSpPr>
        <p:spPr>
          <a:xfrm>
            <a:off x="685800" y="4114800"/>
            <a:ext cx="457200" cy="457200"/>
          </a:xfrm>
          <a:prstGeom prst="ellipse">
            <a:avLst/>
          </a:prstGeom>
          <a:solidFill>
            <a:srgbClr val="E9EFF6"/>
          </a:solidFill>
          <a:ln w="16510">
            <a:solidFill>
              <a:srgbClr val="1F4E79"/>
            </a:solidFill>
            <a:prstDash val="solid"/>
          </a:ln>
        </p:spPr>
      </p:sp>
      <p:sp>
        <p:nvSpPr>
          <p:cNvPr id="14" name="Text 12"/>
          <p:cNvSpPr/>
          <p:nvPr/>
        </p:nvSpPr>
        <p:spPr>
          <a:xfrm>
            <a:off x="685800" y="4215384"/>
            <a:ext cx="457200" cy="256032"/>
          </a:xfrm>
          <a:prstGeom prst="rect">
            <a:avLst/>
          </a:prstGeom>
          <a:noFill/>
          <a:ln/>
        </p:spPr>
        <p:txBody>
          <a:bodyPr wrap="square" lIns="0" tIns="0" rIns="0" bIns="0" rtlCol="0" anchor="ctr"/>
          <a:lstStyle/>
          <a:p>
            <a:pPr algn="ctr" indent="0" marL="0">
              <a:buNone/>
            </a:pPr>
            <a:r>
              <a:rPr lang="en-US" sz="1200" b="1" dirty="0">
                <a:solidFill>
                  <a:srgbClr val="1F4E79"/>
                </a:solidFill>
                <a:latin typeface="Courier New" pitchFamily="34" charset="0"/>
                <a:ea typeface="Courier New" pitchFamily="34" charset="-122"/>
                <a:cs typeface="Courier New" pitchFamily="34" charset="-120"/>
              </a:rPr>
              <a:t>04</a:t>
            </a:r>
            <a:endParaRPr lang="en-US" sz="1200" dirty="0"/>
          </a:p>
        </p:txBody>
      </p:sp>
      <p:sp>
        <p:nvSpPr>
          <p:cNvPr id="15" name="Text 13"/>
          <p:cNvSpPr/>
          <p:nvPr/>
        </p:nvSpPr>
        <p:spPr>
          <a:xfrm>
            <a:off x="1307592" y="4178808"/>
            <a:ext cx="4572000" cy="274320"/>
          </a:xfrm>
          <a:prstGeom prst="rect">
            <a:avLst/>
          </a:prstGeom>
          <a:noFill/>
          <a:ln/>
        </p:spPr>
        <p:txBody>
          <a:bodyPr wrap="square" lIns="0" tIns="0" rIns="0" bIns="0" rtlCol="0" anchor="ctr"/>
          <a:lstStyle/>
          <a:p>
            <a:pPr indent="0" marL="0">
              <a:buNone/>
            </a:pPr>
            <a:r>
              <a:rPr lang="en-US" sz="1050" b="1" spc="130" kern="0" dirty="0">
                <a:solidFill>
                  <a:srgbClr val="1F4E79"/>
                </a:solidFill>
                <a:latin typeface="Courier New" pitchFamily="34" charset="0"/>
                <a:ea typeface="Courier New" pitchFamily="34" charset="-122"/>
                <a:cs typeface="Courier New" pitchFamily="34" charset="-120"/>
              </a:rPr>
              <a:t>APPROACH</a:t>
            </a:r>
            <a:endParaRPr lang="en-US" sz="1050" dirty="0"/>
          </a:p>
        </p:txBody>
      </p:sp>
      <p:sp>
        <p:nvSpPr>
          <p:cNvPr id="16" name="Shape 14"/>
          <p:cNvSpPr/>
          <p:nvPr/>
        </p:nvSpPr>
        <p:spPr>
          <a:xfrm>
            <a:off x="685800" y="4709160"/>
            <a:ext cx="5212080" cy="1143000"/>
          </a:xfrm>
          <a:prstGeom prst="rect">
            <a:avLst/>
          </a:prstGeom>
          <a:solidFill>
            <a:srgbClr val="E9EFF6"/>
          </a:solidFill>
          <a:ln w="12700">
            <a:solidFill>
              <a:srgbClr val="333333"/>
            </a:solidFill>
            <a:prstDash val="solid"/>
          </a:ln>
        </p:spPr>
      </p:sp>
      <p:sp>
        <p:nvSpPr>
          <p:cNvPr id="17" name="Text 15"/>
          <p:cNvSpPr/>
          <p:nvPr/>
        </p:nvSpPr>
        <p:spPr>
          <a:xfrm>
            <a:off x="914400" y="4828032"/>
            <a:ext cx="1828800" cy="228600"/>
          </a:xfrm>
          <a:prstGeom prst="rect">
            <a:avLst/>
          </a:prstGeom>
          <a:noFill/>
          <a:ln/>
        </p:spPr>
        <p:txBody>
          <a:bodyPr wrap="square" lIns="0" tIns="0" rIns="0" bIns="0" rtlCol="0" anchor="ctr"/>
          <a:lstStyle/>
          <a:p>
            <a:pPr indent="0" marL="0">
              <a:buNone/>
            </a:pPr>
            <a:r>
              <a:rPr lang="en-US" sz="900" b="1" spc="130" kern="0" dirty="0">
                <a:solidFill>
                  <a:srgbClr val="1F4E79"/>
                </a:solidFill>
                <a:latin typeface="Courier New" pitchFamily="34" charset="0"/>
                <a:ea typeface="Courier New" pitchFamily="34" charset="-122"/>
                <a:cs typeface="Courier New" pitchFamily="34" charset="-120"/>
              </a:rPr>
              <a:t>GIOIA</a:t>
            </a:r>
            <a:endParaRPr lang="en-US" sz="900" dirty="0"/>
          </a:p>
        </p:txBody>
      </p:sp>
      <p:sp>
        <p:nvSpPr>
          <p:cNvPr id="18" name="Text 16"/>
          <p:cNvSpPr/>
          <p:nvPr/>
        </p:nvSpPr>
        <p:spPr>
          <a:xfrm>
            <a:off x="914400" y="50932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Interpretive ethnographic case study. One organization, one process, followed through.</a:t>
            </a:r>
            <a:endParaRPr lang="en-US" sz="1400" dirty="0"/>
          </a:p>
        </p:txBody>
      </p:sp>
      <p:sp>
        <p:nvSpPr>
          <p:cNvPr id="19" name="Shape 17"/>
          <p:cNvSpPr/>
          <p:nvPr/>
        </p:nvSpPr>
        <p:spPr>
          <a:xfrm>
            <a:off x="6291072" y="4709160"/>
            <a:ext cx="5212080" cy="1143000"/>
          </a:xfrm>
          <a:prstGeom prst="rect">
            <a:avLst/>
          </a:prstGeom>
          <a:solidFill>
            <a:srgbClr val="FBF6EA"/>
          </a:solidFill>
          <a:ln w="12700">
            <a:solidFill>
              <a:srgbClr val="333333"/>
            </a:solidFill>
            <a:prstDash val="solid"/>
          </a:ln>
        </p:spPr>
      </p:sp>
      <p:sp>
        <p:nvSpPr>
          <p:cNvPr id="20" name="Text 18"/>
          <p:cNvSpPr/>
          <p:nvPr/>
        </p:nvSpPr>
        <p:spPr>
          <a:xfrm>
            <a:off x="6519672" y="4828032"/>
            <a:ext cx="2194560" cy="228600"/>
          </a:xfrm>
          <a:prstGeom prst="rect">
            <a:avLst/>
          </a:prstGeom>
          <a:noFill/>
          <a:ln/>
        </p:spPr>
        <p:txBody>
          <a:bodyPr wrap="square" lIns="0" tIns="0" rIns="0" bIns="0" rtlCol="0" anchor="ctr"/>
          <a:lstStyle/>
          <a:p>
            <a:pPr indent="0" marL="0">
              <a:buNone/>
            </a:pPr>
            <a:r>
              <a:rPr lang="en-US" sz="900" b="1" spc="130" kern="0" dirty="0">
                <a:solidFill>
                  <a:srgbClr val="8A6410"/>
                </a:solidFill>
                <a:latin typeface="Courier New" pitchFamily="34" charset="0"/>
                <a:ea typeface="Courier New" pitchFamily="34" charset="-122"/>
                <a:cs typeface="Courier New" pitchFamily="34" charset="-120"/>
              </a:rPr>
              <a:t>MAZNEVSKI</a:t>
            </a:r>
            <a:endParaRPr lang="en-US" sz="900" dirty="0"/>
          </a:p>
        </p:txBody>
      </p:sp>
      <p:sp>
        <p:nvSpPr>
          <p:cNvPr id="21" name="Text 19"/>
          <p:cNvSpPr/>
          <p:nvPr/>
        </p:nvSpPr>
        <p:spPr>
          <a:xfrm>
            <a:off x="6519672" y="50932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Longitudinal comparative case study, with adaptive structuration theory as the lens.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914400"/>
            <a:ext cx="5486400" cy="274320"/>
          </a:xfrm>
          <a:prstGeom prst="rect">
            <a:avLst/>
          </a:prstGeom>
          <a:noFill/>
          <a:ln/>
        </p:spPr>
        <p:txBody>
          <a:bodyPr wrap="square" lIns="0" tIns="0" rIns="0" bIns="0" rtlCol="0" anchor="ctr"/>
          <a:lstStyle/>
          <a:p>
            <a:pPr indent="0" marL="0">
              <a:buNone/>
            </a:pPr>
            <a:r>
              <a:rPr lang="en-US" sz="1100" spc="160" kern="0" dirty="0">
                <a:solidFill>
                  <a:srgbClr val="D2A73F"/>
                </a:solidFill>
                <a:latin typeface="Courier New" pitchFamily="34" charset="0"/>
                <a:ea typeface="Courier New" pitchFamily="34" charset="-122"/>
                <a:cs typeface="Courier New" pitchFamily="34" charset="-120"/>
              </a:rPr>
              <a:t>05  RESEARCHER ROLE</a:t>
            </a:r>
            <a:endParaRPr lang="en-US" sz="1100" dirty="0"/>
          </a:p>
        </p:txBody>
      </p:sp>
      <p:sp>
        <p:nvSpPr>
          <p:cNvPr id="4" name="Text 2"/>
          <p:cNvSpPr/>
          <p:nvPr/>
        </p:nvSpPr>
        <p:spPr>
          <a:xfrm>
            <a:off x="685800" y="128016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This is where they part company</a:t>
            </a:r>
            <a:endParaRPr lang="en-US" sz="3400" dirty="0"/>
          </a:p>
        </p:txBody>
      </p:sp>
      <p:sp>
        <p:nvSpPr>
          <p:cNvPr id="5" name="Shape 3"/>
          <p:cNvSpPr/>
          <p:nvPr/>
        </p:nvSpPr>
        <p:spPr>
          <a:xfrm>
            <a:off x="685800" y="2514600"/>
            <a:ext cx="4937760" cy="1600200"/>
          </a:xfrm>
          <a:prstGeom prst="rect">
            <a:avLst/>
          </a:prstGeom>
          <a:solidFill>
            <a:srgbClr val="18354F"/>
          </a:solidFill>
          <a:ln w="20320">
            <a:solidFill>
              <a:srgbClr val="D2A73F"/>
            </a:solidFill>
            <a:prstDash val="solid"/>
          </a:ln>
        </p:spPr>
      </p:sp>
      <p:sp>
        <p:nvSpPr>
          <p:cNvPr id="6" name="Text 4"/>
          <p:cNvSpPr/>
          <p:nvPr/>
        </p:nvSpPr>
        <p:spPr>
          <a:xfrm>
            <a:off x="685800" y="2697480"/>
            <a:ext cx="4937760" cy="365760"/>
          </a:xfrm>
          <a:prstGeom prst="rect">
            <a:avLst/>
          </a:prstGeom>
          <a:noFill/>
          <a:ln/>
        </p:spPr>
        <p:txBody>
          <a:bodyPr wrap="square" lIns="0" tIns="0" rIns="0" bIns="0" rtlCol="0" anchor="ctr"/>
          <a:lstStyle/>
          <a:p>
            <a:pPr algn="ctr" indent="0" marL="0">
              <a:buNone/>
            </a:pPr>
            <a:r>
              <a:rPr lang="en-US" sz="1900" b="1" dirty="0">
                <a:solidFill>
                  <a:srgbClr val="D2A73F"/>
                </a:solidFill>
                <a:latin typeface="Georgia" pitchFamily="34" charset="0"/>
                <a:ea typeface="Georgia" pitchFamily="34" charset="-122"/>
                <a:cs typeface="Georgia" pitchFamily="34" charset="-120"/>
              </a:rPr>
              <a:t>INSIDE</a:t>
            </a:r>
            <a:endParaRPr lang="en-US" sz="1900" dirty="0"/>
          </a:p>
        </p:txBody>
      </p:sp>
      <p:sp>
        <p:nvSpPr>
          <p:cNvPr id="7" name="Text 5"/>
          <p:cNvSpPr/>
          <p:nvPr/>
        </p:nvSpPr>
        <p:spPr>
          <a:xfrm>
            <a:off x="1097280" y="3127248"/>
            <a:ext cx="4114800" cy="777240"/>
          </a:xfrm>
          <a:prstGeom prst="rect">
            <a:avLst/>
          </a:prstGeom>
          <a:noFill/>
          <a:ln/>
        </p:spPr>
        <p:txBody>
          <a:bodyPr wrap="square" lIns="0" tIns="0" rIns="0" bIns="0" rtlCol="0" anchor="ctr"/>
          <a:lstStyle/>
          <a:p>
            <a:pPr algn="ctr" indent="0" marL="0">
              <a:buNone/>
            </a:pPr>
            <a:r>
              <a:rPr lang="en-US" sz="1400" dirty="0">
                <a:solidFill>
                  <a:srgbClr val="B9C2CC"/>
                </a:solidFill>
                <a:latin typeface="Cambria" pitchFamily="34" charset="0"/>
                <a:ea typeface="Cambria" pitchFamily="34" charset="-122"/>
                <a:cs typeface="Cambria" pitchFamily="34" charset="-120"/>
              </a:rPr>
              <a:t>Gioia — one author embedded in the change, one deliberately outside it</a:t>
            </a:r>
            <a:endParaRPr lang="en-US" sz="1400" dirty="0"/>
          </a:p>
        </p:txBody>
      </p:sp>
      <p:sp>
        <p:nvSpPr>
          <p:cNvPr id="8" name="Shape 6"/>
          <p:cNvSpPr/>
          <p:nvPr/>
        </p:nvSpPr>
        <p:spPr>
          <a:xfrm>
            <a:off x="6291072" y="2514600"/>
            <a:ext cx="4937760" cy="1600200"/>
          </a:xfrm>
          <a:prstGeom prst="rect">
            <a:avLst/>
          </a:prstGeom>
          <a:solidFill>
            <a:srgbClr val="0E2237"/>
          </a:solidFill>
          <a:ln w="20320">
            <a:solidFill>
              <a:srgbClr val="D2A73F"/>
            </a:solidFill>
            <a:prstDash val="dash"/>
          </a:ln>
        </p:spPr>
      </p:sp>
      <p:sp>
        <p:nvSpPr>
          <p:cNvPr id="9" name="Text 7"/>
          <p:cNvSpPr/>
          <p:nvPr/>
        </p:nvSpPr>
        <p:spPr>
          <a:xfrm>
            <a:off x="6291072" y="2697480"/>
            <a:ext cx="4937760" cy="365760"/>
          </a:xfrm>
          <a:prstGeom prst="rect">
            <a:avLst/>
          </a:prstGeom>
          <a:noFill/>
          <a:ln/>
        </p:spPr>
        <p:txBody>
          <a:bodyPr wrap="square" lIns="0" tIns="0" rIns="0" bIns="0" rtlCol="0" anchor="ctr"/>
          <a:lstStyle/>
          <a:p>
            <a:pPr algn="ctr" indent="0" marL="0">
              <a:buNone/>
            </a:pPr>
            <a:r>
              <a:rPr lang="en-US" sz="1900" b="1" dirty="0">
                <a:solidFill>
                  <a:srgbClr val="D2A73F"/>
                </a:solidFill>
                <a:latin typeface="Georgia" pitchFamily="34" charset="0"/>
                <a:ea typeface="Georgia" pitchFamily="34" charset="-122"/>
                <a:cs typeface="Georgia" pitchFamily="34" charset="-120"/>
              </a:rPr>
              <a:t>ACROSS</a:t>
            </a:r>
            <a:endParaRPr lang="en-US" sz="1900" dirty="0"/>
          </a:p>
        </p:txBody>
      </p:sp>
      <p:sp>
        <p:nvSpPr>
          <p:cNvPr id="10" name="Text 8"/>
          <p:cNvSpPr/>
          <p:nvPr/>
        </p:nvSpPr>
        <p:spPr>
          <a:xfrm>
            <a:off x="6702552" y="3127248"/>
            <a:ext cx="4114800" cy="777240"/>
          </a:xfrm>
          <a:prstGeom prst="rect">
            <a:avLst/>
          </a:prstGeom>
          <a:noFill/>
          <a:ln/>
        </p:spPr>
        <p:txBody>
          <a:bodyPr wrap="square" lIns="0" tIns="0" rIns="0" bIns="0" rtlCol="0" anchor="ctr"/>
          <a:lstStyle/>
          <a:p>
            <a:pPr algn="ctr" indent="0" marL="0">
              <a:buNone/>
            </a:pPr>
            <a:r>
              <a:rPr lang="en-US" sz="1400" dirty="0">
                <a:solidFill>
                  <a:srgbClr val="B9C2CC"/>
                </a:solidFill>
                <a:latin typeface="Cambria" pitchFamily="34" charset="0"/>
                <a:ea typeface="Cambria" pitchFamily="34" charset="-122"/>
                <a:cs typeface="Cambria" pitchFamily="34" charset="-120"/>
              </a:rPr>
              <a:t>Maznevski — observers across three sites, position less foregrounded</a:t>
            </a:r>
            <a:endParaRPr lang="en-US" sz="1400" dirty="0"/>
          </a:p>
        </p:txBody>
      </p:sp>
      <p:sp>
        <p:nvSpPr>
          <p:cNvPr id="11" name="Text 9"/>
          <p:cNvSpPr/>
          <p:nvPr/>
        </p:nvSpPr>
        <p:spPr>
          <a:xfrm>
            <a:off x="685800" y="4572000"/>
            <a:ext cx="10515600" cy="411480"/>
          </a:xfrm>
          <a:prstGeom prst="rect">
            <a:avLst/>
          </a:prstGeom>
          <a:noFill/>
          <a:ln/>
        </p:spPr>
        <p:txBody>
          <a:bodyPr wrap="square" lIns="0" tIns="0" rIns="0" bIns="0" rtlCol="0" anchor="ctr"/>
          <a:lstStyle/>
          <a:p>
            <a:pPr algn="ctr" indent="0" marL="0">
              <a:buNone/>
            </a:pPr>
            <a:r>
              <a:rPr lang="en-US" sz="2200" i="1" dirty="0">
                <a:solidFill>
                  <a:srgbClr val="FFFFFF"/>
                </a:solidFill>
                <a:latin typeface="Georgia" pitchFamily="34" charset="0"/>
                <a:ea typeface="Georgia" pitchFamily="34" charset="-122"/>
                <a:cs typeface="Georgia" pitchFamily="34" charset="-120"/>
              </a:rPr>
              <a:t>Gioia's split  =  engagement team  /  independent reviewer</a:t>
            </a:r>
            <a:endParaRPr lang="en-US" sz="2200" dirty="0"/>
          </a:p>
        </p:txBody>
      </p:sp>
      <p:sp>
        <p:nvSpPr>
          <p:cNvPr id="12" name="Text 10"/>
          <p:cNvSpPr/>
          <p:nvPr/>
        </p:nvSpPr>
        <p:spPr>
          <a:xfrm>
            <a:off x="685800" y="5074920"/>
            <a:ext cx="10515600" cy="365760"/>
          </a:xfrm>
          <a:prstGeom prst="rect">
            <a:avLst/>
          </a:prstGeom>
          <a:noFill/>
          <a:ln/>
        </p:spPr>
        <p:txBody>
          <a:bodyPr wrap="square" lIns="0" tIns="0" rIns="0" bIns="0" rtlCol="0" anchor="ctr"/>
          <a:lstStyle/>
          <a:p>
            <a:pPr algn="ctr" indent="0" marL="0">
              <a:buNone/>
            </a:pPr>
            <a:r>
              <a:rPr lang="en-US" sz="1500" dirty="0">
                <a:solidFill>
                  <a:srgbClr val="8C949E"/>
                </a:solidFill>
                <a:latin typeface="Cambria" pitchFamily="34" charset="0"/>
                <a:ea typeface="Cambria" pitchFamily="34" charset="-122"/>
                <a:cs typeface="Cambria" pitchFamily="34" charset="-120"/>
              </a:rPr>
              <a:t>Positioning designed into the method — not a limitation buried in an appendix.</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Doing the work</a:t>
            </a:r>
            <a:endParaRPr lang="en-US" sz="3200" dirty="0"/>
          </a:p>
        </p:txBody>
      </p:sp>
      <p:sp>
        <p:nvSpPr>
          <p:cNvPr id="4" name="Shape 2"/>
          <p:cNvSpPr/>
          <p:nvPr/>
        </p:nvSpPr>
        <p:spPr>
          <a:xfrm>
            <a:off x="685800" y="2057400"/>
            <a:ext cx="457200" cy="457200"/>
          </a:xfrm>
          <a:prstGeom prst="ellipse">
            <a:avLst/>
          </a:prstGeom>
          <a:solidFill>
            <a:srgbClr val="E9EFF6"/>
          </a:solidFill>
          <a:ln w="16510">
            <a:solidFill>
              <a:srgbClr val="1F4E79"/>
            </a:solidFill>
            <a:prstDash val="solid"/>
          </a:ln>
        </p:spPr>
      </p:sp>
      <p:sp>
        <p:nvSpPr>
          <p:cNvPr id="5" name="Text 3"/>
          <p:cNvSpPr/>
          <p:nvPr/>
        </p:nvSpPr>
        <p:spPr>
          <a:xfrm>
            <a:off x="685800" y="2157984"/>
            <a:ext cx="457200" cy="256032"/>
          </a:xfrm>
          <a:prstGeom prst="rect">
            <a:avLst/>
          </a:prstGeom>
          <a:noFill/>
          <a:ln/>
        </p:spPr>
        <p:txBody>
          <a:bodyPr wrap="square" lIns="0" tIns="0" rIns="0" bIns="0" rtlCol="0" anchor="ctr"/>
          <a:lstStyle/>
          <a:p>
            <a:pPr algn="ctr" indent="0" marL="0">
              <a:buNone/>
            </a:pPr>
            <a:r>
              <a:rPr lang="en-US" sz="1200" b="1" dirty="0">
                <a:solidFill>
                  <a:srgbClr val="1F4E79"/>
                </a:solidFill>
                <a:latin typeface="Courier New" pitchFamily="34" charset="0"/>
                <a:ea typeface="Courier New" pitchFamily="34" charset="-122"/>
                <a:cs typeface="Courier New" pitchFamily="34" charset="-120"/>
              </a:rPr>
              <a:t>06</a:t>
            </a:r>
            <a:endParaRPr lang="en-US" sz="1200" dirty="0"/>
          </a:p>
        </p:txBody>
      </p:sp>
      <p:sp>
        <p:nvSpPr>
          <p:cNvPr id="6" name="Text 4"/>
          <p:cNvSpPr/>
          <p:nvPr/>
        </p:nvSpPr>
        <p:spPr>
          <a:xfrm>
            <a:off x="1307592" y="2121408"/>
            <a:ext cx="4572000" cy="274320"/>
          </a:xfrm>
          <a:prstGeom prst="rect">
            <a:avLst/>
          </a:prstGeom>
          <a:noFill/>
          <a:ln/>
        </p:spPr>
        <p:txBody>
          <a:bodyPr wrap="square" lIns="0" tIns="0" rIns="0" bIns="0" rtlCol="0" anchor="ctr"/>
          <a:lstStyle/>
          <a:p>
            <a:pPr indent="0" marL="0">
              <a:buNone/>
            </a:pPr>
            <a:r>
              <a:rPr lang="en-US" sz="1050" b="1" spc="130" kern="0" dirty="0">
                <a:solidFill>
                  <a:srgbClr val="1F4E79"/>
                </a:solidFill>
                <a:latin typeface="Courier New" pitchFamily="34" charset="0"/>
                <a:ea typeface="Courier New" pitchFamily="34" charset="-122"/>
                <a:cs typeface="Courier New" pitchFamily="34" charset="-120"/>
              </a:rPr>
              <a:t>DATA GATHERING</a:t>
            </a:r>
            <a:endParaRPr lang="en-US" sz="1050" dirty="0"/>
          </a:p>
        </p:txBody>
      </p:sp>
      <p:sp>
        <p:nvSpPr>
          <p:cNvPr id="7" name="Shape 5"/>
          <p:cNvSpPr/>
          <p:nvPr/>
        </p:nvSpPr>
        <p:spPr>
          <a:xfrm>
            <a:off x="685800" y="2651760"/>
            <a:ext cx="5212080" cy="1143000"/>
          </a:xfrm>
          <a:prstGeom prst="rect">
            <a:avLst/>
          </a:prstGeom>
          <a:solidFill>
            <a:srgbClr val="E9EFF6"/>
          </a:solidFill>
          <a:ln w="12700">
            <a:solidFill>
              <a:srgbClr val="333333"/>
            </a:solidFill>
            <a:prstDash val="solid"/>
          </a:ln>
        </p:spPr>
      </p:sp>
      <p:sp>
        <p:nvSpPr>
          <p:cNvPr id="8" name="Text 6"/>
          <p:cNvSpPr/>
          <p:nvPr/>
        </p:nvSpPr>
        <p:spPr>
          <a:xfrm>
            <a:off x="914400" y="2770632"/>
            <a:ext cx="1828800" cy="228600"/>
          </a:xfrm>
          <a:prstGeom prst="rect">
            <a:avLst/>
          </a:prstGeom>
          <a:noFill/>
          <a:ln/>
        </p:spPr>
        <p:txBody>
          <a:bodyPr wrap="square" lIns="0" tIns="0" rIns="0" bIns="0" rtlCol="0" anchor="ctr"/>
          <a:lstStyle/>
          <a:p>
            <a:pPr indent="0" marL="0">
              <a:buNone/>
            </a:pPr>
            <a:r>
              <a:rPr lang="en-US" sz="900" b="1" spc="130" kern="0" dirty="0">
                <a:solidFill>
                  <a:srgbClr val="1F4E79"/>
                </a:solidFill>
                <a:latin typeface="Courier New" pitchFamily="34" charset="0"/>
                <a:ea typeface="Courier New" pitchFamily="34" charset="-122"/>
                <a:cs typeface="Courier New" pitchFamily="34" charset="-120"/>
              </a:rPr>
              <a:t>GIOIA</a:t>
            </a:r>
            <a:endParaRPr lang="en-US" sz="900" dirty="0"/>
          </a:p>
        </p:txBody>
      </p:sp>
      <p:sp>
        <p:nvSpPr>
          <p:cNvPr id="9" name="Text 7"/>
          <p:cNvSpPr/>
          <p:nvPr/>
        </p:nvSpPr>
        <p:spPr>
          <a:xfrm>
            <a:off x="914400" y="30358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Participant observation over time, interviews with the president and senior team, documents and archives.</a:t>
            </a:r>
            <a:endParaRPr lang="en-US" sz="1400" dirty="0"/>
          </a:p>
        </p:txBody>
      </p:sp>
      <p:sp>
        <p:nvSpPr>
          <p:cNvPr id="10" name="Shape 8"/>
          <p:cNvSpPr/>
          <p:nvPr/>
        </p:nvSpPr>
        <p:spPr>
          <a:xfrm>
            <a:off x="6291072" y="2651760"/>
            <a:ext cx="5212080" cy="1143000"/>
          </a:xfrm>
          <a:prstGeom prst="rect">
            <a:avLst/>
          </a:prstGeom>
          <a:solidFill>
            <a:srgbClr val="FBF6EA"/>
          </a:solidFill>
          <a:ln w="12700">
            <a:solidFill>
              <a:srgbClr val="333333"/>
            </a:solidFill>
            <a:prstDash val="solid"/>
          </a:ln>
        </p:spPr>
      </p:sp>
      <p:sp>
        <p:nvSpPr>
          <p:cNvPr id="11" name="Text 9"/>
          <p:cNvSpPr/>
          <p:nvPr/>
        </p:nvSpPr>
        <p:spPr>
          <a:xfrm>
            <a:off x="6519672" y="2770632"/>
            <a:ext cx="2194560" cy="228600"/>
          </a:xfrm>
          <a:prstGeom prst="rect">
            <a:avLst/>
          </a:prstGeom>
          <a:noFill/>
          <a:ln/>
        </p:spPr>
        <p:txBody>
          <a:bodyPr wrap="square" lIns="0" tIns="0" rIns="0" bIns="0" rtlCol="0" anchor="ctr"/>
          <a:lstStyle/>
          <a:p>
            <a:pPr indent="0" marL="0">
              <a:buNone/>
            </a:pPr>
            <a:r>
              <a:rPr lang="en-US" sz="900" b="1" spc="130" kern="0" dirty="0">
                <a:solidFill>
                  <a:srgbClr val="8A6410"/>
                </a:solidFill>
                <a:latin typeface="Courier New" pitchFamily="34" charset="0"/>
                <a:ea typeface="Courier New" pitchFamily="34" charset="-122"/>
                <a:cs typeface="Courier New" pitchFamily="34" charset="-120"/>
              </a:rPr>
              <a:t>MAZNEVSKI</a:t>
            </a:r>
            <a:endParaRPr lang="en-US" sz="900" dirty="0"/>
          </a:p>
        </p:txBody>
      </p:sp>
      <p:sp>
        <p:nvSpPr>
          <p:cNvPr id="12" name="Text 10"/>
          <p:cNvSpPr/>
          <p:nvPr/>
        </p:nvSpPr>
        <p:spPr>
          <a:xfrm>
            <a:off x="6519672" y="30358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Observation of meetings both face-to-face and mediated, interviews, and communication records.</a:t>
            </a:r>
            <a:endParaRPr lang="en-US" sz="1400" dirty="0"/>
          </a:p>
        </p:txBody>
      </p:sp>
      <p:sp>
        <p:nvSpPr>
          <p:cNvPr id="13" name="Shape 11"/>
          <p:cNvSpPr/>
          <p:nvPr/>
        </p:nvSpPr>
        <p:spPr>
          <a:xfrm>
            <a:off x="685800" y="4114800"/>
            <a:ext cx="457200" cy="457200"/>
          </a:xfrm>
          <a:prstGeom prst="ellipse">
            <a:avLst/>
          </a:prstGeom>
          <a:solidFill>
            <a:srgbClr val="E9EFF6"/>
          </a:solidFill>
          <a:ln w="16510">
            <a:solidFill>
              <a:srgbClr val="1F4E79"/>
            </a:solidFill>
            <a:prstDash val="solid"/>
          </a:ln>
        </p:spPr>
      </p:sp>
      <p:sp>
        <p:nvSpPr>
          <p:cNvPr id="14" name="Text 12"/>
          <p:cNvSpPr/>
          <p:nvPr/>
        </p:nvSpPr>
        <p:spPr>
          <a:xfrm>
            <a:off x="685800" y="4215384"/>
            <a:ext cx="457200" cy="256032"/>
          </a:xfrm>
          <a:prstGeom prst="rect">
            <a:avLst/>
          </a:prstGeom>
          <a:noFill/>
          <a:ln/>
        </p:spPr>
        <p:txBody>
          <a:bodyPr wrap="square" lIns="0" tIns="0" rIns="0" bIns="0" rtlCol="0" anchor="ctr"/>
          <a:lstStyle/>
          <a:p>
            <a:pPr algn="ctr" indent="0" marL="0">
              <a:buNone/>
            </a:pPr>
            <a:r>
              <a:rPr lang="en-US" sz="1200" b="1" dirty="0">
                <a:solidFill>
                  <a:srgbClr val="1F4E79"/>
                </a:solidFill>
                <a:latin typeface="Courier New" pitchFamily="34" charset="0"/>
                <a:ea typeface="Courier New" pitchFamily="34" charset="-122"/>
                <a:cs typeface="Courier New" pitchFamily="34" charset="-120"/>
              </a:rPr>
              <a:t>07</a:t>
            </a:r>
            <a:endParaRPr lang="en-US" sz="1200" dirty="0"/>
          </a:p>
        </p:txBody>
      </p:sp>
      <p:sp>
        <p:nvSpPr>
          <p:cNvPr id="15" name="Text 13"/>
          <p:cNvSpPr/>
          <p:nvPr/>
        </p:nvSpPr>
        <p:spPr>
          <a:xfrm>
            <a:off x="1307592" y="4178808"/>
            <a:ext cx="4572000" cy="274320"/>
          </a:xfrm>
          <a:prstGeom prst="rect">
            <a:avLst/>
          </a:prstGeom>
          <a:noFill/>
          <a:ln/>
        </p:spPr>
        <p:txBody>
          <a:bodyPr wrap="square" lIns="0" tIns="0" rIns="0" bIns="0" rtlCol="0" anchor="ctr"/>
          <a:lstStyle/>
          <a:p>
            <a:pPr indent="0" marL="0">
              <a:buNone/>
            </a:pPr>
            <a:r>
              <a:rPr lang="en-US" sz="1050" b="1" spc="130" kern="0" dirty="0">
                <a:solidFill>
                  <a:srgbClr val="1F4E79"/>
                </a:solidFill>
                <a:latin typeface="Courier New" pitchFamily="34" charset="0"/>
                <a:ea typeface="Courier New" pitchFamily="34" charset="-122"/>
                <a:cs typeface="Courier New" pitchFamily="34" charset="-120"/>
              </a:rPr>
              <a:t>DATA ANALYSIS</a:t>
            </a:r>
            <a:endParaRPr lang="en-US" sz="1050" dirty="0"/>
          </a:p>
        </p:txBody>
      </p:sp>
      <p:sp>
        <p:nvSpPr>
          <p:cNvPr id="16" name="Shape 14"/>
          <p:cNvSpPr/>
          <p:nvPr/>
        </p:nvSpPr>
        <p:spPr>
          <a:xfrm>
            <a:off x="685800" y="4709160"/>
            <a:ext cx="5212080" cy="1143000"/>
          </a:xfrm>
          <a:prstGeom prst="rect">
            <a:avLst/>
          </a:prstGeom>
          <a:solidFill>
            <a:srgbClr val="E9EFF6"/>
          </a:solidFill>
          <a:ln w="12700">
            <a:solidFill>
              <a:srgbClr val="333333"/>
            </a:solidFill>
            <a:prstDash val="solid"/>
          </a:ln>
        </p:spPr>
      </p:sp>
      <p:sp>
        <p:nvSpPr>
          <p:cNvPr id="17" name="Text 15"/>
          <p:cNvSpPr/>
          <p:nvPr/>
        </p:nvSpPr>
        <p:spPr>
          <a:xfrm>
            <a:off x="914400" y="4828032"/>
            <a:ext cx="1828800" cy="228600"/>
          </a:xfrm>
          <a:prstGeom prst="rect">
            <a:avLst/>
          </a:prstGeom>
          <a:noFill/>
          <a:ln/>
        </p:spPr>
        <p:txBody>
          <a:bodyPr wrap="square" lIns="0" tIns="0" rIns="0" bIns="0" rtlCol="0" anchor="ctr"/>
          <a:lstStyle/>
          <a:p>
            <a:pPr indent="0" marL="0">
              <a:buNone/>
            </a:pPr>
            <a:r>
              <a:rPr lang="en-US" sz="900" b="1" spc="130" kern="0" dirty="0">
                <a:solidFill>
                  <a:srgbClr val="1F4E79"/>
                </a:solidFill>
                <a:latin typeface="Courier New" pitchFamily="34" charset="0"/>
                <a:ea typeface="Courier New" pitchFamily="34" charset="-122"/>
                <a:cs typeface="Courier New" pitchFamily="34" charset="-120"/>
              </a:rPr>
              <a:t>GIOIA</a:t>
            </a:r>
            <a:endParaRPr lang="en-US" sz="900" dirty="0"/>
          </a:p>
        </p:txBody>
      </p:sp>
      <p:sp>
        <p:nvSpPr>
          <p:cNvPr id="18" name="Text 16"/>
          <p:cNvSpPr/>
          <p:nvPr/>
        </p:nvSpPr>
        <p:spPr>
          <a:xfrm>
            <a:off x="914400" y="50932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First order — informants' own words. Second order — researchers' theory. Held apart so the reader sees the join.</a:t>
            </a:r>
            <a:endParaRPr lang="en-US" sz="1400" dirty="0"/>
          </a:p>
        </p:txBody>
      </p:sp>
      <p:sp>
        <p:nvSpPr>
          <p:cNvPr id="19" name="Shape 17"/>
          <p:cNvSpPr/>
          <p:nvPr/>
        </p:nvSpPr>
        <p:spPr>
          <a:xfrm>
            <a:off x="6291072" y="4709160"/>
            <a:ext cx="5212080" cy="1143000"/>
          </a:xfrm>
          <a:prstGeom prst="rect">
            <a:avLst/>
          </a:prstGeom>
          <a:solidFill>
            <a:srgbClr val="FBF6EA"/>
          </a:solidFill>
          <a:ln w="12700">
            <a:solidFill>
              <a:srgbClr val="333333"/>
            </a:solidFill>
            <a:prstDash val="solid"/>
          </a:ln>
        </p:spPr>
      </p:sp>
      <p:sp>
        <p:nvSpPr>
          <p:cNvPr id="20" name="Text 18"/>
          <p:cNvSpPr/>
          <p:nvPr/>
        </p:nvSpPr>
        <p:spPr>
          <a:xfrm>
            <a:off x="6519672" y="4828032"/>
            <a:ext cx="2194560" cy="228600"/>
          </a:xfrm>
          <a:prstGeom prst="rect">
            <a:avLst/>
          </a:prstGeom>
          <a:noFill/>
          <a:ln/>
        </p:spPr>
        <p:txBody>
          <a:bodyPr wrap="square" lIns="0" tIns="0" rIns="0" bIns="0" rtlCol="0" anchor="ctr"/>
          <a:lstStyle/>
          <a:p>
            <a:pPr indent="0" marL="0">
              <a:buNone/>
            </a:pPr>
            <a:r>
              <a:rPr lang="en-US" sz="900" b="1" spc="130" kern="0" dirty="0">
                <a:solidFill>
                  <a:srgbClr val="8A6410"/>
                </a:solidFill>
                <a:latin typeface="Courier New" pitchFamily="34" charset="0"/>
                <a:ea typeface="Courier New" pitchFamily="34" charset="-122"/>
                <a:cs typeface="Courier New" pitchFamily="34" charset="-120"/>
              </a:rPr>
              <a:t>MAZNEVSKI</a:t>
            </a:r>
            <a:endParaRPr lang="en-US" sz="900" dirty="0"/>
          </a:p>
        </p:txBody>
      </p:sp>
      <p:sp>
        <p:nvSpPr>
          <p:cNvPr id="21" name="Text 19"/>
          <p:cNvSpPr/>
          <p:nvPr/>
        </p:nvSpPr>
        <p:spPr>
          <a:xfrm>
            <a:off x="6519672" y="5093208"/>
            <a:ext cx="4754880" cy="640080"/>
          </a:xfrm>
          <a:prstGeom prst="rect">
            <a:avLst/>
          </a:prstGeom>
          <a:noFill/>
          <a:ln/>
        </p:spPr>
        <p:txBody>
          <a:bodyPr wrap="square" lIns="0" tIns="0" rIns="0" bIns="0" rtlCol="0" anchor="ctr"/>
          <a:lstStyle/>
          <a:p>
            <a:pPr indent="0" marL="0">
              <a:buNone/>
            </a:pPr>
            <a:r>
              <a:rPr lang="en-US" sz="1400" dirty="0">
                <a:solidFill>
                  <a:srgbClr val="14171C"/>
                </a:solidFill>
                <a:latin typeface="Cambria" pitchFamily="34" charset="0"/>
                <a:ea typeface="Cambria" pitchFamily="34" charset="-122"/>
                <a:cs typeface="Cambria" pitchFamily="34" charset="-120"/>
              </a:rPr>
              <a:t>Coded interaction incidents, then looked for temporal patterning across them.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08 · Complex account — written as process, not table</a:t>
            </a:r>
            <a:endParaRPr lang="en-US" sz="3200" dirty="0"/>
          </a:p>
        </p:txBody>
      </p:sp>
      <p:sp>
        <p:nvSpPr>
          <p:cNvPr id="4" name="Text 2"/>
          <p:cNvSpPr/>
          <p:nvPr/>
        </p:nvSpPr>
        <p:spPr>
          <a:xfrm>
            <a:off x="685800" y="1572768"/>
            <a:ext cx="9601200" cy="411480"/>
          </a:xfrm>
          <a:prstGeom prst="rect">
            <a:avLst/>
          </a:prstGeom>
          <a:noFill/>
          <a:ln/>
        </p:spPr>
        <p:txBody>
          <a:bodyPr wrap="square" lIns="0" tIns="0" rIns="0" bIns="0" rtlCol="0" anchor="ctr"/>
          <a:lstStyle/>
          <a:p>
            <a:pPr indent="0" marL="0">
              <a:buNone/>
            </a:pPr>
            <a:r>
              <a:rPr lang="en-US" sz="1400" i="1" dirty="0">
                <a:solidFill>
                  <a:srgbClr val="767D86"/>
                </a:solidFill>
                <a:latin typeface="Cambria" pitchFamily="34" charset="0"/>
                <a:ea typeface="Cambria" pitchFamily="34" charset="-122"/>
                <a:cs typeface="Cambria" pitchFamily="34" charset="-120"/>
              </a:rPr>
              <a:t>Both report what happened, in order, and why each step made the next necessary.</a:t>
            </a:r>
            <a:endParaRPr lang="en-US" sz="1400" dirty="0"/>
          </a:p>
        </p:txBody>
      </p:sp>
      <p:sp>
        <p:nvSpPr>
          <p:cNvPr id="5" name="Shape 3"/>
          <p:cNvSpPr/>
          <p:nvPr/>
        </p:nvSpPr>
        <p:spPr>
          <a:xfrm>
            <a:off x="685800" y="2651760"/>
            <a:ext cx="2423160" cy="1234440"/>
          </a:xfrm>
          <a:prstGeom prst="rect">
            <a:avLst/>
          </a:prstGeom>
          <a:solidFill>
            <a:srgbClr val="FFFFFF"/>
          </a:solidFill>
          <a:ln w="19050">
            <a:solidFill>
              <a:srgbClr val="1F4E79"/>
            </a:solidFill>
            <a:prstDash val="solid"/>
          </a:ln>
        </p:spPr>
      </p:sp>
      <p:sp>
        <p:nvSpPr>
          <p:cNvPr id="6" name="Text 4"/>
          <p:cNvSpPr/>
          <p:nvPr/>
        </p:nvSpPr>
        <p:spPr>
          <a:xfrm>
            <a:off x="685800" y="3063240"/>
            <a:ext cx="2423160" cy="411480"/>
          </a:xfrm>
          <a:prstGeom prst="rect">
            <a:avLst/>
          </a:prstGeom>
          <a:noFill/>
          <a:ln/>
        </p:spPr>
        <p:txBody>
          <a:bodyPr wrap="square" lIns="0" tIns="0" rIns="0" bIns="0" rtlCol="0" anchor="ctr"/>
          <a:lstStyle/>
          <a:p>
            <a:pPr algn="ctr" indent="0" marL="0">
              <a:buNone/>
            </a:pPr>
            <a:r>
              <a:rPr lang="en-US" sz="1600" b="1" dirty="0">
                <a:solidFill>
                  <a:srgbClr val="1F4E79"/>
                </a:solidFill>
                <a:latin typeface="Georgia" pitchFamily="34" charset="0"/>
                <a:ea typeface="Georgia" pitchFamily="34" charset="-122"/>
                <a:cs typeface="Georgia" pitchFamily="34" charset="-120"/>
              </a:rPr>
              <a:t>Envisioning</a:t>
            </a:r>
            <a:endParaRPr lang="en-US" sz="1600" dirty="0"/>
          </a:p>
        </p:txBody>
      </p:sp>
      <p:sp>
        <p:nvSpPr>
          <p:cNvPr id="7" name="Shape 5"/>
          <p:cNvSpPr/>
          <p:nvPr/>
        </p:nvSpPr>
        <p:spPr>
          <a:xfrm>
            <a:off x="3108960" y="3264408"/>
            <a:ext cx="365760" cy="0"/>
          </a:xfrm>
          <a:prstGeom prst="line">
            <a:avLst/>
          </a:prstGeom>
          <a:noFill/>
          <a:ln w="25400">
            <a:solidFill>
              <a:srgbClr val="1F4E79"/>
            </a:solidFill>
            <a:prstDash val="solid"/>
            <a:tailEnd type="triangle"/>
          </a:ln>
        </p:spPr>
      </p:sp>
      <p:sp>
        <p:nvSpPr>
          <p:cNvPr id="8" name="Shape 6"/>
          <p:cNvSpPr/>
          <p:nvPr/>
        </p:nvSpPr>
        <p:spPr>
          <a:xfrm>
            <a:off x="3474720" y="2651760"/>
            <a:ext cx="2423160" cy="1234440"/>
          </a:xfrm>
          <a:prstGeom prst="rect">
            <a:avLst/>
          </a:prstGeom>
          <a:solidFill>
            <a:srgbClr val="1F4E79"/>
          </a:solidFill>
          <a:ln w="19050">
            <a:solidFill>
              <a:srgbClr val="1F4E79"/>
            </a:solidFill>
            <a:prstDash val="solid"/>
          </a:ln>
        </p:spPr>
      </p:sp>
      <p:sp>
        <p:nvSpPr>
          <p:cNvPr id="9" name="Text 7"/>
          <p:cNvSpPr/>
          <p:nvPr/>
        </p:nvSpPr>
        <p:spPr>
          <a:xfrm>
            <a:off x="3474720" y="3063240"/>
            <a:ext cx="24231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Signalling</a:t>
            </a:r>
            <a:endParaRPr lang="en-US" sz="1600" dirty="0"/>
          </a:p>
        </p:txBody>
      </p:sp>
      <p:sp>
        <p:nvSpPr>
          <p:cNvPr id="10" name="Shape 8"/>
          <p:cNvSpPr/>
          <p:nvPr/>
        </p:nvSpPr>
        <p:spPr>
          <a:xfrm>
            <a:off x="5897880" y="3264408"/>
            <a:ext cx="365760" cy="0"/>
          </a:xfrm>
          <a:prstGeom prst="line">
            <a:avLst/>
          </a:prstGeom>
          <a:noFill/>
          <a:ln w="25400">
            <a:solidFill>
              <a:srgbClr val="1F4E79"/>
            </a:solidFill>
            <a:prstDash val="solid"/>
            <a:tailEnd type="triangle"/>
          </a:ln>
        </p:spPr>
      </p:sp>
      <p:sp>
        <p:nvSpPr>
          <p:cNvPr id="11" name="Shape 9"/>
          <p:cNvSpPr/>
          <p:nvPr/>
        </p:nvSpPr>
        <p:spPr>
          <a:xfrm>
            <a:off x="6263640" y="2651760"/>
            <a:ext cx="2423160" cy="1234440"/>
          </a:xfrm>
          <a:prstGeom prst="rect">
            <a:avLst/>
          </a:prstGeom>
          <a:solidFill>
            <a:srgbClr val="FFFFFF"/>
          </a:solidFill>
          <a:ln w="19050">
            <a:solidFill>
              <a:srgbClr val="1F4E79"/>
            </a:solidFill>
            <a:prstDash val="solid"/>
          </a:ln>
        </p:spPr>
      </p:sp>
      <p:sp>
        <p:nvSpPr>
          <p:cNvPr id="12" name="Text 10"/>
          <p:cNvSpPr/>
          <p:nvPr/>
        </p:nvSpPr>
        <p:spPr>
          <a:xfrm>
            <a:off x="6263640" y="3063240"/>
            <a:ext cx="2423160" cy="411480"/>
          </a:xfrm>
          <a:prstGeom prst="rect">
            <a:avLst/>
          </a:prstGeom>
          <a:noFill/>
          <a:ln/>
        </p:spPr>
        <p:txBody>
          <a:bodyPr wrap="square" lIns="0" tIns="0" rIns="0" bIns="0" rtlCol="0" anchor="ctr"/>
          <a:lstStyle/>
          <a:p>
            <a:pPr algn="ctr" indent="0" marL="0">
              <a:buNone/>
            </a:pPr>
            <a:r>
              <a:rPr lang="en-US" sz="1600" b="1" dirty="0">
                <a:solidFill>
                  <a:srgbClr val="1F4E79"/>
                </a:solidFill>
                <a:latin typeface="Georgia" pitchFamily="34" charset="0"/>
                <a:ea typeface="Georgia" pitchFamily="34" charset="-122"/>
                <a:cs typeface="Georgia" pitchFamily="34" charset="-120"/>
              </a:rPr>
              <a:t>Re-visioning</a:t>
            </a:r>
            <a:endParaRPr lang="en-US" sz="1600" dirty="0"/>
          </a:p>
        </p:txBody>
      </p:sp>
      <p:sp>
        <p:nvSpPr>
          <p:cNvPr id="13" name="Shape 11"/>
          <p:cNvSpPr/>
          <p:nvPr/>
        </p:nvSpPr>
        <p:spPr>
          <a:xfrm>
            <a:off x="8686800" y="3264408"/>
            <a:ext cx="365760" cy="0"/>
          </a:xfrm>
          <a:prstGeom prst="line">
            <a:avLst/>
          </a:prstGeom>
          <a:noFill/>
          <a:ln w="25400">
            <a:solidFill>
              <a:srgbClr val="1F4E79"/>
            </a:solidFill>
            <a:prstDash val="solid"/>
            <a:tailEnd type="triangle"/>
          </a:ln>
        </p:spPr>
      </p:sp>
      <p:sp>
        <p:nvSpPr>
          <p:cNvPr id="14" name="Shape 12"/>
          <p:cNvSpPr/>
          <p:nvPr/>
        </p:nvSpPr>
        <p:spPr>
          <a:xfrm>
            <a:off x="9052560" y="2651760"/>
            <a:ext cx="2423160" cy="1234440"/>
          </a:xfrm>
          <a:prstGeom prst="rect">
            <a:avLst/>
          </a:prstGeom>
          <a:solidFill>
            <a:srgbClr val="1F4E79"/>
          </a:solidFill>
          <a:ln w="19050">
            <a:solidFill>
              <a:srgbClr val="1F4E79"/>
            </a:solidFill>
            <a:prstDash val="solid"/>
          </a:ln>
        </p:spPr>
      </p:sp>
      <p:sp>
        <p:nvSpPr>
          <p:cNvPr id="15" name="Text 13"/>
          <p:cNvSpPr/>
          <p:nvPr/>
        </p:nvSpPr>
        <p:spPr>
          <a:xfrm>
            <a:off x="9052560" y="3063240"/>
            <a:ext cx="24231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Energizing</a:t>
            </a:r>
            <a:endParaRPr lang="en-US" sz="1600" dirty="0"/>
          </a:p>
        </p:txBody>
      </p:sp>
      <p:sp>
        <p:nvSpPr>
          <p:cNvPr id="16" name="Text 14"/>
          <p:cNvSpPr/>
          <p:nvPr/>
        </p:nvSpPr>
        <p:spPr>
          <a:xfrm>
            <a:off x="685800" y="4069080"/>
            <a:ext cx="10515600" cy="274320"/>
          </a:xfrm>
          <a:prstGeom prst="rect">
            <a:avLst/>
          </a:prstGeom>
          <a:noFill/>
          <a:ln/>
        </p:spPr>
        <p:txBody>
          <a:bodyPr wrap="square" lIns="0" tIns="0" rIns="0" bIns="0" rtlCol="0" anchor="ctr"/>
          <a:lstStyle/>
          <a:p>
            <a:pPr indent="0" marL="0">
              <a:buNone/>
            </a:pPr>
            <a:r>
              <a:rPr lang="en-US" sz="1000" spc="110" kern="0" dirty="0">
                <a:solidFill>
                  <a:srgbClr val="1F4E79"/>
                </a:solidFill>
                <a:latin typeface="Courier New" pitchFamily="34" charset="0"/>
                <a:ea typeface="Courier New" pitchFamily="34" charset="-122"/>
                <a:cs typeface="Courier New" pitchFamily="34" charset="-120"/>
              </a:rPr>
              <a:t>Gioia — a narrative of phases that feed each other</a:t>
            </a:r>
            <a:endParaRPr lang="en-US" sz="1000" dirty="0"/>
          </a:p>
        </p:txBody>
      </p:sp>
      <p:sp>
        <p:nvSpPr>
          <p:cNvPr id="17" name="Shape 15"/>
          <p:cNvSpPr/>
          <p:nvPr/>
        </p:nvSpPr>
        <p:spPr>
          <a:xfrm>
            <a:off x="685800" y="4617720"/>
            <a:ext cx="10817352" cy="1005840"/>
          </a:xfrm>
          <a:prstGeom prst="rect">
            <a:avLst/>
          </a:prstGeom>
          <a:solidFill>
            <a:srgbClr val="FBF6EA"/>
          </a:solidFill>
          <a:ln w="12700">
            <a:solidFill>
              <a:srgbClr val="333333"/>
            </a:solidFill>
            <a:prstDash val="solid"/>
          </a:ln>
        </p:spPr>
      </p:sp>
      <p:sp>
        <p:nvSpPr>
          <p:cNvPr id="18" name="Text 16"/>
          <p:cNvSpPr/>
          <p:nvPr/>
        </p:nvSpPr>
        <p:spPr>
          <a:xfrm>
            <a:off x="960120" y="4800600"/>
            <a:ext cx="10241280" cy="685800"/>
          </a:xfrm>
          <a:prstGeom prst="rect">
            <a:avLst/>
          </a:prstGeom>
          <a:noFill/>
          <a:ln/>
        </p:spPr>
        <p:txBody>
          <a:bodyPr wrap="square" lIns="0" tIns="0" rIns="0" bIns="0" rtlCol="0" anchor="ctr"/>
          <a:lstStyle/>
          <a:p>
            <a:pPr indent="0" marL="0">
              <a:buNone/>
            </a:pPr>
            <a:r>
              <a:rPr lang="en-US" sz="1500" dirty="0">
                <a:solidFill>
                  <a:srgbClr val="14171C"/>
                </a:solidFill>
                <a:latin typeface="Cambria" pitchFamily="34" charset="0"/>
                <a:ea typeface="Cambria" pitchFamily="34" charset="-122"/>
                <a:cs typeface="Cambria" pitchFamily="34" charset="-120"/>
              </a:rPr>
              <a:t>Maznevski — a rhythm model: a repeating temporal structure, with the form of interaction matched to how complex the decision is.</a:t>
            </a:r>
            <a:endParaRPr lang="en-US" sz="1500" dirty="0"/>
          </a:p>
        </p:txBody>
      </p:sp>
      <p:sp>
        <p:nvSpPr>
          <p:cNvPr id="19" name="Text 17"/>
          <p:cNvSpPr/>
          <p:nvPr/>
        </p:nvSpPr>
        <p:spPr>
          <a:xfrm>
            <a:off x="685800" y="6309360"/>
            <a:ext cx="10817352"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A quantitative paper would report which variables moved. Neither of these does.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817352" cy="640080"/>
          </a:xfrm>
          <a:prstGeom prst="rect">
            <a:avLst/>
          </a:prstGeom>
          <a:noFill/>
          <a:ln/>
        </p:spPr>
        <p:txBody>
          <a:bodyPr wrap="square" lIns="0" tIns="0" rIns="0" bIns="0" rtlCol="0" anchor="ctr"/>
          <a:lstStyle/>
          <a:p>
            <a:pPr indent="0" marL="0">
              <a:buNone/>
            </a:pPr>
            <a:r>
              <a:rPr lang="en-US" sz="3200" b="1" dirty="0">
                <a:solidFill>
                  <a:srgbClr val="14171C"/>
                </a:solidFill>
                <a:latin typeface="Georgia" pitchFamily="34" charset="0"/>
                <a:ea typeface="Georgia" pitchFamily="34" charset="-122"/>
                <a:cs typeface="Georgia" pitchFamily="34" charset="-120"/>
              </a:rPr>
              <a:t>Why a tiny n is not the weakness</a:t>
            </a:r>
            <a:endParaRPr lang="en-US" sz="3200" dirty="0"/>
          </a:p>
        </p:txBody>
      </p:sp>
      <p:sp>
        <p:nvSpPr>
          <p:cNvPr id="4" name="Text 2"/>
          <p:cNvSpPr/>
          <p:nvPr/>
        </p:nvSpPr>
        <p:spPr>
          <a:xfrm>
            <a:off x="685800" y="1572768"/>
            <a:ext cx="9601200" cy="411480"/>
          </a:xfrm>
          <a:prstGeom prst="rect">
            <a:avLst/>
          </a:prstGeom>
          <a:noFill/>
          <a:ln/>
        </p:spPr>
        <p:txBody>
          <a:bodyPr wrap="square" lIns="0" tIns="0" rIns="0" bIns="0" rtlCol="0" anchor="ctr"/>
          <a:lstStyle/>
          <a:p>
            <a:pPr indent="0" marL="0">
              <a:buNone/>
            </a:pPr>
            <a:r>
              <a:rPr lang="en-US" sz="1400" i="1" dirty="0">
                <a:solidFill>
                  <a:srgbClr val="767D86"/>
                </a:solidFill>
                <a:latin typeface="Cambria" pitchFamily="34" charset="0"/>
                <a:ea typeface="Cambria" pitchFamily="34" charset="-122"/>
                <a:cs typeface="Cambria" pitchFamily="34" charset="-120"/>
              </a:rPr>
              <a:t>Neither paper claims to represent a population — so sample size was never the promise.</a:t>
            </a:r>
            <a:endParaRPr lang="en-US" sz="1400" dirty="0"/>
          </a:p>
        </p:txBody>
      </p:sp>
      <p:sp>
        <p:nvSpPr>
          <p:cNvPr id="5" name="Text 3"/>
          <p:cNvSpPr/>
          <p:nvPr/>
        </p:nvSpPr>
        <p:spPr>
          <a:xfrm>
            <a:off x="685800" y="2194560"/>
            <a:ext cx="2743200" cy="274320"/>
          </a:xfrm>
          <a:prstGeom prst="rect">
            <a:avLst/>
          </a:prstGeom>
          <a:noFill/>
          <a:ln/>
        </p:spPr>
        <p:txBody>
          <a:bodyPr wrap="square" lIns="0" tIns="0" rIns="0" bIns="0" rtlCol="0" anchor="ctr"/>
          <a:lstStyle/>
          <a:p>
            <a:pPr indent="0" marL="0">
              <a:buNone/>
            </a:pPr>
            <a:r>
              <a:rPr lang="en-US" sz="1000" spc="140" kern="0" dirty="0">
                <a:solidFill>
                  <a:srgbClr val="767D86"/>
                </a:solidFill>
                <a:latin typeface="Courier New" pitchFamily="34" charset="0"/>
                <a:ea typeface="Courier New" pitchFamily="34" charset="-122"/>
                <a:cs typeface="Courier New" pitchFamily="34" charset="-120"/>
              </a:rPr>
              <a:t>SURVEY</a:t>
            </a:r>
            <a:endParaRPr lang="en-US" sz="1000" dirty="0"/>
          </a:p>
        </p:txBody>
      </p:sp>
      <p:sp>
        <p:nvSpPr>
          <p:cNvPr id="6" name="Shape 4"/>
          <p:cNvSpPr/>
          <p:nvPr/>
        </p:nvSpPr>
        <p:spPr>
          <a:xfrm>
            <a:off x="685800" y="2560320"/>
            <a:ext cx="164592" cy="164592"/>
          </a:xfrm>
          <a:prstGeom prst="ellipse">
            <a:avLst/>
          </a:prstGeom>
          <a:solidFill>
            <a:srgbClr val="DDE1E6"/>
          </a:solidFill>
          <a:ln w="12700">
            <a:solidFill>
              <a:srgbClr val="333333"/>
            </a:solidFill>
            <a:prstDash val="solid"/>
          </a:ln>
        </p:spPr>
      </p:sp>
      <p:sp>
        <p:nvSpPr>
          <p:cNvPr id="7" name="Shape 5"/>
          <p:cNvSpPr/>
          <p:nvPr/>
        </p:nvSpPr>
        <p:spPr>
          <a:xfrm>
            <a:off x="996696" y="2560320"/>
            <a:ext cx="164592" cy="164592"/>
          </a:xfrm>
          <a:prstGeom prst="ellipse">
            <a:avLst/>
          </a:prstGeom>
          <a:solidFill>
            <a:srgbClr val="DDE1E6"/>
          </a:solidFill>
          <a:ln w="12700">
            <a:solidFill>
              <a:srgbClr val="333333"/>
            </a:solidFill>
            <a:prstDash val="solid"/>
          </a:ln>
        </p:spPr>
      </p:sp>
      <p:sp>
        <p:nvSpPr>
          <p:cNvPr id="8" name="Shape 6"/>
          <p:cNvSpPr/>
          <p:nvPr/>
        </p:nvSpPr>
        <p:spPr>
          <a:xfrm>
            <a:off x="1307592" y="2560320"/>
            <a:ext cx="164592" cy="164592"/>
          </a:xfrm>
          <a:prstGeom prst="ellipse">
            <a:avLst/>
          </a:prstGeom>
          <a:solidFill>
            <a:srgbClr val="DDE1E6"/>
          </a:solidFill>
          <a:ln w="12700">
            <a:solidFill>
              <a:srgbClr val="333333"/>
            </a:solidFill>
            <a:prstDash val="solid"/>
          </a:ln>
        </p:spPr>
      </p:sp>
      <p:sp>
        <p:nvSpPr>
          <p:cNvPr id="9" name="Shape 7"/>
          <p:cNvSpPr/>
          <p:nvPr/>
        </p:nvSpPr>
        <p:spPr>
          <a:xfrm>
            <a:off x="1618488" y="2560320"/>
            <a:ext cx="164592" cy="164592"/>
          </a:xfrm>
          <a:prstGeom prst="ellipse">
            <a:avLst/>
          </a:prstGeom>
          <a:solidFill>
            <a:srgbClr val="DDE1E6"/>
          </a:solidFill>
          <a:ln w="12700">
            <a:solidFill>
              <a:srgbClr val="333333"/>
            </a:solidFill>
            <a:prstDash val="solid"/>
          </a:ln>
        </p:spPr>
      </p:sp>
      <p:sp>
        <p:nvSpPr>
          <p:cNvPr id="10" name="Shape 8"/>
          <p:cNvSpPr/>
          <p:nvPr/>
        </p:nvSpPr>
        <p:spPr>
          <a:xfrm>
            <a:off x="1929384" y="2560320"/>
            <a:ext cx="164592" cy="164592"/>
          </a:xfrm>
          <a:prstGeom prst="ellipse">
            <a:avLst/>
          </a:prstGeom>
          <a:solidFill>
            <a:srgbClr val="DDE1E6"/>
          </a:solidFill>
          <a:ln w="12700">
            <a:solidFill>
              <a:srgbClr val="333333"/>
            </a:solidFill>
            <a:prstDash val="solid"/>
          </a:ln>
        </p:spPr>
      </p:sp>
      <p:sp>
        <p:nvSpPr>
          <p:cNvPr id="11" name="Shape 9"/>
          <p:cNvSpPr/>
          <p:nvPr/>
        </p:nvSpPr>
        <p:spPr>
          <a:xfrm>
            <a:off x="2240280" y="2560320"/>
            <a:ext cx="164592" cy="164592"/>
          </a:xfrm>
          <a:prstGeom prst="ellipse">
            <a:avLst/>
          </a:prstGeom>
          <a:solidFill>
            <a:srgbClr val="DDE1E6"/>
          </a:solidFill>
          <a:ln w="12700">
            <a:solidFill>
              <a:srgbClr val="333333"/>
            </a:solidFill>
            <a:prstDash val="solid"/>
          </a:ln>
        </p:spPr>
      </p:sp>
      <p:sp>
        <p:nvSpPr>
          <p:cNvPr id="12" name="Shape 10"/>
          <p:cNvSpPr/>
          <p:nvPr/>
        </p:nvSpPr>
        <p:spPr>
          <a:xfrm>
            <a:off x="2551176" y="2560320"/>
            <a:ext cx="164592" cy="164592"/>
          </a:xfrm>
          <a:prstGeom prst="ellipse">
            <a:avLst/>
          </a:prstGeom>
          <a:solidFill>
            <a:srgbClr val="DDE1E6"/>
          </a:solidFill>
          <a:ln w="12700">
            <a:solidFill>
              <a:srgbClr val="333333"/>
            </a:solidFill>
            <a:prstDash val="solid"/>
          </a:ln>
        </p:spPr>
      </p:sp>
      <p:sp>
        <p:nvSpPr>
          <p:cNvPr id="13" name="Shape 11"/>
          <p:cNvSpPr/>
          <p:nvPr/>
        </p:nvSpPr>
        <p:spPr>
          <a:xfrm>
            <a:off x="2862072" y="2560320"/>
            <a:ext cx="164592" cy="164592"/>
          </a:xfrm>
          <a:prstGeom prst="ellipse">
            <a:avLst/>
          </a:prstGeom>
          <a:solidFill>
            <a:srgbClr val="DDE1E6"/>
          </a:solidFill>
          <a:ln w="12700">
            <a:solidFill>
              <a:srgbClr val="333333"/>
            </a:solidFill>
            <a:prstDash val="solid"/>
          </a:ln>
        </p:spPr>
      </p:sp>
      <p:sp>
        <p:nvSpPr>
          <p:cNvPr id="14" name="Shape 12"/>
          <p:cNvSpPr/>
          <p:nvPr/>
        </p:nvSpPr>
        <p:spPr>
          <a:xfrm>
            <a:off x="3172968" y="2560320"/>
            <a:ext cx="164592" cy="164592"/>
          </a:xfrm>
          <a:prstGeom prst="ellipse">
            <a:avLst/>
          </a:prstGeom>
          <a:solidFill>
            <a:srgbClr val="DDE1E6"/>
          </a:solidFill>
          <a:ln w="12700">
            <a:solidFill>
              <a:srgbClr val="333333"/>
            </a:solidFill>
            <a:prstDash val="solid"/>
          </a:ln>
        </p:spPr>
      </p:sp>
      <p:sp>
        <p:nvSpPr>
          <p:cNvPr id="15" name="Shape 13"/>
          <p:cNvSpPr/>
          <p:nvPr/>
        </p:nvSpPr>
        <p:spPr>
          <a:xfrm>
            <a:off x="3483864" y="2560320"/>
            <a:ext cx="164592" cy="164592"/>
          </a:xfrm>
          <a:prstGeom prst="ellipse">
            <a:avLst/>
          </a:prstGeom>
          <a:solidFill>
            <a:srgbClr val="DDE1E6"/>
          </a:solidFill>
          <a:ln w="12700">
            <a:solidFill>
              <a:srgbClr val="333333"/>
            </a:solidFill>
            <a:prstDash val="solid"/>
          </a:ln>
        </p:spPr>
      </p:sp>
      <p:sp>
        <p:nvSpPr>
          <p:cNvPr id="16" name="Shape 14"/>
          <p:cNvSpPr/>
          <p:nvPr/>
        </p:nvSpPr>
        <p:spPr>
          <a:xfrm>
            <a:off x="3794760" y="2560320"/>
            <a:ext cx="164592" cy="164592"/>
          </a:xfrm>
          <a:prstGeom prst="ellipse">
            <a:avLst/>
          </a:prstGeom>
          <a:solidFill>
            <a:srgbClr val="DDE1E6"/>
          </a:solidFill>
          <a:ln w="12700">
            <a:solidFill>
              <a:srgbClr val="333333"/>
            </a:solidFill>
            <a:prstDash val="solid"/>
          </a:ln>
        </p:spPr>
      </p:sp>
      <p:sp>
        <p:nvSpPr>
          <p:cNvPr id="17" name="Shape 15"/>
          <p:cNvSpPr/>
          <p:nvPr/>
        </p:nvSpPr>
        <p:spPr>
          <a:xfrm>
            <a:off x="4105656" y="2560320"/>
            <a:ext cx="164592" cy="164592"/>
          </a:xfrm>
          <a:prstGeom prst="ellipse">
            <a:avLst/>
          </a:prstGeom>
          <a:solidFill>
            <a:srgbClr val="DDE1E6"/>
          </a:solidFill>
          <a:ln w="12700">
            <a:solidFill>
              <a:srgbClr val="333333"/>
            </a:solidFill>
            <a:prstDash val="solid"/>
          </a:ln>
        </p:spPr>
      </p:sp>
      <p:sp>
        <p:nvSpPr>
          <p:cNvPr id="18" name="Shape 16"/>
          <p:cNvSpPr/>
          <p:nvPr/>
        </p:nvSpPr>
        <p:spPr>
          <a:xfrm>
            <a:off x="4416552" y="2560320"/>
            <a:ext cx="164592" cy="164592"/>
          </a:xfrm>
          <a:prstGeom prst="ellipse">
            <a:avLst/>
          </a:prstGeom>
          <a:solidFill>
            <a:srgbClr val="DDE1E6"/>
          </a:solidFill>
          <a:ln w="12700">
            <a:solidFill>
              <a:srgbClr val="333333"/>
            </a:solidFill>
            <a:prstDash val="solid"/>
          </a:ln>
        </p:spPr>
      </p:sp>
      <p:sp>
        <p:nvSpPr>
          <p:cNvPr id="19" name="Shape 17"/>
          <p:cNvSpPr/>
          <p:nvPr/>
        </p:nvSpPr>
        <p:spPr>
          <a:xfrm>
            <a:off x="4727448" y="2560320"/>
            <a:ext cx="164592" cy="164592"/>
          </a:xfrm>
          <a:prstGeom prst="ellipse">
            <a:avLst/>
          </a:prstGeom>
          <a:solidFill>
            <a:srgbClr val="DDE1E6"/>
          </a:solidFill>
          <a:ln w="12700">
            <a:solidFill>
              <a:srgbClr val="333333"/>
            </a:solidFill>
            <a:prstDash val="solid"/>
          </a:ln>
        </p:spPr>
      </p:sp>
      <p:sp>
        <p:nvSpPr>
          <p:cNvPr id="20" name="Shape 18"/>
          <p:cNvSpPr/>
          <p:nvPr/>
        </p:nvSpPr>
        <p:spPr>
          <a:xfrm>
            <a:off x="685800" y="2871216"/>
            <a:ext cx="164592" cy="164592"/>
          </a:xfrm>
          <a:prstGeom prst="ellipse">
            <a:avLst/>
          </a:prstGeom>
          <a:solidFill>
            <a:srgbClr val="DDE1E6"/>
          </a:solidFill>
          <a:ln w="12700">
            <a:solidFill>
              <a:srgbClr val="333333"/>
            </a:solidFill>
            <a:prstDash val="solid"/>
          </a:ln>
        </p:spPr>
      </p:sp>
      <p:sp>
        <p:nvSpPr>
          <p:cNvPr id="21" name="Shape 19"/>
          <p:cNvSpPr/>
          <p:nvPr/>
        </p:nvSpPr>
        <p:spPr>
          <a:xfrm>
            <a:off x="996696" y="2871216"/>
            <a:ext cx="164592" cy="164592"/>
          </a:xfrm>
          <a:prstGeom prst="ellipse">
            <a:avLst/>
          </a:prstGeom>
          <a:solidFill>
            <a:srgbClr val="DDE1E6"/>
          </a:solidFill>
          <a:ln w="12700">
            <a:solidFill>
              <a:srgbClr val="333333"/>
            </a:solidFill>
            <a:prstDash val="solid"/>
          </a:ln>
        </p:spPr>
      </p:sp>
      <p:sp>
        <p:nvSpPr>
          <p:cNvPr id="22" name="Shape 20"/>
          <p:cNvSpPr/>
          <p:nvPr/>
        </p:nvSpPr>
        <p:spPr>
          <a:xfrm>
            <a:off x="1307592" y="2871216"/>
            <a:ext cx="164592" cy="164592"/>
          </a:xfrm>
          <a:prstGeom prst="ellipse">
            <a:avLst/>
          </a:prstGeom>
          <a:solidFill>
            <a:srgbClr val="DDE1E6"/>
          </a:solidFill>
          <a:ln w="12700">
            <a:solidFill>
              <a:srgbClr val="333333"/>
            </a:solidFill>
            <a:prstDash val="solid"/>
          </a:ln>
        </p:spPr>
      </p:sp>
      <p:sp>
        <p:nvSpPr>
          <p:cNvPr id="23" name="Shape 21"/>
          <p:cNvSpPr/>
          <p:nvPr/>
        </p:nvSpPr>
        <p:spPr>
          <a:xfrm>
            <a:off x="1618488" y="2871216"/>
            <a:ext cx="164592" cy="164592"/>
          </a:xfrm>
          <a:prstGeom prst="ellipse">
            <a:avLst/>
          </a:prstGeom>
          <a:solidFill>
            <a:srgbClr val="DDE1E6"/>
          </a:solidFill>
          <a:ln w="12700">
            <a:solidFill>
              <a:srgbClr val="333333"/>
            </a:solidFill>
            <a:prstDash val="solid"/>
          </a:ln>
        </p:spPr>
      </p:sp>
      <p:sp>
        <p:nvSpPr>
          <p:cNvPr id="24" name="Shape 22"/>
          <p:cNvSpPr/>
          <p:nvPr/>
        </p:nvSpPr>
        <p:spPr>
          <a:xfrm>
            <a:off x="1929384" y="2871216"/>
            <a:ext cx="164592" cy="164592"/>
          </a:xfrm>
          <a:prstGeom prst="ellipse">
            <a:avLst/>
          </a:prstGeom>
          <a:solidFill>
            <a:srgbClr val="DDE1E6"/>
          </a:solidFill>
          <a:ln w="12700">
            <a:solidFill>
              <a:srgbClr val="333333"/>
            </a:solidFill>
            <a:prstDash val="solid"/>
          </a:ln>
        </p:spPr>
      </p:sp>
      <p:sp>
        <p:nvSpPr>
          <p:cNvPr id="25" name="Shape 23"/>
          <p:cNvSpPr/>
          <p:nvPr/>
        </p:nvSpPr>
        <p:spPr>
          <a:xfrm>
            <a:off x="2240280" y="2871216"/>
            <a:ext cx="164592" cy="164592"/>
          </a:xfrm>
          <a:prstGeom prst="ellipse">
            <a:avLst/>
          </a:prstGeom>
          <a:solidFill>
            <a:srgbClr val="DDE1E6"/>
          </a:solidFill>
          <a:ln w="12700">
            <a:solidFill>
              <a:srgbClr val="333333"/>
            </a:solidFill>
            <a:prstDash val="solid"/>
          </a:ln>
        </p:spPr>
      </p:sp>
      <p:sp>
        <p:nvSpPr>
          <p:cNvPr id="26" name="Shape 24"/>
          <p:cNvSpPr/>
          <p:nvPr/>
        </p:nvSpPr>
        <p:spPr>
          <a:xfrm>
            <a:off x="2551176" y="2871216"/>
            <a:ext cx="164592" cy="164592"/>
          </a:xfrm>
          <a:prstGeom prst="ellipse">
            <a:avLst/>
          </a:prstGeom>
          <a:solidFill>
            <a:srgbClr val="DDE1E6"/>
          </a:solidFill>
          <a:ln w="12700">
            <a:solidFill>
              <a:srgbClr val="333333"/>
            </a:solidFill>
            <a:prstDash val="solid"/>
          </a:ln>
        </p:spPr>
      </p:sp>
      <p:sp>
        <p:nvSpPr>
          <p:cNvPr id="27" name="Shape 25"/>
          <p:cNvSpPr/>
          <p:nvPr/>
        </p:nvSpPr>
        <p:spPr>
          <a:xfrm>
            <a:off x="2862072" y="2871216"/>
            <a:ext cx="164592" cy="164592"/>
          </a:xfrm>
          <a:prstGeom prst="ellipse">
            <a:avLst/>
          </a:prstGeom>
          <a:solidFill>
            <a:srgbClr val="DDE1E6"/>
          </a:solidFill>
          <a:ln w="12700">
            <a:solidFill>
              <a:srgbClr val="333333"/>
            </a:solidFill>
            <a:prstDash val="solid"/>
          </a:ln>
        </p:spPr>
      </p:sp>
      <p:sp>
        <p:nvSpPr>
          <p:cNvPr id="28" name="Shape 26"/>
          <p:cNvSpPr/>
          <p:nvPr/>
        </p:nvSpPr>
        <p:spPr>
          <a:xfrm>
            <a:off x="3172968" y="2871216"/>
            <a:ext cx="164592" cy="164592"/>
          </a:xfrm>
          <a:prstGeom prst="ellipse">
            <a:avLst/>
          </a:prstGeom>
          <a:solidFill>
            <a:srgbClr val="DDE1E6"/>
          </a:solidFill>
          <a:ln w="12700">
            <a:solidFill>
              <a:srgbClr val="333333"/>
            </a:solidFill>
            <a:prstDash val="solid"/>
          </a:ln>
        </p:spPr>
      </p:sp>
      <p:sp>
        <p:nvSpPr>
          <p:cNvPr id="29" name="Shape 27"/>
          <p:cNvSpPr/>
          <p:nvPr/>
        </p:nvSpPr>
        <p:spPr>
          <a:xfrm>
            <a:off x="3483864" y="2871216"/>
            <a:ext cx="164592" cy="164592"/>
          </a:xfrm>
          <a:prstGeom prst="ellipse">
            <a:avLst/>
          </a:prstGeom>
          <a:solidFill>
            <a:srgbClr val="DDE1E6"/>
          </a:solidFill>
          <a:ln w="12700">
            <a:solidFill>
              <a:srgbClr val="333333"/>
            </a:solidFill>
            <a:prstDash val="solid"/>
          </a:ln>
        </p:spPr>
      </p:sp>
      <p:sp>
        <p:nvSpPr>
          <p:cNvPr id="30" name="Shape 28"/>
          <p:cNvSpPr/>
          <p:nvPr/>
        </p:nvSpPr>
        <p:spPr>
          <a:xfrm>
            <a:off x="3794760" y="2871216"/>
            <a:ext cx="164592" cy="164592"/>
          </a:xfrm>
          <a:prstGeom prst="ellipse">
            <a:avLst/>
          </a:prstGeom>
          <a:solidFill>
            <a:srgbClr val="DDE1E6"/>
          </a:solidFill>
          <a:ln w="12700">
            <a:solidFill>
              <a:srgbClr val="333333"/>
            </a:solidFill>
            <a:prstDash val="solid"/>
          </a:ln>
        </p:spPr>
      </p:sp>
      <p:sp>
        <p:nvSpPr>
          <p:cNvPr id="31" name="Shape 29"/>
          <p:cNvSpPr/>
          <p:nvPr/>
        </p:nvSpPr>
        <p:spPr>
          <a:xfrm>
            <a:off x="4105656" y="2871216"/>
            <a:ext cx="164592" cy="164592"/>
          </a:xfrm>
          <a:prstGeom prst="ellipse">
            <a:avLst/>
          </a:prstGeom>
          <a:solidFill>
            <a:srgbClr val="DDE1E6"/>
          </a:solidFill>
          <a:ln w="12700">
            <a:solidFill>
              <a:srgbClr val="333333"/>
            </a:solidFill>
            <a:prstDash val="solid"/>
          </a:ln>
        </p:spPr>
      </p:sp>
      <p:sp>
        <p:nvSpPr>
          <p:cNvPr id="32" name="Shape 30"/>
          <p:cNvSpPr/>
          <p:nvPr/>
        </p:nvSpPr>
        <p:spPr>
          <a:xfrm>
            <a:off x="4416552" y="2871216"/>
            <a:ext cx="164592" cy="164592"/>
          </a:xfrm>
          <a:prstGeom prst="ellipse">
            <a:avLst/>
          </a:prstGeom>
          <a:solidFill>
            <a:srgbClr val="DDE1E6"/>
          </a:solidFill>
          <a:ln w="12700">
            <a:solidFill>
              <a:srgbClr val="333333"/>
            </a:solidFill>
            <a:prstDash val="solid"/>
          </a:ln>
        </p:spPr>
      </p:sp>
      <p:sp>
        <p:nvSpPr>
          <p:cNvPr id="33" name="Shape 31"/>
          <p:cNvSpPr/>
          <p:nvPr/>
        </p:nvSpPr>
        <p:spPr>
          <a:xfrm>
            <a:off x="4727448" y="2871216"/>
            <a:ext cx="164592" cy="164592"/>
          </a:xfrm>
          <a:prstGeom prst="ellipse">
            <a:avLst/>
          </a:prstGeom>
          <a:solidFill>
            <a:srgbClr val="DDE1E6"/>
          </a:solidFill>
          <a:ln w="12700">
            <a:solidFill>
              <a:srgbClr val="333333"/>
            </a:solidFill>
            <a:prstDash val="solid"/>
          </a:ln>
        </p:spPr>
      </p:sp>
      <p:sp>
        <p:nvSpPr>
          <p:cNvPr id="34" name="Shape 32"/>
          <p:cNvSpPr/>
          <p:nvPr/>
        </p:nvSpPr>
        <p:spPr>
          <a:xfrm>
            <a:off x="685800" y="3182112"/>
            <a:ext cx="164592" cy="164592"/>
          </a:xfrm>
          <a:prstGeom prst="ellipse">
            <a:avLst/>
          </a:prstGeom>
          <a:solidFill>
            <a:srgbClr val="DDE1E6"/>
          </a:solidFill>
          <a:ln w="12700">
            <a:solidFill>
              <a:srgbClr val="333333"/>
            </a:solidFill>
            <a:prstDash val="solid"/>
          </a:ln>
        </p:spPr>
      </p:sp>
      <p:sp>
        <p:nvSpPr>
          <p:cNvPr id="35" name="Shape 33"/>
          <p:cNvSpPr/>
          <p:nvPr/>
        </p:nvSpPr>
        <p:spPr>
          <a:xfrm>
            <a:off x="996696" y="3182112"/>
            <a:ext cx="164592" cy="164592"/>
          </a:xfrm>
          <a:prstGeom prst="ellipse">
            <a:avLst/>
          </a:prstGeom>
          <a:solidFill>
            <a:srgbClr val="DDE1E6"/>
          </a:solidFill>
          <a:ln w="12700">
            <a:solidFill>
              <a:srgbClr val="333333"/>
            </a:solidFill>
            <a:prstDash val="solid"/>
          </a:ln>
        </p:spPr>
      </p:sp>
      <p:sp>
        <p:nvSpPr>
          <p:cNvPr id="36" name="Shape 34"/>
          <p:cNvSpPr/>
          <p:nvPr/>
        </p:nvSpPr>
        <p:spPr>
          <a:xfrm>
            <a:off x="1307592" y="3182112"/>
            <a:ext cx="164592" cy="164592"/>
          </a:xfrm>
          <a:prstGeom prst="ellipse">
            <a:avLst/>
          </a:prstGeom>
          <a:solidFill>
            <a:srgbClr val="DDE1E6"/>
          </a:solidFill>
          <a:ln w="12700">
            <a:solidFill>
              <a:srgbClr val="333333"/>
            </a:solidFill>
            <a:prstDash val="solid"/>
          </a:ln>
        </p:spPr>
      </p:sp>
      <p:sp>
        <p:nvSpPr>
          <p:cNvPr id="37" name="Shape 35"/>
          <p:cNvSpPr/>
          <p:nvPr/>
        </p:nvSpPr>
        <p:spPr>
          <a:xfrm>
            <a:off x="1618488" y="3182112"/>
            <a:ext cx="164592" cy="164592"/>
          </a:xfrm>
          <a:prstGeom prst="ellipse">
            <a:avLst/>
          </a:prstGeom>
          <a:solidFill>
            <a:srgbClr val="DDE1E6"/>
          </a:solidFill>
          <a:ln w="12700">
            <a:solidFill>
              <a:srgbClr val="333333"/>
            </a:solidFill>
            <a:prstDash val="solid"/>
          </a:ln>
        </p:spPr>
      </p:sp>
      <p:sp>
        <p:nvSpPr>
          <p:cNvPr id="38" name="Shape 36"/>
          <p:cNvSpPr/>
          <p:nvPr/>
        </p:nvSpPr>
        <p:spPr>
          <a:xfrm>
            <a:off x="1929384" y="3182112"/>
            <a:ext cx="164592" cy="164592"/>
          </a:xfrm>
          <a:prstGeom prst="ellipse">
            <a:avLst/>
          </a:prstGeom>
          <a:solidFill>
            <a:srgbClr val="DDE1E6"/>
          </a:solidFill>
          <a:ln w="12700">
            <a:solidFill>
              <a:srgbClr val="333333"/>
            </a:solidFill>
            <a:prstDash val="solid"/>
          </a:ln>
        </p:spPr>
      </p:sp>
      <p:sp>
        <p:nvSpPr>
          <p:cNvPr id="39" name="Shape 37"/>
          <p:cNvSpPr/>
          <p:nvPr/>
        </p:nvSpPr>
        <p:spPr>
          <a:xfrm>
            <a:off x="2240280" y="3182112"/>
            <a:ext cx="164592" cy="164592"/>
          </a:xfrm>
          <a:prstGeom prst="ellipse">
            <a:avLst/>
          </a:prstGeom>
          <a:solidFill>
            <a:srgbClr val="DDE1E6"/>
          </a:solidFill>
          <a:ln w="12700">
            <a:solidFill>
              <a:srgbClr val="333333"/>
            </a:solidFill>
            <a:prstDash val="solid"/>
          </a:ln>
        </p:spPr>
      </p:sp>
      <p:sp>
        <p:nvSpPr>
          <p:cNvPr id="40" name="Shape 38"/>
          <p:cNvSpPr/>
          <p:nvPr/>
        </p:nvSpPr>
        <p:spPr>
          <a:xfrm>
            <a:off x="2551176" y="3182112"/>
            <a:ext cx="164592" cy="164592"/>
          </a:xfrm>
          <a:prstGeom prst="ellipse">
            <a:avLst/>
          </a:prstGeom>
          <a:solidFill>
            <a:srgbClr val="DDE1E6"/>
          </a:solidFill>
          <a:ln w="12700">
            <a:solidFill>
              <a:srgbClr val="333333"/>
            </a:solidFill>
            <a:prstDash val="solid"/>
          </a:ln>
        </p:spPr>
      </p:sp>
      <p:sp>
        <p:nvSpPr>
          <p:cNvPr id="41" name="Shape 39"/>
          <p:cNvSpPr/>
          <p:nvPr/>
        </p:nvSpPr>
        <p:spPr>
          <a:xfrm>
            <a:off x="2862072" y="3182112"/>
            <a:ext cx="164592" cy="164592"/>
          </a:xfrm>
          <a:prstGeom prst="ellipse">
            <a:avLst/>
          </a:prstGeom>
          <a:solidFill>
            <a:srgbClr val="DDE1E6"/>
          </a:solidFill>
          <a:ln w="12700">
            <a:solidFill>
              <a:srgbClr val="333333"/>
            </a:solidFill>
            <a:prstDash val="solid"/>
          </a:ln>
        </p:spPr>
      </p:sp>
      <p:sp>
        <p:nvSpPr>
          <p:cNvPr id="42" name="Shape 40"/>
          <p:cNvSpPr/>
          <p:nvPr/>
        </p:nvSpPr>
        <p:spPr>
          <a:xfrm>
            <a:off x="3172968" y="3182112"/>
            <a:ext cx="164592" cy="164592"/>
          </a:xfrm>
          <a:prstGeom prst="ellipse">
            <a:avLst/>
          </a:prstGeom>
          <a:solidFill>
            <a:srgbClr val="DDE1E6"/>
          </a:solidFill>
          <a:ln w="12700">
            <a:solidFill>
              <a:srgbClr val="333333"/>
            </a:solidFill>
            <a:prstDash val="solid"/>
          </a:ln>
        </p:spPr>
      </p:sp>
      <p:sp>
        <p:nvSpPr>
          <p:cNvPr id="43" name="Shape 41"/>
          <p:cNvSpPr/>
          <p:nvPr/>
        </p:nvSpPr>
        <p:spPr>
          <a:xfrm>
            <a:off x="3483864" y="3182112"/>
            <a:ext cx="164592" cy="164592"/>
          </a:xfrm>
          <a:prstGeom prst="ellipse">
            <a:avLst/>
          </a:prstGeom>
          <a:solidFill>
            <a:srgbClr val="DDE1E6"/>
          </a:solidFill>
          <a:ln w="12700">
            <a:solidFill>
              <a:srgbClr val="333333"/>
            </a:solidFill>
            <a:prstDash val="solid"/>
          </a:ln>
        </p:spPr>
      </p:sp>
      <p:sp>
        <p:nvSpPr>
          <p:cNvPr id="44" name="Shape 42"/>
          <p:cNvSpPr/>
          <p:nvPr/>
        </p:nvSpPr>
        <p:spPr>
          <a:xfrm>
            <a:off x="3794760" y="3182112"/>
            <a:ext cx="164592" cy="164592"/>
          </a:xfrm>
          <a:prstGeom prst="ellipse">
            <a:avLst/>
          </a:prstGeom>
          <a:solidFill>
            <a:srgbClr val="DDE1E6"/>
          </a:solidFill>
          <a:ln w="12700">
            <a:solidFill>
              <a:srgbClr val="333333"/>
            </a:solidFill>
            <a:prstDash val="solid"/>
          </a:ln>
        </p:spPr>
      </p:sp>
      <p:sp>
        <p:nvSpPr>
          <p:cNvPr id="45" name="Shape 43"/>
          <p:cNvSpPr/>
          <p:nvPr/>
        </p:nvSpPr>
        <p:spPr>
          <a:xfrm>
            <a:off x="4105656" y="3182112"/>
            <a:ext cx="164592" cy="164592"/>
          </a:xfrm>
          <a:prstGeom prst="ellipse">
            <a:avLst/>
          </a:prstGeom>
          <a:solidFill>
            <a:srgbClr val="DDE1E6"/>
          </a:solidFill>
          <a:ln w="12700">
            <a:solidFill>
              <a:srgbClr val="333333"/>
            </a:solidFill>
            <a:prstDash val="solid"/>
          </a:ln>
        </p:spPr>
      </p:sp>
      <p:sp>
        <p:nvSpPr>
          <p:cNvPr id="46" name="Shape 44"/>
          <p:cNvSpPr/>
          <p:nvPr/>
        </p:nvSpPr>
        <p:spPr>
          <a:xfrm>
            <a:off x="4416552" y="3182112"/>
            <a:ext cx="164592" cy="164592"/>
          </a:xfrm>
          <a:prstGeom prst="ellipse">
            <a:avLst/>
          </a:prstGeom>
          <a:solidFill>
            <a:srgbClr val="DDE1E6"/>
          </a:solidFill>
          <a:ln w="12700">
            <a:solidFill>
              <a:srgbClr val="333333"/>
            </a:solidFill>
            <a:prstDash val="solid"/>
          </a:ln>
        </p:spPr>
      </p:sp>
      <p:sp>
        <p:nvSpPr>
          <p:cNvPr id="47" name="Shape 45"/>
          <p:cNvSpPr/>
          <p:nvPr/>
        </p:nvSpPr>
        <p:spPr>
          <a:xfrm>
            <a:off x="4727448" y="3182112"/>
            <a:ext cx="164592" cy="164592"/>
          </a:xfrm>
          <a:prstGeom prst="ellipse">
            <a:avLst/>
          </a:prstGeom>
          <a:solidFill>
            <a:srgbClr val="DDE1E6"/>
          </a:solidFill>
          <a:ln w="12700">
            <a:solidFill>
              <a:srgbClr val="333333"/>
            </a:solidFill>
            <a:prstDash val="solid"/>
          </a:ln>
        </p:spPr>
      </p:sp>
      <p:sp>
        <p:nvSpPr>
          <p:cNvPr id="48" name="Text 46"/>
          <p:cNvSpPr/>
          <p:nvPr/>
        </p:nvSpPr>
        <p:spPr>
          <a:xfrm>
            <a:off x="685800" y="3611880"/>
            <a:ext cx="4572000" cy="274320"/>
          </a:xfrm>
          <a:prstGeom prst="rect">
            <a:avLst/>
          </a:prstGeom>
          <a:noFill/>
          <a:ln/>
        </p:spPr>
        <p:txBody>
          <a:bodyPr wrap="square" lIns="0" tIns="0" rIns="0" bIns="0" rtlCol="0" anchor="ctr"/>
          <a:lstStyle/>
          <a:p>
            <a:pPr indent="0" marL="0">
              <a:buNone/>
            </a:pPr>
            <a:r>
              <a:rPr lang="en-US" sz="1400" i="1" dirty="0">
                <a:solidFill>
                  <a:srgbClr val="767D86"/>
                </a:solidFill>
                <a:latin typeface="Cambria" pitchFamily="34" charset="0"/>
                <a:ea typeface="Cambria" pitchFamily="34" charset="-122"/>
                <a:cs typeface="Cambria" pitchFamily="34" charset="-120"/>
              </a:rPr>
              <a:t>credibility = how many</a:t>
            </a:r>
            <a:endParaRPr lang="en-US" sz="1400" dirty="0"/>
          </a:p>
        </p:txBody>
      </p:sp>
      <p:sp>
        <p:nvSpPr>
          <p:cNvPr id="49" name="Text 47"/>
          <p:cNvSpPr/>
          <p:nvPr/>
        </p:nvSpPr>
        <p:spPr>
          <a:xfrm>
            <a:off x="685800" y="4206240"/>
            <a:ext cx="2743200" cy="274320"/>
          </a:xfrm>
          <a:prstGeom prst="rect">
            <a:avLst/>
          </a:prstGeom>
          <a:noFill/>
          <a:ln/>
        </p:spPr>
        <p:txBody>
          <a:bodyPr wrap="square" lIns="0" tIns="0" rIns="0" bIns="0" rtlCol="0" anchor="ctr"/>
          <a:lstStyle/>
          <a:p>
            <a:pPr indent="0" marL="0">
              <a:buNone/>
            </a:pPr>
            <a:r>
              <a:rPr lang="en-US" sz="1000" spc="140" kern="0" dirty="0">
                <a:solidFill>
                  <a:srgbClr val="1F4E79"/>
                </a:solidFill>
                <a:latin typeface="Courier New" pitchFamily="34" charset="0"/>
                <a:ea typeface="Courier New" pitchFamily="34" charset="-122"/>
                <a:cs typeface="Courier New" pitchFamily="34" charset="-120"/>
              </a:rPr>
              <a:t>CASE STUDY</a:t>
            </a:r>
            <a:endParaRPr lang="en-US" sz="1000" dirty="0"/>
          </a:p>
        </p:txBody>
      </p:sp>
      <p:sp>
        <p:nvSpPr>
          <p:cNvPr id="50" name="Shape 48"/>
          <p:cNvSpPr/>
          <p:nvPr/>
        </p:nvSpPr>
        <p:spPr>
          <a:xfrm>
            <a:off x="685800" y="4572000"/>
            <a:ext cx="384048" cy="384048"/>
          </a:xfrm>
          <a:prstGeom prst="ellipse">
            <a:avLst/>
          </a:prstGeom>
          <a:solidFill>
            <a:srgbClr val="1F4E79"/>
          </a:solidFill>
          <a:ln w="12700">
            <a:solidFill>
              <a:srgbClr val="333333"/>
            </a:solidFill>
            <a:prstDash val="solid"/>
          </a:ln>
        </p:spPr>
      </p:sp>
      <p:sp>
        <p:nvSpPr>
          <p:cNvPr id="51" name="Shape 49"/>
          <p:cNvSpPr/>
          <p:nvPr/>
        </p:nvSpPr>
        <p:spPr>
          <a:xfrm>
            <a:off x="1234440" y="4764024"/>
            <a:ext cx="2834640" cy="0"/>
          </a:xfrm>
          <a:prstGeom prst="line">
            <a:avLst/>
          </a:prstGeom>
          <a:noFill/>
          <a:ln w="25400">
            <a:solidFill>
              <a:srgbClr val="1F4E79"/>
            </a:solidFill>
            <a:prstDash val="solid"/>
            <a:tailEnd type="triangle"/>
          </a:ln>
        </p:spPr>
      </p:sp>
      <p:sp>
        <p:nvSpPr>
          <p:cNvPr id="52" name="Text 50"/>
          <p:cNvSpPr/>
          <p:nvPr/>
        </p:nvSpPr>
        <p:spPr>
          <a:xfrm>
            <a:off x="1234440" y="4882896"/>
            <a:ext cx="2834640" cy="256032"/>
          </a:xfrm>
          <a:prstGeom prst="rect">
            <a:avLst/>
          </a:prstGeom>
          <a:noFill/>
          <a:ln/>
        </p:spPr>
        <p:txBody>
          <a:bodyPr wrap="square" lIns="0" tIns="0" rIns="0" bIns="0" rtlCol="0" anchor="ctr"/>
          <a:lstStyle/>
          <a:p>
            <a:pPr algn="ctr" indent="0" marL="0">
              <a:buNone/>
            </a:pPr>
            <a:r>
              <a:rPr lang="en-US" sz="900" dirty="0">
                <a:solidFill>
                  <a:srgbClr val="767D86"/>
                </a:solidFill>
                <a:latin typeface="Courier New" pitchFamily="34" charset="0"/>
                <a:ea typeface="Courier New" pitchFamily="34" charset="-122"/>
                <a:cs typeface="Courier New" pitchFamily="34" charset="-120"/>
              </a:rPr>
              <a:t>visible route</a:t>
            </a:r>
            <a:endParaRPr lang="en-US" sz="900" dirty="0"/>
          </a:p>
        </p:txBody>
      </p:sp>
      <p:sp>
        <p:nvSpPr>
          <p:cNvPr id="53" name="Shape 51"/>
          <p:cNvSpPr/>
          <p:nvPr/>
        </p:nvSpPr>
        <p:spPr>
          <a:xfrm>
            <a:off x="4114800" y="4553712"/>
            <a:ext cx="1737360" cy="438912"/>
          </a:xfrm>
          <a:prstGeom prst="rect">
            <a:avLst/>
          </a:prstGeom>
          <a:solidFill>
            <a:srgbClr val="E9EFF6"/>
          </a:solidFill>
          <a:ln w="16510">
            <a:solidFill>
              <a:srgbClr val="1F4E79"/>
            </a:solidFill>
            <a:prstDash val="solid"/>
          </a:ln>
        </p:spPr>
      </p:sp>
      <p:sp>
        <p:nvSpPr>
          <p:cNvPr id="54" name="Text 52"/>
          <p:cNvSpPr/>
          <p:nvPr/>
        </p:nvSpPr>
        <p:spPr>
          <a:xfrm>
            <a:off x="4114800" y="4645152"/>
            <a:ext cx="1737360" cy="274320"/>
          </a:xfrm>
          <a:prstGeom prst="rect">
            <a:avLst/>
          </a:prstGeom>
          <a:noFill/>
          <a:ln/>
        </p:spPr>
        <p:txBody>
          <a:bodyPr wrap="square" lIns="0" tIns="0" rIns="0" bIns="0" rtlCol="0" anchor="ctr"/>
          <a:lstStyle/>
          <a:p>
            <a:pPr algn="ctr" indent="0" marL="0">
              <a:buNone/>
            </a:pPr>
            <a:r>
              <a:rPr lang="en-US" sz="1000" dirty="0">
                <a:solidFill>
                  <a:srgbClr val="1F4E79"/>
                </a:solidFill>
                <a:latin typeface="Courier New" pitchFamily="34" charset="0"/>
                <a:ea typeface="Courier New" pitchFamily="34" charset="-122"/>
                <a:cs typeface="Courier New" pitchFamily="34" charset="-120"/>
              </a:rPr>
              <a:t>the claim</a:t>
            </a:r>
            <a:endParaRPr lang="en-US" sz="1000" dirty="0"/>
          </a:p>
        </p:txBody>
      </p:sp>
      <p:sp>
        <p:nvSpPr>
          <p:cNvPr id="55" name="Text 53"/>
          <p:cNvSpPr/>
          <p:nvPr/>
        </p:nvSpPr>
        <p:spPr>
          <a:xfrm>
            <a:off x="685800" y="5212080"/>
            <a:ext cx="5486400" cy="274320"/>
          </a:xfrm>
          <a:prstGeom prst="rect">
            <a:avLst/>
          </a:prstGeom>
          <a:noFill/>
          <a:ln/>
        </p:spPr>
        <p:txBody>
          <a:bodyPr wrap="square" lIns="0" tIns="0" rIns="0" bIns="0" rtlCol="0" anchor="ctr"/>
          <a:lstStyle/>
          <a:p>
            <a:pPr indent="0" marL="0">
              <a:buNone/>
            </a:pPr>
            <a:r>
              <a:rPr lang="en-US" sz="1400" i="1" dirty="0">
                <a:solidFill>
                  <a:srgbClr val="1F4E79"/>
                </a:solidFill>
                <a:latin typeface="Cambria" pitchFamily="34" charset="0"/>
                <a:ea typeface="Cambria" pitchFamily="34" charset="-122"/>
                <a:cs typeface="Cambria" pitchFamily="34" charset="-120"/>
              </a:rPr>
              <a:t>credibility = shown work</a:t>
            </a:r>
            <a:endParaRPr lang="en-US" sz="1400" dirty="0"/>
          </a:p>
        </p:txBody>
      </p:sp>
      <p:sp>
        <p:nvSpPr>
          <p:cNvPr id="56" name="Shape 54"/>
          <p:cNvSpPr/>
          <p:nvPr/>
        </p:nvSpPr>
        <p:spPr>
          <a:xfrm>
            <a:off x="6766560" y="2194560"/>
            <a:ext cx="4736592" cy="3291840"/>
          </a:xfrm>
          <a:prstGeom prst="rect">
            <a:avLst/>
          </a:prstGeom>
          <a:solidFill>
            <a:srgbClr val="E9EFF6"/>
          </a:solidFill>
          <a:ln w="12700">
            <a:solidFill>
              <a:srgbClr val="333333"/>
            </a:solidFill>
            <a:prstDash val="solid"/>
          </a:ln>
        </p:spPr>
      </p:sp>
      <p:sp>
        <p:nvSpPr>
          <p:cNvPr id="57" name="Text 55"/>
          <p:cNvSpPr/>
          <p:nvPr/>
        </p:nvSpPr>
        <p:spPr>
          <a:xfrm>
            <a:off x="7086600" y="2606040"/>
            <a:ext cx="4114800" cy="1463040"/>
          </a:xfrm>
          <a:prstGeom prst="rect">
            <a:avLst/>
          </a:prstGeom>
          <a:noFill/>
          <a:ln/>
        </p:spPr>
        <p:txBody>
          <a:bodyPr wrap="square" lIns="0" tIns="0" rIns="0" bIns="0" rtlCol="0" anchor="ctr"/>
          <a:lstStyle/>
          <a:p>
            <a:pPr indent="0" marL="0">
              <a:buNone/>
            </a:pPr>
            <a:r>
              <a:rPr lang="en-US" sz="1900" i="1" dirty="0">
                <a:solidFill>
                  <a:srgbClr val="1F4E79"/>
                </a:solidFill>
                <a:latin typeface="Georgia" pitchFamily="34" charset="0"/>
                <a:ea typeface="Georgia" pitchFamily="34" charset="-122"/>
                <a:cs typeface="Georgia" pitchFamily="34" charset="-120"/>
              </a:rPr>
              <a:t>“The reader is shown the route from what was observed to what is claimed, and judges that route.”</a:t>
            </a:r>
            <a:endParaRPr lang="en-US" sz="1900" dirty="0"/>
          </a:p>
        </p:txBody>
      </p:sp>
      <p:sp>
        <p:nvSpPr>
          <p:cNvPr id="58" name="Text 56"/>
          <p:cNvSpPr/>
          <p:nvPr/>
        </p:nvSpPr>
        <p:spPr>
          <a:xfrm>
            <a:off x="7086600" y="4343400"/>
            <a:ext cx="4114800" cy="731520"/>
          </a:xfrm>
          <a:prstGeom prst="rect">
            <a:avLst/>
          </a:prstGeom>
          <a:noFill/>
          <a:ln/>
        </p:spPr>
        <p:txBody>
          <a:bodyPr wrap="square" lIns="0" tIns="0" rIns="0" bIns="0" rtlCol="0" anchor="ctr"/>
          <a:lstStyle/>
          <a:p>
            <a:pPr indent="0" marL="0">
              <a:buNone/>
            </a:pPr>
            <a:r>
              <a:rPr lang="en-US" sz="1400" dirty="0">
                <a:solidFill>
                  <a:srgbClr val="767D86"/>
                </a:solidFill>
                <a:latin typeface="Cambria" pitchFamily="34" charset="0"/>
                <a:ea typeface="Cambria" pitchFamily="34" charset="-122"/>
                <a:cs typeface="Cambria" pitchFamily="34" charset="-120"/>
              </a:rPr>
              <a:t>That is the whole answer to “but it is only one case.”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914400"/>
            <a:ext cx="7315200" cy="274320"/>
          </a:xfrm>
          <a:prstGeom prst="rect">
            <a:avLst/>
          </a:prstGeom>
          <a:noFill/>
          <a:ln/>
        </p:spPr>
        <p:txBody>
          <a:bodyPr wrap="square" lIns="0" tIns="0" rIns="0" bIns="0" rtlCol="0" anchor="ctr"/>
          <a:lstStyle/>
          <a:p>
            <a:pPr indent="0" marL="0">
              <a:buNone/>
            </a:pPr>
            <a:r>
              <a:rPr lang="en-US" sz="1100" spc="160" kern="0" dirty="0">
                <a:solidFill>
                  <a:srgbClr val="D2A73F"/>
                </a:solidFill>
                <a:latin typeface="Courier New" pitchFamily="34" charset="0"/>
                <a:ea typeface="Courier New" pitchFamily="34" charset="-122"/>
                <a:cs typeface="Courier New" pitchFamily="34" charset="-120"/>
              </a:rPr>
              <a:t>WHERE THIS LANDS IN MY OWN WORK</a:t>
            </a:r>
            <a:endParaRPr lang="en-US" sz="1100" dirty="0"/>
          </a:p>
        </p:txBody>
      </p:sp>
      <p:sp>
        <p:nvSpPr>
          <p:cNvPr id="4" name="Text 2"/>
          <p:cNvSpPr/>
          <p:nvPr/>
        </p:nvSpPr>
        <p:spPr>
          <a:xfrm>
            <a:off x="685800" y="128016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I learned this the expensive way</a:t>
            </a:r>
            <a:endParaRPr lang="en-US" sz="3400" dirty="0"/>
          </a:p>
        </p:txBody>
      </p:sp>
      <p:sp>
        <p:nvSpPr>
          <p:cNvPr id="5" name="Text 3"/>
          <p:cNvSpPr/>
          <p:nvPr/>
        </p:nvSpPr>
        <p:spPr>
          <a:xfrm>
            <a:off x="685800" y="2514600"/>
            <a:ext cx="3200400" cy="777240"/>
          </a:xfrm>
          <a:prstGeom prst="rect">
            <a:avLst/>
          </a:prstGeom>
          <a:noFill/>
          <a:ln/>
        </p:spPr>
        <p:txBody>
          <a:bodyPr wrap="square" lIns="0" tIns="0" rIns="0" bIns="0" rtlCol="0" anchor="ctr"/>
          <a:lstStyle/>
          <a:p>
            <a:pPr indent="0" marL="0">
              <a:buNone/>
            </a:pPr>
            <a:r>
              <a:rPr lang="en-US" sz="4200" b="1" dirty="0">
                <a:solidFill>
                  <a:srgbClr val="D2A73F"/>
                </a:solidFill>
                <a:latin typeface="Georgia" pitchFamily="34" charset="0"/>
                <a:ea typeface="Georgia" pitchFamily="34" charset="-122"/>
                <a:cs typeface="Georgia" pitchFamily="34" charset="-120"/>
              </a:rPr>
              <a:t>334,976</a:t>
            </a:r>
            <a:endParaRPr lang="en-US" sz="4200" dirty="0"/>
          </a:p>
        </p:txBody>
      </p:sp>
      <p:sp>
        <p:nvSpPr>
          <p:cNvPr id="6" name="Text 4"/>
          <p:cNvSpPr/>
          <p:nvPr/>
        </p:nvSpPr>
        <p:spPr>
          <a:xfrm>
            <a:off x="685800" y="3337560"/>
            <a:ext cx="3200400" cy="457200"/>
          </a:xfrm>
          <a:prstGeom prst="rect">
            <a:avLst/>
          </a:prstGeom>
          <a:noFill/>
          <a:ln/>
        </p:spPr>
        <p:txBody>
          <a:bodyPr wrap="square" lIns="0" tIns="0" rIns="0" bIns="0" rtlCol="0" anchor="ctr"/>
          <a:lstStyle/>
          <a:p>
            <a:pPr indent="0" marL="0">
              <a:buNone/>
            </a:pPr>
            <a:r>
              <a:rPr lang="en-US" sz="1400" dirty="0">
                <a:solidFill>
                  <a:srgbClr val="B9C2CC"/>
                </a:solidFill>
                <a:latin typeface="Cambria" pitchFamily="34" charset="0"/>
                <a:ea typeface="Cambria" pitchFamily="34" charset="-122"/>
                <a:cs typeface="Cambria" pitchFamily="34" charset="-120"/>
              </a:rPr>
              <a:t>panel members screened</a:t>
            </a:r>
            <a:endParaRPr lang="en-US" sz="1400" dirty="0"/>
          </a:p>
        </p:txBody>
      </p:sp>
      <p:sp>
        <p:nvSpPr>
          <p:cNvPr id="7" name="Text 5"/>
          <p:cNvSpPr/>
          <p:nvPr/>
        </p:nvSpPr>
        <p:spPr>
          <a:xfrm>
            <a:off x="4251960" y="2514600"/>
            <a:ext cx="3200400" cy="777240"/>
          </a:xfrm>
          <a:prstGeom prst="rect">
            <a:avLst/>
          </a:prstGeom>
          <a:noFill/>
          <a:ln/>
        </p:spPr>
        <p:txBody>
          <a:bodyPr wrap="square" lIns="0" tIns="0" rIns="0" bIns="0" rtlCol="0" anchor="ctr"/>
          <a:lstStyle/>
          <a:p>
            <a:pPr indent="0" marL="0">
              <a:buNone/>
            </a:pPr>
            <a:r>
              <a:rPr lang="en-US" sz="4200" b="1" dirty="0">
                <a:solidFill>
                  <a:srgbClr val="D2A73F"/>
                </a:solidFill>
                <a:latin typeface="Georgia" pitchFamily="34" charset="0"/>
                <a:ea typeface="Georgia" pitchFamily="34" charset="-122"/>
                <a:cs typeface="Georgia" pitchFamily="34" charset="-120"/>
              </a:rPr>
              <a:t>~20</a:t>
            </a:r>
            <a:endParaRPr lang="en-US" sz="4200" dirty="0"/>
          </a:p>
        </p:txBody>
      </p:sp>
      <p:sp>
        <p:nvSpPr>
          <p:cNvPr id="8" name="Text 6"/>
          <p:cNvSpPr/>
          <p:nvPr/>
        </p:nvSpPr>
        <p:spPr>
          <a:xfrm>
            <a:off x="4251960" y="3337560"/>
            <a:ext cx="3200400" cy="457200"/>
          </a:xfrm>
          <a:prstGeom prst="rect">
            <a:avLst/>
          </a:prstGeom>
          <a:noFill/>
          <a:ln/>
        </p:spPr>
        <p:txBody>
          <a:bodyPr wrap="square" lIns="0" tIns="0" rIns="0" bIns="0" rtlCol="0" anchor="ctr"/>
          <a:lstStyle/>
          <a:p>
            <a:pPr indent="0" marL="0">
              <a:buNone/>
            </a:pPr>
            <a:r>
              <a:rPr lang="en-US" sz="1400" dirty="0">
                <a:solidFill>
                  <a:srgbClr val="B9C2CC"/>
                </a:solidFill>
                <a:latin typeface="Cambria" pitchFamily="34" charset="0"/>
                <a:ea typeface="Cambria" pitchFamily="34" charset="-122"/>
                <a:cs typeface="Cambria" pitchFamily="34" charset="-120"/>
              </a:rPr>
              <a:t>met the eligibility criteria</a:t>
            </a:r>
            <a:endParaRPr lang="en-US" sz="1400" dirty="0"/>
          </a:p>
        </p:txBody>
      </p:sp>
      <p:sp>
        <p:nvSpPr>
          <p:cNvPr id="9" name="Text 7"/>
          <p:cNvSpPr/>
          <p:nvPr/>
        </p:nvSpPr>
        <p:spPr>
          <a:xfrm>
            <a:off x="7818120" y="2514600"/>
            <a:ext cx="3200400" cy="777240"/>
          </a:xfrm>
          <a:prstGeom prst="rect">
            <a:avLst/>
          </a:prstGeom>
          <a:noFill/>
          <a:ln/>
        </p:spPr>
        <p:txBody>
          <a:bodyPr wrap="square" lIns="0" tIns="0" rIns="0" bIns="0" rtlCol="0" anchor="ctr"/>
          <a:lstStyle/>
          <a:p>
            <a:pPr indent="0" marL="0">
              <a:buNone/>
            </a:pPr>
            <a:r>
              <a:rPr lang="en-US" sz="4200" b="1" dirty="0">
                <a:solidFill>
                  <a:srgbClr val="D2A73F"/>
                </a:solidFill>
                <a:latin typeface="Georgia" pitchFamily="34" charset="0"/>
                <a:ea typeface="Georgia" pitchFamily="34" charset="-122"/>
                <a:cs typeface="Georgia" pitchFamily="34" charset="-120"/>
              </a:rPr>
              <a:t>4</a:t>
            </a:r>
            <a:endParaRPr lang="en-US" sz="4200" dirty="0"/>
          </a:p>
        </p:txBody>
      </p:sp>
      <p:sp>
        <p:nvSpPr>
          <p:cNvPr id="10" name="Text 8"/>
          <p:cNvSpPr/>
          <p:nvPr/>
        </p:nvSpPr>
        <p:spPr>
          <a:xfrm>
            <a:off x="7818120" y="3337560"/>
            <a:ext cx="3200400" cy="457200"/>
          </a:xfrm>
          <a:prstGeom prst="rect">
            <a:avLst/>
          </a:prstGeom>
          <a:noFill/>
          <a:ln/>
        </p:spPr>
        <p:txBody>
          <a:bodyPr wrap="square" lIns="0" tIns="0" rIns="0" bIns="0" rtlCol="0" anchor="ctr"/>
          <a:lstStyle/>
          <a:p>
            <a:pPr indent="0" marL="0">
              <a:buNone/>
            </a:pPr>
            <a:r>
              <a:rPr lang="en-US" sz="1400" dirty="0">
                <a:solidFill>
                  <a:srgbClr val="B9C2CC"/>
                </a:solidFill>
                <a:latin typeface="Cambria" pitchFamily="34" charset="0"/>
                <a:ea typeface="Cambria" pitchFamily="34" charset="-122"/>
                <a:cs typeface="Cambria" pitchFamily="34" charset="-120"/>
              </a:rPr>
              <a:t>valid responses of 23 raw</a:t>
            </a:r>
            <a:endParaRPr lang="en-US" sz="1400" dirty="0"/>
          </a:p>
        </p:txBody>
      </p:sp>
      <p:sp>
        <p:nvSpPr>
          <p:cNvPr id="11" name="Text 9"/>
          <p:cNvSpPr/>
          <p:nvPr/>
        </p:nvSpPr>
        <p:spPr>
          <a:xfrm>
            <a:off x="685800" y="4160520"/>
            <a:ext cx="10515600" cy="914400"/>
          </a:xfrm>
          <a:prstGeom prst="rect">
            <a:avLst/>
          </a:prstGeom>
          <a:noFill/>
          <a:ln/>
        </p:spPr>
        <p:txBody>
          <a:bodyPr wrap="square" lIns="0" tIns="0" rIns="0" bIns="0" rtlCol="0" anchor="ctr"/>
          <a:lstStyle/>
          <a:p>
            <a:pPr indent="0" marL="0">
              <a:buNone/>
            </a:pPr>
            <a:r>
              <a:rPr lang="en-US" sz="1900" i="1" dirty="0">
                <a:solidFill>
                  <a:srgbClr val="DCE3EA"/>
                </a:solidFill>
                <a:latin typeface="Georgia" pitchFamily="34" charset="0"/>
                <a:ea typeface="Georgia" pitchFamily="34" charset="-122"/>
                <a:cs typeface="Georgia" pitchFamily="34" charset="-120"/>
              </a:rPr>
              <a:t>Twenty people is a catastrophic sample for a survey and a workable one for an interview study. Method is not a preference — it is a function of what the population can supply.</a:t>
            </a:r>
            <a:endParaRPr lang="en-US" sz="1900" dirty="0"/>
          </a:p>
        </p:txBody>
      </p:sp>
      <p:sp>
        <p:nvSpPr>
          <p:cNvPr id="12" name="Text 10"/>
          <p:cNvSpPr/>
          <p:nvPr/>
        </p:nvSpPr>
        <p:spPr>
          <a:xfrm>
            <a:off x="685800" y="5257800"/>
            <a:ext cx="10515600" cy="731520"/>
          </a:xfrm>
          <a:prstGeom prst="rect">
            <a:avLst/>
          </a:prstGeom>
          <a:noFill/>
          <a:ln/>
        </p:spPr>
        <p:txBody>
          <a:bodyPr wrap="square" lIns="0" tIns="0" rIns="0" bIns="0" rtlCol="0" anchor="ctr"/>
          <a:lstStyle/>
          <a:p>
            <a:pPr indent="0" marL="0">
              <a:buNone/>
            </a:pPr>
            <a:r>
              <a:rPr lang="en-US" sz="1400" dirty="0">
                <a:solidFill>
                  <a:srgbClr val="8C949E"/>
                </a:solidFill>
                <a:latin typeface="Cambria" pitchFamily="34" charset="0"/>
                <a:ea typeface="Cambria" pitchFamily="34" charset="-122"/>
                <a:cs typeface="Cambria" pitchFamily="34" charset="-120"/>
              </a:rPr>
              <a:t>My screening log, 22 July — before this course began: the open-text responses were “worth a short qualitative synthesis regardless of what quantitative path is chosen.”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137160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What I take from it</a:t>
            </a:r>
            <a:endParaRPr lang="en-US" sz="3000" dirty="0"/>
          </a:p>
        </p:txBody>
      </p:sp>
      <p:sp>
        <p:nvSpPr>
          <p:cNvPr id="4" name="Text 2"/>
          <p:cNvSpPr/>
          <p:nvPr/>
        </p:nvSpPr>
        <p:spPr>
          <a:xfrm>
            <a:off x="685800" y="2240280"/>
            <a:ext cx="10515600" cy="2103120"/>
          </a:xfrm>
          <a:prstGeom prst="rect">
            <a:avLst/>
          </a:prstGeom>
          <a:noFill/>
          <a:ln/>
        </p:spPr>
        <p:txBody>
          <a:bodyPr wrap="square" lIns="0" tIns="0" rIns="0" bIns="0" rtlCol="0" anchor="ctr"/>
          <a:lstStyle/>
          <a:p>
            <a:pPr indent="0" marL="0">
              <a:lnSpc>
                <a:spcPts val="3300"/>
              </a:lnSpc>
              <a:buNone/>
            </a:pPr>
            <a:r>
              <a:rPr lang="en-US" sz="2100" i="1" dirty="0">
                <a:solidFill>
                  <a:srgbClr val="DCE3EA"/>
                </a:solidFill>
                <a:latin typeface="Georgia" pitchFamily="34" charset="0"/>
                <a:ea typeface="Georgia" pitchFamily="34" charset="-122"/>
                <a:cs typeface="Georgia" pitchFamily="34" charset="-120"/>
              </a:rPr>
              <a:t>“Their n is one organization. The credibility doesn't come from representativeness — they never claim it. It comes from showing you the route from what was observed to what is claimed, and from splitting the research team so one person keeps distance from the thing being studied.”</a:t>
            </a:r>
            <a:endParaRPr lang="en-US" sz="2100" dirty="0"/>
          </a:p>
        </p:txBody>
      </p:sp>
      <p:sp>
        <p:nvSpPr>
          <p:cNvPr id="5" name="Shape 3"/>
          <p:cNvSpPr/>
          <p:nvPr/>
        </p:nvSpPr>
        <p:spPr>
          <a:xfrm>
            <a:off x="685800" y="4617720"/>
            <a:ext cx="146304" cy="146304"/>
          </a:xfrm>
          <a:prstGeom prst="rect">
            <a:avLst/>
          </a:prstGeom>
          <a:solidFill>
            <a:srgbClr val="0E2237"/>
          </a:solidFill>
          <a:ln w="16510">
            <a:solidFill>
              <a:srgbClr val="D2A73F"/>
            </a:solidFill>
            <a:prstDash val="solid"/>
          </a:ln>
        </p:spPr>
      </p:sp>
      <p:sp>
        <p:nvSpPr>
          <p:cNvPr id="6" name="Shape 4"/>
          <p:cNvSpPr/>
          <p:nvPr/>
        </p:nvSpPr>
        <p:spPr>
          <a:xfrm>
            <a:off x="923544" y="4617720"/>
            <a:ext cx="146304" cy="146304"/>
          </a:xfrm>
          <a:prstGeom prst="rect">
            <a:avLst/>
          </a:prstGeom>
          <a:solidFill>
            <a:srgbClr val="D2A73F"/>
          </a:solidFill>
          <a:ln w="16510">
            <a:solidFill>
              <a:srgbClr val="D2A73F"/>
            </a:solidFill>
            <a:prstDash val="solid"/>
          </a:ln>
        </p:spPr>
      </p:sp>
      <p:sp>
        <p:nvSpPr>
          <p:cNvPr id="7" name="Shape 5"/>
          <p:cNvSpPr/>
          <p:nvPr/>
        </p:nvSpPr>
        <p:spPr>
          <a:xfrm>
            <a:off x="1161288" y="4617720"/>
            <a:ext cx="146304" cy="146304"/>
          </a:xfrm>
          <a:prstGeom prst="rect">
            <a:avLst/>
          </a:prstGeom>
          <a:solidFill>
            <a:srgbClr val="0E2237"/>
          </a:solidFill>
          <a:ln w="16510">
            <a:solidFill>
              <a:srgbClr val="D2A73F"/>
            </a:solidFill>
            <a:prstDash val="solid"/>
          </a:ln>
        </p:spPr>
      </p:sp>
      <p:sp>
        <p:nvSpPr>
          <p:cNvPr id="8" name="Shape 6"/>
          <p:cNvSpPr/>
          <p:nvPr/>
        </p:nvSpPr>
        <p:spPr>
          <a:xfrm>
            <a:off x="1399032" y="4617720"/>
            <a:ext cx="146304" cy="146304"/>
          </a:xfrm>
          <a:prstGeom prst="rect">
            <a:avLst/>
          </a:prstGeom>
          <a:solidFill>
            <a:srgbClr val="D2A73F"/>
          </a:solidFill>
          <a:ln w="16510">
            <a:solidFill>
              <a:srgbClr val="D2A73F"/>
            </a:solidFill>
            <a:prstDash val="solid"/>
          </a:ln>
        </p:spPr>
      </p:sp>
      <p:sp>
        <p:nvSpPr>
          <p:cNvPr id="9" name="Text 7"/>
          <p:cNvSpPr/>
          <p:nvPr/>
        </p:nvSpPr>
        <p:spPr>
          <a:xfrm>
            <a:off x="685800" y="6016752"/>
            <a:ext cx="8229600" cy="274320"/>
          </a:xfrm>
          <a:prstGeom prst="rect">
            <a:avLst/>
          </a:prstGeom>
          <a:noFill/>
          <a:ln/>
        </p:spPr>
        <p:txBody>
          <a:bodyPr wrap="square" lIns="0" tIns="0" rIns="0" bIns="0" rtlCol="0" anchor="ctr"/>
          <a:lstStyle/>
          <a:p>
            <a:pPr indent="0" marL="0">
              <a:buNone/>
            </a:pPr>
            <a:r>
              <a:rPr lang="en-US" sz="1000" spc="50" kern="0" dirty="0">
                <a:solidFill>
                  <a:srgbClr val="D2A73F"/>
                </a:solidFill>
                <a:latin typeface="Courier New" pitchFamily="34" charset="0"/>
                <a:ea typeface="Courier New" pitchFamily="34" charset="-122"/>
                <a:cs typeface="Courier New" pitchFamily="34" charset="-120"/>
              </a:rPr>
              <a:t>Yasir A. Malik   ·   github.com/AuditingAI/Profile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Ways to Know</dc:title>
  <dc:subject>PptxGenJS Presentation</dc:subject>
  <dc:creator>Yasir A. Malik</dc:creator>
  <cp:lastModifiedBy>Yasir A. Malik</cp:lastModifiedBy>
  <cp:revision>1</cp:revision>
  <dcterms:created xsi:type="dcterms:W3CDTF">2026-08-21T18:20:05Z</dcterms:created>
  <dcterms:modified xsi:type="dcterms:W3CDTF">2026-08-21T18:20:05Z</dcterms:modified>
</cp:coreProperties>
</file>