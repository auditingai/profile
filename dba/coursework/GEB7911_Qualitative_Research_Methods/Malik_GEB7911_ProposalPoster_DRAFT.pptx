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39800"/>
          </a:xfrm>
          <a:prstGeom prst="rect">
            <a:avLst/>
          </a:prstGeom>
          <a:solidFill>
            <a:srgbClr val="081E3F"/>
          </a:solidFill>
          <a:ln>
            <a:noFill/>
          </a:ln>
          <a:effectLst/>
        </p:spPr>
        <p:txBody>
          <a:bodyPr rtlCol="0" anchor="ctr"/>
          <a:lstStyle/>
          <a:p>
            <a:pPr algn="ctr"/>
          </a:p>
        </p:txBody>
      </p:sp>
      <p:pic>
        <p:nvPicPr>
          <p:cNvPr id="4" name="Picture 3" descr="fiu-seal.png"/>
          <p:cNvPicPr>
            <a:picLocks noChangeAspect="1"/>
          </p:cNvPicPr>
          <p:nvPr/>
        </p:nvPicPr>
        <p:blipFill>
          <a:blip r:embed="rId2"/>
          <a:stretch>
            <a:fillRect/>
          </a:stretch>
        </p:blipFill>
        <p:spPr>
          <a:xfrm>
            <a:off x="431800" y="177800"/>
            <a:ext cx="558800" cy="558800"/>
          </a:xfrm>
          <a:prstGeom prst="rect">
            <a:avLst/>
          </a:prstGeom>
        </p:spPr>
      </p:pic>
      <p:sp>
        <p:nvSpPr>
          <p:cNvPr id="5" name="TextBox 4"/>
          <p:cNvSpPr txBox="1"/>
          <p:nvPr/>
        </p:nvSpPr>
        <p:spPr>
          <a:xfrm>
            <a:off x="1143000" y="153035"/>
            <a:ext cx="5633720" cy="142875"/>
          </a:xfrm>
          <a:prstGeom prst="rect">
            <a:avLst/>
          </a:prstGeom>
          <a:noFill/>
        </p:spPr>
        <p:txBody>
          <a:bodyPr wrap="none" lIns="0" rIns="0" tIns="0" bIns="0"/>
          <a:lstStyle/>
          <a:p>
            <a:pPr algn="l">
              <a:lnSpc>
                <a:spcPct val="100000"/>
              </a:lnSpc>
              <a:spcBef>
                <a:spcPts val="0"/>
              </a:spcBef>
              <a:spcAft>
                <a:spcPts val="0"/>
              </a:spcAft>
            </a:pPr>
            <a:r>
              <a:rPr sz="750" b="1" i="0" spc="160">
                <a:solidFill>
                  <a:srgbClr val="B6862C"/>
                </a:solidFill>
                <a:latin typeface="Consolas"/>
                <a:cs typeface="Consolas"/>
              </a:rPr>
              <a:t>FLORIDA INTERNATIONAL UNIVERSITY  ·  CHAPMAN GRADUATE SCHOOL OF BUSINESS</a:t>
            </a:r>
          </a:p>
        </p:txBody>
      </p:sp>
      <p:sp>
        <p:nvSpPr>
          <p:cNvPr id="6" name="TextBox 5"/>
          <p:cNvSpPr txBox="1"/>
          <p:nvPr/>
        </p:nvSpPr>
        <p:spPr>
          <a:xfrm>
            <a:off x="1143000" y="247650"/>
            <a:ext cx="3508057" cy="476250"/>
          </a:xfrm>
          <a:prstGeom prst="rect">
            <a:avLst/>
          </a:prstGeom>
          <a:noFill/>
        </p:spPr>
        <p:txBody>
          <a:bodyPr wrap="none" lIns="0" rIns="0" tIns="0" bIns="0"/>
          <a:lstStyle/>
          <a:p>
            <a:pPr algn="l">
              <a:lnSpc>
                <a:spcPct val="100000"/>
              </a:lnSpc>
              <a:spcBef>
                <a:spcPts val="0"/>
              </a:spcBef>
              <a:spcAft>
                <a:spcPts val="0"/>
              </a:spcAft>
            </a:pPr>
            <a:r>
              <a:rPr sz="2500" b="1" i="0">
                <a:solidFill>
                  <a:srgbClr val="FFFFFF"/>
                </a:solidFill>
                <a:latin typeface="Times New Roman"/>
                <a:cs typeface="Times New Roman"/>
              </a:rPr>
              <a:t>Receiving Confirmation</a:t>
            </a:r>
          </a:p>
        </p:txBody>
      </p:sp>
      <p:sp>
        <p:nvSpPr>
          <p:cNvPr id="7" name="TextBox 6"/>
          <p:cNvSpPr txBox="1"/>
          <p:nvPr/>
        </p:nvSpPr>
        <p:spPr>
          <a:xfrm>
            <a:off x="1143000" y="660527"/>
            <a:ext cx="6412179" cy="219075"/>
          </a:xfrm>
          <a:prstGeom prst="rect">
            <a:avLst/>
          </a:prstGeom>
          <a:noFill/>
        </p:spPr>
        <p:txBody>
          <a:bodyPr wrap="none" lIns="0" rIns="0" tIns="0" bIns="0"/>
          <a:lstStyle/>
          <a:p>
            <a:pPr algn="l">
              <a:lnSpc>
                <a:spcPct val="100000"/>
              </a:lnSpc>
              <a:spcBef>
                <a:spcPts val="0"/>
              </a:spcBef>
              <a:spcAft>
                <a:spcPts val="0"/>
              </a:spcAft>
            </a:pPr>
            <a:r>
              <a:rPr sz="1150" b="0" i="1">
                <a:solidFill>
                  <a:srgbClr val="B9C7D8"/>
                </a:solidFill>
                <a:latin typeface="Times New Roman"/>
                <a:cs typeface="Times New Roman"/>
              </a:rPr>
              <a:t>How experienced auditors make sense of AI-generated agreement with a judgment they had already formed</a:t>
            </a:r>
          </a:p>
        </p:txBody>
      </p:sp>
      <p:sp>
        <p:nvSpPr>
          <p:cNvPr id="8" name="TextBox 7"/>
          <p:cNvSpPr txBox="1"/>
          <p:nvPr/>
        </p:nvSpPr>
        <p:spPr>
          <a:xfrm>
            <a:off x="10386060" y="222631"/>
            <a:ext cx="1374139" cy="180975"/>
          </a:xfrm>
          <a:prstGeom prst="rect">
            <a:avLst/>
          </a:prstGeom>
          <a:noFill/>
        </p:spPr>
        <p:txBody>
          <a:bodyPr wrap="none" lIns="0" rIns="0" tIns="0" bIns="0"/>
          <a:lstStyle/>
          <a:p>
            <a:pPr algn="r">
              <a:lnSpc>
                <a:spcPct val="100000"/>
              </a:lnSpc>
              <a:spcBef>
                <a:spcPts val="0"/>
              </a:spcBef>
              <a:spcAft>
                <a:spcPts val="0"/>
              </a:spcAft>
            </a:pPr>
            <a:r>
              <a:rPr sz="950" b="1" i="0" spc="160">
                <a:solidFill>
                  <a:srgbClr val="B6862C"/>
                </a:solidFill>
                <a:latin typeface="Consolas"/>
                <a:cs typeface="Consolas"/>
              </a:rPr>
              <a:t>YASIR A. MALIK</a:t>
            </a:r>
          </a:p>
        </p:txBody>
      </p:sp>
      <p:sp>
        <p:nvSpPr>
          <p:cNvPr id="9" name="TextBox 8"/>
          <p:cNvSpPr txBox="1"/>
          <p:nvPr/>
        </p:nvSpPr>
        <p:spPr>
          <a:xfrm>
            <a:off x="8783701" y="424180"/>
            <a:ext cx="2976499" cy="190500"/>
          </a:xfrm>
          <a:prstGeom prst="rect">
            <a:avLst/>
          </a:prstGeom>
          <a:noFill/>
        </p:spPr>
        <p:txBody>
          <a:bodyPr wrap="none" lIns="0" rIns="0" tIns="0" bIns="0"/>
          <a:lstStyle/>
          <a:p>
            <a:pPr algn="r">
              <a:lnSpc>
                <a:spcPct val="100000"/>
              </a:lnSpc>
              <a:spcBef>
                <a:spcPts val="0"/>
              </a:spcBef>
              <a:spcAft>
                <a:spcPts val="0"/>
              </a:spcAft>
            </a:pPr>
            <a:r>
              <a:rPr sz="1000" b="0" i="0">
                <a:solidFill>
                  <a:srgbClr val="8FA3BC"/>
                </a:solidFill>
                <a:latin typeface="Times New Roman"/>
                <a:cs typeface="Times New Roman"/>
              </a:rPr>
              <a:t>DBA Cohort 8.14  ·  GEB 7911  ·  Dr. Cristina Gonzalez</a:t>
            </a:r>
          </a:p>
        </p:txBody>
      </p:sp>
      <p:sp>
        <p:nvSpPr>
          <p:cNvPr id="10" name="TextBox 9"/>
          <p:cNvSpPr txBox="1"/>
          <p:nvPr/>
        </p:nvSpPr>
        <p:spPr>
          <a:xfrm>
            <a:off x="9294876" y="660704"/>
            <a:ext cx="2465324" cy="144779"/>
          </a:xfrm>
          <a:prstGeom prst="rect">
            <a:avLst/>
          </a:prstGeom>
          <a:noFill/>
        </p:spPr>
        <p:txBody>
          <a:bodyPr wrap="none" lIns="0" rIns="0" tIns="0" bIns="0"/>
          <a:lstStyle/>
          <a:p>
            <a:pPr algn="r">
              <a:lnSpc>
                <a:spcPct val="100000"/>
              </a:lnSpc>
              <a:spcBef>
                <a:spcPts val="0"/>
              </a:spcBef>
              <a:spcAft>
                <a:spcPts val="0"/>
              </a:spcAft>
            </a:pPr>
            <a:r>
              <a:rPr sz="760" b="1" i="0" spc="100">
                <a:solidFill>
                  <a:srgbClr val="B6862C"/>
                </a:solidFill>
                <a:latin typeface="Consolas"/>
                <a:cs typeface="Consolas"/>
              </a:rPr>
              <a:t>DRAFT FOR FEEDBACK  ·  29 SEP 2026</a:t>
            </a:r>
          </a:p>
        </p:txBody>
      </p:sp>
      <p:sp>
        <p:nvSpPr>
          <p:cNvPr id="11" name="Rounded Rectangle 10"/>
          <p:cNvSpPr/>
          <p:nvPr/>
        </p:nvSpPr>
        <p:spPr>
          <a:xfrm>
            <a:off x="431800" y="1066800"/>
            <a:ext cx="11328400" cy="558800"/>
          </a:xfrm>
          <a:prstGeom prst="roundRect">
            <a:avLst>
              <a:gd name="adj" fmla="val 6818"/>
            </a:avLst>
          </a:prstGeom>
          <a:solidFill>
            <a:srgbClr val="FAF3E4"/>
          </a:solidFill>
          <a:ln w="12700">
            <a:solidFill>
              <a:srgbClr val="B6862C"/>
            </a:solidFill>
          </a:ln>
          <a:effectLst/>
        </p:spPr>
        <p:txBody>
          <a:bodyPr rtlCol="0" anchor="ctr"/>
          <a:lstStyle/>
          <a:p>
            <a:pPr algn="ctr"/>
          </a:p>
        </p:txBody>
      </p:sp>
      <p:sp>
        <p:nvSpPr>
          <p:cNvPr id="12" name="Rectangle 11"/>
          <p:cNvSpPr/>
          <p:nvPr/>
        </p:nvSpPr>
        <p:spPr>
          <a:xfrm>
            <a:off x="431800" y="1066800"/>
            <a:ext cx="63500" cy="558800"/>
          </a:xfrm>
          <a:prstGeom prst="rect">
            <a:avLst/>
          </a:prstGeom>
          <a:solidFill>
            <a:srgbClr val="B6862C"/>
          </a:solidFill>
          <a:ln>
            <a:noFill/>
          </a:ln>
          <a:effectLst/>
        </p:spPr>
        <p:txBody>
          <a:bodyPr rtlCol="0" anchor="ctr"/>
          <a:lstStyle/>
          <a:p>
            <a:pPr algn="ctr"/>
          </a:p>
        </p:txBody>
      </p:sp>
      <p:sp>
        <p:nvSpPr>
          <p:cNvPr id="13" name="TextBox 12"/>
          <p:cNvSpPr txBox="1"/>
          <p:nvPr/>
        </p:nvSpPr>
        <p:spPr>
          <a:xfrm>
            <a:off x="660400" y="1169035"/>
            <a:ext cx="1352550" cy="142875"/>
          </a:xfrm>
          <a:prstGeom prst="rect">
            <a:avLst/>
          </a:prstGeom>
          <a:noFill/>
        </p:spPr>
        <p:txBody>
          <a:bodyPr wrap="none" lIns="0" rIns="0" tIns="0" bIns="0"/>
          <a:lstStyle/>
          <a:p>
            <a:pPr algn="l">
              <a:lnSpc>
                <a:spcPct val="100000"/>
              </a:lnSpc>
              <a:spcBef>
                <a:spcPts val="0"/>
              </a:spcBef>
              <a:spcAft>
                <a:spcPts val="0"/>
              </a:spcAft>
            </a:pPr>
            <a:r>
              <a:rPr sz="750" b="1" i="0" spc="150">
                <a:solidFill>
                  <a:srgbClr val="8A6A1F"/>
                </a:solidFill>
                <a:latin typeface="Consolas"/>
                <a:cs typeface="Consolas"/>
              </a:rPr>
              <a:t>RESEARCH QUESTION</a:t>
            </a:r>
          </a:p>
        </p:txBody>
      </p:sp>
      <p:sp>
        <p:nvSpPr>
          <p:cNvPr id="14" name="TextBox 13"/>
          <p:cNvSpPr txBox="1"/>
          <p:nvPr/>
        </p:nvSpPr>
        <p:spPr>
          <a:xfrm>
            <a:off x="660400" y="1327023"/>
            <a:ext cx="10441476" cy="257175"/>
          </a:xfrm>
          <a:prstGeom prst="rect">
            <a:avLst/>
          </a:prstGeom>
          <a:noFill/>
        </p:spPr>
        <p:txBody>
          <a:bodyPr wrap="none" lIns="0" rIns="0" tIns="0" bIns="0"/>
          <a:lstStyle/>
          <a:p>
            <a:pPr algn="l">
              <a:lnSpc>
                <a:spcPct val="100000"/>
              </a:lnSpc>
              <a:spcBef>
                <a:spcPts val="0"/>
              </a:spcBef>
              <a:spcAft>
                <a:spcPts val="0"/>
              </a:spcAft>
            </a:pPr>
            <a:r>
              <a:rPr sz="1350" b="0" i="1">
                <a:solidFill>
                  <a:srgbClr val="14171C"/>
                </a:solidFill>
                <a:latin typeface="Times New Roman"/>
                <a:cs typeface="Times New Roman"/>
              </a:rPr>
              <a:t>How do experienced auditors experience and make sense of receiving an AI-generated conclusion that confirms a judgment they had already formed?</a:t>
            </a:r>
          </a:p>
        </p:txBody>
      </p:sp>
      <p:sp>
        <p:nvSpPr>
          <p:cNvPr id="15" name="Rounded Rectangle 14"/>
          <p:cNvSpPr/>
          <p:nvPr/>
        </p:nvSpPr>
        <p:spPr>
          <a:xfrm>
            <a:off x="431800"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16" name="TextBox 15"/>
          <p:cNvSpPr txBox="1"/>
          <p:nvPr/>
        </p:nvSpPr>
        <p:spPr>
          <a:xfrm>
            <a:off x="533400" y="1766925"/>
            <a:ext cx="1530096"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1 · PROBLEM STATEMENT</a:t>
            </a:r>
          </a:p>
        </p:txBody>
      </p:sp>
      <p:sp>
        <p:nvSpPr>
          <p:cNvPr id="17" name="TextBox 16"/>
          <p:cNvSpPr txBox="1"/>
          <p:nvPr/>
        </p:nvSpPr>
        <p:spPr>
          <a:xfrm>
            <a:off x="431800" y="1967483"/>
            <a:ext cx="2740025" cy="44576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An auditor on a recurring engagement has always carried a prior</a:t>
            </a:r>
          </a:p>
          <a:p>
            <a:pPr algn="l">
              <a:lnSpc>
                <a:spcPts val="1010"/>
              </a:lnSpc>
              <a:spcBef>
                <a:spcPts val="0"/>
              </a:spcBef>
              <a:spcAft>
                <a:spcPts val="0"/>
              </a:spcAft>
            </a:pPr>
            <a:r>
              <a:rPr sz="800" b="0" i="0">
                <a:solidFill>
                  <a:srgbClr val="3A4048"/>
                </a:solidFill>
                <a:latin typeface="Times New Roman"/>
                <a:cs typeface="Times New Roman"/>
              </a:rPr>
              <a:t>conclusion forward. What is new is that an AI system now</a:t>
            </a:r>
          </a:p>
          <a:p>
            <a:pPr algn="l">
              <a:lnSpc>
                <a:spcPts val="1010"/>
              </a:lnSpc>
              <a:spcBef>
                <a:spcPts val="0"/>
              </a:spcBef>
              <a:spcAft>
                <a:spcPts val="0"/>
              </a:spcAft>
            </a:pPr>
            <a:r>
              <a:rPr sz="800" b="0" i="0">
                <a:solidFill>
                  <a:srgbClr val="3A4048"/>
                </a:solidFill>
                <a:latin typeface="Times New Roman"/>
                <a:cs typeface="Times New Roman"/>
              </a:rPr>
              <a:t>produces a conclusion of its own, and sometimes it agrees.</a:t>
            </a:r>
          </a:p>
        </p:txBody>
      </p:sp>
      <p:sp>
        <p:nvSpPr>
          <p:cNvPr id="18" name="TextBox 17"/>
          <p:cNvSpPr txBox="1"/>
          <p:nvPr/>
        </p:nvSpPr>
        <p:spPr>
          <a:xfrm>
            <a:off x="431800" y="2403094"/>
            <a:ext cx="2740025" cy="574040"/>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Research on AI and auditor judgment has focused primarily on the</a:t>
            </a:r>
          </a:p>
          <a:p>
            <a:pPr algn="l">
              <a:lnSpc>
                <a:spcPts val="1010"/>
              </a:lnSpc>
              <a:spcBef>
                <a:spcPts val="0"/>
              </a:spcBef>
              <a:spcAft>
                <a:spcPts val="0"/>
              </a:spcAft>
            </a:pPr>
            <a:r>
              <a:rPr sz="800" b="0" i="0">
                <a:solidFill>
                  <a:srgbClr val="14171C"/>
                </a:solidFill>
                <a:latin typeface="Times New Roman"/>
                <a:cs typeface="Times New Roman"/>
              </a:rPr>
              <a:t>extent of reliance, which a survey can measure. The lived</a:t>
            </a:r>
          </a:p>
          <a:p>
            <a:pPr algn="l">
              <a:lnSpc>
                <a:spcPts val="1010"/>
              </a:lnSpc>
              <a:spcBef>
                <a:spcPts val="0"/>
              </a:spcBef>
              <a:spcAft>
                <a:spcPts val="0"/>
              </a:spcAft>
            </a:pPr>
            <a:r>
              <a:rPr sz="800" b="0" i="0">
                <a:solidFill>
                  <a:srgbClr val="14171C"/>
                </a:solidFill>
                <a:latin typeface="Times New Roman"/>
                <a:cs typeface="Times New Roman"/>
              </a:rPr>
              <a:t>experience of receiving machine agreement with a judgment</a:t>
            </a:r>
          </a:p>
          <a:p>
            <a:pPr algn="l">
              <a:lnSpc>
                <a:spcPts val="1010"/>
              </a:lnSpc>
              <a:spcBef>
                <a:spcPts val="0"/>
              </a:spcBef>
              <a:spcAft>
                <a:spcPts val="0"/>
              </a:spcAft>
            </a:pPr>
            <a:r>
              <a:rPr sz="800" b="0" i="0">
                <a:solidFill>
                  <a:srgbClr val="14171C"/>
                </a:solidFill>
                <a:latin typeface="Times New Roman"/>
                <a:cs typeface="Times New Roman"/>
              </a:rPr>
              <a:t>already formed remains unexplored.</a:t>
            </a:r>
          </a:p>
        </p:txBody>
      </p:sp>
      <p:sp>
        <p:nvSpPr>
          <p:cNvPr id="19" name="TextBox 18"/>
          <p:cNvSpPr txBox="1"/>
          <p:nvPr/>
        </p:nvSpPr>
        <p:spPr>
          <a:xfrm>
            <a:off x="431800" y="2966974"/>
            <a:ext cx="27400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Firms and regulators are writing AI-use policy on the assumption</a:t>
            </a:r>
          </a:p>
          <a:p>
            <a:pPr algn="l">
              <a:lnSpc>
                <a:spcPts val="1010"/>
              </a:lnSpc>
              <a:spcBef>
                <a:spcPts val="0"/>
              </a:spcBef>
              <a:spcAft>
                <a:spcPts val="0"/>
              </a:spcAft>
            </a:pPr>
            <a:r>
              <a:rPr sz="800" b="0" i="0">
                <a:solidFill>
                  <a:srgbClr val="3A4048"/>
                </a:solidFill>
                <a:latin typeface="Times New Roman"/>
                <a:cs typeface="Times New Roman"/>
              </a:rPr>
              <a:t>that a human reviewer still exercises independent judgment.</a:t>
            </a:r>
          </a:p>
        </p:txBody>
      </p:sp>
      <p:sp>
        <p:nvSpPr>
          <p:cNvPr id="20" name="Rounded Rectangle 19"/>
          <p:cNvSpPr/>
          <p:nvPr/>
        </p:nvSpPr>
        <p:spPr>
          <a:xfrm>
            <a:off x="431800" y="3326129"/>
            <a:ext cx="2727325" cy="177800"/>
          </a:xfrm>
          <a:prstGeom prst="roundRect">
            <a:avLst>
              <a:gd name="adj" fmla="val 14285"/>
            </a:avLst>
          </a:prstGeom>
          <a:solidFill>
            <a:srgbClr val="081E3F"/>
          </a:solidFill>
          <a:ln>
            <a:noFill/>
          </a:ln>
          <a:effectLst/>
        </p:spPr>
        <p:txBody>
          <a:bodyPr rtlCol="0" anchor="ctr"/>
          <a:lstStyle/>
          <a:p>
            <a:pPr algn="ctr"/>
          </a:p>
        </p:txBody>
      </p:sp>
      <p:sp>
        <p:nvSpPr>
          <p:cNvPr id="21" name="TextBox 20"/>
          <p:cNvSpPr txBox="1"/>
          <p:nvPr/>
        </p:nvSpPr>
        <p:spPr>
          <a:xfrm>
            <a:off x="533400" y="3340455"/>
            <a:ext cx="1530096"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2 · PURPOSE STATEMENT</a:t>
            </a:r>
          </a:p>
        </p:txBody>
      </p:sp>
      <p:sp>
        <p:nvSpPr>
          <p:cNvPr id="22" name="TextBox 21"/>
          <p:cNvSpPr txBox="1"/>
          <p:nvPr/>
        </p:nvSpPr>
        <p:spPr>
          <a:xfrm>
            <a:off x="533400" y="3604514"/>
            <a:ext cx="2536825" cy="574040"/>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The purpose of this phenomenological study is to understand</a:t>
            </a:r>
          </a:p>
          <a:p>
            <a:pPr algn="l">
              <a:lnSpc>
                <a:spcPts val="1010"/>
              </a:lnSpc>
              <a:spcBef>
                <a:spcPts val="0"/>
              </a:spcBef>
              <a:spcAft>
                <a:spcPts val="0"/>
              </a:spcAft>
            </a:pPr>
            <a:r>
              <a:rPr sz="800" b="0" i="0">
                <a:solidFill>
                  <a:srgbClr val="14171C"/>
                </a:solidFill>
                <a:latin typeface="Times New Roman"/>
                <a:cs typeface="Times New Roman"/>
              </a:rPr>
              <a:t>how experienced auditors experience and make sense of</a:t>
            </a:r>
          </a:p>
          <a:p>
            <a:pPr algn="l">
              <a:lnSpc>
                <a:spcPts val="1010"/>
              </a:lnSpc>
              <a:spcBef>
                <a:spcPts val="0"/>
              </a:spcBef>
              <a:spcAft>
                <a:spcPts val="0"/>
              </a:spcAft>
            </a:pPr>
            <a:r>
              <a:rPr sz="800" b="0" i="0">
                <a:solidFill>
                  <a:srgbClr val="14171C"/>
                </a:solidFill>
                <a:latin typeface="Times New Roman"/>
                <a:cs typeface="Times New Roman"/>
              </a:rPr>
              <a:t>receiving an AI-generated conclusion that confirms a</a:t>
            </a:r>
          </a:p>
          <a:p>
            <a:pPr algn="l">
              <a:lnSpc>
                <a:spcPts val="1010"/>
              </a:lnSpc>
              <a:spcBef>
                <a:spcPts val="0"/>
              </a:spcBef>
              <a:spcAft>
                <a:spcPts val="0"/>
              </a:spcAft>
            </a:pPr>
            <a:r>
              <a:rPr sz="800" b="0" i="0">
                <a:solidFill>
                  <a:srgbClr val="14171C"/>
                </a:solidFill>
                <a:latin typeface="Times New Roman"/>
                <a:cs typeface="Times New Roman"/>
              </a:rPr>
              <a:t>judgment they had already formed.</a:t>
            </a:r>
          </a:p>
        </p:txBody>
      </p:sp>
      <p:sp>
        <p:nvSpPr>
          <p:cNvPr id="23" name="Rounded Rectangle 22"/>
          <p:cNvSpPr/>
          <p:nvPr/>
        </p:nvSpPr>
        <p:spPr>
          <a:xfrm>
            <a:off x="431800" y="3542029"/>
            <a:ext cx="2727325" cy="678179"/>
          </a:xfrm>
          <a:prstGeom prst="roundRect">
            <a:avLst>
              <a:gd name="adj" fmla="val 5617"/>
            </a:avLst>
          </a:prstGeom>
          <a:solidFill>
            <a:srgbClr val="E8EDF4"/>
          </a:solidFill>
          <a:ln>
            <a:noFill/>
          </a:ln>
          <a:effectLst/>
        </p:spPr>
        <p:txBody>
          <a:bodyPr rtlCol="0" anchor="ctr"/>
          <a:lstStyle/>
          <a:p>
            <a:pPr algn="ctr"/>
          </a:p>
        </p:txBody>
      </p:sp>
      <p:sp>
        <p:nvSpPr>
          <p:cNvPr id="24" name="TextBox 23"/>
          <p:cNvSpPr txBox="1"/>
          <p:nvPr/>
        </p:nvSpPr>
        <p:spPr>
          <a:xfrm>
            <a:off x="533400" y="3604514"/>
            <a:ext cx="2536825" cy="574040"/>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The purpose of this phenomenological study is to understand</a:t>
            </a:r>
          </a:p>
          <a:p>
            <a:pPr algn="l">
              <a:lnSpc>
                <a:spcPts val="1010"/>
              </a:lnSpc>
              <a:spcBef>
                <a:spcPts val="0"/>
              </a:spcBef>
              <a:spcAft>
                <a:spcPts val="0"/>
              </a:spcAft>
            </a:pPr>
            <a:r>
              <a:rPr sz="800" b="0" i="0">
                <a:solidFill>
                  <a:srgbClr val="14171C"/>
                </a:solidFill>
                <a:latin typeface="Times New Roman"/>
                <a:cs typeface="Times New Roman"/>
              </a:rPr>
              <a:t>how experienced auditors experience and make sense of</a:t>
            </a:r>
          </a:p>
          <a:p>
            <a:pPr algn="l">
              <a:lnSpc>
                <a:spcPts val="1010"/>
              </a:lnSpc>
              <a:spcBef>
                <a:spcPts val="0"/>
              </a:spcBef>
              <a:spcAft>
                <a:spcPts val="0"/>
              </a:spcAft>
            </a:pPr>
            <a:r>
              <a:rPr sz="800" b="0" i="0">
                <a:solidFill>
                  <a:srgbClr val="14171C"/>
                </a:solidFill>
                <a:latin typeface="Times New Roman"/>
                <a:cs typeface="Times New Roman"/>
              </a:rPr>
              <a:t>receiving an AI-generated conclusion that confirms a</a:t>
            </a:r>
          </a:p>
          <a:p>
            <a:pPr algn="l">
              <a:lnSpc>
                <a:spcPts val="1010"/>
              </a:lnSpc>
              <a:spcBef>
                <a:spcPts val="0"/>
              </a:spcBef>
              <a:spcAft>
                <a:spcPts val="0"/>
              </a:spcAft>
            </a:pPr>
            <a:r>
              <a:rPr sz="800" b="0" i="0">
                <a:solidFill>
                  <a:srgbClr val="14171C"/>
                </a:solidFill>
                <a:latin typeface="Times New Roman"/>
                <a:cs typeface="Times New Roman"/>
              </a:rPr>
              <a:t>judgment they had already formed.</a:t>
            </a:r>
          </a:p>
        </p:txBody>
      </p:sp>
      <p:sp>
        <p:nvSpPr>
          <p:cNvPr id="25" name="Rounded Rectangle 24"/>
          <p:cNvSpPr/>
          <p:nvPr/>
        </p:nvSpPr>
        <p:spPr>
          <a:xfrm>
            <a:off x="3298825"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26" name="TextBox 25"/>
          <p:cNvSpPr txBox="1"/>
          <p:nvPr/>
        </p:nvSpPr>
        <p:spPr>
          <a:xfrm>
            <a:off x="3400425" y="1766925"/>
            <a:ext cx="2090928"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3 · PHILOSOPHICAL ASSUMPTIONS</a:t>
            </a:r>
          </a:p>
        </p:txBody>
      </p:sp>
      <p:sp>
        <p:nvSpPr>
          <p:cNvPr id="27" name="TextBox 26"/>
          <p:cNvSpPr txBox="1"/>
          <p:nvPr/>
        </p:nvSpPr>
        <p:spPr>
          <a:xfrm>
            <a:off x="3298825" y="1943735"/>
            <a:ext cx="2551430" cy="142875"/>
          </a:xfrm>
          <a:prstGeom prst="rect">
            <a:avLst/>
          </a:prstGeom>
          <a:noFill/>
        </p:spPr>
        <p:txBody>
          <a:bodyPr wrap="none" lIns="0" rIns="0" tIns="0" bIns="0"/>
          <a:lstStyle/>
          <a:p>
            <a:pPr algn="l">
              <a:lnSpc>
                <a:spcPct val="100000"/>
              </a:lnSpc>
              <a:spcBef>
                <a:spcPts val="0"/>
              </a:spcBef>
              <a:spcAft>
                <a:spcPts val="0"/>
              </a:spcAft>
            </a:pPr>
            <a:r>
              <a:rPr sz="750" b="1" i="0" spc="110">
                <a:solidFill>
                  <a:srgbClr val="1C6B63"/>
                </a:solidFill>
                <a:latin typeface="Consolas"/>
                <a:cs typeface="Consolas"/>
              </a:rPr>
              <a:t>SOCIAL CONSTRUCTIVIST  ·  INDUCTIVE</a:t>
            </a:r>
          </a:p>
        </p:txBody>
      </p:sp>
      <p:sp>
        <p:nvSpPr>
          <p:cNvPr id="28" name="TextBox 27"/>
          <p:cNvSpPr txBox="1"/>
          <p:nvPr/>
        </p:nvSpPr>
        <p:spPr>
          <a:xfrm>
            <a:off x="3298825" y="2110486"/>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ONTOLOGICAL</a:t>
            </a:r>
          </a:p>
        </p:txBody>
      </p:sp>
      <p:sp>
        <p:nvSpPr>
          <p:cNvPr id="29" name="TextBox 28"/>
          <p:cNvSpPr txBox="1"/>
          <p:nvPr/>
        </p:nvSpPr>
        <p:spPr>
          <a:xfrm>
            <a:off x="3298825" y="2221814"/>
            <a:ext cx="27400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Multiple realities. Auditors' accounts of the experience are the data,</a:t>
            </a:r>
          </a:p>
          <a:p>
            <a:pPr algn="l">
              <a:lnSpc>
                <a:spcPts val="990"/>
              </a:lnSpc>
              <a:spcBef>
                <a:spcPts val="0"/>
              </a:spcBef>
              <a:spcAft>
                <a:spcPts val="0"/>
              </a:spcAft>
            </a:pPr>
            <a:r>
              <a:rPr sz="790" b="0" i="0">
                <a:solidFill>
                  <a:srgbClr val="3A4048"/>
                </a:solidFill>
                <a:latin typeface="Times New Roman"/>
                <a:cs typeface="Times New Roman"/>
              </a:rPr>
              <a:t>not a proxy for one correct account.</a:t>
            </a:r>
          </a:p>
        </p:txBody>
      </p:sp>
      <p:sp>
        <p:nvSpPr>
          <p:cNvPr id="30" name="TextBox 29"/>
          <p:cNvSpPr txBox="1"/>
          <p:nvPr/>
        </p:nvSpPr>
        <p:spPr>
          <a:xfrm>
            <a:off x="3298825" y="2527046"/>
            <a:ext cx="104902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EPISTEMOLOGICAL</a:t>
            </a:r>
          </a:p>
        </p:txBody>
      </p:sp>
      <p:sp>
        <p:nvSpPr>
          <p:cNvPr id="31" name="TextBox 30"/>
          <p:cNvSpPr txBox="1"/>
          <p:nvPr/>
        </p:nvSpPr>
        <p:spPr>
          <a:xfrm>
            <a:off x="3298825" y="2638374"/>
            <a:ext cx="27400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Knowledge comes from first-person accounts in semi-structured</a:t>
            </a:r>
          </a:p>
          <a:p>
            <a:pPr algn="l">
              <a:lnSpc>
                <a:spcPts val="990"/>
              </a:lnSpc>
              <a:spcBef>
                <a:spcPts val="0"/>
              </a:spcBef>
              <a:spcAft>
                <a:spcPts val="0"/>
              </a:spcAft>
            </a:pPr>
            <a:r>
              <a:rPr sz="790" b="0" i="0">
                <a:solidFill>
                  <a:srgbClr val="3A4048"/>
                </a:solidFill>
                <a:latin typeface="Times New Roman"/>
                <a:cs typeface="Times New Roman"/>
              </a:rPr>
              <a:t>interviews.</a:t>
            </a:r>
          </a:p>
        </p:txBody>
      </p:sp>
      <p:sp>
        <p:nvSpPr>
          <p:cNvPr id="32" name="TextBox 31"/>
          <p:cNvSpPr txBox="1"/>
          <p:nvPr/>
        </p:nvSpPr>
        <p:spPr>
          <a:xfrm>
            <a:off x="3298825" y="2943606"/>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AXIOLOGICAL</a:t>
            </a:r>
          </a:p>
        </p:txBody>
      </p:sp>
      <p:sp>
        <p:nvSpPr>
          <p:cNvPr id="33" name="TextBox 32"/>
          <p:cNvSpPr txBox="1"/>
          <p:nvPr/>
        </p:nvSpPr>
        <p:spPr>
          <a:xfrm>
            <a:off x="3298825" y="3054934"/>
            <a:ext cx="2740025" cy="43738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The researcher is a career auditor who built an AI review tool:</a:t>
            </a:r>
          </a:p>
          <a:p>
            <a:pPr algn="l">
              <a:lnSpc>
                <a:spcPts val="990"/>
              </a:lnSpc>
              <a:spcBef>
                <a:spcPts val="0"/>
              </a:spcBef>
              <a:spcAft>
                <a:spcPts val="0"/>
              </a:spcAft>
            </a:pPr>
            <a:r>
              <a:rPr sz="790" b="0" i="0">
                <a:solidFill>
                  <a:srgbClr val="3A4048"/>
                </a:solidFill>
                <a:latin typeface="Times New Roman"/>
                <a:cs typeface="Times New Roman"/>
              </a:rPr>
              <a:t>insider access and insider bias, managed through reflexive memos</a:t>
            </a:r>
          </a:p>
          <a:p>
            <a:pPr algn="l">
              <a:lnSpc>
                <a:spcPts val="990"/>
              </a:lnSpc>
              <a:spcBef>
                <a:spcPts val="0"/>
              </a:spcBef>
              <a:spcAft>
                <a:spcPts val="0"/>
              </a:spcAft>
            </a:pPr>
            <a:r>
              <a:rPr sz="790" b="0" i="0">
                <a:solidFill>
                  <a:srgbClr val="3A4048"/>
                </a:solidFill>
                <a:latin typeface="Times New Roman"/>
                <a:cs typeface="Times New Roman"/>
              </a:rPr>
              <a:t>and a confirmation hazard log.</a:t>
            </a:r>
          </a:p>
        </p:txBody>
      </p:sp>
      <p:sp>
        <p:nvSpPr>
          <p:cNvPr id="34" name="TextBox 33"/>
          <p:cNvSpPr txBox="1"/>
          <p:nvPr/>
        </p:nvSpPr>
        <p:spPr>
          <a:xfrm>
            <a:off x="3298825" y="3485896"/>
            <a:ext cx="98298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METHODOLOGICAL</a:t>
            </a:r>
          </a:p>
        </p:txBody>
      </p:sp>
      <p:sp>
        <p:nvSpPr>
          <p:cNvPr id="35" name="TextBox 34"/>
          <p:cNvSpPr txBox="1"/>
          <p:nvPr/>
        </p:nvSpPr>
        <p:spPr>
          <a:xfrm>
            <a:off x="3298825" y="3597224"/>
            <a:ext cx="2740025" cy="18592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Inductive phenomenology across individuals at different firms.</a:t>
            </a:r>
          </a:p>
        </p:txBody>
      </p:sp>
      <p:sp>
        <p:nvSpPr>
          <p:cNvPr id="36" name="Rounded Rectangle 35"/>
          <p:cNvSpPr/>
          <p:nvPr/>
        </p:nvSpPr>
        <p:spPr>
          <a:xfrm>
            <a:off x="3298825" y="3812540"/>
            <a:ext cx="2727325" cy="177800"/>
          </a:xfrm>
          <a:prstGeom prst="roundRect">
            <a:avLst>
              <a:gd name="adj" fmla="val 14285"/>
            </a:avLst>
          </a:prstGeom>
          <a:solidFill>
            <a:srgbClr val="081E3F"/>
          </a:solidFill>
          <a:ln>
            <a:noFill/>
          </a:ln>
          <a:effectLst/>
        </p:spPr>
        <p:txBody>
          <a:bodyPr rtlCol="0" anchor="ctr"/>
          <a:lstStyle/>
          <a:p>
            <a:pPr algn="ctr"/>
          </a:p>
        </p:txBody>
      </p:sp>
      <p:sp>
        <p:nvSpPr>
          <p:cNvPr id="37" name="TextBox 36"/>
          <p:cNvSpPr txBox="1"/>
          <p:nvPr/>
        </p:nvSpPr>
        <p:spPr>
          <a:xfrm>
            <a:off x="3400425" y="382686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4 · METHODOLOGY: APPROACH</a:t>
            </a:r>
          </a:p>
        </p:txBody>
      </p:sp>
      <p:sp>
        <p:nvSpPr>
          <p:cNvPr id="38" name="TextBox 37"/>
          <p:cNvSpPr txBox="1"/>
          <p:nvPr/>
        </p:nvSpPr>
        <p:spPr>
          <a:xfrm>
            <a:off x="3298825" y="4027424"/>
            <a:ext cx="2740025" cy="445769"/>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Phenomenology (Creswell &amp; Poth, 2024). The question asks about</a:t>
            </a:r>
          </a:p>
          <a:p>
            <a:pPr algn="l">
              <a:lnSpc>
                <a:spcPts val="1010"/>
              </a:lnSpc>
              <a:spcBef>
                <a:spcPts val="0"/>
              </a:spcBef>
              <a:spcAft>
                <a:spcPts val="0"/>
              </a:spcAft>
            </a:pPr>
            <a:r>
              <a:rPr sz="800" b="0" i="0">
                <a:solidFill>
                  <a:srgbClr val="14171C"/>
                </a:solidFill>
                <a:latin typeface="Times New Roman"/>
                <a:cs typeface="Times New Roman"/>
              </a:rPr>
              <a:t>experience and meaning making across individuals, which is what</a:t>
            </a:r>
          </a:p>
          <a:p>
            <a:pPr algn="l">
              <a:lnSpc>
                <a:spcPts val="1010"/>
              </a:lnSpc>
              <a:spcBef>
                <a:spcPts val="0"/>
              </a:spcBef>
              <a:spcAft>
                <a:spcPts val="0"/>
              </a:spcAft>
            </a:pPr>
            <a:r>
              <a:rPr sz="800" b="0" i="0">
                <a:solidFill>
                  <a:srgbClr val="14171C"/>
                </a:solidFill>
                <a:latin typeface="Times New Roman"/>
                <a:cs typeface="Times New Roman"/>
              </a:rPr>
              <a:t>phenomenology is for.</a:t>
            </a:r>
          </a:p>
        </p:txBody>
      </p:sp>
      <p:sp>
        <p:nvSpPr>
          <p:cNvPr id="39" name="Rounded Rectangle 38"/>
          <p:cNvSpPr/>
          <p:nvPr/>
        </p:nvSpPr>
        <p:spPr>
          <a:xfrm>
            <a:off x="3311525" y="4527550"/>
            <a:ext cx="40640" cy="40640"/>
          </a:xfrm>
          <a:prstGeom prst="roundRect">
            <a:avLst>
              <a:gd name="adj" fmla="val 50000"/>
            </a:avLst>
          </a:prstGeom>
          <a:solidFill>
            <a:srgbClr val="8C3A1B"/>
          </a:solidFill>
          <a:ln>
            <a:noFill/>
          </a:ln>
          <a:effectLst/>
        </p:spPr>
        <p:txBody>
          <a:bodyPr rtlCol="0" anchor="ctr"/>
          <a:lstStyle/>
          <a:p>
            <a:pPr algn="ctr"/>
          </a:p>
        </p:txBody>
      </p:sp>
      <p:sp>
        <p:nvSpPr>
          <p:cNvPr id="40" name="TextBox 39"/>
          <p:cNvSpPr txBox="1"/>
          <p:nvPr/>
        </p:nvSpPr>
        <p:spPr>
          <a:xfrm>
            <a:off x="3413125" y="446303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Not case study: the phenomenon crosses firms, with no</a:t>
            </a:r>
          </a:p>
          <a:p>
            <a:pPr algn="l">
              <a:lnSpc>
                <a:spcPts val="1010"/>
              </a:lnSpc>
              <a:spcBef>
                <a:spcPts val="0"/>
              </a:spcBef>
              <a:spcAft>
                <a:spcPts val="0"/>
              </a:spcAft>
            </a:pPr>
            <a:r>
              <a:rPr sz="800" b="0" i="0">
                <a:solidFill>
                  <a:srgbClr val="3A4048"/>
                </a:solidFill>
                <a:latin typeface="Times New Roman"/>
                <a:cs typeface="Times New Roman"/>
              </a:rPr>
              <a:t>bounded site</a:t>
            </a:r>
          </a:p>
        </p:txBody>
      </p:sp>
      <p:sp>
        <p:nvSpPr>
          <p:cNvPr id="41" name="Rounded Rectangle 40"/>
          <p:cNvSpPr/>
          <p:nvPr/>
        </p:nvSpPr>
        <p:spPr>
          <a:xfrm>
            <a:off x="3311525" y="4822190"/>
            <a:ext cx="40640" cy="40640"/>
          </a:xfrm>
          <a:prstGeom prst="roundRect">
            <a:avLst>
              <a:gd name="adj" fmla="val 50000"/>
            </a:avLst>
          </a:prstGeom>
          <a:solidFill>
            <a:srgbClr val="8C3A1B"/>
          </a:solidFill>
          <a:ln>
            <a:noFill/>
          </a:ln>
          <a:effectLst/>
        </p:spPr>
        <p:txBody>
          <a:bodyPr rtlCol="0" anchor="ctr"/>
          <a:lstStyle/>
          <a:p>
            <a:pPr algn="ctr"/>
          </a:p>
        </p:txBody>
      </p:sp>
      <p:sp>
        <p:nvSpPr>
          <p:cNvPr id="42" name="TextBox 41"/>
          <p:cNvSpPr txBox="1"/>
          <p:nvPr/>
        </p:nvSpPr>
        <p:spPr>
          <a:xfrm>
            <a:off x="3413125" y="475767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Not grounded theory: the question is about experience, not</a:t>
            </a:r>
          </a:p>
          <a:p>
            <a:pPr algn="l">
              <a:lnSpc>
                <a:spcPts val="1010"/>
              </a:lnSpc>
              <a:spcBef>
                <a:spcPts val="0"/>
              </a:spcBef>
              <a:spcAft>
                <a:spcPts val="0"/>
              </a:spcAft>
            </a:pPr>
            <a:r>
              <a:rPr sz="800" b="0" i="0">
                <a:solidFill>
                  <a:srgbClr val="3A4048"/>
                </a:solidFill>
                <a:latin typeface="Times New Roman"/>
                <a:cs typeface="Times New Roman"/>
              </a:rPr>
              <a:t>process</a:t>
            </a:r>
          </a:p>
        </p:txBody>
      </p:sp>
      <p:sp>
        <p:nvSpPr>
          <p:cNvPr id="43" name="Rounded Rectangle 42"/>
          <p:cNvSpPr/>
          <p:nvPr/>
        </p:nvSpPr>
        <p:spPr>
          <a:xfrm>
            <a:off x="6165850"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44" name="TextBox 43"/>
          <p:cNvSpPr txBox="1"/>
          <p:nvPr/>
        </p:nvSpPr>
        <p:spPr>
          <a:xfrm>
            <a:off x="6267450" y="1766925"/>
            <a:ext cx="2301240"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5 · METHODOLOGY: DATA COLLECTION</a:t>
            </a:r>
          </a:p>
        </p:txBody>
      </p:sp>
      <p:sp>
        <p:nvSpPr>
          <p:cNvPr id="45" name="TextBox 44"/>
          <p:cNvSpPr txBox="1"/>
          <p:nvPr/>
        </p:nvSpPr>
        <p:spPr>
          <a:xfrm>
            <a:off x="6165850" y="1944725"/>
            <a:ext cx="2019808" cy="137160"/>
          </a:xfrm>
          <a:prstGeom prst="rect">
            <a:avLst/>
          </a:prstGeom>
          <a:noFill/>
        </p:spPr>
        <p:txBody>
          <a:bodyPr wrap="none" lIns="0" rIns="0" tIns="0" bIns="0"/>
          <a:lstStyle/>
          <a:p>
            <a:pPr algn="l">
              <a:lnSpc>
                <a:spcPct val="100000"/>
              </a:lnSpc>
              <a:spcBef>
                <a:spcPts val="0"/>
              </a:spcBef>
              <a:spcAft>
                <a:spcPts val="0"/>
              </a:spcAft>
            </a:pPr>
            <a:r>
              <a:rPr sz="720" b="1" i="0" spc="100">
                <a:solidFill>
                  <a:srgbClr val="8C3A1B"/>
                </a:solidFill>
                <a:latin typeface="Consolas"/>
                <a:cs typeface="Consolas"/>
              </a:rPr>
              <a:t>ELIGIBILITY IS THE PHENOMENON</a:t>
            </a:r>
          </a:p>
        </p:txBody>
      </p:sp>
      <p:sp>
        <p:nvSpPr>
          <p:cNvPr id="46" name="TextBox 45"/>
          <p:cNvSpPr txBox="1"/>
          <p:nvPr/>
        </p:nvSpPr>
        <p:spPr>
          <a:xfrm>
            <a:off x="6165850" y="2094483"/>
            <a:ext cx="2740025" cy="445769"/>
          </a:xfrm>
          <a:prstGeom prst="rect">
            <a:avLst/>
          </a:prstGeom>
          <a:noFill/>
        </p:spPr>
        <p:txBody>
          <a:bodyPr wrap="square" lIns="0" rIns="0" tIns="0" bIns="0"/>
          <a:lstStyle/>
          <a:p>
            <a:pPr algn="l">
              <a:lnSpc>
                <a:spcPts val="1010"/>
              </a:lnSpc>
              <a:spcBef>
                <a:spcPts val="0"/>
              </a:spcBef>
              <a:spcAft>
                <a:spcPts val="0"/>
              </a:spcAft>
            </a:pPr>
            <a:r>
              <a:rPr sz="800" b="0" i="0">
                <a:solidFill>
                  <a:srgbClr val="14171C"/>
                </a:solidFill>
                <a:latin typeface="Times New Roman"/>
                <a:cs typeface="Times New Roman"/>
              </a:rPr>
              <a:t>Participants can recall a specific time AI output agreed with a</a:t>
            </a:r>
          </a:p>
          <a:p>
            <a:pPr algn="l">
              <a:lnSpc>
                <a:spcPts val="1010"/>
              </a:lnSpc>
              <a:spcBef>
                <a:spcPts val="0"/>
              </a:spcBef>
              <a:spcAft>
                <a:spcPts val="0"/>
              </a:spcAft>
            </a:pPr>
            <a:r>
              <a:rPr sz="800" b="0" i="0">
                <a:solidFill>
                  <a:srgbClr val="14171C"/>
                </a:solidFill>
                <a:latin typeface="Times New Roman"/>
                <a:cs typeface="Times New Roman"/>
              </a:rPr>
              <a:t>judgment they had already formed. They do not need to have</a:t>
            </a:r>
          </a:p>
          <a:p>
            <a:pPr algn="l">
              <a:lnSpc>
                <a:spcPts val="1010"/>
              </a:lnSpc>
              <a:spcBef>
                <a:spcPts val="0"/>
              </a:spcBef>
              <a:spcAft>
                <a:spcPts val="0"/>
              </a:spcAft>
            </a:pPr>
            <a:r>
              <a:rPr sz="800" b="0" i="0">
                <a:solidFill>
                  <a:srgbClr val="14171C"/>
                </a:solidFill>
                <a:latin typeface="Times New Roman"/>
                <a:cs typeface="Times New Roman"/>
              </a:rPr>
              <a:t>interpreted it in any particular way.</a:t>
            </a:r>
          </a:p>
        </p:txBody>
      </p:sp>
      <p:sp>
        <p:nvSpPr>
          <p:cNvPr id="47" name="Rounded Rectangle 46"/>
          <p:cNvSpPr/>
          <p:nvPr/>
        </p:nvSpPr>
        <p:spPr>
          <a:xfrm>
            <a:off x="6178550" y="2594610"/>
            <a:ext cx="40640" cy="40640"/>
          </a:xfrm>
          <a:prstGeom prst="roundRect">
            <a:avLst>
              <a:gd name="adj" fmla="val 50000"/>
            </a:avLst>
          </a:prstGeom>
          <a:solidFill>
            <a:srgbClr val="1C6B63"/>
          </a:solidFill>
          <a:ln>
            <a:noFill/>
          </a:ln>
          <a:effectLst/>
        </p:spPr>
        <p:txBody>
          <a:bodyPr rtlCol="0" anchor="ctr"/>
          <a:lstStyle/>
          <a:p>
            <a:pPr algn="ctr"/>
          </a:p>
        </p:txBody>
      </p:sp>
      <p:sp>
        <p:nvSpPr>
          <p:cNvPr id="48" name="TextBox 47"/>
          <p:cNvSpPr txBox="1"/>
          <p:nvPr/>
        </p:nvSpPr>
        <p:spPr>
          <a:xfrm>
            <a:off x="6280150" y="253009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Five or more years in audit or risk assurance, recurring</a:t>
            </a:r>
          </a:p>
          <a:p>
            <a:pPr algn="l">
              <a:lnSpc>
                <a:spcPts val="1010"/>
              </a:lnSpc>
              <a:spcBef>
                <a:spcPts val="0"/>
              </a:spcBef>
              <a:spcAft>
                <a:spcPts val="0"/>
              </a:spcAft>
            </a:pPr>
            <a:r>
              <a:rPr sz="800" b="0" i="0">
                <a:solidFill>
                  <a:srgbClr val="3A4048"/>
                </a:solidFill>
                <a:latin typeface="Times New Roman"/>
                <a:cs typeface="Times New Roman"/>
              </a:rPr>
              <a:t>engagements</a:t>
            </a:r>
          </a:p>
        </p:txBody>
      </p:sp>
      <p:sp>
        <p:nvSpPr>
          <p:cNvPr id="49" name="Rounded Rectangle 48"/>
          <p:cNvSpPr/>
          <p:nvPr/>
        </p:nvSpPr>
        <p:spPr>
          <a:xfrm>
            <a:off x="6178550" y="2889250"/>
            <a:ext cx="40640" cy="40640"/>
          </a:xfrm>
          <a:prstGeom prst="roundRect">
            <a:avLst>
              <a:gd name="adj" fmla="val 50000"/>
            </a:avLst>
          </a:prstGeom>
          <a:solidFill>
            <a:srgbClr val="1C6B63"/>
          </a:solidFill>
          <a:ln>
            <a:noFill/>
          </a:ln>
          <a:effectLst/>
        </p:spPr>
        <p:txBody>
          <a:bodyPr rtlCol="0" anchor="ctr"/>
          <a:lstStyle/>
          <a:p>
            <a:pPr algn="ctr"/>
          </a:p>
        </p:txBody>
      </p:sp>
      <p:sp>
        <p:nvSpPr>
          <p:cNvPr id="50" name="TextBox 49"/>
          <p:cNvSpPr txBox="1"/>
          <p:nvPr/>
        </p:nvSpPr>
        <p:spPr>
          <a:xfrm>
            <a:off x="6280150" y="2824734"/>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Criterion sampling plus referrals, all screened the same way; a</a:t>
            </a:r>
          </a:p>
          <a:p>
            <a:pPr algn="l">
              <a:lnSpc>
                <a:spcPts val="1010"/>
              </a:lnSpc>
              <a:spcBef>
                <a:spcPts val="0"/>
              </a:spcBef>
              <a:spcAft>
                <a:spcPts val="0"/>
              </a:spcAft>
            </a:pPr>
            <a:r>
              <a:rPr sz="800" b="0" i="0">
                <a:solidFill>
                  <a:srgbClr val="3A4048"/>
                </a:solidFill>
                <a:latin typeface="Times New Roman"/>
                <a:cs typeface="Times New Roman"/>
              </a:rPr>
              <a:t>short screening question tested first</a:t>
            </a:r>
          </a:p>
        </p:txBody>
      </p:sp>
      <p:sp>
        <p:nvSpPr>
          <p:cNvPr id="51" name="Rounded Rectangle 50"/>
          <p:cNvSpPr/>
          <p:nvPr/>
        </p:nvSpPr>
        <p:spPr>
          <a:xfrm>
            <a:off x="6178550" y="3183890"/>
            <a:ext cx="40640" cy="40640"/>
          </a:xfrm>
          <a:prstGeom prst="roundRect">
            <a:avLst>
              <a:gd name="adj" fmla="val 50000"/>
            </a:avLst>
          </a:prstGeom>
          <a:solidFill>
            <a:srgbClr val="1C6B63"/>
          </a:solidFill>
          <a:ln>
            <a:noFill/>
          </a:ln>
          <a:effectLst/>
        </p:spPr>
        <p:txBody>
          <a:bodyPr rtlCol="0" anchor="ctr"/>
          <a:lstStyle/>
          <a:p>
            <a:pPr algn="ctr"/>
          </a:p>
        </p:txBody>
      </p:sp>
      <p:sp>
        <p:nvSpPr>
          <p:cNvPr id="52" name="TextBox 51"/>
          <p:cNvSpPr txBox="1"/>
          <p:nvPr/>
        </p:nvSpPr>
        <p:spPr>
          <a:xfrm>
            <a:off x="6280150" y="311937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About 10 to 15, guided by the depth and richness of accounts</a:t>
            </a:r>
          </a:p>
        </p:txBody>
      </p:sp>
      <p:sp>
        <p:nvSpPr>
          <p:cNvPr id="53" name="Rounded Rectangle 52"/>
          <p:cNvSpPr/>
          <p:nvPr/>
        </p:nvSpPr>
        <p:spPr>
          <a:xfrm>
            <a:off x="6178550" y="3350260"/>
            <a:ext cx="40640" cy="40640"/>
          </a:xfrm>
          <a:prstGeom prst="roundRect">
            <a:avLst>
              <a:gd name="adj" fmla="val 50000"/>
            </a:avLst>
          </a:prstGeom>
          <a:solidFill>
            <a:srgbClr val="1C6B63"/>
          </a:solidFill>
          <a:ln>
            <a:noFill/>
          </a:ln>
          <a:effectLst/>
        </p:spPr>
        <p:txBody>
          <a:bodyPr rtlCol="0" anchor="ctr"/>
          <a:lstStyle/>
          <a:p>
            <a:pPr algn="ctr"/>
          </a:p>
        </p:txBody>
      </p:sp>
      <p:sp>
        <p:nvSpPr>
          <p:cNvPr id="54" name="TextBox 53"/>
          <p:cNvSpPr txBox="1"/>
          <p:nvPr/>
        </p:nvSpPr>
        <p:spPr>
          <a:xfrm>
            <a:off x="6280150" y="3285744"/>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Semi-structured, recorded interviews; protocol piloted first</a:t>
            </a:r>
          </a:p>
        </p:txBody>
      </p:sp>
      <p:sp>
        <p:nvSpPr>
          <p:cNvPr id="55" name="Rounded Rectangle 54"/>
          <p:cNvSpPr/>
          <p:nvPr/>
        </p:nvSpPr>
        <p:spPr>
          <a:xfrm>
            <a:off x="6165850" y="3503930"/>
            <a:ext cx="2727325" cy="177800"/>
          </a:xfrm>
          <a:prstGeom prst="roundRect">
            <a:avLst>
              <a:gd name="adj" fmla="val 14285"/>
            </a:avLst>
          </a:prstGeom>
          <a:solidFill>
            <a:srgbClr val="081E3F"/>
          </a:solidFill>
          <a:ln>
            <a:noFill/>
          </a:ln>
          <a:effectLst/>
        </p:spPr>
        <p:txBody>
          <a:bodyPr rtlCol="0" anchor="ctr"/>
          <a:lstStyle/>
          <a:p>
            <a:pPr algn="ctr"/>
          </a:p>
        </p:txBody>
      </p:sp>
      <p:sp>
        <p:nvSpPr>
          <p:cNvPr id="56" name="TextBox 55"/>
          <p:cNvSpPr txBox="1"/>
          <p:nvPr/>
        </p:nvSpPr>
        <p:spPr>
          <a:xfrm>
            <a:off x="6267450" y="3518255"/>
            <a:ext cx="2161031"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6 · METHODOLOGY: DATA ANALYSIS</a:t>
            </a:r>
          </a:p>
        </p:txBody>
      </p:sp>
      <p:sp>
        <p:nvSpPr>
          <p:cNvPr id="57" name="TextBox 56"/>
          <p:cNvSpPr txBox="1"/>
          <p:nvPr/>
        </p:nvSpPr>
        <p:spPr>
          <a:xfrm>
            <a:off x="6165850" y="3696716"/>
            <a:ext cx="1678939" cy="133350"/>
          </a:xfrm>
          <a:prstGeom prst="rect">
            <a:avLst/>
          </a:prstGeom>
          <a:noFill/>
        </p:spPr>
        <p:txBody>
          <a:bodyPr wrap="none" lIns="0" rIns="0" tIns="0" bIns="0"/>
          <a:lstStyle/>
          <a:p>
            <a:pPr algn="l">
              <a:lnSpc>
                <a:spcPct val="100000"/>
              </a:lnSpc>
              <a:spcBef>
                <a:spcPts val="0"/>
              </a:spcBef>
              <a:spcAft>
                <a:spcPts val="0"/>
              </a:spcAft>
            </a:pPr>
            <a:r>
              <a:rPr sz="700" b="1" i="0" spc="90">
                <a:solidFill>
                  <a:srgbClr val="1C6B63"/>
                </a:solidFill>
                <a:latin typeface="Consolas"/>
                <a:cs typeface="Consolas"/>
              </a:rPr>
              <a:t>FIVE ACTIVITIES  ·  NVIVO</a:t>
            </a:r>
          </a:p>
        </p:txBody>
      </p:sp>
      <p:sp>
        <p:nvSpPr>
          <p:cNvPr id="58" name="TextBox 57"/>
          <p:cNvSpPr txBox="1"/>
          <p:nvPr/>
        </p:nvSpPr>
        <p:spPr>
          <a:xfrm>
            <a:off x="6191250" y="384581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1</a:t>
            </a:r>
          </a:p>
        </p:txBody>
      </p:sp>
      <p:sp>
        <p:nvSpPr>
          <p:cNvPr id="59" name="TextBox 58"/>
          <p:cNvSpPr txBox="1"/>
          <p:nvPr/>
        </p:nvSpPr>
        <p:spPr>
          <a:xfrm>
            <a:off x="6305550" y="384614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Managing and organising. NVivo, named file plan, secure</a:t>
            </a:r>
          </a:p>
          <a:p>
            <a:pPr algn="l">
              <a:lnSpc>
                <a:spcPts val="990"/>
              </a:lnSpc>
              <a:spcBef>
                <a:spcPts val="0"/>
              </a:spcBef>
              <a:spcAft>
                <a:spcPts val="0"/>
              </a:spcAft>
            </a:pPr>
            <a:r>
              <a:rPr sz="790" b="0" i="0">
                <a:solidFill>
                  <a:srgbClr val="3A4048"/>
                </a:solidFill>
                <a:latin typeface="Times New Roman"/>
                <a:cs typeface="Times New Roman"/>
              </a:rPr>
              <a:t>storage.</a:t>
            </a:r>
          </a:p>
        </p:txBody>
      </p:sp>
      <p:sp>
        <p:nvSpPr>
          <p:cNvPr id="60" name="TextBox 59"/>
          <p:cNvSpPr txBox="1"/>
          <p:nvPr/>
        </p:nvSpPr>
        <p:spPr>
          <a:xfrm>
            <a:off x="6191250" y="412267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2</a:t>
            </a:r>
          </a:p>
        </p:txBody>
      </p:sp>
      <p:sp>
        <p:nvSpPr>
          <p:cNvPr id="61" name="TextBox 60"/>
          <p:cNvSpPr txBox="1"/>
          <p:nvPr/>
        </p:nvSpPr>
        <p:spPr>
          <a:xfrm>
            <a:off x="6305550" y="412300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Reading and memoing. A dated reflexive journal, kept as</a:t>
            </a:r>
          </a:p>
          <a:p>
            <a:pPr algn="l">
              <a:lnSpc>
                <a:spcPts val="990"/>
              </a:lnSpc>
              <a:spcBef>
                <a:spcPts val="0"/>
              </a:spcBef>
              <a:spcAft>
                <a:spcPts val="0"/>
              </a:spcAft>
            </a:pPr>
            <a:r>
              <a:rPr sz="790" b="0" i="0">
                <a:solidFill>
                  <a:srgbClr val="3A4048"/>
                </a:solidFill>
                <a:latin typeface="Times New Roman"/>
                <a:cs typeface="Times New Roman"/>
              </a:rPr>
              <a:t>evidence.</a:t>
            </a:r>
          </a:p>
        </p:txBody>
      </p:sp>
      <p:sp>
        <p:nvSpPr>
          <p:cNvPr id="62" name="TextBox 61"/>
          <p:cNvSpPr txBox="1"/>
          <p:nvPr/>
        </p:nvSpPr>
        <p:spPr>
          <a:xfrm>
            <a:off x="6191250" y="439953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3</a:t>
            </a:r>
          </a:p>
        </p:txBody>
      </p:sp>
      <p:sp>
        <p:nvSpPr>
          <p:cNvPr id="63" name="TextBox 62"/>
          <p:cNvSpPr txBox="1"/>
          <p:nvPr/>
        </p:nvSpPr>
        <p:spPr>
          <a:xfrm>
            <a:off x="6305550" y="439986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Describing and classifying. Horizontalisation, meaning units,</a:t>
            </a:r>
          </a:p>
          <a:p>
            <a:pPr algn="l">
              <a:lnSpc>
                <a:spcPts val="990"/>
              </a:lnSpc>
              <a:spcBef>
                <a:spcPts val="0"/>
              </a:spcBef>
              <a:spcAft>
                <a:spcPts val="0"/>
              </a:spcAft>
            </a:pPr>
            <a:r>
              <a:rPr sz="790" b="0" i="0">
                <a:solidFill>
                  <a:srgbClr val="3A4048"/>
                </a:solidFill>
                <a:latin typeface="Times New Roman"/>
                <a:cs typeface="Times New Roman"/>
              </a:rPr>
              <a:t>clusters.</a:t>
            </a:r>
          </a:p>
        </p:txBody>
      </p:sp>
      <p:sp>
        <p:nvSpPr>
          <p:cNvPr id="64" name="TextBox 63"/>
          <p:cNvSpPr txBox="1"/>
          <p:nvPr/>
        </p:nvSpPr>
        <p:spPr>
          <a:xfrm>
            <a:off x="6191250" y="467639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4</a:t>
            </a:r>
          </a:p>
        </p:txBody>
      </p:sp>
      <p:sp>
        <p:nvSpPr>
          <p:cNvPr id="65" name="TextBox 64"/>
          <p:cNvSpPr txBox="1"/>
          <p:nvPr/>
        </p:nvSpPr>
        <p:spPr>
          <a:xfrm>
            <a:off x="6305550" y="4676724"/>
            <a:ext cx="2600325" cy="31165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Developing interpretations. Textural and structural, then a</a:t>
            </a:r>
          </a:p>
          <a:p>
            <a:pPr algn="l">
              <a:lnSpc>
                <a:spcPts val="990"/>
              </a:lnSpc>
              <a:spcBef>
                <a:spcPts val="0"/>
              </a:spcBef>
              <a:spcAft>
                <a:spcPts val="0"/>
              </a:spcAft>
            </a:pPr>
            <a:r>
              <a:rPr sz="790" b="0" i="0">
                <a:solidFill>
                  <a:srgbClr val="3A4048"/>
                </a:solidFill>
                <a:latin typeface="Times New Roman"/>
                <a:cs typeface="Times New Roman"/>
              </a:rPr>
              <a:t>composite.</a:t>
            </a:r>
          </a:p>
        </p:txBody>
      </p:sp>
      <p:sp>
        <p:nvSpPr>
          <p:cNvPr id="66" name="TextBox 65"/>
          <p:cNvSpPr txBox="1"/>
          <p:nvPr/>
        </p:nvSpPr>
        <p:spPr>
          <a:xfrm>
            <a:off x="6191250" y="4953254"/>
            <a:ext cx="142240" cy="152400"/>
          </a:xfrm>
          <a:prstGeom prst="rect">
            <a:avLst/>
          </a:prstGeom>
          <a:noFill/>
        </p:spPr>
        <p:txBody>
          <a:bodyPr wrap="none" lIns="0" rIns="0" tIns="0" bIns="0"/>
          <a:lstStyle/>
          <a:p>
            <a:pPr algn="l">
              <a:lnSpc>
                <a:spcPct val="100000"/>
              </a:lnSpc>
              <a:spcBef>
                <a:spcPts val="0"/>
              </a:spcBef>
              <a:spcAft>
                <a:spcPts val="0"/>
              </a:spcAft>
            </a:pPr>
            <a:r>
              <a:rPr sz="800" b="1" i="0">
                <a:solidFill>
                  <a:srgbClr val="B6862C"/>
                </a:solidFill>
                <a:latin typeface="Consolas"/>
                <a:cs typeface="Consolas"/>
              </a:rPr>
              <a:t>5</a:t>
            </a:r>
          </a:p>
        </p:txBody>
      </p:sp>
      <p:sp>
        <p:nvSpPr>
          <p:cNvPr id="67" name="TextBox 66"/>
          <p:cNvSpPr txBox="1"/>
          <p:nvPr/>
        </p:nvSpPr>
        <p:spPr>
          <a:xfrm>
            <a:off x="6305550" y="4953584"/>
            <a:ext cx="2600325" cy="185928"/>
          </a:xfrm>
          <a:prstGeom prst="rect">
            <a:avLst/>
          </a:prstGeom>
          <a:noFill/>
        </p:spPr>
        <p:txBody>
          <a:bodyPr wrap="square" lIns="0" rIns="0" tIns="0" bIns="0"/>
          <a:lstStyle/>
          <a:p>
            <a:pPr algn="l">
              <a:lnSpc>
                <a:spcPts val="990"/>
              </a:lnSpc>
              <a:spcBef>
                <a:spcPts val="0"/>
              </a:spcBef>
              <a:spcAft>
                <a:spcPts val="0"/>
              </a:spcAft>
            </a:pPr>
            <a:r>
              <a:rPr sz="790" b="0" i="0">
                <a:solidFill>
                  <a:srgbClr val="3A4048"/>
                </a:solidFill>
                <a:latin typeface="Times New Roman"/>
                <a:cs typeface="Times New Roman"/>
              </a:rPr>
              <a:t>Representing. A thematic map and a composite narrative.</a:t>
            </a:r>
          </a:p>
        </p:txBody>
      </p:sp>
      <p:sp>
        <p:nvSpPr>
          <p:cNvPr id="68" name="Rounded Rectangle 67"/>
          <p:cNvSpPr/>
          <p:nvPr/>
        </p:nvSpPr>
        <p:spPr>
          <a:xfrm>
            <a:off x="9032875" y="1752600"/>
            <a:ext cx="2727325" cy="177800"/>
          </a:xfrm>
          <a:prstGeom prst="roundRect">
            <a:avLst>
              <a:gd name="adj" fmla="val 14285"/>
            </a:avLst>
          </a:prstGeom>
          <a:solidFill>
            <a:srgbClr val="081E3F"/>
          </a:solidFill>
          <a:ln>
            <a:noFill/>
          </a:ln>
          <a:effectLst/>
        </p:spPr>
        <p:txBody>
          <a:bodyPr rtlCol="0" anchor="ctr"/>
          <a:lstStyle/>
          <a:p>
            <a:pPr algn="ctr"/>
          </a:p>
        </p:txBody>
      </p:sp>
      <p:sp>
        <p:nvSpPr>
          <p:cNvPr id="69" name="TextBox 68"/>
          <p:cNvSpPr txBox="1"/>
          <p:nvPr/>
        </p:nvSpPr>
        <p:spPr>
          <a:xfrm>
            <a:off x="9134475" y="176692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7 · ETHICS AND VALIDATION</a:t>
            </a:r>
          </a:p>
        </p:txBody>
      </p:sp>
      <p:sp>
        <p:nvSpPr>
          <p:cNvPr id="70" name="Rounded Rectangle 69"/>
          <p:cNvSpPr/>
          <p:nvPr/>
        </p:nvSpPr>
        <p:spPr>
          <a:xfrm>
            <a:off x="9045575" y="2032000"/>
            <a:ext cx="40640" cy="40640"/>
          </a:xfrm>
          <a:prstGeom prst="roundRect">
            <a:avLst>
              <a:gd name="adj" fmla="val 50000"/>
            </a:avLst>
          </a:prstGeom>
          <a:solidFill>
            <a:srgbClr val="8C3A1B"/>
          </a:solidFill>
          <a:ln>
            <a:noFill/>
          </a:ln>
          <a:effectLst/>
        </p:spPr>
        <p:txBody>
          <a:bodyPr rtlCol="0" anchor="ctr"/>
          <a:lstStyle/>
          <a:p>
            <a:pPr algn="ctr"/>
          </a:p>
        </p:txBody>
      </p:sp>
      <p:sp>
        <p:nvSpPr>
          <p:cNvPr id="71" name="TextBox 70"/>
          <p:cNvSpPr txBox="1"/>
          <p:nvPr/>
        </p:nvSpPr>
        <p:spPr>
          <a:xfrm>
            <a:off x="9147175" y="1967483"/>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Informed consent and IRB determination before any contact;</a:t>
            </a:r>
          </a:p>
          <a:p>
            <a:pPr algn="l">
              <a:lnSpc>
                <a:spcPts val="1010"/>
              </a:lnSpc>
              <a:spcBef>
                <a:spcPts val="0"/>
              </a:spcBef>
              <a:spcAft>
                <a:spcPts val="0"/>
              </a:spcAft>
            </a:pPr>
            <a:r>
              <a:rPr sz="800" b="0" i="0">
                <a:solidFill>
                  <a:srgbClr val="3A4048"/>
                </a:solidFill>
                <a:latin typeface="Times New Roman"/>
                <a:cs typeface="Times New Roman"/>
              </a:rPr>
              <a:t>pseudonyms, no firm detail</a:t>
            </a:r>
          </a:p>
        </p:txBody>
      </p:sp>
      <p:sp>
        <p:nvSpPr>
          <p:cNvPr id="72" name="Rounded Rectangle 71"/>
          <p:cNvSpPr/>
          <p:nvPr/>
        </p:nvSpPr>
        <p:spPr>
          <a:xfrm>
            <a:off x="9045575" y="2326640"/>
            <a:ext cx="40640" cy="40640"/>
          </a:xfrm>
          <a:prstGeom prst="roundRect">
            <a:avLst>
              <a:gd name="adj" fmla="val 50000"/>
            </a:avLst>
          </a:prstGeom>
          <a:solidFill>
            <a:srgbClr val="8C3A1B"/>
          </a:solidFill>
          <a:ln>
            <a:noFill/>
          </a:ln>
          <a:effectLst/>
        </p:spPr>
        <p:txBody>
          <a:bodyPr rtlCol="0" anchor="ctr"/>
          <a:lstStyle/>
          <a:p>
            <a:pPr algn="ctr"/>
          </a:p>
        </p:txBody>
      </p:sp>
      <p:sp>
        <p:nvSpPr>
          <p:cNvPr id="73" name="TextBox 72"/>
          <p:cNvSpPr txBox="1"/>
          <p:nvPr/>
        </p:nvSpPr>
        <p:spPr>
          <a:xfrm>
            <a:off x="9147175" y="226212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Member checking of each participant's own textural description</a:t>
            </a:r>
          </a:p>
        </p:txBody>
      </p:sp>
      <p:sp>
        <p:nvSpPr>
          <p:cNvPr id="74" name="Rounded Rectangle 73"/>
          <p:cNvSpPr/>
          <p:nvPr/>
        </p:nvSpPr>
        <p:spPr>
          <a:xfrm>
            <a:off x="9045575" y="2493010"/>
            <a:ext cx="40640" cy="40640"/>
          </a:xfrm>
          <a:prstGeom prst="roundRect">
            <a:avLst>
              <a:gd name="adj" fmla="val 50000"/>
            </a:avLst>
          </a:prstGeom>
          <a:solidFill>
            <a:srgbClr val="8C3A1B"/>
          </a:solidFill>
          <a:ln>
            <a:noFill/>
          </a:ln>
          <a:effectLst/>
        </p:spPr>
        <p:txBody>
          <a:bodyPr rtlCol="0" anchor="ctr"/>
          <a:lstStyle/>
          <a:p>
            <a:pPr algn="ctr"/>
          </a:p>
        </p:txBody>
      </p:sp>
      <p:sp>
        <p:nvSpPr>
          <p:cNvPr id="75" name="TextBox 74"/>
          <p:cNvSpPr txBox="1"/>
          <p:nvPr/>
        </p:nvSpPr>
        <p:spPr>
          <a:xfrm>
            <a:off x="9147175" y="2428493"/>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External reviewer reads purposefully chosen transcripts,</a:t>
            </a:r>
          </a:p>
          <a:p>
            <a:pPr algn="l">
              <a:lnSpc>
                <a:spcPts val="1010"/>
              </a:lnSpc>
              <a:spcBef>
                <a:spcPts val="0"/>
              </a:spcBef>
              <a:spcAft>
                <a:spcPts val="0"/>
              </a:spcAft>
            </a:pPr>
            <a:r>
              <a:rPr sz="800" b="0" i="0">
                <a:solidFill>
                  <a:srgbClr val="3A4048"/>
                </a:solidFill>
                <a:latin typeface="Times New Roman"/>
                <a:cs typeface="Times New Roman"/>
              </a:rPr>
              <a:t>including a disconfirming one, with the analytic memos</a:t>
            </a:r>
          </a:p>
        </p:txBody>
      </p:sp>
      <p:sp>
        <p:nvSpPr>
          <p:cNvPr id="76" name="Rounded Rectangle 75"/>
          <p:cNvSpPr/>
          <p:nvPr/>
        </p:nvSpPr>
        <p:spPr>
          <a:xfrm>
            <a:off x="9045575" y="2787649"/>
            <a:ext cx="40640" cy="40640"/>
          </a:xfrm>
          <a:prstGeom prst="roundRect">
            <a:avLst>
              <a:gd name="adj" fmla="val 50000"/>
            </a:avLst>
          </a:prstGeom>
          <a:solidFill>
            <a:srgbClr val="8C3A1B"/>
          </a:solidFill>
          <a:ln>
            <a:noFill/>
          </a:ln>
          <a:effectLst/>
        </p:spPr>
        <p:txBody>
          <a:bodyPr rtlCol="0" anchor="ctr"/>
          <a:lstStyle/>
          <a:p>
            <a:pPr algn="ctr"/>
          </a:p>
        </p:txBody>
      </p:sp>
      <p:sp>
        <p:nvSpPr>
          <p:cNvPr id="77" name="TextBox 76"/>
          <p:cNvSpPr txBox="1"/>
          <p:nvPr/>
        </p:nvSpPr>
        <p:spPr>
          <a:xfrm>
            <a:off x="9147175" y="2723133"/>
            <a:ext cx="26257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Confirmation hazard log entries tied to specific analytic</a:t>
            </a:r>
          </a:p>
          <a:p>
            <a:pPr algn="l">
              <a:lnSpc>
                <a:spcPts val="1010"/>
              </a:lnSpc>
              <a:spcBef>
                <a:spcPts val="0"/>
              </a:spcBef>
              <a:spcAft>
                <a:spcPts val="0"/>
              </a:spcAft>
            </a:pPr>
            <a:r>
              <a:rPr sz="800" b="0" i="0">
                <a:solidFill>
                  <a:srgbClr val="3A4048"/>
                </a:solidFill>
                <a:latin typeface="Times New Roman"/>
                <a:cs typeface="Times New Roman"/>
              </a:rPr>
              <a:t>decisions in the audit trail</a:t>
            </a:r>
          </a:p>
        </p:txBody>
      </p:sp>
      <p:sp>
        <p:nvSpPr>
          <p:cNvPr id="78" name="Rounded Rectangle 77"/>
          <p:cNvSpPr/>
          <p:nvPr/>
        </p:nvSpPr>
        <p:spPr>
          <a:xfrm>
            <a:off x="9032875" y="3069589"/>
            <a:ext cx="2727325" cy="177800"/>
          </a:xfrm>
          <a:prstGeom prst="roundRect">
            <a:avLst>
              <a:gd name="adj" fmla="val 14285"/>
            </a:avLst>
          </a:prstGeom>
          <a:solidFill>
            <a:srgbClr val="081E3F"/>
          </a:solidFill>
          <a:ln>
            <a:noFill/>
          </a:ln>
          <a:effectLst/>
        </p:spPr>
        <p:txBody>
          <a:bodyPr rtlCol="0" anchor="ctr"/>
          <a:lstStyle/>
          <a:p>
            <a:pPr algn="ctr"/>
          </a:p>
        </p:txBody>
      </p:sp>
      <p:sp>
        <p:nvSpPr>
          <p:cNvPr id="79" name="TextBox 78"/>
          <p:cNvSpPr txBox="1"/>
          <p:nvPr/>
        </p:nvSpPr>
        <p:spPr>
          <a:xfrm>
            <a:off x="9134475" y="308391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8 · DESIRED CONTRIBUTIONS</a:t>
            </a:r>
          </a:p>
        </p:txBody>
      </p:sp>
      <p:sp>
        <p:nvSpPr>
          <p:cNvPr id="80" name="TextBox 79"/>
          <p:cNvSpPr txBox="1"/>
          <p:nvPr/>
        </p:nvSpPr>
        <p:spPr>
          <a:xfrm>
            <a:off x="9032875" y="3262375"/>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TO PRACTICE</a:t>
            </a:r>
          </a:p>
        </p:txBody>
      </p:sp>
      <p:sp>
        <p:nvSpPr>
          <p:cNvPr id="81" name="TextBox 80"/>
          <p:cNvSpPr txBox="1"/>
          <p:nvPr/>
        </p:nvSpPr>
        <p:spPr>
          <a:xfrm>
            <a:off x="9032875" y="3398773"/>
            <a:ext cx="27400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Shows what human review of AI output is actually like, for firms</a:t>
            </a:r>
          </a:p>
          <a:p>
            <a:pPr algn="l">
              <a:lnSpc>
                <a:spcPts val="1010"/>
              </a:lnSpc>
              <a:spcBef>
                <a:spcPts val="0"/>
              </a:spcBef>
              <a:spcAft>
                <a:spcPts val="0"/>
              </a:spcAft>
            </a:pPr>
            <a:r>
              <a:rPr sz="800" b="0" i="0">
                <a:solidFill>
                  <a:srgbClr val="3A4048"/>
                </a:solidFill>
                <a:latin typeface="Times New Roman"/>
                <a:cs typeface="Times New Roman"/>
              </a:rPr>
              <a:t>and regulators relying on it.</a:t>
            </a:r>
          </a:p>
        </p:txBody>
      </p:sp>
      <p:sp>
        <p:nvSpPr>
          <p:cNvPr id="82" name="TextBox 81"/>
          <p:cNvSpPr txBox="1"/>
          <p:nvPr/>
        </p:nvSpPr>
        <p:spPr>
          <a:xfrm>
            <a:off x="9032875" y="3684015"/>
            <a:ext cx="784860" cy="133350"/>
          </a:xfrm>
          <a:prstGeom prst="rect">
            <a:avLst/>
          </a:prstGeom>
          <a:noFill/>
        </p:spPr>
        <p:txBody>
          <a:bodyPr wrap="none" lIns="0" rIns="0" tIns="0" bIns="0"/>
          <a:lstStyle/>
          <a:p>
            <a:pPr algn="l">
              <a:lnSpc>
                <a:spcPct val="100000"/>
              </a:lnSpc>
              <a:spcBef>
                <a:spcPts val="0"/>
              </a:spcBef>
              <a:spcAft>
                <a:spcPts val="0"/>
              </a:spcAft>
            </a:pPr>
            <a:r>
              <a:rPr sz="700" b="1" i="0" spc="100">
                <a:solidFill>
                  <a:srgbClr val="8A6A1F"/>
                </a:solidFill>
                <a:latin typeface="Consolas"/>
                <a:cs typeface="Consolas"/>
              </a:rPr>
              <a:t>TO ACADEMIA</a:t>
            </a:r>
          </a:p>
        </p:txBody>
      </p:sp>
      <p:sp>
        <p:nvSpPr>
          <p:cNvPr id="83" name="TextBox 82"/>
          <p:cNvSpPr txBox="1"/>
          <p:nvPr/>
        </p:nvSpPr>
        <p:spPr>
          <a:xfrm>
            <a:off x="9032875" y="3820413"/>
            <a:ext cx="2740025" cy="317500"/>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Distinguishes the auditor's experience of agreement from measures</a:t>
            </a:r>
          </a:p>
          <a:p>
            <a:pPr algn="l">
              <a:lnSpc>
                <a:spcPts val="1010"/>
              </a:lnSpc>
              <a:spcBef>
                <a:spcPts val="0"/>
              </a:spcBef>
              <a:spcAft>
                <a:spcPts val="0"/>
              </a:spcAft>
            </a:pPr>
            <a:r>
              <a:rPr sz="800" b="0" i="0">
                <a:solidFill>
                  <a:srgbClr val="3A4048"/>
                </a:solidFill>
                <a:latin typeface="Times New Roman"/>
                <a:cs typeface="Times New Roman"/>
              </a:rPr>
              <a:t>of reliance.</a:t>
            </a:r>
          </a:p>
        </p:txBody>
      </p:sp>
      <p:sp>
        <p:nvSpPr>
          <p:cNvPr id="84" name="Rounded Rectangle 83"/>
          <p:cNvSpPr/>
          <p:nvPr/>
        </p:nvSpPr>
        <p:spPr>
          <a:xfrm>
            <a:off x="9032875" y="4154169"/>
            <a:ext cx="2727325" cy="177800"/>
          </a:xfrm>
          <a:prstGeom prst="roundRect">
            <a:avLst>
              <a:gd name="adj" fmla="val 14285"/>
            </a:avLst>
          </a:prstGeom>
          <a:solidFill>
            <a:srgbClr val="081E3F"/>
          </a:solidFill>
          <a:ln>
            <a:noFill/>
          </a:ln>
          <a:effectLst/>
        </p:spPr>
        <p:txBody>
          <a:bodyPr rtlCol="0" anchor="ctr"/>
          <a:lstStyle/>
          <a:p>
            <a:pPr algn="ctr"/>
          </a:p>
        </p:txBody>
      </p:sp>
      <p:sp>
        <p:nvSpPr>
          <p:cNvPr id="85" name="TextBox 84"/>
          <p:cNvSpPr txBox="1"/>
          <p:nvPr/>
        </p:nvSpPr>
        <p:spPr>
          <a:xfrm>
            <a:off x="9134475" y="4168495"/>
            <a:ext cx="181051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FFFFFF"/>
                </a:solidFill>
                <a:latin typeface="Consolas"/>
                <a:cs typeface="Consolas"/>
              </a:rPr>
              <a:t>9 · POTENTIAL LIMITATIONS</a:t>
            </a:r>
          </a:p>
        </p:txBody>
      </p:sp>
      <p:sp>
        <p:nvSpPr>
          <p:cNvPr id="86" name="Rounded Rectangle 85"/>
          <p:cNvSpPr/>
          <p:nvPr/>
        </p:nvSpPr>
        <p:spPr>
          <a:xfrm>
            <a:off x="9045575" y="4433569"/>
            <a:ext cx="40640" cy="40640"/>
          </a:xfrm>
          <a:prstGeom prst="roundRect">
            <a:avLst>
              <a:gd name="adj" fmla="val 50000"/>
            </a:avLst>
          </a:prstGeom>
          <a:solidFill>
            <a:srgbClr val="8C3A1B"/>
          </a:solidFill>
          <a:ln>
            <a:noFill/>
          </a:ln>
          <a:effectLst/>
        </p:spPr>
        <p:txBody>
          <a:bodyPr rtlCol="0" anchor="ctr"/>
          <a:lstStyle/>
          <a:p>
            <a:pPr algn="ctr"/>
          </a:p>
        </p:txBody>
      </p:sp>
      <p:sp>
        <p:nvSpPr>
          <p:cNvPr id="87" name="TextBox 86"/>
          <p:cNvSpPr txBox="1"/>
          <p:nvPr/>
        </p:nvSpPr>
        <p:spPr>
          <a:xfrm>
            <a:off x="9147175" y="436905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Retrospective accounts of a past experience</a:t>
            </a:r>
          </a:p>
        </p:txBody>
      </p:sp>
      <p:sp>
        <p:nvSpPr>
          <p:cNvPr id="88" name="Rounded Rectangle 87"/>
          <p:cNvSpPr/>
          <p:nvPr/>
        </p:nvSpPr>
        <p:spPr>
          <a:xfrm>
            <a:off x="9045575" y="4599939"/>
            <a:ext cx="40640" cy="40640"/>
          </a:xfrm>
          <a:prstGeom prst="roundRect">
            <a:avLst>
              <a:gd name="adj" fmla="val 50000"/>
            </a:avLst>
          </a:prstGeom>
          <a:solidFill>
            <a:srgbClr val="8C3A1B"/>
          </a:solidFill>
          <a:ln>
            <a:noFill/>
          </a:ln>
          <a:effectLst/>
        </p:spPr>
        <p:txBody>
          <a:bodyPr rtlCol="0" anchor="ctr"/>
          <a:lstStyle/>
          <a:p>
            <a:pPr algn="ctr"/>
          </a:p>
        </p:txBody>
      </p:sp>
      <p:sp>
        <p:nvSpPr>
          <p:cNvPr id="89" name="TextBox 88"/>
          <p:cNvSpPr txBox="1"/>
          <p:nvPr/>
        </p:nvSpPr>
        <p:spPr>
          <a:xfrm>
            <a:off x="9147175" y="4535423"/>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Insider researcher: bias managed, not eliminated</a:t>
            </a:r>
          </a:p>
        </p:txBody>
      </p:sp>
      <p:sp>
        <p:nvSpPr>
          <p:cNvPr id="90" name="Rounded Rectangle 89"/>
          <p:cNvSpPr/>
          <p:nvPr/>
        </p:nvSpPr>
        <p:spPr>
          <a:xfrm>
            <a:off x="9045575" y="4766309"/>
            <a:ext cx="40640" cy="40640"/>
          </a:xfrm>
          <a:prstGeom prst="roundRect">
            <a:avLst>
              <a:gd name="adj" fmla="val 50000"/>
            </a:avLst>
          </a:prstGeom>
          <a:solidFill>
            <a:srgbClr val="8C3A1B"/>
          </a:solidFill>
          <a:ln>
            <a:noFill/>
          </a:ln>
          <a:effectLst/>
        </p:spPr>
        <p:txBody>
          <a:bodyPr rtlCol="0" anchor="ctr"/>
          <a:lstStyle/>
          <a:p>
            <a:pPr algn="ctr"/>
          </a:p>
        </p:txBody>
      </p:sp>
      <p:sp>
        <p:nvSpPr>
          <p:cNvPr id="91" name="TextBox 90"/>
          <p:cNvSpPr txBox="1"/>
          <p:nvPr/>
        </p:nvSpPr>
        <p:spPr>
          <a:xfrm>
            <a:off x="9147175" y="4701794"/>
            <a:ext cx="2625725" cy="189229"/>
          </a:xfrm>
          <a:prstGeom prst="rect">
            <a:avLst/>
          </a:prstGeom>
          <a:noFill/>
        </p:spPr>
        <p:txBody>
          <a:bodyPr wrap="square" lIns="0" rIns="0" tIns="0" bIns="0"/>
          <a:lstStyle/>
          <a:p>
            <a:pPr algn="l">
              <a:lnSpc>
                <a:spcPts val="1010"/>
              </a:lnSpc>
              <a:spcBef>
                <a:spcPts val="0"/>
              </a:spcBef>
              <a:spcAft>
                <a:spcPts val="0"/>
              </a:spcAft>
            </a:pPr>
            <a:r>
              <a:rPr sz="800" b="0" i="0">
                <a:solidFill>
                  <a:srgbClr val="3A4048"/>
                </a:solidFill>
                <a:latin typeface="Times New Roman"/>
                <a:cs typeface="Times New Roman"/>
              </a:rPr>
              <a:t>Small purposive sample; not intended to generalise</a:t>
            </a:r>
          </a:p>
        </p:txBody>
      </p:sp>
      <p:sp>
        <p:nvSpPr>
          <p:cNvPr id="92" name="Rounded Rectangle 91"/>
          <p:cNvSpPr/>
          <p:nvPr/>
        </p:nvSpPr>
        <p:spPr>
          <a:xfrm>
            <a:off x="431800" y="5740400"/>
            <a:ext cx="11328400" cy="330200"/>
          </a:xfrm>
          <a:prstGeom prst="roundRect">
            <a:avLst>
              <a:gd name="adj" fmla="val 11538"/>
            </a:avLst>
          </a:prstGeom>
          <a:solidFill>
            <a:srgbClr val="E8EDF4"/>
          </a:solidFill>
          <a:ln>
            <a:noFill/>
          </a:ln>
          <a:effectLst/>
        </p:spPr>
        <p:txBody>
          <a:bodyPr rtlCol="0" anchor="ctr"/>
          <a:lstStyle/>
          <a:p>
            <a:pPr algn="ctr"/>
          </a:p>
        </p:txBody>
      </p:sp>
      <p:sp>
        <p:nvSpPr>
          <p:cNvPr id="93" name="TextBox 92"/>
          <p:cNvSpPr txBox="1"/>
          <p:nvPr/>
        </p:nvSpPr>
        <p:spPr>
          <a:xfrm>
            <a:off x="558800" y="5818225"/>
            <a:ext cx="969264"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081E3F"/>
                </a:solidFill>
                <a:latin typeface="Consolas"/>
                <a:cs typeface="Consolas"/>
              </a:rPr>
              <a:t>AI DISCLOSURE</a:t>
            </a:r>
          </a:p>
        </p:txBody>
      </p:sp>
      <p:sp>
        <p:nvSpPr>
          <p:cNvPr id="94" name="TextBox 93"/>
          <p:cNvSpPr txBox="1"/>
          <p:nvPr/>
        </p:nvSpPr>
        <p:spPr>
          <a:xfrm>
            <a:off x="1600200" y="5780125"/>
            <a:ext cx="9817100" cy="166624"/>
          </a:xfrm>
          <a:prstGeom prst="rect">
            <a:avLst/>
          </a:prstGeom>
          <a:noFill/>
        </p:spPr>
        <p:txBody>
          <a:bodyPr wrap="square" lIns="0" rIns="0" tIns="0" bIns="0"/>
          <a:lstStyle/>
          <a:p>
            <a:pPr algn="l">
              <a:lnSpc>
                <a:spcPts val="880"/>
              </a:lnSpc>
              <a:spcBef>
                <a:spcPts val="0"/>
              </a:spcBef>
              <a:spcAft>
                <a:spcPts val="0"/>
              </a:spcAft>
            </a:pPr>
            <a:r>
              <a:rPr sz="720" b="0" i="0">
                <a:solidFill>
                  <a:srgbClr val="3A4048"/>
                </a:solidFill>
                <a:latin typeface="Times New Roman"/>
                <a:cs typeface="Times New Roman"/>
              </a:rPr>
              <a:t>Generative AI (Claude, Anthropic) helped draft and lay out this poster from the author's proposal and protocol, and checked clarity. The research question, design decisions and interpretations are the author's (FIU Graduate School AI policy).</a:t>
            </a:r>
          </a:p>
        </p:txBody>
      </p:sp>
      <p:cxnSp>
        <p:nvCxnSpPr>
          <p:cNvPr id="95" name="Connector 94"/>
          <p:cNvCxnSpPr/>
          <p:nvPr/>
        </p:nvCxnSpPr>
        <p:spPr>
          <a:xfrm>
            <a:off x="685800" y="6172200"/>
            <a:ext cx="10820400" cy="0"/>
          </a:xfrm>
          <a:prstGeom prst="line">
            <a:avLst/>
          </a:prstGeom>
          <a:ln w="12700">
            <a:solidFill>
              <a:srgbClr val="D8D4CB"/>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431800" y="6211925"/>
            <a:ext cx="758952" cy="137160"/>
          </a:xfrm>
          <a:prstGeom prst="rect">
            <a:avLst/>
          </a:prstGeom>
          <a:noFill/>
        </p:spPr>
        <p:txBody>
          <a:bodyPr wrap="none" lIns="0" rIns="0" tIns="0" bIns="0"/>
          <a:lstStyle/>
          <a:p>
            <a:pPr algn="l">
              <a:lnSpc>
                <a:spcPct val="100000"/>
              </a:lnSpc>
              <a:spcBef>
                <a:spcPts val="0"/>
              </a:spcBef>
              <a:spcAft>
                <a:spcPts val="0"/>
              </a:spcAft>
            </a:pPr>
            <a:r>
              <a:rPr sz="720" b="1" i="0" spc="120">
                <a:solidFill>
                  <a:srgbClr val="081E3F"/>
                </a:solidFill>
                <a:latin typeface="Consolas"/>
                <a:cs typeface="Consolas"/>
              </a:rPr>
              <a:t>REFERENCES</a:t>
            </a:r>
          </a:p>
        </p:txBody>
      </p:sp>
      <p:sp>
        <p:nvSpPr>
          <p:cNvPr id="97" name="TextBox 96"/>
          <p:cNvSpPr txBox="1"/>
          <p:nvPr/>
        </p:nvSpPr>
        <p:spPr>
          <a:xfrm>
            <a:off x="431800" y="6340906"/>
            <a:ext cx="742309" cy="125729"/>
          </a:xfrm>
          <a:prstGeom prst="rect">
            <a:avLst/>
          </a:prstGeom>
          <a:noFill/>
        </p:spPr>
        <p:txBody>
          <a:bodyPr wrap="none" lIns="0" rIns="0" tIns="0" bIns="0"/>
          <a:lstStyle/>
          <a:p>
            <a:pPr algn="l">
              <a:lnSpc>
                <a:spcPct val="100000"/>
              </a:lnSpc>
              <a:spcBef>
                <a:spcPts val="0"/>
              </a:spcBef>
              <a:spcAft>
                <a:spcPts val="0"/>
              </a:spcAft>
            </a:pPr>
            <a:r>
              <a:rPr sz="660" b="0" i="0">
                <a:solidFill>
                  <a:srgbClr val="767D86"/>
                </a:solidFill>
                <a:latin typeface="Times New Roman"/>
                <a:cs typeface="Times New Roman"/>
              </a:rPr>
              <a:t>Full list in the paper</a:t>
            </a:r>
          </a:p>
        </p:txBody>
      </p:sp>
      <p:sp>
        <p:nvSpPr>
          <p:cNvPr id="98" name="TextBox 97"/>
          <p:cNvSpPr txBox="1"/>
          <p:nvPr/>
        </p:nvSpPr>
        <p:spPr>
          <a:xfrm>
            <a:off x="1447800" y="6203188"/>
            <a:ext cx="2489200" cy="28575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Commerford, B. P., Dennis, S. A., Joe, J. R., &amp; Ulla, J. W. (2022). Man versus</a:t>
            </a:r>
          </a:p>
          <a:p>
            <a:pPr algn="l">
              <a:lnSpc>
                <a:spcPts val="630"/>
              </a:lnSpc>
              <a:spcBef>
                <a:spcPts val="0"/>
              </a:spcBef>
              <a:spcAft>
                <a:spcPts val="0"/>
              </a:spcAft>
            </a:pPr>
            <a:r>
              <a:rPr sz="600" b="0" i="0">
                <a:solidFill>
                  <a:srgbClr val="767D86"/>
                </a:solidFill>
                <a:latin typeface="Times New Roman"/>
                <a:cs typeface="Times New Roman"/>
              </a:rPr>
              <a:t>machine: Complex estimates and auditor reliance on artificial intelligence.</a:t>
            </a:r>
          </a:p>
          <a:p>
            <a:pPr algn="l">
              <a:lnSpc>
                <a:spcPts val="630"/>
              </a:lnSpc>
              <a:spcBef>
                <a:spcPts val="0"/>
              </a:spcBef>
              <a:spcAft>
                <a:spcPts val="0"/>
              </a:spcAft>
            </a:pPr>
            <a:r>
              <a:rPr sz="600" b="0" i="0">
                <a:solidFill>
                  <a:srgbClr val="767D86"/>
                </a:solidFill>
                <a:latin typeface="Times New Roman"/>
                <a:cs typeface="Times New Roman"/>
              </a:rPr>
              <a:t>Journal of Accounting Research, 60(1), 171-201.</a:t>
            </a:r>
          </a:p>
        </p:txBody>
      </p:sp>
      <p:sp>
        <p:nvSpPr>
          <p:cNvPr id="99" name="TextBox 98"/>
          <p:cNvSpPr txBox="1"/>
          <p:nvPr/>
        </p:nvSpPr>
        <p:spPr>
          <a:xfrm>
            <a:off x="4025900" y="62031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Creswell, J. W., &amp; Poth, C. N. (2024). Qualitative inquiry and research design:</a:t>
            </a:r>
          </a:p>
          <a:p>
            <a:pPr algn="l">
              <a:lnSpc>
                <a:spcPts val="630"/>
              </a:lnSpc>
              <a:spcBef>
                <a:spcPts val="0"/>
              </a:spcBef>
              <a:spcAft>
                <a:spcPts val="0"/>
              </a:spcAft>
            </a:pPr>
            <a:r>
              <a:rPr sz="600" b="0" i="0">
                <a:solidFill>
                  <a:srgbClr val="767D86"/>
                </a:solidFill>
                <a:latin typeface="Times New Roman"/>
                <a:cs typeface="Times New Roman"/>
              </a:rPr>
              <a:t>Choosing among five approaches (5th ed.). SAGE.</a:t>
            </a:r>
          </a:p>
        </p:txBody>
      </p:sp>
      <p:sp>
        <p:nvSpPr>
          <p:cNvPr id="100" name="TextBox 99"/>
          <p:cNvSpPr txBox="1"/>
          <p:nvPr/>
        </p:nvSpPr>
        <p:spPr>
          <a:xfrm>
            <a:off x="6604000" y="62031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Fotoh, L. E., &amp; Mugwira, T. (2025). Exploring the impact of generative AI on</a:t>
            </a:r>
          </a:p>
          <a:p>
            <a:pPr algn="l">
              <a:lnSpc>
                <a:spcPts val="630"/>
              </a:lnSpc>
              <a:spcBef>
                <a:spcPts val="0"/>
              </a:spcBef>
              <a:spcAft>
                <a:spcPts val="0"/>
              </a:spcAft>
            </a:pPr>
            <a:r>
              <a:rPr sz="600" b="0" i="0">
                <a:solidFill>
                  <a:srgbClr val="767D86"/>
                </a:solidFill>
                <a:latin typeface="Times New Roman"/>
                <a:cs typeface="Times New Roman"/>
              </a:rPr>
              <a:t>professional skepticism in auditing.</a:t>
            </a:r>
          </a:p>
        </p:txBody>
      </p:sp>
      <p:sp>
        <p:nvSpPr>
          <p:cNvPr id="101" name="TextBox 100"/>
          <p:cNvSpPr txBox="1"/>
          <p:nvPr/>
        </p:nvSpPr>
        <p:spPr>
          <a:xfrm>
            <a:off x="9182100" y="62031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Glickman, M., &amp; Sharot, T. (2025). How human-AI feedback loops alter human</a:t>
            </a:r>
          </a:p>
          <a:p>
            <a:pPr algn="l">
              <a:lnSpc>
                <a:spcPts val="630"/>
              </a:lnSpc>
              <a:spcBef>
                <a:spcPts val="0"/>
              </a:spcBef>
              <a:spcAft>
                <a:spcPts val="0"/>
              </a:spcAft>
            </a:pPr>
            <a:r>
              <a:rPr sz="600" b="0" i="0">
                <a:solidFill>
                  <a:srgbClr val="767D86"/>
                </a:solidFill>
                <a:latin typeface="Times New Roman"/>
                <a:cs typeface="Times New Roman"/>
              </a:rPr>
              <a:t>perceptual, emotional and social judgements.</a:t>
            </a:r>
          </a:p>
        </p:txBody>
      </p:sp>
      <p:sp>
        <p:nvSpPr>
          <p:cNvPr id="102" name="TextBox 101"/>
          <p:cNvSpPr txBox="1"/>
          <p:nvPr/>
        </p:nvSpPr>
        <p:spPr>
          <a:xfrm>
            <a:off x="1447800" y="6507988"/>
            <a:ext cx="2489200" cy="28575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Kokina, J., Blanchette, S., Davenport, T. H., &amp; Pachamanova, D. (2025).</a:t>
            </a:r>
          </a:p>
          <a:p>
            <a:pPr algn="l">
              <a:lnSpc>
                <a:spcPts val="630"/>
              </a:lnSpc>
              <a:spcBef>
                <a:spcPts val="0"/>
              </a:spcBef>
              <a:spcAft>
                <a:spcPts val="0"/>
              </a:spcAft>
            </a:pPr>
            <a:r>
              <a:rPr sz="600" b="0" i="0">
                <a:solidFill>
                  <a:srgbClr val="767D86"/>
                </a:solidFill>
                <a:latin typeface="Times New Roman"/>
                <a:cs typeface="Times New Roman"/>
              </a:rPr>
              <a:t>Challenges and opportunities for artificial intelligence in auditing. International</a:t>
            </a:r>
          </a:p>
          <a:p>
            <a:pPr algn="l">
              <a:lnSpc>
                <a:spcPts val="630"/>
              </a:lnSpc>
              <a:spcBef>
                <a:spcPts val="0"/>
              </a:spcBef>
              <a:spcAft>
                <a:spcPts val="0"/>
              </a:spcAft>
            </a:pPr>
            <a:r>
              <a:rPr sz="600" b="0" i="0">
                <a:solidFill>
                  <a:srgbClr val="767D86"/>
                </a:solidFill>
                <a:latin typeface="Times New Roman"/>
                <a:cs typeface="Times New Roman"/>
              </a:rPr>
              <a:t>Journal of Accounting Information Systems, 56, 100734.</a:t>
            </a:r>
          </a:p>
        </p:txBody>
      </p:sp>
      <p:sp>
        <p:nvSpPr>
          <p:cNvPr id="103" name="TextBox 102"/>
          <p:cNvSpPr txBox="1"/>
          <p:nvPr/>
        </p:nvSpPr>
        <p:spPr>
          <a:xfrm>
            <a:off x="4025900" y="65079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Murikah, W., Nthenge, J. K., &amp; Musyoka, F. M. (2024). Bias and ethics of AI</a:t>
            </a:r>
          </a:p>
          <a:p>
            <a:pPr algn="l">
              <a:lnSpc>
                <a:spcPts val="630"/>
              </a:lnSpc>
              <a:spcBef>
                <a:spcPts val="0"/>
              </a:spcBef>
              <a:spcAft>
                <a:spcPts val="0"/>
              </a:spcAft>
            </a:pPr>
            <a:r>
              <a:rPr sz="600" b="0" i="0">
                <a:solidFill>
                  <a:srgbClr val="767D86"/>
                </a:solidFill>
                <a:latin typeface="Times New Roman"/>
                <a:cs typeface="Times New Roman"/>
              </a:rPr>
              <a:t>systems applied in auditing: A systematic review.</a:t>
            </a:r>
          </a:p>
        </p:txBody>
      </p:sp>
      <p:sp>
        <p:nvSpPr>
          <p:cNvPr id="104" name="TextBox 103"/>
          <p:cNvSpPr txBox="1"/>
          <p:nvPr/>
        </p:nvSpPr>
        <p:spPr>
          <a:xfrm>
            <a:off x="6604000" y="65079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Parasuraman, R., &amp; Manzey, D. H. (2010). Complacency and bias in human use</a:t>
            </a:r>
          </a:p>
          <a:p>
            <a:pPr algn="l">
              <a:lnSpc>
                <a:spcPts val="630"/>
              </a:lnSpc>
              <a:spcBef>
                <a:spcPts val="0"/>
              </a:spcBef>
              <a:spcAft>
                <a:spcPts val="0"/>
              </a:spcAft>
            </a:pPr>
            <a:r>
              <a:rPr sz="600" b="0" i="0">
                <a:solidFill>
                  <a:srgbClr val="767D86"/>
                </a:solidFill>
                <a:latin typeface="Times New Roman"/>
                <a:cs typeface="Times New Roman"/>
              </a:rPr>
              <a:t>of automation. Human Factors, 52(3), 381-410.</a:t>
            </a:r>
          </a:p>
        </p:txBody>
      </p:sp>
      <p:sp>
        <p:nvSpPr>
          <p:cNvPr id="105" name="TextBox 104"/>
          <p:cNvSpPr txBox="1"/>
          <p:nvPr/>
        </p:nvSpPr>
        <p:spPr>
          <a:xfrm>
            <a:off x="9182100" y="6507988"/>
            <a:ext cx="2489200" cy="205740"/>
          </a:xfrm>
          <a:prstGeom prst="rect">
            <a:avLst/>
          </a:prstGeom>
          <a:noFill/>
        </p:spPr>
        <p:txBody>
          <a:bodyPr wrap="square" lIns="0" rIns="0" tIns="0" bIns="0"/>
          <a:lstStyle/>
          <a:p>
            <a:pPr algn="l">
              <a:lnSpc>
                <a:spcPts val="630"/>
              </a:lnSpc>
              <a:spcBef>
                <a:spcPts val="0"/>
              </a:spcBef>
              <a:spcAft>
                <a:spcPts val="0"/>
              </a:spcAft>
            </a:pPr>
            <a:r>
              <a:rPr sz="600" b="0" i="0">
                <a:solidFill>
                  <a:srgbClr val="767D86"/>
                </a:solidFill>
                <a:latin typeface="Times New Roman"/>
                <a:cs typeface="Times New Roman"/>
              </a:rPr>
              <a:t>Tversky, A., &amp; Kahneman, D. (1974). Judgment under uncertainty: Heuristics</a:t>
            </a:r>
          </a:p>
          <a:p>
            <a:pPr algn="l">
              <a:lnSpc>
                <a:spcPts val="630"/>
              </a:lnSpc>
              <a:spcBef>
                <a:spcPts val="0"/>
              </a:spcBef>
              <a:spcAft>
                <a:spcPts val="0"/>
              </a:spcAft>
            </a:pPr>
            <a:r>
              <a:rPr sz="600" b="0" i="0">
                <a:solidFill>
                  <a:srgbClr val="767D86"/>
                </a:solidFill>
                <a:latin typeface="Times New Roman"/>
                <a:cs typeface="Times New Roman"/>
              </a:rPr>
              <a:t>and biases. Science, 185(4157), 1124-1131.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Receiving Confirmation - GEB 7911 qualitative research proposal</dc:title>
  <dc:subject/>
  <dc:creator>Yasir A. Malik - FIU DBA Cohort 8.14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