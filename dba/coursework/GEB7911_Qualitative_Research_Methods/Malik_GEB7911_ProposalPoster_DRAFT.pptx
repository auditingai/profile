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fiu-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00" y="177800"/>
            <a:ext cx="558800" cy="558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43000" y="153035"/>
            <a:ext cx="5633720" cy="1428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160">
                <a:solidFill>
                  <a:srgbClr val="B6862C"/>
                </a:solidFill>
                <a:latin typeface="Consolas"/>
                <a:cs typeface="Consolas"/>
              </a:rPr>
              <a:t>FLORIDA INTERNATIONAL UNIVERSITY  ·  CHAPMAN GRADUATE SCHOOL OF BUSINESS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47650"/>
            <a:ext cx="3508057" cy="4762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Times New Roman"/>
                <a:cs typeface="Times New Roman"/>
              </a:rPr>
              <a:t>Receiving Confirmation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660527"/>
            <a:ext cx="6412179" cy="2190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B9C7D8"/>
                </a:solidFill>
                <a:latin typeface="Times New Roman"/>
                <a:cs typeface="Times New Roman"/>
              </a:rPr>
              <a:t>How experienced auditors make sense of AI-generated agreement with a judgment they had already formed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86060" y="222631"/>
            <a:ext cx="1374139" cy="1809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B6862C"/>
                </a:solidFill>
                <a:latin typeface="Consolas"/>
                <a:cs typeface="Consolas"/>
              </a:rPr>
              <a:t>YASIR A. MALIK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3447" y="424180"/>
            <a:ext cx="1706753" cy="1905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FA3BC"/>
                </a:solidFill>
                <a:latin typeface="Times New Roman"/>
                <a:cs typeface="Times New Roman"/>
              </a:rPr>
              <a:t>DBA Cohort 8.14  ·  GEB 7911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51011" y="627380"/>
            <a:ext cx="2909189" cy="1905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FA3BC"/>
                </a:solidFill>
                <a:latin typeface="Times New Roman"/>
                <a:cs typeface="Times New Roman"/>
              </a:rPr>
              <a:t>Qualitative Research Proposal  ·  Dr. Cristina Gonzalez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800" y="1066800"/>
            <a:ext cx="11328400" cy="558800"/>
          </a:xfrm>
          <a:prstGeom prst="roundRect">
            <a:avLst>
              <a:gd name="adj" fmla="val 6818"/>
            </a:avLst>
          </a:prstGeom>
          <a:solidFill>
            <a:srgbClr val="FAF3E4"/>
          </a:solidFill>
          <a:ln w="12700">
            <a:solidFill>
              <a:srgbClr val="B686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1800" y="1066800"/>
            <a:ext cx="63500" cy="558800"/>
          </a:xfrm>
          <a:prstGeom prst="rect">
            <a:avLst/>
          </a:prstGeom>
          <a:solidFill>
            <a:srgbClr val="B686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400" y="1169035"/>
            <a:ext cx="1962150" cy="1428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150">
                <a:solidFill>
                  <a:srgbClr val="8A6A1F"/>
                </a:solidFill>
                <a:latin typeface="Consolas"/>
                <a:cs typeface="Consolas"/>
              </a:rPr>
              <a:t>CENTRAL RESEARCH QUESTION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400" y="1327023"/>
            <a:ext cx="10441476" cy="2571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1">
                <a:solidFill>
                  <a:srgbClr val="14171C"/>
                </a:solidFill>
                <a:latin typeface="Times New Roman"/>
                <a:cs typeface="Times New Roman"/>
              </a:rPr>
              <a:t>How do experienced auditors experience and make sense of receiving an AI-generated conclusion that confirms a judgment they had already formed?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800" y="1752600"/>
            <a:ext cx="2727325" cy="177800"/>
          </a:xfrm>
          <a:prstGeom prst="roundRect">
            <a:avLst>
              <a:gd name="adj" fmla="val 14285"/>
            </a:avLst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400" y="1766925"/>
            <a:ext cx="2161031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FFFFFF"/>
                </a:solidFill>
                <a:latin typeface="Consolas"/>
                <a:cs typeface="Consolas"/>
              </a:rPr>
              <a:t>1 · FOCUS AND RESEARCH PROBLEM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800" y="1967483"/>
            <a:ext cx="2740025" cy="44576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An auditor on a recurring engagement has always carried a prior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conclusion forward. What is new is that an AI system now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produces a conclusion of its own, and sometimes it agrees.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800" y="2403094"/>
            <a:ext cx="2740025" cy="5740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Research on AI and auditor judgment has focused primarily on the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extent of reliance, which a survey can measure. What remains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unexplored is the lived experience of receiving machine agreement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with a judgment already formed.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800" y="2966974"/>
            <a:ext cx="2740025" cy="44576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Two things are being conflated: automation bias, a human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tendency, and sycophancy, a property of the system. A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magnitude-of-reliance measure cannot tell them apart.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1800" y="3402584"/>
            <a:ext cx="2740025" cy="44576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Standards assume a competent human reviewer sits above the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system. Firms and regulators are writing AI-use policy on that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assumption now.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800" y="3890010"/>
            <a:ext cx="2727325" cy="177800"/>
          </a:xfrm>
          <a:prstGeom prst="roundRect">
            <a:avLst>
              <a:gd name="adj" fmla="val 14285"/>
            </a:avLst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" y="3904335"/>
            <a:ext cx="1459992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FFFFFF"/>
                </a:solidFill>
                <a:latin typeface="Consolas"/>
                <a:cs typeface="Consolas"/>
              </a:rPr>
              <a:t>2 · RESEARCH PURPOSE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" y="4168394"/>
            <a:ext cx="2536825" cy="83057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The purpose of this phenomenological study is to understand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how experienced auditors experience and make sense of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receiving an AI-generated conclusion that confirms a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judgment they had already formed. The phenomenon under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study is the experience of encountering machine-generated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confirmation of a prior professional judgment.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1800" y="4105910"/>
            <a:ext cx="2727325" cy="934719"/>
          </a:xfrm>
          <a:prstGeom prst="roundRect">
            <a:avLst>
              <a:gd name="adj" fmla="val 4076"/>
            </a:avLst>
          </a:prstGeom>
          <a:solidFill>
            <a:srgbClr val="E8ED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3400" y="4168394"/>
            <a:ext cx="2536825" cy="83057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The purpose of this phenomenological study is to understand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how experienced auditors experience and make sense of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receiving an AI-generated conclusion that confirms a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judgment they had already formed. The phenomenon under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study is the experience of encountering machine-generated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confirmation of a prior professional judgment.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8825" y="1752600"/>
            <a:ext cx="2727325" cy="177800"/>
          </a:xfrm>
          <a:prstGeom prst="roundRect">
            <a:avLst>
              <a:gd name="adj" fmla="val 14285"/>
            </a:avLst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00425" y="1766925"/>
            <a:ext cx="2090928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FFFFFF"/>
                </a:solidFill>
                <a:latin typeface="Consolas"/>
                <a:cs typeface="Consolas"/>
              </a:rPr>
              <a:t>3 · FRAMEWORK AND ASSUMPTIONS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8825" y="1943735"/>
            <a:ext cx="2551430" cy="1428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110">
                <a:solidFill>
                  <a:srgbClr val="1C6B63"/>
                </a:solidFill>
                <a:latin typeface="Consolas"/>
                <a:cs typeface="Consolas"/>
              </a:rPr>
              <a:t>SOCIAL CONSTRUCTIVIST  ·  INDUCTIVE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8825" y="2110486"/>
            <a:ext cx="784860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00">
                <a:solidFill>
                  <a:srgbClr val="8A6A1F"/>
                </a:solidFill>
                <a:latin typeface="Consolas"/>
                <a:cs typeface="Consolas"/>
              </a:rPr>
              <a:t>ONTOLOGICAL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8825" y="2221814"/>
            <a:ext cx="2740025" cy="31165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Multiple realities. Auditors' accounts of the experience are the data,</a:t>
            </a:r>
          </a:p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not a proxy for one correct account.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98825" y="2527046"/>
            <a:ext cx="1049020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00">
                <a:solidFill>
                  <a:srgbClr val="8A6A1F"/>
                </a:solidFill>
                <a:latin typeface="Consolas"/>
                <a:cs typeface="Consolas"/>
              </a:rPr>
              <a:t>EPISTEMOLOGICAL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8825" y="2638374"/>
            <a:ext cx="2740025" cy="31165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First-person accounts, gathered in semi-structured audio-recorded</a:t>
            </a:r>
          </a:p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interviews and read in the participant's own words before coding.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8825" y="2943606"/>
            <a:ext cx="784860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00">
                <a:solidFill>
                  <a:srgbClr val="8A6A1F"/>
                </a:solidFill>
                <a:latin typeface="Consolas"/>
                <a:cs typeface="Consolas"/>
              </a:rPr>
              <a:t>AXIOLOGICAL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98825" y="3054934"/>
            <a:ext cx="2740025" cy="56311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A career in bank examination, regulatory reporting and internal</a:t>
            </a:r>
          </a:p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audit, including building an AI review tool. Insider access and</a:t>
            </a:r>
          </a:p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insider bias at once. Every occasion of feeling confirmed is entered</a:t>
            </a:r>
          </a:p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in a confirmation hazard log.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98825" y="3611626"/>
            <a:ext cx="982980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00">
                <a:solidFill>
                  <a:srgbClr val="8A6A1F"/>
                </a:solidFill>
                <a:latin typeface="Consolas"/>
                <a:cs typeface="Consolas"/>
              </a:rPr>
              <a:t>METHODOLOGICAL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98825" y="3722954"/>
            <a:ext cx="2740025" cy="31165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Phenomenology. A phenomenon shared across individuals at</a:t>
            </a:r>
          </a:p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different firms, with no single site to enter.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98825" y="4064000"/>
            <a:ext cx="2727325" cy="177800"/>
          </a:xfrm>
          <a:prstGeom prst="roundRect">
            <a:avLst>
              <a:gd name="adj" fmla="val 14285"/>
            </a:avLst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00425" y="4078325"/>
            <a:ext cx="1740408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FFFFFF"/>
                </a:solidFill>
                <a:latin typeface="Consolas"/>
                <a:cs typeface="Consolas"/>
              </a:rPr>
              <a:t>4 · QUALITATIVE APPROACH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98825" y="4278884"/>
            <a:ext cx="2740025" cy="44576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Phenomenology (Creswell &amp; Poth, 2024). The question asks about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experience and meaning making across individuals, which is what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phenomenology is for.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11525" y="4779010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13125" y="4714494"/>
            <a:ext cx="26257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Case study needs a bounded site; this phenomenon crosses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firms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311525" y="5073650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13125" y="5009134"/>
            <a:ext cx="26257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Grounded theory studies process; this study asks about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experience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311525" y="5368290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413125" y="5303774"/>
            <a:ext cx="2625725" cy="18922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Ethnography needs embedded access to a firm's review process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65850" y="1752600"/>
            <a:ext cx="2727325" cy="177800"/>
          </a:xfrm>
          <a:prstGeom prst="roundRect">
            <a:avLst>
              <a:gd name="adj" fmla="val 14285"/>
            </a:avLst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67450" y="1766925"/>
            <a:ext cx="1389888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FFFFFF"/>
                </a:solidFill>
                <a:latin typeface="Consolas"/>
                <a:cs typeface="Consolas"/>
              </a:rPr>
              <a:t>5 · DATA COLLECTION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65850" y="1944725"/>
            <a:ext cx="2019808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00">
                <a:solidFill>
                  <a:srgbClr val="8C3A1B"/>
                </a:solidFill>
                <a:latin typeface="Consolas"/>
                <a:cs typeface="Consolas"/>
              </a:rPr>
              <a:t>ELIGIBILITY IS THE PHENOMENON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65850" y="2094483"/>
            <a:ext cx="2740025" cy="44576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A participant must have received AI-generated output that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confirmed a judgment they had already formed independently.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General experience of AI-supported audit work does not qualify.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78550" y="2594610"/>
            <a:ext cx="40640" cy="40640"/>
          </a:xfrm>
          <a:prstGeom prst="roundRect">
            <a:avLst>
              <a:gd name="adj" fmla="val 50000"/>
            </a:avLst>
          </a:prstGeom>
          <a:solidFill>
            <a:srgbClr val="1C6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80150" y="2530094"/>
            <a:ext cx="26257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Five or more years in audit or risk assurance, with recurring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engagement responsibility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78550" y="2889250"/>
            <a:ext cx="40640" cy="40640"/>
          </a:xfrm>
          <a:prstGeom prst="roundRect">
            <a:avLst>
              <a:gd name="adj" fmla="val 50000"/>
            </a:avLst>
          </a:prstGeom>
          <a:solidFill>
            <a:srgbClr val="1C6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80150" y="2824734"/>
            <a:ext cx="26257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Criterion sampling, 10 to 15. Saturation is a stopping rule, not a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target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78550" y="3183890"/>
            <a:ext cx="40640" cy="40640"/>
          </a:xfrm>
          <a:prstGeom prst="roundRect">
            <a:avLst>
              <a:gd name="adj" fmla="val 50000"/>
            </a:avLst>
          </a:prstGeom>
          <a:solidFill>
            <a:srgbClr val="1C6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80150" y="3119373"/>
            <a:ext cx="26257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No single site. Professional networks, association chapters,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referral chains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78550" y="3478529"/>
            <a:ext cx="40640" cy="40640"/>
          </a:xfrm>
          <a:prstGeom prst="roundRect">
            <a:avLst>
              <a:gd name="adj" fmla="val 50000"/>
            </a:avLst>
          </a:prstGeom>
          <a:solidFill>
            <a:srgbClr val="1C6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280150" y="3414014"/>
            <a:ext cx="2625725" cy="44576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Semi-structured interviews, recorded and transcribed verbatim.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Protocol piloted first, and pilot testers cannot become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participants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78550" y="3901440"/>
            <a:ext cx="40640" cy="40640"/>
          </a:xfrm>
          <a:prstGeom prst="roundRect">
            <a:avLst>
              <a:gd name="adj" fmla="val 50000"/>
            </a:avLst>
          </a:prstGeom>
          <a:solidFill>
            <a:srgbClr val="1C6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80150" y="3836924"/>
            <a:ext cx="26257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Encrypted storage, pseudonyms at transcription, named file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plan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165850" y="4183379"/>
            <a:ext cx="2727325" cy="177800"/>
          </a:xfrm>
          <a:prstGeom prst="roundRect">
            <a:avLst>
              <a:gd name="adj" fmla="val 14285"/>
            </a:avLst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67450" y="4197705"/>
            <a:ext cx="1249680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FFFFFF"/>
                </a:solidFill>
                <a:latin typeface="Consolas"/>
                <a:cs typeface="Consolas"/>
              </a:rPr>
              <a:t>6 · DATA ANALYSIS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65850" y="4376166"/>
            <a:ext cx="1678939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90">
                <a:solidFill>
                  <a:srgbClr val="1C6B63"/>
                </a:solidFill>
                <a:latin typeface="Consolas"/>
                <a:cs typeface="Consolas"/>
              </a:rPr>
              <a:t>FIVE ACTIVITIES  ·  NVIVO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191250" y="4525264"/>
            <a:ext cx="142240" cy="1524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6862C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5550" y="4525594"/>
            <a:ext cx="2600325" cy="31165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Managing and organising. NVivo, named file plan, secure</a:t>
            </a:r>
          </a:p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storage.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191250" y="4802124"/>
            <a:ext cx="142240" cy="1524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6862C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05550" y="4802454"/>
            <a:ext cx="2600325" cy="31165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Reading and memoing. A dated reflexive journal, kept as</a:t>
            </a:r>
          </a:p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evidence.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91250" y="5078984"/>
            <a:ext cx="142240" cy="1524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6862C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5550" y="5079314"/>
            <a:ext cx="2600325" cy="31165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Describing and classifying. Horizontalisation, meaning units,</a:t>
            </a:r>
          </a:p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clusters.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91250" y="5355844"/>
            <a:ext cx="142240" cy="1524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6862C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5550" y="5356174"/>
            <a:ext cx="2600325" cy="31165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Developing interpretations. Textural and structural, then a</a:t>
            </a:r>
          </a:p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composite.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91250" y="5632704"/>
            <a:ext cx="142240" cy="1524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6862C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05550" y="5633034"/>
            <a:ext cx="2600325" cy="185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Representing. A thematic map and a composite narrative.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032875" y="1752600"/>
            <a:ext cx="2727325" cy="177800"/>
          </a:xfrm>
          <a:prstGeom prst="roundRect">
            <a:avLst>
              <a:gd name="adj" fmla="val 14285"/>
            </a:avLst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134475" y="1766925"/>
            <a:ext cx="1880615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FFFFFF"/>
                </a:solidFill>
                <a:latin typeface="Consolas"/>
                <a:cs typeface="Consolas"/>
              </a:rPr>
              <a:t>7 · ETHICAL CONSIDERATIONS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045575" y="2032000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147175" y="1967483"/>
            <a:ext cx="2625725" cy="18922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Written informed consent before recording begins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045575" y="2198370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147175" y="2133854"/>
            <a:ext cx="2625725" cy="18922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IRB determination confirmed before any contact, not assumed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045575" y="2364740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147175" y="2300223"/>
            <a:ext cx="26257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Pseudonyms at transcription. No client, engagement or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firm-identifying detail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045575" y="2659379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147175" y="2594863"/>
            <a:ext cx="2625725" cy="18922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Withdrawal at any point, data destroyed on request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045575" y="2825749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147175" y="2761233"/>
            <a:ext cx="26257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Member checking of the composite description offered to every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participant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045575" y="3120389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147175" y="3055873"/>
            <a:ext cx="26257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No confidential data to any public AI platform. AI use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disclosed per FIU policy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032875" y="3402329"/>
            <a:ext cx="2727325" cy="177800"/>
          </a:xfrm>
          <a:prstGeom prst="roundRect">
            <a:avLst>
              <a:gd name="adj" fmla="val 14285"/>
            </a:avLst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134475" y="3416655"/>
            <a:ext cx="1810512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FFFFFF"/>
                </a:solidFill>
                <a:latin typeface="Consolas"/>
                <a:cs typeface="Consolas"/>
              </a:rPr>
              <a:t>8 · EXPECTED CONTRIBUTION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032875" y="3595116"/>
            <a:ext cx="784860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00">
                <a:solidFill>
                  <a:srgbClr val="8A6A1F"/>
                </a:solidFill>
                <a:latin typeface="Consolas"/>
                <a:cs typeface="Consolas"/>
              </a:rPr>
              <a:t>TO PRACTICE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032875" y="3731514"/>
            <a:ext cx="2740025" cy="44576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Firms and regulators are writing AI-use policy on the assumption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that human review is a working control. This describes what that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review is actually like from inside it.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032875" y="4145026"/>
            <a:ext cx="784860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00">
                <a:solidFill>
                  <a:srgbClr val="8A6A1F"/>
                </a:solidFill>
                <a:latin typeface="Consolas"/>
                <a:cs typeface="Consolas"/>
              </a:rPr>
              <a:t>TO ACADEMIA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032875" y="4281424"/>
            <a:ext cx="27400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It separates automation bias from sycophancy, which measures of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how much someone relied on a machine cannot distinguish.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9032875" y="4615180"/>
            <a:ext cx="2727325" cy="177800"/>
          </a:xfrm>
          <a:prstGeom prst="roundRect">
            <a:avLst>
              <a:gd name="adj" fmla="val 14285"/>
            </a:avLst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134475" y="4629505"/>
            <a:ext cx="1810512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FFFFFF"/>
                </a:solidFill>
                <a:latin typeface="Consolas"/>
                <a:cs typeface="Consolas"/>
              </a:rPr>
              <a:t>9 · POTENTIAL LIMITATIONS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045575" y="4894580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147175" y="4830064"/>
            <a:ext cx="26257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Retrospective self-report. Participants describe an experience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after the fact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9045575" y="5189220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147175" y="5124704"/>
            <a:ext cx="26257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Insider researcher. Managed by the confirmation hazard log, not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eliminated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9045575" y="5483859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147175" y="5419344"/>
            <a:ext cx="2625725" cy="18922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Context-dependent. Not intended to generalise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9045575" y="5650230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147175" y="5585714"/>
            <a:ext cx="2625725" cy="18922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One national standards environment, small purposive sample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31800" y="5791200"/>
            <a:ext cx="11328400" cy="304800"/>
          </a:xfrm>
          <a:prstGeom prst="roundRect">
            <a:avLst>
              <a:gd name="adj" fmla="val 12500"/>
            </a:avLst>
          </a:prstGeom>
          <a:solidFill>
            <a:srgbClr val="E8ED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58800" y="5856325"/>
            <a:ext cx="618744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081E3F"/>
                </a:solidFill>
                <a:latin typeface="Consolas"/>
                <a:cs typeface="Consolas"/>
              </a:rPr>
              <a:t>TIMELINE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320800" y="5806186"/>
            <a:ext cx="189230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90">
                <a:solidFill>
                  <a:srgbClr val="B6862C"/>
                </a:solidFill>
                <a:latin typeface="Consolas"/>
                <a:cs typeface="Consolas"/>
              </a:rPr>
              <a:t>M1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320800" y="5918504"/>
            <a:ext cx="1369522" cy="144779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3A4048"/>
                </a:solidFill>
                <a:latin typeface="Times New Roman"/>
                <a:cs typeface="Times New Roman"/>
              </a:rPr>
              <a:t>IRB determination, protocol pilot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383279" y="5806186"/>
            <a:ext cx="189230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90">
                <a:solidFill>
                  <a:srgbClr val="B6862C"/>
                </a:solidFill>
                <a:latin typeface="Consolas"/>
                <a:cs typeface="Consolas"/>
              </a:rPr>
              <a:t>M2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383279" y="5918504"/>
            <a:ext cx="1036914" cy="144779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3A4048"/>
                </a:solidFill>
                <a:latin typeface="Times New Roman"/>
                <a:cs typeface="Times New Roman"/>
              </a:rPr>
              <a:t>Recruitment and consent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45759" y="5806186"/>
            <a:ext cx="577850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90">
                <a:solidFill>
                  <a:srgbClr val="B6862C"/>
                </a:solidFill>
                <a:latin typeface="Consolas"/>
                <a:cs typeface="Consolas"/>
              </a:rPr>
              <a:t>M3 to M5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445759" y="5918504"/>
            <a:ext cx="1433708" cy="144779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3A4048"/>
                </a:solidFill>
                <a:latin typeface="Times New Roman"/>
                <a:cs typeface="Times New Roman"/>
              </a:rPr>
              <a:t>Interviews, transcription, memoing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508239" y="5806186"/>
            <a:ext cx="577850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90">
                <a:solidFill>
                  <a:srgbClr val="B6862C"/>
                </a:solidFill>
                <a:latin typeface="Consolas"/>
                <a:cs typeface="Consolas"/>
              </a:rPr>
              <a:t>M5 to M7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508239" y="5918504"/>
            <a:ext cx="1235455" cy="144779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3A4048"/>
                </a:solidFill>
                <a:latin typeface="Times New Roman"/>
                <a:cs typeface="Times New Roman"/>
              </a:rPr>
              <a:t>Coding, clustering, composite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70719" y="5806186"/>
            <a:ext cx="189230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90">
                <a:solidFill>
                  <a:srgbClr val="B6862C"/>
                </a:solidFill>
                <a:latin typeface="Consolas"/>
                <a:cs typeface="Consolas"/>
              </a:rPr>
              <a:t>M8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570719" y="5918504"/>
            <a:ext cx="1291437" cy="144779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3A4048"/>
                </a:solidFill>
                <a:latin typeface="Times New Roman"/>
                <a:cs typeface="Times New Roman"/>
              </a:rPr>
              <a:t>Member checking and write-up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685800" y="6172200"/>
            <a:ext cx="10820400" cy="0"/>
          </a:xfrm>
          <a:prstGeom prst="line">
            <a:avLst/>
          </a:prstGeom>
          <a:ln w="12700">
            <a:solidFill>
              <a:srgbClr val="D8D4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/>
          <p:cNvSpPr txBox="1"/>
          <p:nvPr/>
        </p:nvSpPr>
        <p:spPr>
          <a:xfrm>
            <a:off x="431800" y="6211925"/>
            <a:ext cx="758952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081E3F"/>
                </a:solidFill>
                <a:latin typeface="Consolas"/>
                <a:cs typeface="Consolas"/>
              </a:rPr>
              <a:t>REFERENCES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31800" y="6340906"/>
            <a:ext cx="742309" cy="125729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767D86"/>
                </a:solidFill>
                <a:latin typeface="Times New Roman"/>
                <a:cs typeface="Times New Roman"/>
              </a:rPr>
              <a:t>Full list in the paper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47800" y="6203188"/>
            <a:ext cx="2489200" cy="2857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Commerford, B. P., Dennis, S. A., Joe, J. R., &amp; Ulla, J. W. (2022). Man versus</a:t>
            </a:r>
          </a:p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machine: Complex estimates and auditor reliance on artificial intelligence.</a:t>
            </a:r>
          </a:p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Journal of Accounting Research, 60(1), 171-201.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025900" y="6203188"/>
            <a:ext cx="2489200" cy="2057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Creswell, J. W., &amp; Poth, C. N. (2024). Qualitative inquiry and research design:</a:t>
            </a:r>
          </a:p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Choosing among five approaches (5th ed.). SAGE.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604000" y="6203188"/>
            <a:ext cx="2489200" cy="2057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Fotoh, L. E., &amp; Mugwira, T. (2025). Exploring the impact of generative AI on</a:t>
            </a:r>
          </a:p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professional skepticism in auditing.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182100" y="6203188"/>
            <a:ext cx="2489200" cy="2057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Glickman, M., &amp; Sharot, T. (2025). How human-AI feedback loops alter human</a:t>
            </a:r>
          </a:p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perceptual, emotional and social judgements.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47800" y="6507988"/>
            <a:ext cx="2489200" cy="2857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Kokina, J., Blanchette, S., Davenport, T. H., &amp; Pachamanova, D. (2025).</a:t>
            </a:r>
          </a:p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Challenges and opportunities for artificial intelligence in auditing. International</a:t>
            </a:r>
          </a:p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Journal of Accounting Information Systems, 56, 100734.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025900" y="6507988"/>
            <a:ext cx="2489200" cy="2057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Murikah, W., Nthenge, J. K., &amp; Musyoka, F. M. (2024). Bias and ethics of AI</a:t>
            </a:r>
          </a:p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systems applied in auditing: A systematic review.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604000" y="6507988"/>
            <a:ext cx="2489200" cy="2057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Parasuraman, R., &amp; Manzey, D. H. (2010). Complacency and bias in human use</a:t>
            </a:r>
          </a:p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of automation. Human Factors, 52(3), 381-410.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82100" y="6507988"/>
            <a:ext cx="2489200" cy="2057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Tversky, A., &amp; Kahneman, D. (1974). Judgment under uncertainty: Heuristics</a:t>
            </a:r>
          </a:p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and biases. Science, 185(4157), 1124-1131.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Receiving Confirmation - GEB 7911 qualitative research proposal</dc:title>
  <dc:subject/>
  <dc:creator>Yasir A. Malik - FIU DBA Cohort 8.14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