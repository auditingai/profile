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177800"/>
            <a:ext cx="558800" cy="55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153035"/>
            <a:ext cx="563372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60">
                <a:solidFill>
                  <a:srgbClr val="B6862C"/>
                </a:solidFill>
                <a:latin typeface="Consolas"/>
                <a:cs typeface="Consolas"/>
              </a:rPr>
              <a:t>FLORIDA INTERNATIONAL UNIVERSITY  ·  CHAPMAN GRADUATE SCHOOL OF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7650"/>
            <a:ext cx="3508057" cy="4762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Times New Roman"/>
                <a:cs typeface="Times New Roman"/>
              </a:rPr>
              <a:t>Receiving Confirmation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660527"/>
            <a:ext cx="6412179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B9C7D8"/>
                </a:solidFill>
                <a:latin typeface="Times New Roman"/>
                <a:cs typeface="Times New Roman"/>
              </a:rPr>
              <a:t>How experienced auditors make sense of AI-generated agreement with a judgment they had already formed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6060" y="222631"/>
            <a:ext cx="1374139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B6862C"/>
                </a:solidFill>
                <a:latin typeface="Consolas"/>
                <a:cs typeface="Consolas"/>
              </a:rPr>
              <a:t>YASIR A. MALIK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83701" y="424180"/>
            <a:ext cx="297649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FA3BC"/>
                </a:solidFill>
                <a:latin typeface="Times New Roman"/>
                <a:cs typeface="Times New Roman"/>
              </a:rPr>
              <a:t>DBA Cohort 8.14  ·  GEB 7911  ·  Dr. Cristina Gonzalez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4876" y="660704"/>
            <a:ext cx="2465324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 spc="100">
                <a:solidFill>
                  <a:srgbClr val="B6862C"/>
                </a:solidFill>
                <a:latin typeface="Consolas"/>
                <a:cs typeface="Consolas"/>
              </a:rPr>
              <a:t>DRAFT FOR FEEDBACK  ·  29 SEP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800" y="1066800"/>
            <a:ext cx="11328400" cy="558800"/>
          </a:xfrm>
          <a:prstGeom prst="roundRect">
            <a:avLst>
              <a:gd name="adj" fmla="val 6818"/>
            </a:avLst>
          </a:prstGeom>
          <a:solidFill>
            <a:srgbClr val="FAF3E4"/>
          </a:solidFill>
          <a:ln w="1270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800" y="1066800"/>
            <a:ext cx="63500" cy="558800"/>
          </a:xfrm>
          <a:prstGeom prst="rect">
            <a:avLst/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400" y="1169035"/>
            <a:ext cx="135255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50">
                <a:solidFill>
                  <a:srgbClr val="8A6A1F"/>
                </a:solidFill>
                <a:latin typeface="Consolas"/>
                <a:cs typeface="Consolas"/>
              </a:rPr>
              <a:t>RESEARCH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1327023"/>
            <a:ext cx="10441476" cy="2571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How do experienced auditors experience and make sense of receiving an AI-generated conclusion that confirms a judgment they had already formed?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800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1766925"/>
            <a:ext cx="1530096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1 · PROBLEM STATEMENT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800" y="1967483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An auditor on a recurring engagement has always carried a prior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conclusion forward. What is new is that an AI system now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produces a conclusion of its own, and sometimes it agrees.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800" y="2403094"/>
            <a:ext cx="2740025" cy="574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Research on AI and auditor judgment has focused primarily on the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extent of reliance, which a survey can measure. What remains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unexplored is the lived experience of receiving machine agreement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with a judgment already formed.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800" y="296697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Two things are being conflated: automation bias, a human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tendency, and sycophancy, a property of the system.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magnitude-of-reliance measure cannot tell them apart.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800" y="340258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Standards assume a competent human reviewer sits above the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system. Firms and regulators are writing AI-use policy on that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assumption now.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" y="389001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3904335"/>
            <a:ext cx="1530096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2 · PURPOSE STATEMENT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4168394"/>
            <a:ext cx="2536825" cy="83057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The purpose of this phenomenological study is to understand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how experienced auditors experience and make sense of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receiving an AI-generated conclusion that confirms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judgment they had already formed. The phenomenon under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study is the experience of encountering machine-generated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confirmation of a prior professional judgment.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800" y="4105910"/>
            <a:ext cx="2727325" cy="934719"/>
          </a:xfrm>
          <a:prstGeom prst="roundRect">
            <a:avLst>
              <a:gd name="adj" fmla="val 4076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4168394"/>
            <a:ext cx="2536825" cy="83057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The purpose of this phenomenological study is to understand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how experienced auditors experience and make sense of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receiving an AI-generated conclusion that confirms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judgment they had already formed. The phenomenon under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study is the experience of encountering machine-generated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confirmation of a prior professional judgment.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8825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00425" y="1766925"/>
            <a:ext cx="2090928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3 · PHILOSOPHICAL ASSUMPTIONS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8825" y="1943735"/>
            <a:ext cx="255143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10">
                <a:solidFill>
                  <a:srgbClr val="1C6B63"/>
                </a:solidFill>
                <a:latin typeface="Consolas"/>
                <a:cs typeface="Consolas"/>
              </a:rPr>
              <a:t>SOCIAL CONSTRUCTIVIST  ·  INDUCTIVE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8825" y="211048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ONTOLOGICAL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8825" y="2221814"/>
            <a:ext cx="27400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Multiple realities. Auditors' accounts of the experience are the data,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not a proxy for one correct account.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8825" y="2527046"/>
            <a:ext cx="104902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EPISTEMOLOGICAL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8825" y="2638374"/>
            <a:ext cx="27400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First-person accounts, gathered in semi-structured audio-recorded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interviews and read in the participant's own words before coding.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8825" y="294360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AXIOLOGICAL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8825" y="3054934"/>
            <a:ext cx="2740025" cy="56311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A career in bank examination, regulatory reporting and internal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audit, including building an AI review tool. Insider access and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insider bias at once. Every occasion of feeling confirmed is entered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in a confirmation hazard log.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8825" y="3611626"/>
            <a:ext cx="98298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METHODOLOGICAL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8825" y="3722954"/>
            <a:ext cx="27400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Phenomenology. A phenomenon shared across individuals at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different firms, with no single site to enter.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8825" y="40640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0425" y="4078325"/>
            <a:ext cx="181051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4 · METHODOLOGY: APPROACH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8825" y="427888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Phenomenology (Creswell &amp; Poth, 2024). The question asks about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experience and meaning making across individuals, which is what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phenomenology is for.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11525" y="477901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13125" y="471449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Case study needs a bounded site; this phenomenon crosses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firms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11525" y="507365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13125" y="500913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Grounded theory studies process; this study asks about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experience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11525" y="536829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13125" y="530377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Ethnography needs embedded access to a firm's review process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65850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67450" y="1766925"/>
            <a:ext cx="2301240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5 · METHODOLOGY: DATA COLLECTION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65850" y="1944725"/>
            <a:ext cx="2019808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00">
                <a:solidFill>
                  <a:srgbClr val="8C3A1B"/>
                </a:solidFill>
                <a:latin typeface="Consolas"/>
                <a:cs typeface="Consolas"/>
              </a:rPr>
              <a:t>ELIGIBILITY IS THE PHENOMENON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65850" y="2094483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A participant must have received AI-generated output that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confirmed a judgment they had already formed independently.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General experience of AI-supported audit work does not qualify.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8550" y="259461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0150" y="253009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Five or more years in audit or risk assurance, with recurring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engagement responsibility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78550" y="288925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80150" y="282473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Criterion sampling, 10 to 15. Saturation is a stopping rule, not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target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8550" y="318389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80150" y="311937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No single site. Professional networks, association chapters,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referral chains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8550" y="3478529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80150" y="3414014"/>
            <a:ext cx="26257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Semi-structured interviews, recorded and transcribed verbatim.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Protocol piloted first, and pilot testers cannot become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participants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8550" y="390144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0150" y="383692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Encrypted storage, pseudonyms at transcription, named file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plan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65850" y="4183379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7450" y="4197705"/>
            <a:ext cx="2161031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6 · METHODOLOGY: DATA ANALYSIS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65850" y="4376166"/>
            <a:ext cx="1678939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1C6B63"/>
                </a:solidFill>
                <a:latin typeface="Consolas"/>
                <a:cs typeface="Consolas"/>
              </a:rPr>
              <a:t>FIVE ACTIVITIES  ·  NVIVO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91250" y="452526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5550" y="452559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Managing and organising. NVivo, named file plan, secure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storage.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91250" y="480212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05550" y="480245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Reading and memoing. A dated reflexive journal, kept as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evidence.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1250" y="507898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5550" y="507931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Describing and classifying. Horizontalisation, meaning units,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clusters.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91250" y="535584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5550" y="535617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Developing interpretations. Textural and structural, then a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composite.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91250" y="563270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05550" y="5633034"/>
            <a:ext cx="2600325" cy="185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Representing. A thematic map and a composite narrative.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032875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134475" y="1766925"/>
            <a:ext cx="181051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7 · ETHICS AND VALIDATION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045575" y="203200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7175" y="1967483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Written informed consent before recording begins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045575" y="219837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47175" y="213385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IRB determination confirmed before any contact, not assumed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045575" y="236474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7175" y="230022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Pseudonyms at transcription. No client, engagement or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firm-identifying detail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045575" y="265937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47175" y="2594863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Withdrawal at any point, data destroyed on request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045575" y="282574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147175" y="276123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Validation: confirmation hazard log, disconfirming cases,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member checking, audit trail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045575" y="312038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47175" y="305587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No confidential data to any public AI platform. AI use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disclosed per FIU policy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032875" y="3402329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134475" y="3416655"/>
            <a:ext cx="181051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8 · DESIRED CONTRIBUTIONS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032875" y="359511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TO PRACTICE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32875" y="373151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Firms and regulators are writing AI-use policy on the assumption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that human review is a working control. This describes what that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review is actually like from inside it.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2875" y="414502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TO ACADEMIA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32875" y="4281424"/>
            <a:ext cx="27400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It separates automation bias from sycophancy, which measures of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how much someone relied on a machine cannot distinguish.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032875" y="461518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134475" y="4629505"/>
            <a:ext cx="181051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9 · POTENTIAL LIMITATIONS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045575" y="489458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47175" y="483006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Retrospective self-report. Participants describe an experience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after the fact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045575" y="518922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147175" y="512470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Insider researcher. Managed by the confirmation hazard log, not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eliminated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45575" y="548385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147175" y="541934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Context-dependent. Not intended to generalise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045575" y="565023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7175" y="558571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One national standards environment, small purposive sample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31800" y="5791200"/>
            <a:ext cx="11328400" cy="304800"/>
          </a:xfrm>
          <a:prstGeom prst="roundRect">
            <a:avLst>
              <a:gd name="adj" fmla="val 12500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58800" y="5856325"/>
            <a:ext cx="618744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081E3F"/>
                </a:solidFill>
                <a:latin typeface="Consolas"/>
                <a:cs typeface="Consolas"/>
              </a:rPr>
              <a:t>TIMELINE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320800" y="5806186"/>
            <a:ext cx="18923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20800" y="5918504"/>
            <a:ext cx="1369522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IRB determination, protocol pilot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83279" y="5806186"/>
            <a:ext cx="18923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383279" y="5918504"/>
            <a:ext cx="1036914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Recruitment and consent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45759" y="5806186"/>
            <a:ext cx="57785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M3 to M5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445759" y="5918504"/>
            <a:ext cx="1433708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Interviews, transcription, memoing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08239" y="5806186"/>
            <a:ext cx="57785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M5 to M7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08239" y="5918504"/>
            <a:ext cx="1235455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Coding, clustering, composite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70719" y="5806186"/>
            <a:ext cx="18923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570719" y="5918504"/>
            <a:ext cx="1291437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Member checking and write-up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685800" y="61722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31800" y="6211925"/>
            <a:ext cx="75895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081E3F"/>
                </a:solidFill>
                <a:latin typeface="Consolas"/>
                <a:cs typeface="Consolas"/>
              </a:rPr>
              <a:t>REFERENCES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1800" y="6340906"/>
            <a:ext cx="742309" cy="12572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767D86"/>
                </a:solidFill>
                <a:latin typeface="Times New Roman"/>
                <a:cs typeface="Times New Roman"/>
              </a:rPr>
              <a:t>Full list in the paper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47800" y="6203188"/>
            <a:ext cx="2489200" cy="2857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Commerford, B. P., Dennis, S. A., Joe, J. R., &amp; Ulla, J. W. (2022). Man versus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machine: Complex estimates and auditor reliance on artificial intelligence.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Journal of Accounting Research, 60(1), 171-201.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025900" y="62031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Creswell, J. W., &amp; Poth, C. N. (2024). Qualitative inquiry and research design: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Choosing among five approaches (5th ed.). SAGE.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604000" y="62031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Fotoh, L. E., &amp; Mugwira, T. (2025). Exploring the impact of generative AI on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professional skepticism in auditing.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82100" y="62031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Glickman, M., &amp; Sharot, T. (2025). How human-AI feedback loops alter human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perceptual, emotional and social judgements.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47800" y="6507988"/>
            <a:ext cx="2489200" cy="2857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Kokina, J., Blanchette, S., Davenport, T. H., &amp; Pachamanova, D. (2025).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Challenges and opportunities for artificial intelligence in auditing. International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Journal of Accounting Information Systems, 56, 100734.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5900" y="65079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Murikah, W., Nthenge, J. K., &amp; Musyoka, F. M. (2024). Bias and ethics of AI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systems applied in auditing: A systematic review.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604000" y="65079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Parasuraman, R., &amp; Manzey, D. H. (2010). Complacency and bias in human use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of automation. Human Factors, 52(3), 381-410.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82100" y="65079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Tversky, A., &amp; Kahneman, D. (1974). Judgment under uncertainty: Heuristics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and biases. Science, 185(4157), 1124-1131.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Receiving Confirmation - GEB 7911 qualitative research proposal</dc:title>
  <dc:subject/>
  <dc:creator>Yasir A. Malik - FIU DBA Cohort 8.14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