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874519"/>
            <a:ext cx="54864" cy="5943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93852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13969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A8B8CF"/>
                </a:solidFill>
                <a:latin typeface="Georgia"/>
              </a:rPr>
              <a:t>Chapman Graduate School of Business  ·  DBA Cohort 8.14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Where the research stands,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0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800" b="1" i="0">
                <a:solidFill>
                  <a:srgbClr val="B6862C"/>
                </a:solidFill>
                <a:latin typeface="Georgia"/>
              </a:rPr>
              <a:t>and what unlocks the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B8C6DB"/>
                </a:solidFill>
                <a:latin typeface="Georgia"/>
              </a:rPr>
              <a:t>A status read on the anchoring-bias programme: the model as built, the constraint that stopped it, the AI extension, and the five approvals that gate everything downstream.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257800"/>
            <a:ext cx="4023360" cy="1828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Yasir A. Malik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790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8C9EB8"/>
                </a:solidFill>
                <a:latin typeface="Consolas"/>
              </a:rPr>
              <a:t>28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THE MODEL 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Eleven constructs, sixteen hypotheses.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Eight organisational interventions, two mediators, one outcome. 55 Likert items.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B6862C"/>
                </a:solidFill>
                <a:latin typeface="Consolas"/>
              </a:rPr>
              <a:t>EIGHT INTERVENTIONS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317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3317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377439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5146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Training &amp; Awareness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7889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834639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718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Rotation of Auditors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461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2461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291839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4290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Analytical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7033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7033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749039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SAP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8862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Structured Processes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1605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1605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20624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FR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3434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Feedback &amp; Reflection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6177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6177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66344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8006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Independent Reviews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0749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50749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12064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RPG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2578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Regulatory Guidance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532120"/>
            <a:ext cx="19659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5532120"/>
            <a:ext cx="32004" cy="40233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57784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1F4E79"/>
                </a:solidFill>
                <a:latin typeface="Consolas"/>
              </a:rPr>
              <a:t>PMI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571500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0" i="0">
                <a:solidFill>
                  <a:srgbClr val="14171C"/>
                </a:solidFill>
                <a:latin typeface="Georgia"/>
              </a:rPr>
              <a:t>Metrics &amp; Incentives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1648" y="212140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B6862C"/>
                </a:solidFill>
                <a:latin typeface="Consolas"/>
              </a:rPr>
              <a:t>TWO MEDIATORS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41648" y="2487168"/>
            <a:ext cx="2880360" cy="1078992"/>
          </a:xfrm>
          <a:prstGeom prst="rect">
            <a:avLst/>
          </a:prstGeom>
          <a:solidFill>
            <a:srgbClr val="FFFFFF"/>
          </a:solidFill>
          <a:ln w="1397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61518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1F4E79"/>
                </a:solidFill>
                <a:latin typeface="Consolas"/>
              </a:rPr>
              <a:t>AJQ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28346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4171C"/>
                </a:solidFill>
                <a:latin typeface="Georgia"/>
              </a:rPr>
              <a:t>Auditor Judgment 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31089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767D86"/>
                </a:solidFill>
                <a:latin typeface="Georgia"/>
              </a:rPr>
              <a:t>Cognitive — careful, objective evaluation of independent evidence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41648" y="3813048"/>
            <a:ext cx="2880360" cy="1078992"/>
          </a:xfrm>
          <a:prstGeom prst="rect">
            <a:avLst/>
          </a:prstGeom>
          <a:solidFill>
            <a:srgbClr val="FFFFFF"/>
          </a:solidFill>
          <a:ln w="1397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3941063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1F4E79"/>
                </a:solidFill>
                <a:latin typeface="Consolas"/>
              </a:rPr>
              <a:t>APR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416052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4171C"/>
                </a:solidFill>
                <a:latin typeface="Georgia"/>
              </a:rPr>
              <a:t>Audit Process Rigor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4348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767D86"/>
                </a:solidFill>
                <a:latin typeface="Georgia"/>
              </a:rPr>
              <a:t>Procedural — thorough, consistent, disciplined execution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21214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B6862C"/>
                </a:solidFill>
                <a:latin typeface="Consolas"/>
              </a:rPr>
              <a:t>OUTCOME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2487168"/>
            <a:ext cx="3383280" cy="1325880"/>
          </a:xfrm>
          <a:prstGeom prst="rect">
            <a:avLst/>
          </a:prstGeom>
          <a:solidFill>
            <a:srgbClr val="081E3F"/>
          </a:solidFill>
          <a:ln w="1778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26334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1" i="0">
                <a:solidFill>
                  <a:srgbClr val="B6862C"/>
                </a:solidFill>
                <a:latin typeface="Consolas"/>
              </a:rPr>
              <a:t>RAB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285292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Reduction in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Anchoring Bias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4015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B0C0D8"/>
                </a:solidFill>
                <a:latin typeface="Georgia"/>
              </a:rPr>
              <a:t>Final judgments driven by current evidence, not initial reference points.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3977639"/>
            <a:ext cx="3383280" cy="1051560"/>
          </a:xfrm>
          <a:prstGeom prst="rect">
            <a:avLst/>
          </a:prstGeom>
          <a:solidFill>
            <a:srgbClr val="FAF0EF"/>
          </a:solidFill>
          <a:ln w="12700">
            <a:solidFill>
              <a:srgbClr val="A5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75320" y="411480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A5322F"/>
                </a:solidFill>
                <a:latin typeface="Consolas"/>
              </a:rPr>
              <a:t>THE MEASUREMENT PROBLEM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4315968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RAB is captured by self-report. It asks auditors to report how far judgment was driven by a reference point — the one thing the bias reliably prevents them from noticing.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03504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8 interventions × 2 mediators + direct paths = 16 hypotheses.   Each construct: 5 items, one reverse-coded.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WHAT ACTUALLY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The instrument worked. The population did not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Applying the eligibility criteria to a commercial research panel, July 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8156" y="2240280"/>
            <a:ext cx="96926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2748" y="238658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100" b="1" i="0">
                <a:solidFill>
                  <a:srgbClr val="1F4E79"/>
                </a:solidFill>
                <a:latin typeface="Georgia"/>
              </a:rPr>
              <a:t>334,976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0068" y="2478024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767D86"/>
                </a:solidFill>
                <a:latin typeface="Georgia"/>
              </a:rPr>
              <a:t>panel members screened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2756" y="3026664"/>
            <a:ext cx="46634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7348" y="31729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100" b="1" i="0">
                <a:solidFill>
                  <a:srgbClr val="1F4E79"/>
                </a:solidFill>
                <a:latin typeface="Georgia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4668" y="326440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767D86"/>
                </a:solidFill>
                <a:latin typeface="Georgia"/>
              </a:rPr>
              <a:t>matched the eligibility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1436" y="3813048"/>
            <a:ext cx="29260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6027" y="39593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100" b="1" i="0">
                <a:solidFill>
                  <a:srgbClr val="B6862C"/>
                </a:solidFill>
                <a:latin typeface="Georgia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3347" y="405079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767D86"/>
                </a:solidFill>
                <a:latin typeface="Georgia"/>
              </a:rPr>
              <a:t>raw responses recorded (Qualtrics, organic outreach)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17236" y="4599432"/>
            <a:ext cx="15544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A5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1828" y="474573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100" b="1" i="0">
                <a:solidFill>
                  <a:srgbClr val="A5322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9148" y="4837176"/>
            <a:ext cx="-1828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767D86"/>
                </a:solidFill>
                <a:latin typeface="Georgia"/>
              </a:rPr>
              <a:t>survived screening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440680"/>
            <a:ext cx="10820095" cy="868680"/>
          </a:xfrm>
          <a:prstGeom prst="rect">
            <a:avLst/>
          </a:prstGeom>
          <a:solidFill>
            <a:srgbClr val="081E3F"/>
          </a:solidFill>
          <a:ln w="1524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5778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PREVALENCE ≈ 6 PER 100,000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815584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E0E8F2"/>
                </a:solidFill>
                <a:latin typeface="Georgia"/>
              </a:rPr>
              <a:t>A survey at this prevalence needed a sampling frame of roughly 9.6 million. The panel held 3.5% of that.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60533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0" i="0">
                <a:solidFill>
                  <a:srgbClr val="8C9EB8"/>
                </a:solidFill>
                <a:latin typeface="Consolas"/>
              </a:rPr>
              <a:t>Source: dba/03_Data/EXCLUSION_LOG_2026-07-22.md  ·  dba/RISK_QUANT/feasibility.py reproduces this end to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THE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Three links. Only the first is a cognitive bias.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What happens when the anchor stops being a workpaper and becomes a machine.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3422904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216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3422904" cy="310896"/>
          </a:xfrm>
          <a:prstGeom prst="rect">
            <a:avLst/>
          </a:prstGeom>
          <a:solidFill>
            <a:srgbClr val="21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2219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onsolas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578608"/>
            <a:ext cx="3130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081E3F"/>
                </a:solidFill>
                <a:latin typeface="Georgia"/>
              </a:rPr>
              <a:t>Automated anchoring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880360"/>
            <a:ext cx="31302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The anchor is system-generated — continuous, and arriving BEFORE the reviewer forms a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" y="3529584"/>
            <a:ext cx="3130296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657600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PHENOMENON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794760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21695A"/>
                </a:solidFill>
                <a:latin typeface="Georgia"/>
              </a:rPr>
              <a:t>Automation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05993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QUESTION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197096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Consolas"/>
              </a:rPr>
              <a:t>HOW MUCH · magnitude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462272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METHOD THAT 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599432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Georgia"/>
              </a:rPr>
              <a:t>Survey / experiment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4754880"/>
            <a:ext cx="3130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1">
                <a:solidFill>
                  <a:srgbClr val="767D86"/>
                </a:solidFill>
                <a:latin typeface="Georgia"/>
              </a:rPr>
              <a:t>Human cognitive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3024" y="2148840"/>
            <a:ext cx="3422904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3024" y="2148840"/>
            <a:ext cx="3422904" cy="310896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9328" y="22219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onsolas"/>
              </a:rPr>
              <a:t>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9328" y="2578608"/>
            <a:ext cx="3130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081E3F"/>
                </a:solidFill>
                <a:latin typeface="Georgia"/>
              </a:rPr>
              <a:t>Sycophantic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9328" y="2880360"/>
            <a:ext cx="31302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The system AGREES with a position the auditor already stated, rather than challenging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9328" y="3529584"/>
            <a:ext cx="3130296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9328" y="3657600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PHENOMENON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9328" y="3794760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B6862C"/>
                </a:solidFill>
                <a:latin typeface="Georgia"/>
              </a:rPr>
              <a:t>Sycophancy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9328" y="405993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QUESTION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9328" y="4197096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Consolas"/>
              </a:rPr>
              <a:t>HOW · mechanism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9328" y="4462272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METHOD THAT FITS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9328" y="4599432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Georgia"/>
              </a:rPr>
              <a:t>Interviews — phenomenology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9328" y="4754880"/>
            <a:ext cx="3130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1">
                <a:solidFill>
                  <a:srgbClr val="767D86"/>
                </a:solidFill>
                <a:latin typeface="Georgia"/>
              </a:rPr>
              <a:t>Model behaviour, not a bias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0248" y="2148840"/>
            <a:ext cx="3422904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A5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0248" y="2148840"/>
            <a:ext cx="3422904" cy="310896"/>
          </a:xfrm>
          <a:prstGeom prst="rect">
            <a:avLst/>
          </a:prstGeom>
          <a:solidFill>
            <a:srgbClr val="A5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6552" y="22219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onsolas"/>
              </a:rPr>
              <a:t>L3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6552" y="2578608"/>
            <a:ext cx="3130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081E3F"/>
                </a:solidFill>
                <a:latin typeface="Georgia"/>
              </a:rPr>
              <a:t>Recursive epistemic drift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6552" y="2880360"/>
            <a:ext cx="31302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Successive models reprocess earlier AI-influenced work; the evidentiary basis thins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6552" y="3529584"/>
            <a:ext cx="3130296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6552" y="3657600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PHENOMENON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6552" y="3794760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1" i="0">
                <a:solidFill>
                  <a:srgbClr val="A5322F"/>
                </a:solidFill>
                <a:latin typeface="Georgia"/>
              </a:rPr>
              <a:t>Model collapse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6552" y="405993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QUESTION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6552" y="4197096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Consolas"/>
              </a:rPr>
              <a:t>HOW, OVER TIME · process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6552" y="4462272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METHOD THAT FITS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6552" y="4599432"/>
            <a:ext cx="31302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Georgia"/>
              </a:rPr>
              <a:t>Longitudinal / archival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6552" y="4754880"/>
            <a:ext cx="31302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1">
                <a:solidFill>
                  <a:srgbClr val="767D86"/>
                </a:solidFill>
                <a:latin typeface="Georgia"/>
              </a:rPr>
              <a:t>Property of a system of models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5175504"/>
            <a:ext cx="10820095" cy="658368"/>
          </a:xfrm>
          <a:prstGeom prst="rect">
            <a:avLst/>
          </a:prstGeom>
          <a:solidFill>
            <a:srgbClr val="F7F4EB"/>
          </a:solidFill>
          <a:ln w="1270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" y="53035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80" b="1" i="0">
                <a:solidFill>
                  <a:srgbClr val="B6862C"/>
                </a:solidFill>
                <a:latin typeface="Consolas"/>
              </a:rPr>
              <a:t>THE PRECISION THAT MATTERS WHEN A PROFESSOR PUSHES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00" b="0" i="0">
                <a:solidFill>
                  <a:srgbClr val="14171C"/>
                </a:solidFill>
                <a:latin typeface="Georgia"/>
              </a:rPr>
              <a:t>Only L1 involves a human cognitive bias. L2 is model behaviour interacting with human judgment. L3 is a property of a system of models. Calling all three "biases" loses the argument.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989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80" b="0" i="0">
                <a:solidFill>
                  <a:srgbClr val="767D86"/>
                </a:solidFill>
                <a:latin typeface="Consolas"/>
              </a:rPr>
              <a:t>L3 is deliberately NOT designed — it needs longitudinal access that does not exist. Stated as future work, not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HOW THIS TERM FEEDS THE DISSERTATION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Two courses, two arms, no double-submission.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Each course builds a real piece. Neither collects a single response.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534924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534924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0428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1F4E79"/>
                </a:solidFill>
                <a:latin typeface="Consolas"/>
              </a:rPr>
              <a:t>GEB 7365 · INTERNATIONAL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48716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0">
                <a:solidFill>
                  <a:srgbClr val="767D86"/>
                </a:solidFill>
                <a:latin typeface="Georgia"/>
              </a:rPr>
              <a:t>Prof. William Newburry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7249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81E3F"/>
                </a:solidFill>
                <a:latin typeface="Georgia"/>
              </a:rPr>
              <a:t>Feasibility as a design parameter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072384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Requires a data-collection plan and explicitly NO collected data — the first time the recruitment constraint can be worked on without being blocked by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76732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1F4E79"/>
                </a:solidFill>
                <a:latin typeface="Consolas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6732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14171C"/>
                </a:solidFill>
                <a:latin typeface="Georgia"/>
              </a:rPr>
              <a:t>Study model + 2–3 hypotheses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2336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1F4E79"/>
                </a:solidFill>
                <a:latin typeface="Consolas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02336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14171C"/>
                </a:solidFill>
                <a:latin typeface="Georgia"/>
              </a:rPr>
              <a:t>Cross-national feasibility argument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1F4E79"/>
                </a:solidFill>
                <a:latin typeface="Consolas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27939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14171C"/>
                </a:solidFill>
                <a:latin typeface="Georgia"/>
              </a:rPr>
              <a:t>Presentation 19 Sep · Paper 9 Oct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2148840"/>
            <a:ext cx="5349240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2148840"/>
            <a:ext cx="5349240" cy="50292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230428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B6862C"/>
                </a:solidFill>
                <a:latin typeface="Consolas"/>
              </a:rPr>
              <a:t>GEB 7911 · QUALITATIVE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248716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0">
                <a:solidFill>
                  <a:srgbClr val="767D86"/>
                </a:solidFill>
                <a:latin typeface="Georgia"/>
              </a:rPr>
              <a:t>Dr. Gonzalez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27249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081E3F"/>
                </a:solidFill>
                <a:latin typeface="Georgia"/>
              </a:rPr>
              <a:t>The L2 phenomenology 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3072384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The research proposal is 50% of that grade and IS the L2 design — protocol, sampling, coding plan, trustworthiness, audit 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376732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6862C"/>
                </a:solidFill>
                <a:latin typeface="Consolas"/>
              </a:rPr>
              <a:t>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76732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14171C"/>
                </a:solidFill>
                <a:latin typeface="Georgia"/>
              </a:rPr>
              <a:t>Proposal presentations 6 Oct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402336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6862C"/>
                </a:solidFill>
                <a:latin typeface="Consolas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402336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14171C"/>
                </a:solidFill>
                <a:latin typeface="Georgia"/>
              </a:rPr>
              <a:t>Learning memos, weekly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427939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6862C"/>
                </a:solidFill>
                <a:latin typeface="Consolas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427939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50" b="0" i="0">
                <a:solidFill>
                  <a:srgbClr val="14171C"/>
                </a:solidFill>
                <a:latin typeface="Georgia"/>
              </a:rPr>
              <a:t>Method: phenomenology, her recommendation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846320"/>
            <a:ext cx="10820095" cy="960120"/>
          </a:xfrm>
          <a:prstGeom prst="rect">
            <a:avLst/>
          </a:prstGeom>
          <a:solidFill>
            <a:srgbClr val="FAF0EF"/>
          </a:solidFill>
          <a:ln w="13970">
            <a:solidFill>
              <a:srgbClr val="A5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992624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A5322F"/>
                </a:solidFill>
                <a:latin typeface="Consolas"/>
              </a:rPr>
              <a:t>WHAT NEITHER COURSE DOES — SAID PLAINLY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2120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80" b="0" i="0">
                <a:solidFill>
                  <a:srgbClr val="14171C"/>
                </a:solidFill>
                <a:latin typeface="Georgia"/>
              </a:rPr>
              <a:t>Neither collects a response, so the achieved n is still four. Neither rebuilds Chapters 2 and 3 — those are still owed and Chapters 4–6 are overdue since 28 July. A course grade is not committee approval. And the 7365 topic STUDIES the feasibility problem; it does not solve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WHOSE APPROVAL UNLOCKS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Five gates. Four are open and one was never asked.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The honest answer to "which approval do I need to level up."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21408"/>
            <a:ext cx="10820095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21408"/>
            <a:ext cx="45720" cy="694944"/>
          </a:xfrm>
          <a:prstGeom prst="rect">
            <a:avLst/>
          </a:prstGeom>
          <a:solidFill>
            <a:srgbClr val="A5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03703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081E3F"/>
                </a:solidFill>
                <a:latin typeface="Consolas"/>
              </a:rPr>
              <a:t>DR. JUAN REY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368296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20" b="0" i="0">
                <a:solidFill>
                  <a:srgbClr val="767D86"/>
                </a:solidFill>
                <a:latin typeface="Georgia"/>
              </a:rPr>
              <a:t>Advisor · chair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596896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A5322F"/>
                </a:solidFill>
                <a:latin typeface="Consolas"/>
              </a:rPr>
              <a:t>THE BINDING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20370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35915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Chapters 4–6 · the Ch 2–3 rebuild · whether the survey arm relaunches · AI-use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20370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35915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 i="0">
                <a:solidFill>
                  <a:srgbClr val="A5322F"/>
                </a:solidFill>
                <a:latin typeface="Georgia"/>
              </a:rPr>
              <a:t>Ch 4–6 OVERDUE since 28 Jul.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 i="0">
                <a:solidFill>
                  <a:srgbClr val="A5322F"/>
                </a:solidFill>
                <a:latin typeface="Georgia"/>
              </a:rPr>
              <a:t>AI approval NEVER REQUESTED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880360"/>
            <a:ext cx="10820095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880360"/>
            <a:ext cx="45720" cy="694944"/>
          </a:xfrm>
          <a:prstGeom prst="rect">
            <a:avLst/>
          </a:prstGeom>
          <a:solidFill>
            <a:srgbClr val="A53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2962656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081E3F"/>
                </a:solidFill>
                <a:latin typeface="Consolas"/>
              </a:rPr>
              <a:t>FIU IRB OFFICE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12724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20" b="0" i="0">
                <a:solidFill>
                  <a:srgbClr val="767D86"/>
                </a:solidFill>
                <a:latin typeface="Georgia"/>
              </a:rPr>
              <a:t>Office of Research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35584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A5322F"/>
                </a:solidFill>
                <a:latin typeface="Consolas"/>
              </a:rPr>
              <a:t>BLOCKS ALL L2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29626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11810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Whether interviews are a modification or a new protocol · approval before ANY participant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9626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11810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 i="0">
                <a:solidFill>
                  <a:srgbClr val="A5322F"/>
                </a:solidFill>
                <a:latin typeface="Georgia"/>
              </a:rPr>
              <a:t>3 items unsubmitted · 1 never confirmed filed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639311"/>
            <a:ext cx="10820095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639311"/>
            <a:ext cx="45720" cy="69494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721607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081E3F"/>
                </a:solidFill>
                <a:latin typeface="Consolas"/>
              </a:rPr>
              <a:t>DR. GONZALEZ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88620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20" b="0" i="0">
                <a:solidFill>
                  <a:srgbClr val="767D86"/>
                </a:solidFill>
                <a:latin typeface="Georgia"/>
              </a:rPr>
              <a:t>GEB 7911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114800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B6862C"/>
                </a:solidFill>
                <a:latin typeface="Consolas"/>
              </a:rPr>
              <a:t>ASK EARLY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3721607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877055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The qualitative proposal — 50% of that grade · whether phenomenology fits the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3721607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877055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 i="0">
                <a:solidFill>
                  <a:srgbClr val="B6862C"/>
                </a:solidFill>
                <a:latin typeface="Georgia"/>
              </a:rPr>
              <a:t>Protocol drafted. She has never seen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398264"/>
            <a:ext cx="10820095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4398264"/>
            <a:ext cx="45720" cy="694944"/>
          </a:xfrm>
          <a:prstGeom prst="rect">
            <a:avLst/>
          </a:prstGeom>
          <a:solidFill>
            <a:srgbClr val="21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4480559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081E3F"/>
                </a:solidFill>
                <a:latin typeface="Consolas"/>
              </a:rPr>
              <a:t>PROF. NEWBURRY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" y="464515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20" b="0" i="0">
                <a:solidFill>
                  <a:srgbClr val="767D86"/>
                </a:solidFill>
                <a:latin typeface="Georgia"/>
              </a:rPr>
              <a:t>GEB 7365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48737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21695A"/>
                </a:solidFill>
                <a:latin typeface="Consolas"/>
              </a:rPr>
              <a:t>IN MOTION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44805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GATES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4636007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Project topic approval before extensive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48055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4636007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 i="0">
                <a:solidFill>
                  <a:srgbClr val="21695A"/>
                </a:solidFill>
                <a:latin typeface="Georgia"/>
              </a:rPr>
              <a:t>Zoom Tue 1 Sep — this one is in motion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157216"/>
            <a:ext cx="10820095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" y="5157216"/>
            <a:ext cx="45720" cy="694944"/>
          </a:xfrm>
          <a:prstGeom prst="rect">
            <a:avLst/>
          </a:prstGeom>
          <a:solidFill>
            <a:srgbClr val="76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" y="523951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081E3F"/>
                </a:solidFill>
                <a:latin typeface="Consolas"/>
              </a:rPr>
              <a:t>THE COMMITTEE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5404104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20" b="0" i="0">
                <a:solidFill>
                  <a:srgbClr val="767D86"/>
                </a:solidFill>
                <a:latin typeface="Georgia"/>
              </a:rPr>
              <a:t>Dissertation committee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" y="56327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DOWNSTREAM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523951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GATES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40" y="5394959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0" i="0">
                <a:solidFill>
                  <a:srgbClr val="14171C"/>
                </a:solidFill>
                <a:latin typeface="Georgia"/>
              </a:rPr>
              <a:t>Proposal defence · AI-use review required by FIU UGS §3.2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79" y="523951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767D86"/>
                </a:solidFill>
                <a:latin typeface="Consolas"/>
              </a:rPr>
              <a:t>STATUS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79" y="539495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19" b="1" i="0">
                <a:solidFill>
                  <a:srgbClr val="767D86"/>
                </a:solidFill>
                <a:latin typeface="Georgia"/>
              </a:rPr>
              <a:t>Composition [VERIFY] · UGS §3.2 review never requested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0533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80" b="0" i="0">
                <a:solidFill>
                  <a:srgbClr val="767D86"/>
                </a:solidFill>
                <a:latin typeface="Consolas"/>
              </a:rPr>
              <a:t>Two of the open items cost nothing: verifying the Topaz record, and asking the IRB office one question. A question is not a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IMPROVING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Three known weaknesses, and what each one actually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Written down because a model whose weaknesses are named is defensible; one whose are not is fragile.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21408"/>
            <a:ext cx="10820095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21408"/>
            <a:ext cx="45720" cy="1261872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128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6862C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203703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81E3F"/>
                </a:solidFill>
                <a:latin typeface="Georgia"/>
              </a:rPr>
              <a:t>Construct 11 measures the wrong 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0545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A5322F"/>
                </a:solidFill>
                <a:latin typeface="Consolas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5176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RAB — the outcome — is self-report, reverse-coded. It asks auditors to report how far their judgment was driven by an anchor. That is precisely what anchoring prevents them from noticing.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21695A"/>
                </a:solidFill>
                <a:latin typeface="Consolas"/>
              </a:rPr>
              <a:t>WHAT IT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65176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Either rename it honestly to PERCEIVED JUDGMENT DISCIPLINE, or replace it with a behavioural measure: a task with a planted anchor and an observable adjustment.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4553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1">
                <a:solidFill>
                  <a:srgbClr val="767D86"/>
                </a:solidFill>
                <a:latin typeface="Georgia"/>
              </a:rPr>
              <a:t>This is the single most serious threat to the model's validity.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10820095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45720" cy="1261872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66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6862C"/>
                </a:solidFill>
                <a:latin typeface="Georg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557015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81E3F"/>
                </a:solidFill>
                <a:latin typeface="Georgia"/>
              </a:rPr>
              <a:t>Automation bias and algorithm aversion contradict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5876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A5322F"/>
                </a:solidFill>
                <a:latin typeface="Consolas"/>
              </a:rPr>
              <a:t>THE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05072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The literature supports BOTH — people over-trust algorithms and people under-trust them. L1 assumes over-trust. The model currently has no account of when each occurs.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85876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21695A"/>
                </a:solidFill>
                <a:latin typeface="Consolas"/>
              </a:rPr>
              <a:t>WHAT IT NEEDS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00507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Specify the moderators rather than picking a side: task type, perceived expertise, stakes, and whether the system's output is visible before or after the human forms a 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49884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1">
                <a:solidFill>
                  <a:srgbClr val="767D86"/>
                </a:solidFill>
                <a:latin typeface="Georgia"/>
              </a:rPr>
              <a:t>Resolving this is a theoretical contribution in its own right.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828031"/>
            <a:ext cx="10820095" cy="1261872"/>
          </a:xfrm>
          <a:prstGeom prst="rect">
            <a:avLst/>
          </a:prstGeom>
          <a:solidFill>
            <a:srgbClr val="FFFFFF"/>
          </a:solidFill>
          <a:ln w="8890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28031"/>
            <a:ext cx="45720" cy="1261872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1947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6862C"/>
                </a:solidFill>
                <a:latin typeface="Georgia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910327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081E3F"/>
                </a:solidFill>
                <a:latin typeface="Georgia"/>
              </a:rPr>
              <a:t>The sample constraint is structural, not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212079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A5322F"/>
                </a:solidFill>
                <a:latin typeface="Consolas"/>
              </a:rPr>
              <a:t>THE PROBLEM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358383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Six eligible per hundred thousand is not fixed by working harder or spending more. A survey design at this prevalence is not viable at any realistic budget.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5212079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580" b="1" i="0">
                <a:solidFill>
                  <a:srgbClr val="21695A"/>
                </a:solidFill>
                <a:latin typeface="Consolas"/>
              </a:rPr>
              <a:t>WHAT IT NEEDS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5358383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0" i="0">
                <a:solidFill>
                  <a:srgbClr val="14171C"/>
                </a:solidFill>
                <a:latin typeface="Georgia"/>
              </a:rPr>
              <a:t>Two moves, both already underway: a qualitative design for L2 that twelve people CAN sustain, and treating feasibility as a parameter — the GEB 7365 project.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852159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60" b="0" i="1">
                <a:solidFill>
                  <a:srgbClr val="767D86"/>
                </a:solidFill>
                <a:latin typeface="Georgia"/>
              </a:rPr>
              <a:t>The failure became the research question. That is the strongest thing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8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081E3F"/>
                </a:solidFill>
                <a:latin typeface="Consolas"/>
              </a:rPr>
              <a:t>FLORIDA INTERNATIONAL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035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Georgia"/>
              </a:rPr>
              <a:t>Chapman Graduate School of Business  ·  Doctor of Business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50" b="1" i="0">
                <a:solidFill>
                  <a:srgbClr val="B6862C"/>
                </a:solidFill>
                <a:latin typeface="Consolas"/>
              </a:rPr>
              <a:t>WHY THIS RESEARCH, AND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i="0">
                <a:solidFill>
                  <a:srgbClr val="081E3F"/>
                </a:solidFill>
                <a:latin typeface="Georgia"/>
              </a:rPr>
              <a:t>The question the AI-governance market has not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 i="1">
                <a:solidFill>
                  <a:srgbClr val="767D86"/>
                </a:solidFill>
                <a:latin typeface="Georgia"/>
              </a:rPr>
              <a:t>Where a doctorate on AI-influenced professional judgment actually sits.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291072"/>
            <a:ext cx="10820095" cy="7315"/>
          </a:xfrm>
          <a:prstGeom prst="rect">
            <a:avLst/>
          </a:prstGeom>
          <a:solidFill>
            <a:srgbClr val="D8D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Yasir A. Malik  ·  DBA Cohort 8.14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200"/>
              </a:spcAft>
            </a:pPr>
            <a:r>
              <a:rPr sz="700" b="0" i="0">
                <a:solidFill>
                  <a:srgbClr val="767D86"/>
                </a:solidFill>
                <a:latin typeface="Consolas"/>
              </a:rP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10820095" cy="1005840"/>
          </a:xfrm>
          <a:prstGeom prst="rect">
            <a:avLst/>
          </a:prstGeom>
          <a:solidFill>
            <a:srgbClr val="081E3F"/>
          </a:solidFill>
          <a:ln w="1651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30428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B6862C"/>
                </a:solidFill>
                <a:latin typeface="Consolas"/>
              </a:rPr>
              <a:t>THE 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2542032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>
                <a:solidFill>
                  <a:srgbClr val="E3E9F2"/>
                </a:solidFill>
                <a:latin typeface="Georgia"/>
              </a:rPr>
              <a:t>Every framework now governing AI — SR 11-7, the NIST AI Risk Management Framework, the EU AI Act — assumes a competent human reviewer sits above the model. None of them measures whether that reviewer's judgment survives contact with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10128"/>
            <a:ext cx="3502152" cy="1463040"/>
          </a:xfrm>
          <a:prstGeom prst="rect">
            <a:avLst/>
          </a:prstGeom>
          <a:solidFill>
            <a:srgbClr val="FFFFFF"/>
          </a:solidFill>
          <a:ln w="13970">
            <a:solidFill>
              <a:srgbClr val="A53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56432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A5322F"/>
                </a:solidFill>
                <a:latin typeface="Consolas"/>
              </a:rPr>
              <a:t>WHAT THE FRAMEWORKS ASSUME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712463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A5322F"/>
                </a:solidFill>
                <a:latin typeface="Consola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37124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A human reviews model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0416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A5322F"/>
                </a:solidFill>
                <a:latin typeface="Consolas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04164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Review is independent of the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370831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A5322F"/>
                </a:solidFill>
                <a:latin typeface="Consolas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370831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Oversight is a control that 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310128"/>
            <a:ext cx="3502152" cy="1463040"/>
          </a:xfrm>
          <a:prstGeom prst="rect">
            <a:avLst/>
          </a:prstGeom>
          <a:solidFill>
            <a:srgbClr val="FFFFFF"/>
          </a:solidFill>
          <a:ln w="1397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456432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B6862C"/>
                </a:solidFill>
                <a:latin typeface="Consolas"/>
              </a:rPr>
              <a:t>WHAT THIS PROGRAMME 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712463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6862C"/>
                </a:solidFill>
                <a:latin typeface="Consolas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7124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Does the reviewer defer? (L1)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0416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6862C"/>
                </a:solidFill>
                <a:latin typeface="Consola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04164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Does agreement stop the checking? (L2)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370831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B6862C"/>
                </a:solidFill>
                <a:latin typeface="Consola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370831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Does the evidence base thin? (L3)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3310128"/>
            <a:ext cx="3502152" cy="1463040"/>
          </a:xfrm>
          <a:prstGeom prst="rect">
            <a:avLst/>
          </a:prstGeom>
          <a:solidFill>
            <a:srgbClr val="FFFFFF"/>
          </a:solidFill>
          <a:ln w="13970">
            <a:solidFill>
              <a:srgbClr val="216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4152" y="3456432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50" b="1" i="0">
                <a:solidFill>
                  <a:srgbClr val="21695A"/>
                </a:solidFill>
                <a:latin typeface="Consolas"/>
              </a:rPr>
              <a:t>WHY IT IS CREDIBLE 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3712463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21695A"/>
                </a:solidFill>
                <a:latin typeface="Consolas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7124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15 years audit — Citi, JPMorgan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404164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21695A"/>
                </a:solidFill>
                <a:latin typeface="Consolas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404164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Former state bank examiner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4370831"/>
            <a:ext cx="182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00" b="1" i="0">
                <a:solidFill>
                  <a:srgbClr val="21695A"/>
                </a:solidFill>
                <a:latin typeface="Consolas"/>
              </a:rPr>
              <a:t>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2" y="4370831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860" b="0" i="0">
                <a:solidFill>
                  <a:srgbClr val="14171C"/>
                </a:solidFill>
                <a:latin typeface="Georgia"/>
              </a:rPr>
              <a:t>A study that failed honestly and said so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956048"/>
            <a:ext cx="10820095" cy="914400"/>
          </a:xfrm>
          <a:prstGeom prst="rect">
            <a:avLst/>
          </a:prstGeom>
          <a:solidFill>
            <a:srgbClr val="F7F4EB"/>
          </a:solidFill>
          <a:ln w="13970">
            <a:solidFill>
              <a:srgbClr val="B68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" y="51023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700" b="1" i="0">
                <a:solidFill>
                  <a:srgbClr val="B6862C"/>
                </a:solidFill>
                <a:latin typeface="Consolas"/>
              </a:rPr>
              <a:t>THE ONE-SENTENCE VERSION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5340096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081E3F"/>
                </a:solidFill>
                <a:latin typeface="Georgia"/>
              </a:rPr>
              <a:t>Auditing is the profession that already knows how to test whether a control works. This programme turns that competence on the control everyone is now relying on and nobody has measured: the human being asked to check the machine.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